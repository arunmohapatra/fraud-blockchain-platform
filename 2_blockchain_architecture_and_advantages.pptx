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58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84876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DECK – Title Slide
This is a standalone architecture deep-dive. It covers:
1. Technology selection rationale — why Hyperledger Fabric over Ethereum, Quorum, or Corda
2. The full working system architecture — all components from customer app to consortium ledger
3. The complete transaction lifecycle — step by step from initiation through detection and hold
4. Eight concrete advantages of the blockchain approach over the legacy system
5. An honest assessment of limitations and risks — with mitigations for each
This deck is intended for technical judges, solution architects, and engineering leads.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A2 — Technology Selection
Walk through the comparison table column by column, then land on the verdict.
Hyperledger Fabric advantages:
Permissioned: Only approved bank nodes can participate. No public exposure, no anonymous validators. This is non-negotiable for a banking use case.
No tokens: Fabric requires no cryptocurrency or gas fees. Transactions are free to execute within the consortium. This eliminates the regulatory and cost complexity of token-based chains.
Go/Java chaincode: Mature, enterprise-grade smart contract languages that bank engineering teams already know. No need to hire Solidity specialists.
Proven in banking: We.Trade (trade finance), HSBC FX settlements, and the Voltron documentary credit platform all run on Hyperledger Fabric. This is not an experimental choice.
Channel-based privacy: Fabric channels allow bilateral or multilateral data sharing — Bank A and Bank B can share fraud signals on a private channel without Bank C seeing them. This is built into the protocol, not bolted on.
3,000+ TPS: Well above the throughput needed for UK Faster Payments volumes. No bottleneck risk.
Observer nodes: The FCA and PSR can be granted read-only observer node access natively — no custom build required.
Why not Ethereum/Quorum: Public Ethereum has throughput and gas cost issues. Quorum (JP Morgan) is closer but lacks Fabric's channel privacy model and has less UK regulatory precedent.
Why not Corda: R3 Corda is a credible alternative — used by Barclays and others — but its CorDapp development model is more complex and its throughput is lower than Fabric. It remains a valid fallback.
Why not a private database: No immutable audit trail, no cross-institution trust model, no smart contract execution. A database does not solve the problem.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A3 — Full Working Architecture
This slide shows all components across three layers.
Layer 1 — Customer &amp; Bank Front-End (unchanged):
Customer Mobile/Web App: Standard banking app. No UI changes visible to the customer — the blockchain layer is entirely transparent.
Payment Initiation API: The existing REST API that receives payment instructions from the app. The context capture service hooks into this API.
Core Banking System: Processes account state, balances, and settlement instructions. Not modified.
KYC/AML Engine: Existing compliance stack. Continues to operate in parallel. Fraud signals from the blockchain layer can enrich AML alerts.
Fraud Ops Dashboard: Enhanced with real-time on-chain alerts and case context. Analysts see the full chain of evidence without manual gathering.
Layer 2 — Blockchain Integration Layer (New Build):
Context Capture Service: Intercepts the payment instruction before it reaches Faster Payments. Collects device fingerprint, behavioural biometrics, session metadata, payee details, and amount.
Smart Contract Orchestrator: Calls the appropriate chaincodes on the Fabric network — cooling-off, multi-sig, or anomaly detection — and returns a proceed/hold/reject signal.
On-Chain Audit Trail Writer: Writes the cryptographic hash of the authorisation context to the ledger. Millisecond latency.
Ledger Query Service: Queries the fraud signal registry for any flags on the receiving account. Sub-50ms response.
ML Oracle Bridge: Pulls real-time fraud scores from the bank's existing ML models and makes them available to smart contracts as on-chain data.
Layer 3 — Hyperledger Fabric Consortium:
Ordering Service (Raft): Orders transactions into blocks. Raft consensus is the recommended algorithm for a known, permissioned participant set — deterministic and performant.
Peer Nodes (Lloyds): Lloyds-operated endorsing peers. Execute chaincode and maintain a local copy of the ledger.
Peer Nodes (Consortium): Other participating banks' endorsing peers. Participate in cross-bank channel endorsement.
Hashed Fraud Signal Registry: The shared chaincode that stores and queries hashed account fraud flags.
Regulator Observer Node: FCA/PSR read-only node. Full ledger visibility without endorsement rights.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A4 — Transaction Lifecycle
Walk through each step in order, then explain the three decision outcomes.
Step 1 — Customer Initiates: The customer opens the banking app and enters a payee and amount. This is identical to today's experience. The blockchain layer is entirely transparent to the customer — they see no difference unless a hold is triggered.
Step 2 — Context Capture: Before the payment instruction is forwarded, the Context Capture Service collects the authorisation bundle. Key signals: device ID (known or new?), IP address, typing speed and rhythm (behavioural biometric), navigation path (did the customer go straight to transfers, or browse normally first?), payee account (first-time or known?), amount (in range of historical behaviour?).
Step 3 — Ledger Query: The Ledger Query Service sends a hashed account lookup to the Fabric fraud signal registry. This query returns within 50ms. If the receiving account has an active fraud flag from any consortium bank, this is returned as a signal to the smart contract.
Step 4 — ML Oracle Score: The ML Oracle Bridge calls the bank's existing fraud ML model and returns a real-time risk score. This is made available to the smart contract as an on-chain data input via the oracle pattern.
Step 5 — Smart Contract Evaluation: The Smart Contract Orchestrator runs the composite rule set: Is the payee flagged? Is the ML score above the hard threshold (reject) or soft threshold (hold)? Is the amount above the cooling-off trigger? Is this a new payee? Is the device new? All signals are evaluated in a single contract execution.
Step 6 — Decision Gate: The contract returns one of three outcomes. This is the critical intervention point — the only moment in the payment journey where the current system has no equivalent.
Steps 7 &amp; 8: Hold and audit record creation — the hold is enacted before FPS is called, the fraud ops case is auto-raised, and the full evidence bundle is sealed on-chain.
Decision outcomes: PROCEED (clean payment, on-chain record created for audit), HOLD (step-up required, cooling-off window opened), REJECT (confirmed fraud flag, payment blocked, case raised automatically).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A5 — Smart Contract Logic
This slide shows the inside of the chaincode decision engine — the actual rule tree that runs on-chain.
Input signals (left panel): Seven independent signals feed into the chaincode. These are passed as parameters when the smart contract is invoked. The key ones to highlight:
- Payee Ledger Flag: Binary result of the cross-bank fraud registry query. A confirmed flag triggers immediate rejection regardless of other signals.
- ML Risk Score: Continuous score between 0 and 1. The chaincode uses two thresholds — 0.55 (soft, triggers hold) and 0.85 (hard, triggers reject).
- New Payee + High Amount: The most common APP fraud scenario — a first-time payee receiving a large transfer. This combination reliably identifies high-risk events regardless of ML score.
- New Device: A payment from a device not previously associated with this customer's account is a strong fraud signal when combined with a high amount.
Chaincode rule tree (centre): The rules execute in priority order — confirmed fraud flags are caught first, then high ML scores, then the combination rules for hold, then multi-sig for very large amounts, then proceed. This is written in Go chaincode on Hyperledger Fabric. The thresholds (£10,000, £50,000, 0.55, 0.85) are configurable governance parameters — they can be updated by consortium vote without redeploying the chaincode.
Outputs (right panel): Four possible outcomes. Emphasise that PROCEED and REJECT are automated — no human involvement needed. HOLD is the most common outcome for genuine customers in edge cases — the step-up process is designed to be fast and frictionless for legitimate transactions.
Key point for technical judges: The entire execution — from invocation to outcome — runs in under 500ms on the Fabric network. This is well within the Faster Payments processing window.</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A6 — 8 Key Advantages
1. Pre-Settlement Intervention: The fundamental shift. Fraud prevention moves from reactive (detect after settlement) to active (intercept before settlement). This is only possible because the blockchain integration layer sits between the payment instruction and the Faster Payments gateway.
2. Immutable Audit Trail: Unlike database logs, which can be modified, blockchain records are cryptographically sealed. The hash of the authorisation context cannot be changed post-hoc. This is the gold standard for dispute resolution evidence.
3. Cross-Institution Intelligence: The most unique advantage. No existing system provides real-time, cross-bank fraud signal sharing. The consortium ledger makes this possible without requiring any direct data-sharing agreement between banks — the protocol handles trust.
4. Privacy-Preserving by Design: Many cross-bank data sharing proposals have failed due to GDPR concerns. The hashed identifier + ZK proof architecture means this system shares only mathematical proofs of fraud characteristics — never personal data. This is compliant by design.
5. Sub-50ms Latency: A frequent objection to blockchain in payments is latency. Hyperledger Fabric with co-located nodes and the Raft consensus algorithm achieves the query latency needed for this use case. Proof-of-concept testing has demonstrated 30–45ms on similar network topologies.
6. Regulatory Transparency: Banks currently spend significant resources on regulatory reporting for major fraud events. The observer node architecture means the FCA and PSR can query the ledger directly — reducing the reporting burden and increasing regulator confidence in the system.
7. Automated Fraud Ops: The 60% cost reduction estimate comes from eliminating manual steps: evidence gathering (replaced by on-chain records), cross-bank liaison (replaced by shared ledger), and initial case triage (replaced by automated case creation with full context).
8. Non-Invasive Integration: Phase 1 can be deployed without touching the core banking system, the Faster Payments gateway, or the customer app. This dramatically reduces implementation risk and time-to-value.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A7 — Limitations and Risks
This slide demonstrates architectural maturity — judges will be more impressed by an honest risk assessment with mitigations than by a solution that claims no weaknesses.
1. Consortium Governance Risk: The hardest non-technical challenge. Getting Barclays, NatWest, HSBC, and Lloyds to agree on anything takes time. Mitigation: Lloyds leads as founding institution, setting the initial governance framework and inviting others in. The Faster Payments scheme provides a proven precedent for this model.
2. False Positive Risk: The most operationally impactful risk for the customer experience. If thresholds are too aggressive, legitimate customers trying to pay house deposits or school fees will be held up. Mitigation: configurable thresholds, customer-level overrides for pre-planned large transfers, and a gradual rollout approach.
3. Node Availability: A blockchain layer that adds latency to every payment in the event of a node failure would be unacceptable. The circuit breaker pattern is critical: if the ledger query fails or times out, the payment proceeds on existing controls — the blockchain layer degrades gracefully rather than blocking the payment rail.
4. Key Management: PKI complexity is a real operational burden. The HSM-based approach and the use of existing mobile cryptography infrastructure (Secure Enclave on iOS, Android Keystore) are proven patterns in banking.
5. Regulatory Uncertainty: The FCA's Digital Sandbox has already tested Hyperledger Fabric use cases. This is not a hostile regulatory environment — but formal guidance is still evolving. Phase 1 as a contained proof of concept avoids the need for regulatory pre-approval.
6. Data Quality: A shared fraud signal network is a new concept in UK banking. Initial signals from consortium members may be noisy. The weighted confidence model and quarterly accuracy reviews ensure signal quality improves over time.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A8 — Architecture Summary
This is the closing slide for the architecture section. Use it to consolidate everything onto a single view for the judges.
Technology stack (left): Hyperledger Fabric 2.x with Raft consensus, Go chaincode, channel-based privacy enhanced with ZK proofs, gRPC/REST integration APIs, and HSM-backed identity. These are all production-proven choices in financial services.
Key design decisions (centre): The six decisions that define the architecture's philosophy:
Non-invasive: Phase 1 requires no changes to core banking, FPS gateway, or customer app.
Fail-open: The blockchain layer degrades gracefully — it never blocks the payment rail if it fails.
Configurable: Thresholds are governance parameters, not code. They can be updated by consortium vote.
Privacy-first: GDPR compliance is architectural, not a compliance overlay.
Consortium-led: Lloyds leads, sets the framework, and invites others in — rather than waiting for industry consensus.
Regulator access: The FCA observer node is Day 1, not a later addition. This signals intent to regulators and builds trust.
Projected outcomes (right): The four headline numbers from the business case, presented as the closing statement.
Closing line: Phase 1 is buildable in 6 months. It requires no changes to existing infrastructure. It is FCA sandbox-ready. The ask is to proceed to proof of concept.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4754880" cy="5143500"/>
          </a:xfrm>
          <a:prstGeom prst="rect">
            <a:avLst/>
          </a:prstGeom>
          <a:solidFill>
            <a:srgbClr val="132847"/>
          </a:solidFill>
          <a:ln w="12700">
            <a:solidFill>
              <a:srgbClr val="132847"/>
            </a:solidFill>
            <a:prstDash val="solid"/>
          </a:ln>
        </p:spPr>
      </p:sp>
      <p:sp>
        <p:nvSpPr>
          <p:cNvPr id="3" name="Shape 1"/>
          <p:cNvSpPr/>
          <p:nvPr/>
        </p:nvSpPr>
        <p:spPr>
          <a:xfrm>
            <a:off x="347472" y="1417320"/>
            <a:ext cx="64008" cy="2194560"/>
          </a:xfrm>
          <a:prstGeom prst="roundRect">
            <a:avLst>
              <a:gd name="adj" fmla="val 42857"/>
            </a:avLst>
          </a:prstGeom>
          <a:solidFill>
            <a:srgbClr val="E8A020"/>
          </a:solidFill>
          <a:ln w="12700">
            <a:solidFill>
              <a:srgbClr val="E8A020"/>
            </a:solidFill>
            <a:prstDash val="solid"/>
          </a:ln>
        </p:spPr>
      </p:sp>
      <p:pic>
        <p:nvPicPr>
          <p:cNvPr id="4" name="Image 0" descr="preencoded.png"/>
          <p:cNvPicPr>
            <a:picLocks noChangeAspect="1"/>
          </p:cNvPicPr>
          <p:nvPr/>
        </p:nvPicPr>
        <p:blipFill>
          <a:blip r:embed="rId3"/>
          <a:stretch>
            <a:fillRect/>
          </a:stretch>
        </p:blipFill>
        <p:spPr>
          <a:xfrm>
            <a:off x="530352" y="475488"/>
            <a:ext cx="658368" cy="658368"/>
          </a:xfrm>
          <a:prstGeom prst="rect">
            <a:avLst/>
          </a:prstGeom>
        </p:spPr>
      </p:pic>
      <p:sp>
        <p:nvSpPr>
          <p:cNvPr id="5" name="Text 2"/>
          <p:cNvSpPr/>
          <p:nvPr/>
        </p:nvSpPr>
        <p:spPr>
          <a:xfrm>
            <a:off x="1298448" y="475488"/>
            <a:ext cx="3200400" cy="658368"/>
          </a:xfrm>
          <a:prstGeom prst="rect">
            <a:avLst/>
          </a:prstGeom>
          <a:noFill/>
          <a:ln/>
        </p:spPr>
        <p:txBody>
          <a:bodyPr wrap="square" lIns="0" tIns="0" rIns="0" bIns="0" rtlCol="0" anchor="ctr"/>
          <a:lstStyle/>
          <a:p>
            <a:pPr marL="0" indent="0">
              <a:buNone/>
            </a:pPr>
            <a:r>
              <a:rPr lang="en-US" sz="900" b="1" kern="0" spc="200" dirty="0">
                <a:solidFill>
                  <a:srgbClr val="E8A020"/>
                </a:solidFill>
                <a:latin typeface="Calibri" pitchFamily="34" charset="0"/>
                <a:ea typeface="Calibri" pitchFamily="34" charset="-122"/>
                <a:cs typeface="Calibri" pitchFamily="34" charset="-120"/>
              </a:rPr>
              <a:t>LLOYDS BANK  ·  HACKATHON 2025</a:t>
            </a:r>
            <a:endParaRPr lang="en-US" sz="900" dirty="0"/>
          </a:p>
        </p:txBody>
      </p:sp>
      <p:sp>
        <p:nvSpPr>
          <p:cNvPr id="6" name="Text 3"/>
          <p:cNvSpPr/>
          <p:nvPr/>
        </p:nvSpPr>
        <p:spPr>
          <a:xfrm>
            <a:off x="502920" y="1481328"/>
            <a:ext cx="4069080" cy="713232"/>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Blockchain</a:t>
            </a:r>
            <a:endParaRPr lang="en-US" sz="3600" dirty="0"/>
          </a:p>
        </p:txBody>
      </p:sp>
      <p:sp>
        <p:nvSpPr>
          <p:cNvPr id="7" name="Text 4"/>
          <p:cNvSpPr/>
          <p:nvPr/>
        </p:nvSpPr>
        <p:spPr>
          <a:xfrm>
            <a:off x="502920" y="2121408"/>
            <a:ext cx="4069080" cy="713232"/>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Architecture</a:t>
            </a:r>
            <a:endParaRPr lang="en-US" sz="3600" dirty="0"/>
          </a:p>
        </p:txBody>
      </p:sp>
      <p:sp>
        <p:nvSpPr>
          <p:cNvPr id="8" name="Text 5"/>
          <p:cNvSpPr/>
          <p:nvPr/>
        </p:nvSpPr>
        <p:spPr>
          <a:xfrm>
            <a:off x="502920" y="2761488"/>
            <a:ext cx="4069080" cy="713232"/>
          </a:xfrm>
          <a:prstGeom prst="rect">
            <a:avLst/>
          </a:prstGeom>
          <a:noFill/>
          <a:ln/>
        </p:spPr>
        <p:txBody>
          <a:bodyPr wrap="square" lIns="0" tIns="0" rIns="0" bIns="0" rtlCol="0" anchor="ctr"/>
          <a:lstStyle/>
          <a:p>
            <a:pPr marL="0" indent="0">
              <a:buNone/>
            </a:pPr>
            <a:r>
              <a:rPr lang="en-US" sz="3600" b="1" dirty="0">
                <a:solidFill>
                  <a:srgbClr val="E8A020"/>
                </a:solidFill>
                <a:latin typeface="Cambria" pitchFamily="34" charset="0"/>
                <a:ea typeface="Cambria" pitchFamily="34" charset="-122"/>
                <a:cs typeface="Cambria" pitchFamily="34" charset="-120"/>
              </a:rPr>
              <a:t>Deep Dive</a:t>
            </a:r>
            <a:endParaRPr lang="en-US" sz="3600" dirty="0"/>
          </a:p>
        </p:txBody>
      </p:sp>
      <p:sp>
        <p:nvSpPr>
          <p:cNvPr id="9" name="Text 6"/>
          <p:cNvSpPr/>
          <p:nvPr/>
        </p:nvSpPr>
        <p:spPr>
          <a:xfrm>
            <a:off x="502920" y="3566160"/>
            <a:ext cx="4069080" cy="713232"/>
          </a:xfrm>
          <a:prstGeom prst="rect">
            <a:avLst/>
          </a:prstGeom>
          <a:noFill/>
          <a:ln/>
        </p:spPr>
        <p:txBody>
          <a:bodyPr wrap="square" lIns="0" tIns="0" rIns="0" bIns="0" rtlCol="0" anchor="ctr"/>
          <a:lstStyle/>
          <a:p>
            <a:pPr marL="0" indent="0">
              <a:buNone/>
            </a:pPr>
            <a:r>
              <a:rPr lang="en-US" sz="1100" i="1" dirty="0">
                <a:solidFill>
                  <a:srgbClr val="8FA5BF"/>
                </a:solidFill>
                <a:latin typeface="Calibri" pitchFamily="34" charset="0"/>
                <a:ea typeface="Calibri" pitchFamily="34" charset="-122"/>
                <a:cs typeface="Calibri" pitchFamily="34" charset="-120"/>
              </a:rPr>
              <a:t>Technology selection · Working model · Transaction lifecycle</a:t>
            </a:r>
            <a:endParaRPr lang="en-US" sz="1100" dirty="0"/>
          </a:p>
          <a:p>
            <a:pPr marL="0" indent="0">
              <a:buNone/>
            </a:pPr>
            <a:r>
              <a:rPr lang="en-US" sz="1100" i="1" dirty="0">
                <a:solidFill>
                  <a:srgbClr val="8FA5BF"/>
                </a:solidFill>
                <a:latin typeface="Calibri" pitchFamily="34" charset="0"/>
                <a:ea typeface="Calibri" pitchFamily="34" charset="-122"/>
                <a:cs typeface="Calibri" pitchFamily="34" charset="-120"/>
              </a:rPr>
              <a:t>Detection &amp; hold flow · Blockchain limitations</a:t>
            </a:r>
            <a:endParaRPr lang="en-US" sz="1100" dirty="0"/>
          </a:p>
        </p:txBody>
      </p:sp>
      <p:sp>
        <p:nvSpPr>
          <p:cNvPr id="10" name="Shape 7"/>
          <p:cNvSpPr/>
          <p:nvPr/>
        </p:nvSpPr>
        <p:spPr>
          <a:xfrm>
            <a:off x="5029200" y="384048"/>
            <a:ext cx="3840480" cy="768096"/>
          </a:xfrm>
          <a:prstGeom prst="roundRect">
            <a:avLst>
              <a:gd name="adj" fmla="val 10714"/>
            </a:avLst>
          </a:prstGeom>
          <a:solidFill>
            <a:srgbClr val="162D52"/>
          </a:solidFill>
          <a:ln w="12700">
            <a:solidFill>
              <a:srgbClr val="1E3A5F"/>
            </a:solidFill>
            <a:prstDash val="solid"/>
          </a:ln>
          <a:effectLst>
            <a:outerShdw blurRad="63500" dist="25400" dir="2700000" algn="bl" rotWithShape="0">
              <a:srgbClr val="000000">
                <a:alpha val="13000"/>
              </a:srgbClr>
            </a:outerShdw>
          </a:effectLst>
        </p:spPr>
      </p:sp>
      <p:sp>
        <p:nvSpPr>
          <p:cNvPr id="11" name="Shape 8"/>
          <p:cNvSpPr/>
          <p:nvPr/>
        </p:nvSpPr>
        <p:spPr>
          <a:xfrm>
            <a:off x="5166360" y="585216"/>
            <a:ext cx="365760" cy="365760"/>
          </a:xfrm>
          <a:prstGeom prst="ellipse">
            <a:avLst/>
          </a:prstGeom>
          <a:solidFill>
            <a:srgbClr val="E8A020"/>
          </a:solidFill>
          <a:ln w="12700">
            <a:solidFill>
              <a:srgbClr val="E8A020"/>
            </a:solidFill>
            <a:prstDash val="solid"/>
          </a:ln>
        </p:spPr>
      </p:sp>
      <p:sp>
        <p:nvSpPr>
          <p:cNvPr id="12" name="Text 9"/>
          <p:cNvSpPr/>
          <p:nvPr/>
        </p:nvSpPr>
        <p:spPr>
          <a:xfrm>
            <a:off x="5166360" y="585216"/>
            <a:ext cx="365760" cy="365760"/>
          </a:xfrm>
          <a:prstGeom prst="rect">
            <a:avLst/>
          </a:prstGeom>
          <a:noFill/>
          <a:ln/>
        </p:spPr>
        <p:txBody>
          <a:bodyPr wrap="square" lIns="0" tIns="0" rIns="0" bIns="0" rtlCol="0" anchor="ctr"/>
          <a:lstStyle/>
          <a:p>
            <a:pPr marL="0" indent="0" algn="ctr">
              <a:buNone/>
            </a:pPr>
            <a:r>
              <a:rPr lang="en-US" sz="1000" b="1" dirty="0">
                <a:solidFill>
                  <a:srgbClr val="0B1D3A"/>
                </a:solidFill>
                <a:latin typeface="Calibri" pitchFamily="34" charset="0"/>
                <a:ea typeface="Calibri" pitchFamily="34" charset="-122"/>
                <a:cs typeface="Calibri" pitchFamily="34" charset="-120"/>
              </a:rPr>
              <a:t>01</a:t>
            </a:r>
            <a:endParaRPr lang="en-US" sz="1000" dirty="0"/>
          </a:p>
        </p:txBody>
      </p:sp>
      <p:sp>
        <p:nvSpPr>
          <p:cNvPr id="13" name="Text 10"/>
          <p:cNvSpPr/>
          <p:nvPr/>
        </p:nvSpPr>
        <p:spPr>
          <a:xfrm>
            <a:off x="5650992" y="438912"/>
            <a:ext cx="3063240" cy="32918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Technology Choice</a:t>
            </a:r>
            <a:endParaRPr lang="en-US" sz="1250" dirty="0"/>
          </a:p>
        </p:txBody>
      </p:sp>
      <p:sp>
        <p:nvSpPr>
          <p:cNvPr id="14" name="Text 11"/>
          <p:cNvSpPr/>
          <p:nvPr/>
        </p:nvSpPr>
        <p:spPr>
          <a:xfrm>
            <a:off x="5650992" y="786384"/>
            <a:ext cx="3063240" cy="274320"/>
          </a:xfrm>
          <a:prstGeom prst="rect">
            <a:avLst/>
          </a:prstGeom>
          <a:noFill/>
          <a:ln/>
        </p:spPr>
        <p:txBody>
          <a:bodyPr wrap="square" lIns="0" tIns="0" rIns="0" bIns="0" rtlCol="0" anchor="ctr"/>
          <a:lstStyle/>
          <a:p>
            <a:pPr marL="0" indent="0">
              <a:buNone/>
            </a:pPr>
            <a:r>
              <a:rPr lang="en-US" sz="950" i="1" dirty="0">
                <a:solidFill>
                  <a:srgbClr val="8FA5BF"/>
                </a:solidFill>
                <a:latin typeface="Calibri" pitchFamily="34" charset="0"/>
                <a:ea typeface="Calibri" pitchFamily="34" charset="-122"/>
                <a:cs typeface="Calibri" pitchFamily="34" charset="-120"/>
              </a:rPr>
              <a:t>Why Hyperledger Fabric</a:t>
            </a:r>
            <a:endParaRPr lang="en-US" sz="950" dirty="0"/>
          </a:p>
        </p:txBody>
      </p:sp>
      <p:sp>
        <p:nvSpPr>
          <p:cNvPr id="15" name="Shape 12"/>
          <p:cNvSpPr/>
          <p:nvPr/>
        </p:nvSpPr>
        <p:spPr>
          <a:xfrm>
            <a:off x="5029200" y="1280160"/>
            <a:ext cx="3840480" cy="768096"/>
          </a:xfrm>
          <a:prstGeom prst="roundRect">
            <a:avLst>
              <a:gd name="adj" fmla="val 10714"/>
            </a:avLst>
          </a:prstGeom>
          <a:solidFill>
            <a:srgbClr val="162D52"/>
          </a:solidFill>
          <a:ln w="12700">
            <a:solidFill>
              <a:srgbClr val="1E3A5F"/>
            </a:solidFill>
            <a:prstDash val="solid"/>
          </a:ln>
          <a:effectLst>
            <a:outerShdw blurRad="63500" dist="25400" dir="2700000" algn="bl" rotWithShape="0">
              <a:srgbClr val="000000">
                <a:alpha val="13000"/>
              </a:srgbClr>
            </a:outerShdw>
          </a:effectLst>
        </p:spPr>
      </p:sp>
      <p:sp>
        <p:nvSpPr>
          <p:cNvPr id="16" name="Shape 13"/>
          <p:cNvSpPr/>
          <p:nvPr/>
        </p:nvSpPr>
        <p:spPr>
          <a:xfrm>
            <a:off x="5166360" y="1481328"/>
            <a:ext cx="365760" cy="365760"/>
          </a:xfrm>
          <a:prstGeom prst="ellipse">
            <a:avLst/>
          </a:prstGeom>
          <a:solidFill>
            <a:srgbClr val="E8A020"/>
          </a:solidFill>
          <a:ln w="12700">
            <a:solidFill>
              <a:srgbClr val="E8A020"/>
            </a:solidFill>
            <a:prstDash val="solid"/>
          </a:ln>
        </p:spPr>
      </p:sp>
      <p:sp>
        <p:nvSpPr>
          <p:cNvPr id="17" name="Text 14"/>
          <p:cNvSpPr/>
          <p:nvPr/>
        </p:nvSpPr>
        <p:spPr>
          <a:xfrm>
            <a:off x="5166360" y="1481328"/>
            <a:ext cx="365760" cy="365760"/>
          </a:xfrm>
          <a:prstGeom prst="rect">
            <a:avLst/>
          </a:prstGeom>
          <a:noFill/>
          <a:ln/>
        </p:spPr>
        <p:txBody>
          <a:bodyPr wrap="square" lIns="0" tIns="0" rIns="0" bIns="0" rtlCol="0" anchor="ctr"/>
          <a:lstStyle/>
          <a:p>
            <a:pPr marL="0" indent="0" algn="ctr">
              <a:buNone/>
            </a:pPr>
            <a:r>
              <a:rPr lang="en-US" sz="1000" b="1" dirty="0">
                <a:solidFill>
                  <a:srgbClr val="0B1D3A"/>
                </a:solidFill>
                <a:latin typeface="Calibri" pitchFamily="34" charset="0"/>
                <a:ea typeface="Calibri" pitchFamily="34" charset="-122"/>
                <a:cs typeface="Calibri" pitchFamily="34" charset="-120"/>
              </a:rPr>
              <a:t>02</a:t>
            </a:r>
            <a:endParaRPr lang="en-US" sz="1000" dirty="0"/>
          </a:p>
        </p:txBody>
      </p:sp>
      <p:sp>
        <p:nvSpPr>
          <p:cNvPr id="18" name="Text 15"/>
          <p:cNvSpPr/>
          <p:nvPr/>
        </p:nvSpPr>
        <p:spPr>
          <a:xfrm>
            <a:off x="5650992" y="1335024"/>
            <a:ext cx="3063240" cy="32918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Working Architecture</a:t>
            </a:r>
            <a:endParaRPr lang="en-US" sz="1250" dirty="0"/>
          </a:p>
        </p:txBody>
      </p:sp>
      <p:sp>
        <p:nvSpPr>
          <p:cNvPr id="19" name="Text 16"/>
          <p:cNvSpPr/>
          <p:nvPr/>
        </p:nvSpPr>
        <p:spPr>
          <a:xfrm>
            <a:off x="5650992" y="1682496"/>
            <a:ext cx="3063240" cy="274320"/>
          </a:xfrm>
          <a:prstGeom prst="rect">
            <a:avLst/>
          </a:prstGeom>
          <a:noFill/>
          <a:ln/>
        </p:spPr>
        <p:txBody>
          <a:bodyPr wrap="square" lIns="0" tIns="0" rIns="0" bIns="0" rtlCol="0" anchor="ctr"/>
          <a:lstStyle/>
          <a:p>
            <a:pPr marL="0" indent="0">
              <a:buNone/>
            </a:pPr>
            <a:r>
              <a:rPr lang="en-US" sz="950" i="1" dirty="0">
                <a:solidFill>
                  <a:srgbClr val="8FA5BF"/>
                </a:solidFill>
                <a:latin typeface="Calibri" pitchFamily="34" charset="0"/>
                <a:ea typeface="Calibri" pitchFamily="34" charset="-122"/>
                <a:cs typeface="Calibri" pitchFamily="34" charset="-120"/>
              </a:rPr>
              <a:t>Full system component map</a:t>
            </a:r>
            <a:endParaRPr lang="en-US" sz="950" dirty="0"/>
          </a:p>
        </p:txBody>
      </p:sp>
      <p:sp>
        <p:nvSpPr>
          <p:cNvPr id="20" name="Shape 17"/>
          <p:cNvSpPr/>
          <p:nvPr/>
        </p:nvSpPr>
        <p:spPr>
          <a:xfrm>
            <a:off x="5029200" y="2176272"/>
            <a:ext cx="3840480" cy="768096"/>
          </a:xfrm>
          <a:prstGeom prst="roundRect">
            <a:avLst>
              <a:gd name="adj" fmla="val 10714"/>
            </a:avLst>
          </a:prstGeom>
          <a:solidFill>
            <a:srgbClr val="162D52"/>
          </a:solidFill>
          <a:ln w="12700">
            <a:solidFill>
              <a:srgbClr val="1E3A5F"/>
            </a:solidFill>
            <a:prstDash val="solid"/>
          </a:ln>
          <a:effectLst>
            <a:outerShdw blurRad="63500" dist="25400" dir="2700000" algn="bl" rotWithShape="0">
              <a:srgbClr val="000000">
                <a:alpha val="13000"/>
              </a:srgbClr>
            </a:outerShdw>
          </a:effectLst>
        </p:spPr>
      </p:sp>
      <p:sp>
        <p:nvSpPr>
          <p:cNvPr id="21" name="Shape 18"/>
          <p:cNvSpPr/>
          <p:nvPr/>
        </p:nvSpPr>
        <p:spPr>
          <a:xfrm>
            <a:off x="5166360" y="2377440"/>
            <a:ext cx="365760" cy="365760"/>
          </a:xfrm>
          <a:prstGeom prst="ellipse">
            <a:avLst/>
          </a:prstGeom>
          <a:solidFill>
            <a:srgbClr val="E8A020"/>
          </a:solidFill>
          <a:ln w="12700">
            <a:solidFill>
              <a:srgbClr val="E8A020"/>
            </a:solidFill>
            <a:prstDash val="solid"/>
          </a:ln>
        </p:spPr>
      </p:sp>
      <p:sp>
        <p:nvSpPr>
          <p:cNvPr id="22" name="Text 19"/>
          <p:cNvSpPr/>
          <p:nvPr/>
        </p:nvSpPr>
        <p:spPr>
          <a:xfrm>
            <a:off x="5166360" y="2377440"/>
            <a:ext cx="365760" cy="365760"/>
          </a:xfrm>
          <a:prstGeom prst="rect">
            <a:avLst/>
          </a:prstGeom>
          <a:noFill/>
          <a:ln/>
        </p:spPr>
        <p:txBody>
          <a:bodyPr wrap="square" lIns="0" tIns="0" rIns="0" bIns="0" rtlCol="0" anchor="ctr"/>
          <a:lstStyle/>
          <a:p>
            <a:pPr marL="0" indent="0" algn="ctr">
              <a:buNone/>
            </a:pPr>
            <a:r>
              <a:rPr lang="en-US" sz="1000" b="1" dirty="0">
                <a:solidFill>
                  <a:srgbClr val="0B1D3A"/>
                </a:solidFill>
                <a:latin typeface="Calibri" pitchFamily="34" charset="0"/>
                <a:ea typeface="Calibri" pitchFamily="34" charset="-122"/>
                <a:cs typeface="Calibri" pitchFamily="34" charset="-120"/>
              </a:rPr>
              <a:t>03</a:t>
            </a:r>
            <a:endParaRPr lang="en-US" sz="1000" dirty="0"/>
          </a:p>
        </p:txBody>
      </p:sp>
      <p:sp>
        <p:nvSpPr>
          <p:cNvPr id="23" name="Text 20"/>
          <p:cNvSpPr/>
          <p:nvPr/>
        </p:nvSpPr>
        <p:spPr>
          <a:xfrm>
            <a:off x="5650992" y="2231136"/>
            <a:ext cx="3063240" cy="32918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Transaction Lifecycle</a:t>
            </a:r>
            <a:endParaRPr lang="en-US" sz="1250" dirty="0"/>
          </a:p>
        </p:txBody>
      </p:sp>
      <p:sp>
        <p:nvSpPr>
          <p:cNvPr id="24" name="Text 21"/>
          <p:cNvSpPr/>
          <p:nvPr/>
        </p:nvSpPr>
        <p:spPr>
          <a:xfrm>
            <a:off x="5650992" y="2578608"/>
            <a:ext cx="3063240" cy="274320"/>
          </a:xfrm>
          <a:prstGeom prst="rect">
            <a:avLst/>
          </a:prstGeom>
          <a:noFill/>
          <a:ln/>
        </p:spPr>
        <p:txBody>
          <a:bodyPr wrap="square" lIns="0" tIns="0" rIns="0" bIns="0" rtlCol="0" anchor="ctr"/>
          <a:lstStyle/>
          <a:p>
            <a:pPr marL="0" indent="0">
              <a:buNone/>
            </a:pPr>
            <a:r>
              <a:rPr lang="en-US" sz="950" i="1" dirty="0">
                <a:solidFill>
                  <a:srgbClr val="8FA5BF"/>
                </a:solidFill>
                <a:latin typeface="Calibri" pitchFamily="34" charset="0"/>
                <a:ea typeface="Calibri" pitchFamily="34" charset="-122"/>
                <a:cs typeface="Calibri" pitchFamily="34" charset="-120"/>
              </a:rPr>
              <a:t>Initiation → detection → hold</a:t>
            </a:r>
            <a:endParaRPr lang="en-US" sz="950" dirty="0"/>
          </a:p>
        </p:txBody>
      </p:sp>
      <p:sp>
        <p:nvSpPr>
          <p:cNvPr id="25" name="Shape 22"/>
          <p:cNvSpPr/>
          <p:nvPr/>
        </p:nvSpPr>
        <p:spPr>
          <a:xfrm>
            <a:off x="5029200" y="3072384"/>
            <a:ext cx="3840480" cy="768096"/>
          </a:xfrm>
          <a:prstGeom prst="roundRect">
            <a:avLst>
              <a:gd name="adj" fmla="val 10714"/>
            </a:avLst>
          </a:prstGeom>
          <a:solidFill>
            <a:srgbClr val="162D52"/>
          </a:solidFill>
          <a:ln w="12700">
            <a:solidFill>
              <a:srgbClr val="1E3A5F"/>
            </a:solidFill>
            <a:prstDash val="solid"/>
          </a:ln>
          <a:effectLst>
            <a:outerShdw blurRad="63500" dist="25400" dir="2700000" algn="bl" rotWithShape="0">
              <a:srgbClr val="000000">
                <a:alpha val="13000"/>
              </a:srgbClr>
            </a:outerShdw>
          </a:effectLst>
        </p:spPr>
      </p:sp>
      <p:sp>
        <p:nvSpPr>
          <p:cNvPr id="26" name="Shape 23"/>
          <p:cNvSpPr/>
          <p:nvPr/>
        </p:nvSpPr>
        <p:spPr>
          <a:xfrm>
            <a:off x="5166360" y="3273552"/>
            <a:ext cx="365760" cy="365760"/>
          </a:xfrm>
          <a:prstGeom prst="ellipse">
            <a:avLst/>
          </a:prstGeom>
          <a:solidFill>
            <a:srgbClr val="E8A020"/>
          </a:solidFill>
          <a:ln w="12700">
            <a:solidFill>
              <a:srgbClr val="E8A020"/>
            </a:solidFill>
            <a:prstDash val="solid"/>
          </a:ln>
        </p:spPr>
      </p:sp>
      <p:sp>
        <p:nvSpPr>
          <p:cNvPr id="27" name="Text 24"/>
          <p:cNvSpPr/>
          <p:nvPr/>
        </p:nvSpPr>
        <p:spPr>
          <a:xfrm>
            <a:off x="5166360" y="3273552"/>
            <a:ext cx="365760" cy="365760"/>
          </a:xfrm>
          <a:prstGeom prst="rect">
            <a:avLst/>
          </a:prstGeom>
          <a:noFill/>
          <a:ln/>
        </p:spPr>
        <p:txBody>
          <a:bodyPr wrap="square" lIns="0" tIns="0" rIns="0" bIns="0" rtlCol="0" anchor="ctr"/>
          <a:lstStyle/>
          <a:p>
            <a:pPr marL="0" indent="0" algn="ctr">
              <a:buNone/>
            </a:pPr>
            <a:r>
              <a:rPr lang="en-US" sz="1000" b="1" dirty="0">
                <a:solidFill>
                  <a:srgbClr val="0B1D3A"/>
                </a:solidFill>
                <a:latin typeface="Calibri" pitchFamily="34" charset="0"/>
                <a:ea typeface="Calibri" pitchFamily="34" charset="-122"/>
                <a:cs typeface="Calibri" pitchFamily="34" charset="-120"/>
              </a:rPr>
              <a:t>04</a:t>
            </a:r>
            <a:endParaRPr lang="en-US" sz="1000" dirty="0"/>
          </a:p>
        </p:txBody>
      </p:sp>
      <p:sp>
        <p:nvSpPr>
          <p:cNvPr id="28" name="Text 25"/>
          <p:cNvSpPr/>
          <p:nvPr/>
        </p:nvSpPr>
        <p:spPr>
          <a:xfrm>
            <a:off x="5650992" y="3127248"/>
            <a:ext cx="3063240" cy="32918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Advantages</a:t>
            </a:r>
            <a:endParaRPr lang="en-US" sz="1250" dirty="0"/>
          </a:p>
        </p:txBody>
      </p:sp>
      <p:sp>
        <p:nvSpPr>
          <p:cNvPr id="29" name="Text 26"/>
          <p:cNvSpPr/>
          <p:nvPr/>
        </p:nvSpPr>
        <p:spPr>
          <a:xfrm>
            <a:off x="5650992" y="3474720"/>
            <a:ext cx="3063240" cy="274320"/>
          </a:xfrm>
          <a:prstGeom prst="rect">
            <a:avLst/>
          </a:prstGeom>
          <a:noFill/>
          <a:ln/>
        </p:spPr>
        <p:txBody>
          <a:bodyPr wrap="square" lIns="0" tIns="0" rIns="0" bIns="0" rtlCol="0" anchor="ctr"/>
          <a:lstStyle/>
          <a:p>
            <a:pPr marL="0" indent="0">
              <a:buNone/>
            </a:pPr>
            <a:r>
              <a:rPr lang="en-US" sz="950" i="1" dirty="0">
                <a:solidFill>
                  <a:srgbClr val="8FA5BF"/>
                </a:solidFill>
                <a:latin typeface="Calibri" pitchFamily="34" charset="0"/>
                <a:ea typeface="Calibri" pitchFamily="34" charset="-122"/>
                <a:cs typeface="Calibri" pitchFamily="34" charset="-120"/>
              </a:rPr>
              <a:t>8 key benefits vs legacy</a:t>
            </a:r>
            <a:endParaRPr lang="en-US" sz="950" dirty="0"/>
          </a:p>
        </p:txBody>
      </p:sp>
      <p:sp>
        <p:nvSpPr>
          <p:cNvPr id="30" name="Shape 27"/>
          <p:cNvSpPr/>
          <p:nvPr/>
        </p:nvSpPr>
        <p:spPr>
          <a:xfrm>
            <a:off x="5029200" y="3968496"/>
            <a:ext cx="3840480" cy="768096"/>
          </a:xfrm>
          <a:prstGeom prst="roundRect">
            <a:avLst>
              <a:gd name="adj" fmla="val 10714"/>
            </a:avLst>
          </a:prstGeom>
          <a:solidFill>
            <a:srgbClr val="162D52"/>
          </a:solidFill>
          <a:ln w="12700">
            <a:solidFill>
              <a:srgbClr val="1E3A5F"/>
            </a:solidFill>
            <a:prstDash val="solid"/>
          </a:ln>
          <a:effectLst>
            <a:outerShdw blurRad="63500" dist="25400" dir="2700000" algn="bl" rotWithShape="0">
              <a:srgbClr val="000000">
                <a:alpha val="13000"/>
              </a:srgbClr>
            </a:outerShdw>
          </a:effectLst>
        </p:spPr>
      </p:sp>
      <p:sp>
        <p:nvSpPr>
          <p:cNvPr id="31" name="Shape 28"/>
          <p:cNvSpPr/>
          <p:nvPr/>
        </p:nvSpPr>
        <p:spPr>
          <a:xfrm>
            <a:off x="5166360" y="4169664"/>
            <a:ext cx="365760" cy="365760"/>
          </a:xfrm>
          <a:prstGeom prst="ellipse">
            <a:avLst/>
          </a:prstGeom>
          <a:solidFill>
            <a:srgbClr val="E8A020"/>
          </a:solidFill>
          <a:ln w="12700">
            <a:solidFill>
              <a:srgbClr val="E8A020"/>
            </a:solidFill>
            <a:prstDash val="solid"/>
          </a:ln>
        </p:spPr>
      </p:sp>
      <p:sp>
        <p:nvSpPr>
          <p:cNvPr id="32" name="Text 29"/>
          <p:cNvSpPr/>
          <p:nvPr/>
        </p:nvSpPr>
        <p:spPr>
          <a:xfrm>
            <a:off x="5166360" y="4169664"/>
            <a:ext cx="365760" cy="365760"/>
          </a:xfrm>
          <a:prstGeom prst="rect">
            <a:avLst/>
          </a:prstGeom>
          <a:noFill/>
          <a:ln/>
        </p:spPr>
        <p:txBody>
          <a:bodyPr wrap="square" lIns="0" tIns="0" rIns="0" bIns="0" rtlCol="0" anchor="ctr"/>
          <a:lstStyle/>
          <a:p>
            <a:pPr marL="0" indent="0" algn="ctr">
              <a:buNone/>
            </a:pPr>
            <a:r>
              <a:rPr lang="en-US" sz="1000" b="1" dirty="0">
                <a:solidFill>
                  <a:srgbClr val="0B1D3A"/>
                </a:solidFill>
                <a:latin typeface="Calibri" pitchFamily="34" charset="0"/>
                <a:ea typeface="Calibri" pitchFamily="34" charset="-122"/>
                <a:cs typeface="Calibri" pitchFamily="34" charset="-120"/>
              </a:rPr>
              <a:t>05</a:t>
            </a:r>
            <a:endParaRPr lang="en-US" sz="1000" dirty="0"/>
          </a:p>
        </p:txBody>
      </p:sp>
      <p:sp>
        <p:nvSpPr>
          <p:cNvPr id="33" name="Text 30"/>
          <p:cNvSpPr/>
          <p:nvPr/>
        </p:nvSpPr>
        <p:spPr>
          <a:xfrm>
            <a:off x="5650992" y="4023360"/>
            <a:ext cx="3063240" cy="32918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Limitations &amp; Risks</a:t>
            </a:r>
            <a:endParaRPr lang="en-US" sz="1250" dirty="0"/>
          </a:p>
        </p:txBody>
      </p:sp>
      <p:sp>
        <p:nvSpPr>
          <p:cNvPr id="34" name="Text 31"/>
          <p:cNvSpPr/>
          <p:nvPr/>
        </p:nvSpPr>
        <p:spPr>
          <a:xfrm>
            <a:off x="5650992" y="4370832"/>
            <a:ext cx="3063240" cy="274320"/>
          </a:xfrm>
          <a:prstGeom prst="rect">
            <a:avLst/>
          </a:prstGeom>
          <a:noFill/>
          <a:ln/>
        </p:spPr>
        <p:txBody>
          <a:bodyPr wrap="square" lIns="0" tIns="0" rIns="0" bIns="0" rtlCol="0" anchor="ctr"/>
          <a:lstStyle/>
          <a:p>
            <a:pPr marL="0" indent="0">
              <a:buNone/>
            </a:pPr>
            <a:r>
              <a:rPr lang="en-US" sz="950" i="1" dirty="0">
                <a:solidFill>
                  <a:srgbClr val="8FA5BF"/>
                </a:solidFill>
                <a:latin typeface="Calibri" pitchFamily="34" charset="0"/>
                <a:ea typeface="Calibri" pitchFamily="34" charset="-122"/>
                <a:cs typeface="Calibri" pitchFamily="34" charset="-120"/>
              </a:rPr>
              <a:t>Honest challenges &amp; mitigations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1D3A"/>
          </a:solidFill>
          <a:ln w="12700">
            <a:solidFill>
              <a:srgbClr val="0B1D3A"/>
            </a:solidFill>
            <a:prstDash val="solid"/>
          </a:ln>
        </p:spPr>
      </p:sp>
      <p:sp>
        <p:nvSpPr>
          <p:cNvPr id="3" name="Text 1"/>
          <p:cNvSpPr/>
          <p:nvPr/>
        </p:nvSpPr>
        <p:spPr>
          <a:xfrm>
            <a:off x="365760" y="91440"/>
            <a:ext cx="8229600" cy="347472"/>
          </a:xfrm>
          <a:prstGeom prst="rect">
            <a:avLst/>
          </a:prstGeom>
          <a:noFill/>
          <a:ln/>
        </p:spPr>
        <p:txBody>
          <a:bodyPr wrap="square" lIns="0" tIns="0" rIns="0" bIns="0" rtlCol="0" anchor="ctr"/>
          <a:lstStyle/>
          <a:p>
            <a:pPr marL="0" indent="0">
              <a:buNone/>
            </a:pPr>
            <a:r>
              <a:rPr lang="en-US" sz="1000" b="1" kern="0" spc="300" dirty="0">
                <a:solidFill>
                  <a:srgbClr val="E8A020"/>
                </a:solidFill>
                <a:latin typeface="Calibri" pitchFamily="34" charset="0"/>
                <a:ea typeface="Calibri" pitchFamily="34" charset="-122"/>
                <a:cs typeface="Calibri" pitchFamily="34" charset="-120"/>
              </a:rPr>
              <a:t>TECHNOLOGY SELECTION</a:t>
            </a:r>
            <a:endParaRPr lang="en-US" sz="1000" dirty="0"/>
          </a:p>
        </p:txBody>
      </p:sp>
      <p:sp>
        <p:nvSpPr>
          <p:cNvPr id="4" name="Text 2"/>
          <p:cNvSpPr/>
          <p:nvPr/>
        </p:nvSpPr>
        <p:spPr>
          <a:xfrm>
            <a:off x="365760" y="457200"/>
            <a:ext cx="8229600" cy="420624"/>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Why Hyperledger Fabric — and Why Not the Alternatives</a:t>
            </a:r>
            <a:endParaRPr lang="en-US" sz="1700" dirty="0"/>
          </a:p>
        </p:txBody>
      </p:sp>
      <p:sp>
        <p:nvSpPr>
          <p:cNvPr id="5" name="Shape 3"/>
          <p:cNvSpPr/>
          <p:nvPr/>
        </p:nvSpPr>
        <p:spPr>
          <a:xfrm>
            <a:off x="274320" y="1078992"/>
            <a:ext cx="8595360" cy="384048"/>
          </a:xfrm>
          <a:prstGeom prst="rect">
            <a:avLst/>
          </a:prstGeom>
          <a:solidFill>
            <a:srgbClr val="0B1D3A"/>
          </a:solidFill>
          <a:ln w="12700">
            <a:solidFill>
              <a:srgbClr val="0B1D3A"/>
            </a:solidFill>
            <a:prstDash val="solid"/>
          </a:ln>
        </p:spPr>
      </p:sp>
      <p:sp>
        <p:nvSpPr>
          <p:cNvPr id="6" name="Text 4"/>
          <p:cNvSpPr/>
          <p:nvPr/>
        </p:nvSpPr>
        <p:spPr>
          <a:xfrm>
            <a:off x="347472" y="1115568"/>
            <a:ext cx="1828800" cy="31089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Criteria</a:t>
            </a:r>
            <a:endParaRPr lang="en-US" sz="950" dirty="0"/>
          </a:p>
        </p:txBody>
      </p:sp>
      <p:sp>
        <p:nvSpPr>
          <p:cNvPr id="7" name="Text 5"/>
          <p:cNvSpPr/>
          <p:nvPr/>
        </p:nvSpPr>
        <p:spPr>
          <a:xfrm>
            <a:off x="2286000" y="1115568"/>
            <a:ext cx="1600200" cy="31089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Hyperledger Fabric</a:t>
            </a:r>
            <a:endParaRPr lang="en-US" sz="950" dirty="0"/>
          </a:p>
        </p:txBody>
      </p:sp>
      <p:sp>
        <p:nvSpPr>
          <p:cNvPr id="8" name="Text 6"/>
          <p:cNvSpPr/>
          <p:nvPr/>
        </p:nvSpPr>
        <p:spPr>
          <a:xfrm>
            <a:off x="3995928" y="1115568"/>
            <a:ext cx="1600200" cy="31089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Ethereum / Quorum</a:t>
            </a:r>
            <a:endParaRPr lang="en-US" sz="950" dirty="0"/>
          </a:p>
        </p:txBody>
      </p:sp>
      <p:sp>
        <p:nvSpPr>
          <p:cNvPr id="9" name="Text 7"/>
          <p:cNvSpPr/>
          <p:nvPr/>
        </p:nvSpPr>
        <p:spPr>
          <a:xfrm>
            <a:off x="5705856" y="1115568"/>
            <a:ext cx="1600200" cy="31089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R3 Corda</a:t>
            </a:r>
            <a:endParaRPr lang="en-US" sz="950" dirty="0"/>
          </a:p>
        </p:txBody>
      </p:sp>
      <p:sp>
        <p:nvSpPr>
          <p:cNvPr id="10" name="Text 8"/>
          <p:cNvSpPr/>
          <p:nvPr/>
        </p:nvSpPr>
        <p:spPr>
          <a:xfrm>
            <a:off x="7415784" y="1115568"/>
            <a:ext cx="1417320" cy="31089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Private DB / MQ</a:t>
            </a:r>
            <a:endParaRPr lang="en-US" sz="950" dirty="0"/>
          </a:p>
        </p:txBody>
      </p:sp>
      <p:sp>
        <p:nvSpPr>
          <p:cNvPr id="11" name="Shape 9"/>
          <p:cNvSpPr/>
          <p:nvPr/>
        </p:nvSpPr>
        <p:spPr>
          <a:xfrm>
            <a:off x="274320" y="1481328"/>
            <a:ext cx="8595360" cy="420624"/>
          </a:xfrm>
          <a:prstGeom prst="rect">
            <a:avLst/>
          </a:prstGeom>
          <a:solidFill>
            <a:srgbClr val="FFFFFF"/>
          </a:solidFill>
          <a:ln w="12700">
            <a:solidFill>
              <a:srgbClr val="DDE4EF"/>
            </a:solidFill>
            <a:prstDash val="solid"/>
          </a:ln>
        </p:spPr>
      </p:sp>
      <p:sp>
        <p:nvSpPr>
          <p:cNvPr id="12" name="Shape 10"/>
          <p:cNvSpPr/>
          <p:nvPr/>
        </p:nvSpPr>
        <p:spPr>
          <a:xfrm>
            <a:off x="2212848" y="1481328"/>
            <a:ext cx="1691640" cy="420624"/>
          </a:xfrm>
          <a:prstGeom prst="rect">
            <a:avLst/>
          </a:prstGeom>
          <a:solidFill>
            <a:srgbClr val="E6F7F4"/>
          </a:solidFill>
          <a:ln w="12700">
            <a:solidFill>
              <a:srgbClr val="C2EBE5"/>
            </a:solidFill>
            <a:prstDash val="solid"/>
          </a:ln>
        </p:spPr>
      </p:sp>
      <p:sp>
        <p:nvSpPr>
          <p:cNvPr id="13" name="Text 11"/>
          <p:cNvSpPr/>
          <p:nvPr/>
        </p:nvSpPr>
        <p:spPr>
          <a:xfrm>
            <a:off x="347472" y="1517904"/>
            <a:ext cx="1810512" cy="347472"/>
          </a:xfrm>
          <a:prstGeom prst="rect">
            <a:avLst/>
          </a:prstGeom>
          <a:noFill/>
          <a:ln/>
        </p:spPr>
        <p:txBody>
          <a:bodyPr wrap="square" lIns="0" tIns="0" rIns="0" bIns="0" rtlCol="0" anchor="ctr"/>
          <a:lstStyle/>
          <a:p>
            <a:pPr marL="0" indent="0">
              <a:buNone/>
            </a:pPr>
            <a:r>
              <a:rPr lang="en-US" sz="880" dirty="0">
                <a:solidFill>
                  <a:srgbClr val="2D3A4A"/>
                </a:solidFill>
                <a:latin typeface="Calibri" pitchFamily="34" charset="0"/>
                <a:ea typeface="Calibri" pitchFamily="34" charset="-122"/>
                <a:cs typeface="Calibri" pitchFamily="34" charset="-120"/>
              </a:rPr>
              <a:t>Permissioned</a:t>
            </a:r>
            <a:endParaRPr lang="en-US" sz="880" dirty="0"/>
          </a:p>
          <a:p>
            <a:pPr marL="0" indent="0">
              <a:buNone/>
            </a:pPr>
            <a:r>
              <a:rPr lang="en-US" sz="880" dirty="0">
                <a:solidFill>
                  <a:srgbClr val="2D3A4A"/>
                </a:solidFill>
                <a:latin typeface="Calibri" pitchFamily="34" charset="0"/>
                <a:ea typeface="Calibri" pitchFamily="34" charset="-122"/>
                <a:cs typeface="Calibri" pitchFamily="34" charset="-120"/>
              </a:rPr>
              <a:t>(no public exposure)</a:t>
            </a:r>
            <a:endParaRPr lang="en-US" sz="880" dirty="0"/>
          </a:p>
        </p:txBody>
      </p:sp>
      <p:sp>
        <p:nvSpPr>
          <p:cNvPr id="14" name="Text 12"/>
          <p:cNvSpPr/>
          <p:nvPr/>
        </p:nvSpPr>
        <p:spPr>
          <a:xfrm>
            <a:off x="2286000" y="1517904"/>
            <a:ext cx="1581912" cy="347472"/>
          </a:xfrm>
          <a:prstGeom prst="rect">
            <a:avLst/>
          </a:prstGeom>
          <a:noFill/>
          <a:ln/>
        </p:spPr>
        <p:txBody>
          <a:bodyPr wrap="square" lIns="0" tIns="0" rIns="0" bIns="0" rtlCol="0" anchor="ctr"/>
          <a:lstStyle/>
          <a:p>
            <a:pPr marL="0" indent="0">
              <a:buNone/>
            </a:pPr>
            <a:r>
              <a:rPr lang="en-US" sz="880" b="1" dirty="0">
                <a:solidFill>
                  <a:srgbClr val="0A6D3D"/>
                </a:solidFill>
                <a:latin typeface="Calibri" pitchFamily="34" charset="0"/>
                <a:ea typeface="Calibri" pitchFamily="34" charset="-122"/>
                <a:cs typeface="Calibri" pitchFamily="34" charset="-120"/>
              </a:rPr>
              <a:t>✓ Yes</a:t>
            </a:r>
            <a:endParaRPr lang="en-US" sz="880" dirty="0"/>
          </a:p>
        </p:txBody>
      </p:sp>
      <p:sp>
        <p:nvSpPr>
          <p:cNvPr id="15" name="Text 13"/>
          <p:cNvSpPr/>
          <p:nvPr/>
        </p:nvSpPr>
        <p:spPr>
          <a:xfrm>
            <a:off x="3995928" y="1517904"/>
            <a:ext cx="1581912" cy="347472"/>
          </a:xfrm>
          <a:prstGeom prst="rect">
            <a:avLst/>
          </a:prstGeom>
          <a:noFill/>
          <a:ln/>
        </p:spPr>
        <p:txBody>
          <a:bodyPr wrap="square" lIns="0" tIns="0" rIns="0" bIns="0" rtlCol="0" anchor="ctr"/>
          <a:lstStyle/>
          <a:p>
            <a:pPr marL="0" indent="0">
              <a:buNone/>
            </a:pPr>
            <a:r>
              <a:rPr lang="en-US" sz="880" dirty="0">
                <a:solidFill>
                  <a:srgbClr val="A05C00"/>
                </a:solidFill>
                <a:latin typeface="Calibri" pitchFamily="34" charset="0"/>
                <a:ea typeface="Calibri" pitchFamily="34" charset="-122"/>
                <a:cs typeface="Calibri" pitchFamily="34" charset="-120"/>
              </a:rPr>
              <a:t>⚠ Public / configurable</a:t>
            </a:r>
            <a:endParaRPr lang="en-US" sz="880" dirty="0"/>
          </a:p>
        </p:txBody>
      </p:sp>
      <p:sp>
        <p:nvSpPr>
          <p:cNvPr id="16" name="Text 14"/>
          <p:cNvSpPr/>
          <p:nvPr/>
        </p:nvSpPr>
        <p:spPr>
          <a:xfrm>
            <a:off x="5705856" y="1517904"/>
            <a:ext cx="1581912" cy="347472"/>
          </a:xfrm>
          <a:prstGeom prst="rect">
            <a:avLst/>
          </a:prstGeom>
          <a:noFill/>
          <a:ln/>
        </p:spPr>
        <p:txBody>
          <a:bodyPr wrap="square" lIns="0" tIns="0" rIns="0" bIns="0" rtlCol="0" anchor="ctr"/>
          <a:lstStyle/>
          <a:p>
            <a:pPr marL="0" indent="0">
              <a:buNone/>
            </a:pPr>
            <a:r>
              <a:rPr lang="en-US" sz="880" dirty="0">
                <a:solidFill>
                  <a:srgbClr val="0A6D3D"/>
                </a:solidFill>
                <a:latin typeface="Calibri" pitchFamily="34" charset="0"/>
                <a:ea typeface="Calibri" pitchFamily="34" charset="-122"/>
                <a:cs typeface="Calibri" pitchFamily="34" charset="-120"/>
              </a:rPr>
              <a:t>✓ Yes</a:t>
            </a:r>
            <a:endParaRPr lang="en-US" sz="880" dirty="0"/>
          </a:p>
        </p:txBody>
      </p:sp>
      <p:sp>
        <p:nvSpPr>
          <p:cNvPr id="17" name="Text 15"/>
          <p:cNvSpPr/>
          <p:nvPr/>
        </p:nvSpPr>
        <p:spPr>
          <a:xfrm>
            <a:off x="7415784" y="1517904"/>
            <a:ext cx="1399032" cy="347472"/>
          </a:xfrm>
          <a:prstGeom prst="rect">
            <a:avLst/>
          </a:prstGeom>
          <a:noFill/>
          <a:ln/>
        </p:spPr>
        <p:txBody>
          <a:bodyPr wrap="square" lIns="0" tIns="0" rIns="0" bIns="0" rtlCol="0" anchor="ctr"/>
          <a:lstStyle/>
          <a:p>
            <a:pPr marL="0" indent="0">
              <a:buNone/>
            </a:pPr>
            <a:r>
              <a:rPr lang="en-US" sz="880" dirty="0">
                <a:solidFill>
                  <a:srgbClr val="0A6D3D"/>
                </a:solidFill>
                <a:latin typeface="Calibri" pitchFamily="34" charset="0"/>
                <a:ea typeface="Calibri" pitchFamily="34" charset="-122"/>
                <a:cs typeface="Calibri" pitchFamily="34" charset="-120"/>
              </a:rPr>
              <a:t>✓ Yes</a:t>
            </a:r>
            <a:endParaRPr lang="en-US" sz="880" dirty="0"/>
          </a:p>
        </p:txBody>
      </p:sp>
      <p:sp>
        <p:nvSpPr>
          <p:cNvPr id="18" name="Shape 16"/>
          <p:cNvSpPr/>
          <p:nvPr/>
        </p:nvSpPr>
        <p:spPr>
          <a:xfrm>
            <a:off x="274320" y="1920240"/>
            <a:ext cx="8595360" cy="420624"/>
          </a:xfrm>
          <a:prstGeom prst="rect">
            <a:avLst/>
          </a:prstGeom>
          <a:solidFill>
            <a:srgbClr val="F4F6FA"/>
          </a:solidFill>
          <a:ln w="12700">
            <a:solidFill>
              <a:srgbClr val="DDE4EF"/>
            </a:solidFill>
            <a:prstDash val="solid"/>
          </a:ln>
        </p:spPr>
      </p:sp>
      <p:sp>
        <p:nvSpPr>
          <p:cNvPr id="19" name="Shape 17"/>
          <p:cNvSpPr/>
          <p:nvPr/>
        </p:nvSpPr>
        <p:spPr>
          <a:xfrm>
            <a:off x="2212848" y="1920240"/>
            <a:ext cx="1691640" cy="420624"/>
          </a:xfrm>
          <a:prstGeom prst="rect">
            <a:avLst/>
          </a:prstGeom>
          <a:solidFill>
            <a:srgbClr val="E6F7F4"/>
          </a:solidFill>
          <a:ln w="12700">
            <a:solidFill>
              <a:srgbClr val="C2EBE5"/>
            </a:solidFill>
            <a:prstDash val="solid"/>
          </a:ln>
        </p:spPr>
      </p:sp>
      <p:sp>
        <p:nvSpPr>
          <p:cNvPr id="20" name="Text 18"/>
          <p:cNvSpPr/>
          <p:nvPr/>
        </p:nvSpPr>
        <p:spPr>
          <a:xfrm>
            <a:off x="347472" y="1956816"/>
            <a:ext cx="1810512" cy="347472"/>
          </a:xfrm>
          <a:prstGeom prst="rect">
            <a:avLst/>
          </a:prstGeom>
          <a:noFill/>
          <a:ln/>
        </p:spPr>
        <p:txBody>
          <a:bodyPr wrap="square" lIns="0" tIns="0" rIns="0" bIns="0" rtlCol="0" anchor="ctr"/>
          <a:lstStyle/>
          <a:p>
            <a:pPr marL="0" indent="0">
              <a:buNone/>
            </a:pPr>
            <a:r>
              <a:rPr lang="en-US" sz="880" dirty="0">
                <a:solidFill>
                  <a:srgbClr val="2D3A4A"/>
                </a:solidFill>
                <a:latin typeface="Calibri" pitchFamily="34" charset="0"/>
                <a:ea typeface="Calibri" pitchFamily="34" charset="-122"/>
                <a:cs typeface="Calibri" pitchFamily="34" charset="-120"/>
              </a:rPr>
              <a:t>Crypto tokens</a:t>
            </a:r>
            <a:endParaRPr lang="en-US" sz="880" dirty="0"/>
          </a:p>
          <a:p>
            <a:pPr marL="0" indent="0">
              <a:buNone/>
            </a:pPr>
            <a:r>
              <a:rPr lang="en-US" sz="880" dirty="0">
                <a:solidFill>
                  <a:srgbClr val="2D3A4A"/>
                </a:solidFill>
                <a:latin typeface="Calibri" pitchFamily="34" charset="0"/>
                <a:ea typeface="Calibri" pitchFamily="34" charset="-122"/>
                <a:cs typeface="Calibri" pitchFamily="34" charset="-120"/>
              </a:rPr>
              <a:t>required</a:t>
            </a:r>
            <a:endParaRPr lang="en-US" sz="880" dirty="0"/>
          </a:p>
        </p:txBody>
      </p:sp>
      <p:sp>
        <p:nvSpPr>
          <p:cNvPr id="21" name="Text 19"/>
          <p:cNvSpPr/>
          <p:nvPr/>
        </p:nvSpPr>
        <p:spPr>
          <a:xfrm>
            <a:off x="2286000" y="1956816"/>
            <a:ext cx="1581912" cy="347472"/>
          </a:xfrm>
          <a:prstGeom prst="rect">
            <a:avLst/>
          </a:prstGeom>
          <a:noFill/>
          <a:ln/>
        </p:spPr>
        <p:txBody>
          <a:bodyPr wrap="square" lIns="0" tIns="0" rIns="0" bIns="0" rtlCol="0" anchor="ctr"/>
          <a:lstStyle/>
          <a:p>
            <a:pPr marL="0" indent="0">
              <a:buNone/>
            </a:pPr>
            <a:r>
              <a:rPr lang="en-US" sz="880" b="1" dirty="0">
                <a:solidFill>
                  <a:srgbClr val="0A6D3D"/>
                </a:solidFill>
                <a:latin typeface="Calibri" pitchFamily="34" charset="0"/>
                <a:ea typeface="Calibri" pitchFamily="34" charset="-122"/>
                <a:cs typeface="Calibri" pitchFamily="34" charset="-120"/>
              </a:rPr>
              <a:t>✓ None</a:t>
            </a:r>
            <a:endParaRPr lang="en-US" sz="880" dirty="0"/>
          </a:p>
        </p:txBody>
      </p:sp>
      <p:sp>
        <p:nvSpPr>
          <p:cNvPr id="22" name="Text 20"/>
          <p:cNvSpPr/>
          <p:nvPr/>
        </p:nvSpPr>
        <p:spPr>
          <a:xfrm>
            <a:off x="3995928" y="1956816"/>
            <a:ext cx="1581912" cy="347472"/>
          </a:xfrm>
          <a:prstGeom prst="rect">
            <a:avLst/>
          </a:prstGeom>
          <a:noFill/>
          <a:ln/>
        </p:spPr>
        <p:txBody>
          <a:bodyPr wrap="square" lIns="0" tIns="0" rIns="0" bIns="0" rtlCol="0" anchor="ctr"/>
          <a:lstStyle/>
          <a:p>
            <a:pPr marL="0" indent="0">
              <a:buNone/>
            </a:pPr>
            <a:r>
              <a:rPr lang="en-US" sz="880" dirty="0">
                <a:solidFill>
                  <a:srgbClr val="8B0000"/>
                </a:solidFill>
                <a:latin typeface="Calibri" pitchFamily="34" charset="0"/>
                <a:ea typeface="Calibri" pitchFamily="34" charset="-122"/>
                <a:cs typeface="Calibri" pitchFamily="34" charset="-120"/>
              </a:rPr>
              <a:t>✗ ETH / Gas fees</a:t>
            </a:r>
            <a:endParaRPr lang="en-US" sz="880" dirty="0"/>
          </a:p>
        </p:txBody>
      </p:sp>
      <p:sp>
        <p:nvSpPr>
          <p:cNvPr id="23" name="Text 21"/>
          <p:cNvSpPr/>
          <p:nvPr/>
        </p:nvSpPr>
        <p:spPr>
          <a:xfrm>
            <a:off x="5705856" y="1956816"/>
            <a:ext cx="1581912" cy="347472"/>
          </a:xfrm>
          <a:prstGeom prst="rect">
            <a:avLst/>
          </a:prstGeom>
          <a:noFill/>
          <a:ln/>
        </p:spPr>
        <p:txBody>
          <a:bodyPr wrap="square" lIns="0" tIns="0" rIns="0" bIns="0" rtlCol="0" anchor="ctr"/>
          <a:lstStyle/>
          <a:p>
            <a:pPr marL="0" indent="0">
              <a:buNone/>
            </a:pPr>
            <a:r>
              <a:rPr lang="en-US" sz="880" dirty="0">
                <a:solidFill>
                  <a:srgbClr val="0A6D3D"/>
                </a:solidFill>
                <a:latin typeface="Calibri" pitchFamily="34" charset="0"/>
                <a:ea typeface="Calibri" pitchFamily="34" charset="-122"/>
                <a:cs typeface="Calibri" pitchFamily="34" charset="-120"/>
              </a:rPr>
              <a:t>✓ None</a:t>
            </a:r>
            <a:endParaRPr lang="en-US" sz="880" dirty="0"/>
          </a:p>
        </p:txBody>
      </p:sp>
      <p:sp>
        <p:nvSpPr>
          <p:cNvPr id="24" name="Text 22"/>
          <p:cNvSpPr/>
          <p:nvPr/>
        </p:nvSpPr>
        <p:spPr>
          <a:xfrm>
            <a:off x="7415784" y="1956816"/>
            <a:ext cx="1399032" cy="347472"/>
          </a:xfrm>
          <a:prstGeom prst="rect">
            <a:avLst/>
          </a:prstGeom>
          <a:noFill/>
          <a:ln/>
        </p:spPr>
        <p:txBody>
          <a:bodyPr wrap="square" lIns="0" tIns="0" rIns="0" bIns="0" rtlCol="0" anchor="ctr"/>
          <a:lstStyle/>
          <a:p>
            <a:pPr marL="0" indent="0">
              <a:buNone/>
            </a:pPr>
            <a:r>
              <a:rPr lang="en-US" sz="880" dirty="0">
                <a:solidFill>
                  <a:srgbClr val="0A6D3D"/>
                </a:solidFill>
                <a:latin typeface="Calibri" pitchFamily="34" charset="0"/>
                <a:ea typeface="Calibri" pitchFamily="34" charset="-122"/>
                <a:cs typeface="Calibri" pitchFamily="34" charset="-120"/>
              </a:rPr>
              <a:t>✓ None</a:t>
            </a:r>
            <a:endParaRPr lang="en-US" sz="880" dirty="0"/>
          </a:p>
        </p:txBody>
      </p:sp>
      <p:sp>
        <p:nvSpPr>
          <p:cNvPr id="25" name="Shape 23"/>
          <p:cNvSpPr/>
          <p:nvPr/>
        </p:nvSpPr>
        <p:spPr>
          <a:xfrm>
            <a:off x="274320" y="2359152"/>
            <a:ext cx="8595360" cy="420624"/>
          </a:xfrm>
          <a:prstGeom prst="rect">
            <a:avLst/>
          </a:prstGeom>
          <a:solidFill>
            <a:srgbClr val="FFFFFF"/>
          </a:solidFill>
          <a:ln w="12700">
            <a:solidFill>
              <a:srgbClr val="DDE4EF"/>
            </a:solidFill>
            <a:prstDash val="solid"/>
          </a:ln>
        </p:spPr>
      </p:sp>
      <p:sp>
        <p:nvSpPr>
          <p:cNvPr id="26" name="Shape 24"/>
          <p:cNvSpPr/>
          <p:nvPr/>
        </p:nvSpPr>
        <p:spPr>
          <a:xfrm>
            <a:off x="2212848" y="2359152"/>
            <a:ext cx="1691640" cy="420624"/>
          </a:xfrm>
          <a:prstGeom prst="rect">
            <a:avLst/>
          </a:prstGeom>
          <a:solidFill>
            <a:srgbClr val="E6F7F4"/>
          </a:solidFill>
          <a:ln w="12700">
            <a:solidFill>
              <a:srgbClr val="C2EBE5"/>
            </a:solidFill>
            <a:prstDash val="solid"/>
          </a:ln>
        </p:spPr>
      </p:sp>
      <p:sp>
        <p:nvSpPr>
          <p:cNvPr id="27" name="Text 25"/>
          <p:cNvSpPr/>
          <p:nvPr/>
        </p:nvSpPr>
        <p:spPr>
          <a:xfrm>
            <a:off x="347472" y="2395728"/>
            <a:ext cx="1810512" cy="347472"/>
          </a:xfrm>
          <a:prstGeom prst="rect">
            <a:avLst/>
          </a:prstGeom>
          <a:noFill/>
          <a:ln/>
        </p:spPr>
        <p:txBody>
          <a:bodyPr wrap="square" lIns="0" tIns="0" rIns="0" bIns="0" rtlCol="0" anchor="ctr"/>
          <a:lstStyle/>
          <a:p>
            <a:pPr marL="0" indent="0">
              <a:buNone/>
            </a:pPr>
            <a:r>
              <a:rPr lang="en-US" sz="880" dirty="0">
                <a:solidFill>
                  <a:srgbClr val="2D3A4A"/>
                </a:solidFill>
                <a:latin typeface="Calibri" pitchFamily="34" charset="0"/>
                <a:ea typeface="Calibri" pitchFamily="34" charset="-122"/>
                <a:cs typeface="Calibri" pitchFamily="34" charset="-120"/>
              </a:rPr>
              <a:t>Smart contract</a:t>
            </a:r>
            <a:endParaRPr lang="en-US" sz="880" dirty="0"/>
          </a:p>
          <a:p>
            <a:pPr marL="0" indent="0">
              <a:buNone/>
            </a:pPr>
            <a:r>
              <a:rPr lang="en-US" sz="880" dirty="0">
                <a:solidFill>
                  <a:srgbClr val="2D3A4A"/>
                </a:solidFill>
                <a:latin typeface="Calibri" pitchFamily="34" charset="0"/>
                <a:ea typeface="Calibri" pitchFamily="34" charset="-122"/>
                <a:cs typeface="Calibri" pitchFamily="34" charset="-120"/>
              </a:rPr>
              <a:t>language</a:t>
            </a:r>
            <a:endParaRPr lang="en-US" sz="880" dirty="0"/>
          </a:p>
        </p:txBody>
      </p:sp>
      <p:sp>
        <p:nvSpPr>
          <p:cNvPr id="28" name="Text 26"/>
          <p:cNvSpPr/>
          <p:nvPr/>
        </p:nvSpPr>
        <p:spPr>
          <a:xfrm>
            <a:off x="2286000" y="2395728"/>
            <a:ext cx="1581912" cy="347472"/>
          </a:xfrm>
          <a:prstGeom prst="rect">
            <a:avLst/>
          </a:prstGeom>
          <a:noFill/>
          <a:ln/>
        </p:spPr>
        <p:txBody>
          <a:bodyPr wrap="square" lIns="0" tIns="0" rIns="0" bIns="0" rtlCol="0" anchor="ctr"/>
          <a:lstStyle/>
          <a:p>
            <a:pPr marL="0" indent="0">
              <a:buNone/>
            </a:pPr>
            <a:r>
              <a:rPr lang="en-US" sz="880" b="1" dirty="0">
                <a:solidFill>
                  <a:srgbClr val="0A6D3D"/>
                </a:solidFill>
                <a:latin typeface="Calibri" pitchFamily="34" charset="0"/>
                <a:ea typeface="Calibri" pitchFamily="34" charset="-122"/>
                <a:cs typeface="Calibri" pitchFamily="34" charset="-120"/>
              </a:rPr>
              <a:t>✓ Go / Java / Node</a:t>
            </a:r>
            <a:endParaRPr lang="en-US" sz="880" dirty="0"/>
          </a:p>
        </p:txBody>
      </p:sp>
      <p:sp>
        <p:nvSpPr>
          <p:cNvPr id="29" name="Text 27"/>
          <p:cNvSpPr/>
          <p:nvPr/>
        </p:nvSpPr>
        <p:spPr>
          <a:xfrm>
            <a:off x="3995928" y="2395728"/>
            <a:ext cx="1581912" cy="347472"/>
          </a:xfrm>
          <a:prstGeom prst="rect">
            <a:avLst/>
          </a:prstGeom>
          <a:noFill/>
          <a:ln/>
        </p:spPr>
        <p:txBody>
          <a:bodyPr wrap="square" lIns="0" tIns="0" rIns="0" bIns="0" rtlCol="0" anchor="ctr"/>
          <a:lstStyle/>
          <a:p>
            <a:pPr marL="0" indent="0">
              <a:buNone/>
            </a:pPr>
            <a:r>
              <a:rPr lang="en-US" sz="880" dirty="0">
                <a:solidFill>
                  <a:srgbClr val="0A6D3D"/>
                </a:solidFill>
                <a:latin typeface="Calibri" pitchFamily="34" charset="0"/>
                <a:ea typeface="Calibri" pitchFamily="34" charset="-122"/>
                <a:cs typeface="Calibri" pitchFamily="34" charset="-120"/>
              </a:rPr>
              <a:t>✓ Solidity (mature)</a:t>
            </a:r>
            <a:endParaRPr lang="en-US" sz="880" dirty="0"/>
          </a:p>
        </p:txBody>
      </p:sp>
      <p:sp>
        <p:nvSpPr>
          <p:cNvPr id="30" name="Text 28"/>
          <p:cNvSpPr/>
          <p:nvPr/>
        </p:nvSpPr>
        <p:spPr>
          <a:xfrm>
            <a:off x="5705856" y="2395728"/>
            <a:ext cx="1581912" cy="347472"/>
          </a:xfrm>
          <a:prstGeom prst="rect">
            <a:avLst/>
          </a:prstGeom>
          <a:noFill/>
          <a:ln/>
        </p:spPr>
        <p:txBody>
          <a:bodyPr wrap="square" lIns="0" tIns="0" rIns="0" bIns="0" rtlCol="0" anchor="ctr"/>
          <a:lstStyle/>
          <a:p>
            <a:pPr marL="0" indent="0">
              <a:buNone/>
            </a:pPr>
            <a:r>
              <a:rPr lang="en-US" sz="880" dirty="0">
                <a:solidFill>
                  <a:srgbClr val="A05C00"/>
                </a:solidFill>
                <a:latin typeface="Calibri" pitchFamily="34" charset="0"/>
                <a:ea typeface="Calibri" pitchFamily="34" charset="-122"/>
                <a:cs typeface="Calibri" pitchFamily="34" charset="-120"/>
              </a:rPr>
              <a:t>⚠ Kotlin / Java</a:t>
            </a:r>
            <a:endParaRPr lang="en-US" sz="880" dirty="0"/>
          </a:p>
        </p:txBody>
      </p:sp>
      <p:sp>
        <p:nvSpPr>
          <p:cNvPr id="31" name="Text 29"/>
          <p:cNvSpPr/>
          <p:nvPr/>
        </p:nvSpPr>
        <p:spPr>
          <a:xfrm>
            <a:off x="7415784" y="2395728"/>
            <a:ext cx="1399032" cy="347472"/>
          </a:xfrm>
          <a:prstGeom prst="rect">
            <a:avLst/>
          </a:prstGeom>
          <a:noFill/>
          <a:ln/>
        </p:spPr>
        <p:txBody>
          <a:bodyPr wrap="square" lIns="0" tIns="0" rIns="0" bIns="0" rtlCol="0" anchor="ctr"/>
          <a:lstStyle/>
          <a:p>
            <a:pPr marL="0" indent="0">
              <a:buNone/>
            </a:pPr>
            <a:r>
              <a:rPr lang="en-US" sz="880" dirty="0">
                <a:solidFill>
                  <a:srgbClr val="8B0000"/>
                </a:solidFill>
                <a:latin typeface="Calibri" pitchFamily="34" charset="0"/>
                <a:ea typeface="Calibri" pitchFamily="34" charset="-122"/>
                <a:cs typeface="Calibri" pitchFamily="34" charset="-120"/>
              </a:rPr>
              <a:t>✗ None</a:t>
            </a:r>
            <a:endParaRPr lang="en-US" sz="880" dirty="0"/>
          </a:p>
        </p:txBody>
      </p:sp>
      <p:sp>
        <p:nvSpPr>
          <p:cNvPr id="32" name="Shape 30"/>
          <p:cNvSpPr/>
          <p:nvPr/>
        </p:nvSpPr>
        <p:spPr>
          <a:xfrm>
            <a:off x="274320" y="2798064"/>
            <a:ext cx="8595360" cy="420624"/>
          </a:xfrm>
          <a:prstGeom prst="rect">
            <a:avLst/>
          </a:prstGeom>
          <a:solidFill>
            <a:srgbClr val="F4F6FA"/>
          </a:solidFill>
          <a:ln w="12700">
            <a:solidFill>
              <a:srgbClr val="DDE4EF"/>
            </a:solidFill>
            <a:prstDash val="solid"/>
          </a:ln>
        </p:spPr>
      </p:sp>
      <p:sp>
        <p:nvSpPr>
          <p:cNvPr id="33" name="Shape 31"/>
          <p:cNvSpPr/>
          <p:nvPr/>
        </p:nvSpPr>
        <p:spPr>
          <a:xfrm>
            <a:off x="2212848" y="2798064"/>
            <a:ext cx="1691640" cy="420624"/>
          </a:xfrm>
          <a:prstGeom prst="rect">
            <a:avLst/>
          </a:prstGeom>
          <a:solidFill>
            <a:srgbClr val="E6F7F4"/>
          </a:solidFill>
          <a:ln w="12700">
            <a:solidFill>
              <a:srgbClr val="C2EBE5"/>
            </a:solidFill>
            <a:prstDash val="solid"/>
          </a:ln>
        </p:spPr>
      </p:sp>
      <p:sp>
        <p:nvSpPr>
          <p:cNvPr id="34" name="Text 32"/>
          <p:cNvSpPr/>
          <p:nvPr/>
        </p:nvSpPr>
        <p:spPr>
          <a:xfrm>
            <a:off x="347472" y="2834640"/>
            <a:ext cx="1810512" cy="347472"/>
          </a:xfrm>
          <a:prstGeom prst="rect">
            <a:avLst/>
          </a:prstGeom>
          <a:noFill/>
          <a:ln/>
        </p:spPr>
        <p:txBody>
          <a:bodyPr wrap="square" lIns="0" tIns="0" rIns="0" bIns="0" rtlCol="0" anchor="ctr"/>
          <a:lstStyle/>
          <a:p>
            <a:pPr marL="0" indent="0">
              <a:buNone/>
            </a:pPr>
            <a:r>
              <a:rPr lang="en-US" sz="880" dirty="0">
                <a:solidFill>
                  <a:srgbClr val="2D3A4A"/>
                </a:solidFill>
                <a:latin typeface="Calibri" pitchFamily="34" charset="0"/>
                <a:ea typeface="Calibri" pitchFamily="34" charset="-122"/>
                <a:cs typeface="Calibri" pitchFamily="34" charset="-120"/>
              </a:rPr>
              <a:t>Proven in</a:t>
            </a:r>
            <a:endParaRPr lang="en-US" sz="880" dirty="0"/>
          </a:p>
          <a:p>
            <a:pPr marL="0" indent="0">
              <a:buNone/>
            </a:pPr>
            <a:r>
              <a:rPr lang="en-US" sz="880" dirty="0">
                <a:solidFill>
                  <a:srgbClr val="2D3A4A"/>
                </a:solidFill>
                <a:latin typeface="Calibri" pitchFamily="34" charset="0"/>
                <a:ea typeface="Calibri" pitchFamily="34" charset="-122"/>
                <a:cs typeface="Calibri" pitchFamily="34" charset="-120"/>
              </a:rPr>
              <a:t>financial services</a:t>
            </a:r>
            <a:endParaRPr lang="en-US" sz="880" dirty="0"/>
          </a:p>
        </p:txBody>
      </p:sp>
      <p:sp>
        <p:nvSpPr>
          <p:cNvPr id="35" name="Text 33"/>
          <p:cNvSpPr/>
          <p:nvPr/>
        </p:nvSpPr>
        <p:spPr>
          <a:xfrm>
            <a:off x="2286000" y="2834640"/>
            <a:ext cx="1581912" cy="347472"/>
          </a:xfrm>
          <a:prstGeom prst="rect">
            <a:avLst/>
          </a:prstGeom>
          <a:noFill/>
          <a:ln/>
        </p:spPr>
        <p:txBody>
          <a:bodyPr wrap="square" lIns="0" tIns="0" rIns="0" bIns="0" rtlCol="0" anchor="ctr"/>
          <a:lstStyle/>
          <a:p>
            <a:pPr marL="0" indent="0">
              <a:buNone/>
            </a:pPr>
            <a:r>
              <a:rPr lang="en-US" sz="880" b="1" dirty="0">
                <a:solidFill>
                  <a:srgbClr val="0A6D3D"/>
                </a:solidFill>
                <a:latin typeface="Calibri" pitchFamily="34" charset="0"/>
                <a:ea typeface="Calibri" pitchFamily="34" charset="-122"/>
                <a:cs typeface="Calibri" pitchFamily="34" charset="-120"/>
              </a:rPr>
              <a:t>✓ We.Trade, HSBC</a:t>
            </a:r>
            <a:endParaRPr lang="en-US" sz="880" dirty="0"/>
          </a:p>
        </p:txBody>
      </p:sp>
      <p:sp>
        <p:nvSpPr>
          <p:cNvPr id="36" name="Text 34"/>
          <p:cNvSpPr/>
          <p:nvPr/>
        </p:nvSpPr>
        <p:spPr>
          <a:xfrm>
            <a:off x="3995928" y="2834640"/>
            <a:ext cx="1581912" cy="347472"/>
          </a:xfrm>
          <a:prstGeom prst="rect">
            <a:avLst/>
          </a:prstGeom>
          <a:noFill/>
          <a:ln/>
        </p:spPr>
        <p:txBody>
          <a:bodyPr wrap="square" lIns="0" tIns="0" rIns="0" bIns="0" rtlCol="0" anchor="ctr"/>
          <a:lstStyle/>
          <a:p>
            <a:pPr marL="0" indent="0">
              <a:buNone/>
            </a:pPr>
            <a:r>
              <a:rPr lang="en-US" sz="880" dirty="0">
                <a:solidFill>
                  <a:srgbClr val="A05C00"/>
                </a:solidFill>
                <a:latin typeface="Calibri" pitchFamily="34" charset="0"/>
                <a:ea typeface="Calibri" pitchFamily="34" charset="-122"/>
                <a:cs typeface="Calibri" pitchFamily="34" charset="-120"/>
              </a:rPr>
              <a:t>⚠ Limited banking use</a:t>
            </a:r>
            <a:endParaRPr lang="en-US" sz="880" dirty="0"/>
          </a:p>
        </p:txBody>
      </p:sp>
      <p:sp>
        <p:nvSpPr>
          <p:cNvPr id="37" name="Text 35"/>
          <p:cNvSpPr/>
          <p:nvPr/>
        </p:nvSpPr>
        <p:spPr>
          <a:xfrm>
            <a:off x="5705856" y="2834640"/>
            <a:ext cx="1581912" cy="347472"/>
          </a:xfrm>
          <a:prstGeom prst="rect">
            <a:avLst/>
          </a:prstGeom>
          <a:noFill/>
          <a:ln/>
        </p:spPr>
        <p:txBody>
          <a:bodyPr wrap="square" lIns="0" tIns="0" rIns="0" bIns="0" rtlCol="0" anchor="ctr"/>
          <a:lstStyle/>
          <a:p>
            <a:pPr marL="0" indent="0">
              <a:buNone/>
            </a:pPr>
            <a:r>
              <a:rPr lang="en-US" sz="880" dirty="0">
                <a:solidFill>
                  <a:srgbClr val="0A6D3D"/>
                </a:solidFill>
                <a:latin typeface="Calibri" pitchFamily="34" charset="0"/>
                <a:ea typeface="Calibri" pitchFamily="34" charset="-122"/>
                <a:cs typeface="Calibri" pitchFamily="34" charset="-120"/>
              </a:rPr>
              <a:t>✓ Barclays, R3 pilots</a:t>
            </a:r>
            <a:endParaRPr lang="en-US" sz="880" dirty="0"/>
          </a:p>
        </p:txBody>
      </p:sp>
      <p:sp>
        <p:nvSpPr>
          <p:cNvPr id="38" name="Text 36"/>
          <p:cNvSpPr/>
          <p:nvPr/>
        </p:nvSpPr>
        <p:spPr>
          <a:xfrm>
            <a:off x="7415784" y="2834640"/>
            <a:ext cx="1399032" cy="347472"/>
          </a:xfrm>
          <a:prstGeom prst="rect">
            <a:avLst/>
          </a:prstGeom>
          <a:noFill/>
          <a:ln/>
        </p:spPr>
        <p:txBody>
          <a:bodyPr wrap="square" lIns="0" tIns="0" rIns="0" bIns="0" rtlCol="0" anchor="ctr"/>
          <a:lstStyle/>
          <a:p>
            <a:pPr marL="0" indent="0">
              <a:buNone/>
            </a:pPr>
            <a:r>
              <a:rPr lang="en-US" sz="880" dirty="0">
                <a:solidFill>
                  <a:srgbClr val="8B0000"/>
                </a:solidFill>
                <a:latin typeface="Calibri" pitchFamily="34" charset="0"/>
                <a:ea typeface="Calibri" pitchFamily="34" charset="-122"/>
                <a:cs typeface="Calibri" pitchFamily="34" charset="-120"/>
              </a:rPr>
              <a:t>✗ No chain properties</a:t>
            </a:r>
            <a:endParaRPr lang="en-US" sz="880" dirty="0"/>
          </a:p>
        </p:txBody>
      </p:sp>
      <p:sp>
        <p:nvSpPr>
          <p:cNvPr id="39" name="Shape 37"/>
          <p:cNvSpPr/>
          <p:nvPr/>
        </p:nvSpPr>
        <p:spPr>
          <a:xfrm>
            <a:off x="274320" y="3236976"/>
            <a:ext cx="8595360" cy="420624"/>
          </a:xfrm>
          <a:prstGeom prst="rect">
            <a:avLst/>
          </a:prstGeom>
          <a:solidFill>
            <a:srgbClr val="FFFFFF"/>
          </a:solidFill>
          <a:ln w="12700">
            <a:solidFill>
              <a:srgbClr val="DDE4EF"/>
            </a:solidFill>
            <a:prstDash val="solid"/>
          </a:ln>
        </p:spPr>
      </p:sp>
      <p:sp>
        <p:nvSpPr>
          <p:cNvPr id="40" name="Shape 38"/>
          <p:cNvSpPr/>
          <p:nvPr/>
        </p:nvSpPr>
        <p:spPr>
          <a:xfrm>
            <a:off x="2212848" y="3236976"/>
            <a:ext cx="1691640" cy="420624"/>
          </a:xfrm>
          <a:prstGeom prst="rect">
            <a:avLst/>
          </a:prstGeom>
          <a:solidFill>
            <a:srgbClr val="E6F7F4"/>
          </a:solidFill>
          <a:ln w="12700">
            <a:solidFill>
              <a:srgbClr val="C2EBE5"/>
            </a:solidFill>
            <a:prstDash val="solid"/>
          </a:ln>
        </p:spPr>
      </p:sp>
      <p:sp>
        <p:nvSpPr>
          <p:cNvPr id="41" name="Text 39"/>
          <p:cNvSpPr/>
          <p:nvPr/>
        </p:nvSpPr>
        <p:spPr>
          <a:xfrm>
            <a:off x="347472" y="3273552"/>
            <a:ext cx="1810512" cy="347472"/>
          </a:xfrm>
          <a:prstGeom prst="rect">
            <a:avLst/>
          </a:prstGeom>
          <a:noFill/>
          <a:ln/>
        </p:spPr>
        <p:txBody>
          <a:bodyPr wrap="square" lIns="0" tIns="0" rIns="0" bIns="0" rtlCol="0" anchor="ctr"/>
          <a:lstStyle/>
          <a:p>
            <a:pPr marL="0" indent="0">
              <a:buNone/>
            </a:pPr>
            <a:r>
              <a:rPr lang="en-US" sz="880" dirty="0">
                <a:solidFill>
                  <a:srgbClr val="2D3A4A"/>
                </a:solidFill>
                <a:latin typeface="Calibri" pitchFamily="34" charset="0"/>
                <a:ea typeface="Calibri" pitchFamily="34" charset="-122"/>
                <a:cs typeface="Calibri" pitchFamily="34" charset="-120"/>
              </a:rPr>
              <a:t>Channel-based</a:t>
            </a:r>
            <a:endParaRPr lang="en-US" sz="880" dirty="0"/>
          </a:p>
          <a:p>
            <a:pPr marL="0" indent="0">
              <a:buNone/>
            </a:pPr>
            <a:r>
              <a:rPr lang="en-US" sz="880" dirty="0">
                <a:solidFill>
                  <a:srgbClr val="2D3A4A"/>
                </a:solidFill>
                <a:latin typeface="Calibri" pitchFamily="34" charset="0"/>
                <a:ea typeface="Calibri" pitchFamily="34" charset="-122"/>
                <a:cs typeface="Calibri" pitchFamily="34" charset="-120"/>
              </a:rPr>
              <a:t>data privacy</a:t>
            </a:r>
            <a:endParaRPr lang="en-US" sz="880" dirty="0"/>
          </a:p>
        </p:txBody>
      </p:sp>
      <p:sp>
        <p:nvSpPr>
          <p:cNvPr id="42" name="Text 40"/>
          <p:cNvSpPr/>
          <p:nvPr/>
        </p:nvSpPr>
        <p:spPr>
          <a:xfrm>
            <a:off x="2286000" y="3273552"/>
            <a:ext cx="1581912" cy="347472"/>
          </a:xfrm>
          <a:prstGeom prst="rect">
            <a:avLst/>
          </a:prstGeom>
          <a:noFill/>
          <a:ln/>
        </p:spPr>
        <p:txBody>
          <a:bodyPr wrap="square" lIns="0" tIns="0" rIns="0" bIns="0" rtlCol="0" anchor="ctr"/>
          <a:lstStyle/>
          <a:p>
            <a:pPr marL="0" indent="0">
              <a:buNone/>
            </a:pPr>
            <a:r>
              <a:rPr lang="en-US" sz="880" b="1" dirty="0">
                <a:solidFill>
                  <a:srgbClr val="0A6D3D"/>
                </a:solidFill>
                <a:latin typeface="Calibri" pitchFamily="34" charset="0"/>
                <a:ea typeface="Calibri" pitchFamily="34" charset="-122"/>
                <a:cs typeface="Calibri" pitchFamily="34" charset="-120"/>
              </a:rPr>
              <a:t>✓ Built-in channels</a:t>
            </a:r>
            <a:endParaRPr lang="en-US" sz="880" dirty="0"/>
          </a:p>
        </p:txBody>
      </p:sp>
      <p:sp>
        <p:nvSpPr>
          <p:cNvPr id="43" name="Text 41"/>
          <p:cNvSpPr/>
          <p:nvPr/>
        </p:nvSpPr>
        <p:spPr>
          <a:xfrm>
            <a:off x="3995928" y="3273552"/>
            <a:ext cx="1581912" cy="347472"/>
          </a:xfrm>
          <a:prstGeom prst="rect">
            <a:avLst/>
          </a:prstGeom>
          <a:noFill/>
          <a:ln/>
        </p:spPr>
        <p:txBody>
          <a:bodyPr wrap="square" lIns="0" tIns="0" rIns="0" bIns="0" rtlCol="0" anchor="ctr"/>
          <a:lstStyle/>
          <a:p>
            <a:pPr marL="0" indent="0">
              <a:buNone/>
            </a:pPr>
            <a:r>
              <a:rPr lang="en-US" sz="880" dirty="0">
                <a:solidFill>
                  <a:srgbClr val="8B0000"/>
                </a:solidFill>
                <a:latin typeface="Calibri" pitchFamily="34" charset="0"/>
                <a:ea typeface="Calibri" pitchFamily="34" charset="-122"/>
                <a:cs typeface="Calibri" pitchFamily="34" charset="-120"/>
              </a:rPr>
              <a:t>✗ All nodes see data</a:t>
            </a:r>
            <a:endParaRPr lang="en-US" sz="880" dirty="0"/>
          </a:p>
        </p:txBody>
      </p:sp>
      <p:sp>
        <p:nvSpPr>
          <p:cNvPr id="44" name="Text 42"/>
          <p:cNvSpPr/>
          <p:nvPr/>
        </p:nvSpPr>
        <p:spPr>
          <a:xfrm>
            <a:off x="5705856" y="3273552"/>
            <a:ext cx="1581912" cy="347472"/>
          </a:xfrm>
          <a:prstGeom prst="rect">
            <a:avLst/>
          </a:prstGeom>
          <a:noFill/>
          <a:ln/>
        </p:spPr>
        <p:txBody>
          <a:bodyPr wrap="square" lIns="0" tIns="0" rIns="0" bIns="0" rtlCol="0" anchor="ctr"/>
          <a:lstStyle/>
          <a:p>
            <a:pPr marL="0" indent="0">
              <a:buNone/>
            </a:pPr>
            <a:r>
              <a:rPr lang="en-US" sz="880" dirty="0">
                <a:solidFill>
                  <a:srgbClr val="A05C00"/>
                </a:solidFill>
                <a:latin typeface="Calibri" pitchFamily="34" charset="0"/>
                <a:ea typeface="Calibri" pitchFamily="34" charset="-122"/>
                <a:cs typeface="Calibri" pitchFamily="34" charset="-120"/>
              </a:rPr>
              <a:t>⚠ Need CorDapp design</a:t>
            </a:r>
            <a:endParaRPr lang="en-US" sz="880" dirty="0"/>
          </a:p>
        </p:txBody>
      </p:sp>
      <p:sp>
        <p:nvSpPr>
          <p:cNvPr id="45" name="Text 43"/>
          <p:cNvSpPr/>
          <p:nvPr/>
        </p:nvSpPr>
        <p:spPr>
          <a:xfrm>
            <a:off x="7415784" y="3273552"/>
            <a:ext cx="1399032" cy="347472"/>
          </a:xfrm>
          <a:prstGeom prst="rect">
            <a:avLst/>
          </a:prstGeom>
          <a:noFill/>
          <a:ln/>
        </p:spPr>
        <p:txBody>
          <a:bodyPr wrap="square" lIns="0" tIns="0" rIns="0" bIns="0" rtlCol="0" anchor="ctr"/>
          <a:lstStyle/>
          <a:p>
            <a:pPr marL="0" indent="0">
              <a:buNone/>
            </a:pPr>
            <a:r>
              <a:rPr lang="en-US" sz="880" dirty="0">
                <a:solidFill>
                  <a:srgbClr val="0A6D3D"/>
                </a:solidFill>
                <a:latin typeface="Calibri" pitchFamily="34" charset="0"/>
                <a:ea typeface="Calibri" pitchFamily="34" charset="-122"/>
                <a:cs typeface="Calibri" pitchFamily="34" charset="-120"/>
              </a:rPr>
              <a:t>✓ Row-level security</a:t>
            </a:r>
            <a:endParaRPr lang="en-US" sz="880" dirty="0"/>
          </a:p>
        </p:txBody>
      </p:sp>
      <p:sp>
        <p:nvSpPr>
          <p:cNvPr id="46" name="Shape 44"/>
          <p:cNvSpPr/>
          <p:nvPr/>
        </p:nvSpPr>
        <p:spPr>
          <a:xfrm>
            <a:off x="274320" y="3675888"/>
            <a:ext cx="8595360" cy="420624"/>
          </a:xfrm>
          <a:prstGeom prst="rect">
            <a:avLst/>
          </a:prstGeom>
          <a:solidFill>
            <a:srgbClr val="F4F6FA"/>
          </a:solidFill>
          <a:ln w="12700">
            <a:solidFill>
              <a:srgbClr val="DDE4EF"/>
            </a:solidFill>
            <a:prstDash val="solid"/>
          </a:ln>
        </p:spPr>
      </p:sp>
      <p:sp>
        <p:nvSpPr>
          <p:cNvPr id="47" name="Shape 45"/>
          <p:cNvSpPr/>
          <p:nvPr/>
        </p:nvSpPr>
        <p:spPr>
          <a:xfrm>
            <a:off x="2212848" y="3675888"/>
            <a:ext cx="1691640" cy="420624"/>
          </a:xfrm>
          <a:prstGeom prst="rect">
            <a:avLst/>
          </a:prstGeom>
          <a:solidFill>
            <a:srgbClr val="E6F7F4"/>
          </a:solidFill>
          <a:ln w="12700">
            <a:solidFill>
              <a:srgbClr val="C2EBE5"/>
            </a:solidFill>
            <a:prstDash val="solid"/>
          </a:ln>
        </p:spPr>
      </p:sp>
      <p:sp>
        <p:nvSpPr>
          <p:cNvPr id="48" name="Text 46"/>
          <p:cNvSpPr/>
          <p:nvPr/>
        </p:nvSpPr>
        <p:spPr>
          <a:xfrm>
            <a:off x="347472" y="3712464"/>
            <a:ext cx="1810512" cy="347472"/>
          </a:xfrm>
          <a:prstGeom prst="rect">
            <a:avLst/>
          </a:prstGeom>
          <a:noFill/>
          <a:ln/>
        </p:spPr>
        <p:txBody>
          <a:bodyPr wrap="square" lIns="0" tIns="0" rIns="0" bIns="0" rtlCol="0" anchor="ctr"/>
          <a:lstStyle/>
          <a:p>
            <a:pPr marL="0" indent="0">
              <a:buNone/>
            </a:pPr>
            <a:r>
              <a:rPr lang="en-US" sz="880" dirty="0">
                <a:solidFill>
                  <a:srgbClr val="2D3A4A"/>
                </a:solidFill>
                <a:latin typeface="Calibri" pitchFamily="34" charset="0"/>
                <a:ea typeface="Calibri" pitchFamily="34" charset="-122"/>
                <a:cs typeface="Calibri" pitchFamily="34" charset="-120"/>
              </a:rPr>
              <a:t>Throughput</a:t>
            </a:r>
            <a:endParaRPr lang="en-US" sz="880" dirty="0"/>
          </a:p>
          <a:p>
            <a:pPr marL="0" indent="0">
              <a:buNone/>
            </a:pPr>
            <a:r>
              <a:rPr lang="en-US" sz="880" dirty="0">
                <a:solidFill>
                  <a:srgbClr val="2D3A4A"/>
                </a:solidFill>
                <a:latin typeface="Calibri" pitchFamily="34" charset="0"/>
                <a:ea typeface="Calibri" pitchFamily="34" charset="-122"/>
                <a:cs typeface="Calibri" pitchFamily="34" charset="-120"/>
              </a:rPr>
              <a:t>(TPS)</a:t>
            </a:r>
            <a:endParaRPr lang="en-US" sz="880" dirty="0"/>
          </a:p>
        </p:txBody>
      </p:sp>
      <p:sp>
        <p:nvSpPr>
          <p:cNvPr id="49" name="Text 47"/>
          <p:cNvSpPr/>
          <p:nvPr/>
        </p:nvSpPr>
        <p:spPr>
          <a:xfrm>
            <a:off x="2286000" y="3712464"/>
            <a:ext cx="1581912" cy="347472"/>
          </a:xfrm>
          <a:prstGeom prst="rect">
            <a:avLst/>
          </a:prstGeom>
          <a:noFill/>
          <a:ln/>
        </p:spPr>
        <p:txBody>
          <a:bodyPr wrap="square" lIns="0" tIns="0" rIns="0" bIns="0" rtlCol="0" anchor="ctr"/>
          <a:lstStyle/>
          <a:p>
            <a:pPr marL="0" indent="0">
              <a:buNone/>
            </a:pPr>
            <a:r>
              <a:rPr lang="en-US" sz="880" b="1" dirty="0">
                <a:solidFill>
                  <a:srgbClr val="0A6D3D"/>
                </a:solidFill>
                <a:latin typeface="Calibri" pitchFamily="34" charset="0"/>
                <a:ea typeface="Calibri" pitchFamily="34" charset="-122"/>
                <a:cs typeface="Calibri" pitchFamily="34" charset="-120"/>
              </a:rPr>
              <a:t>✓ 3,000+ TPS</a:t>
            </a:r>
            <a:endParaRPr lang="en-US" sz="880" dirty="0"/>
          </a:p>
        </p:txBody>
      </p:sp>
      <p:sp>
        <p:nvSpPr>
          <p:cNvPr id="50" name="Text 48"/>
          <p:cNvSpPr/>
          <p:nvPr/>
        </p:nvSpPr>
        <p:spPr>
          <a:xfrm>
            <a:off x="3995928" y="3712464"/>
            <a:ext cx="1581912" cy="347472"/>
          </a:xfrm>
          <a:prstGeom prst="rect">
            <a:avLst/>
          </a:prstGeom>
          <a:noFill/>
          <a:ln/>
        </p:spPr>
        <p:txBody>
          <a:bodyPr wrap="square" lIns="0" tIns="0" rIns="0" bIns="0" rtlCol="0" anchor="ctr"/>
          <a:lstStyle/>
          <a:p>
            <a:pPr marL="0" indent="0">
              <a:buNone/>
            </a:pPr>
            <a:r>
              <a:rPr lang="en-US" sz="880" dirty="0">
                <a:solidFill>
                  <a:srgbClr val="A05C00"/>
                </a:solidFill>
                <a:latin typeface="Calibri" pitchFamily="34" charset="0"/>
                <a:ea typeface="Calibri" pitchFamily="34" charset="-122"/>
                <a:cs typeface="Calibri" pitchFamily="34" charset="-120"/>
              </a:rPr>
              <a:t>⚠ 15–30 TPS (public)</a:t>
            </a:r>
            <a:endParaRPr lang="en-US" sz="880" dirty="0"/>
          </a:p>
        </p:txBody>
      </p:sp>
      <p:sp>
        <p:nvSpPr>
          <p:cNvPr id="51" name="Text 49"/>
          <p:cNvSpPr/>
          <p:nvPr/>
        </p:nvSpPr>
        <p:spPr>
          <a:xfrm>
            <a:off x="5705856" y="3712464"/>
            <a:ext cx="1581912" cy="347472"/>
          </a:xfrm>
          <a:prstGeom prst="rect">
            <a:avLst/>
          </a:prstGeom>
          <a:noFill/>
          <a:ln/>
        </p:spPr>
        <p:txBody>
          <a:bodyPr wrap="square" lIns="0" tIns="0" rIns="0" bIns="0" rtlCol="0" anchor="ctr"/>
          <a:lstStyle/>
          <a:p>
            <a:pPr marL="0" indent="0">
              <a:buNone/>
            </a:pPr>
            <a:r>
              <a:rPr lang="en-US" sz="880" dirty="0">
                <a:solidFill>
                  <a:srgbClr val="A05C00"/>
                </a:solidFill>
                <a:latin typeface="Calibri" pitchFamily="34" charset="0"/>
                <a:ea typeface="Calibri" pitchFamily="34" charset="-122"/>
                <a:cs typeface="Calibri" pitchFamily="34" charset="-120"/>
              </a:rPr>
              <a:t>⚠ ~170 TPS</a:t>
            </a:r>
            <a:endParaRPr lang="en-US" sz="880" dirty="0"/>
          </a:p>
        </p:txBody>
      </p:sp>
      <p:sp>
        <p:nvSpPr>
          <p:cNvPr id="52" name="Text 50"/>
          <p:cNvSpPr/>
          <p:nvPr/>
        </p:nvSpPr>
        <p:spPr>
          <a:xfrm>
            <a:off x="7415784" y="3712464"/>
            <a:ext cx="1399032" cy="347472"/>
          </a:xfrm>
          <a:prstGeom prst="rect">
            <a:avLst/>
          </a:prstGeom>
          <a:noFill/>
          <a:ln/>
        </p:spPr>
        <p:txBody>
          <a:bodyPr wrap="square" lIns="0" tIns="0" rIns="0" bIns="0" rtlCol="0" anchor="ctr"/>
          <a:lstStyle/>
          <a:p>
            <a:pPr marL="0" indent="0">
              <a:buNone/>
            </a:pPr>
            <a:r>
              <a:rPr lang="en-US" sz="880" dirty="0">
                <a:solidFill>
                  <a:srgbClr val="0A6D3D"/>
                </a:solidFill>
                <a:latin typeface="Calibri" pitchFamily="34" charset="0"/>
                <a:ea typeface="Calibri" pitchFamily="34" charset="-122"/>
                <a:cs typeface="Calibri" pitchFamily="34" charset="-120"/>
              </a:rPr>
              <a:t>✓ Unlimited (no chain)</a:t>
            </a:r>
            <a:endParaRPr lang="en-US" sz="880" dirty="0"/>
          </a:p>
        </p:txBody>
      </p:sp>
      <p:sp>
        <p:nvSpPr>
          <p:cNvPr id="53" name="Shape 51"/>
          <p:cNvSpPr/>
          <p:nvPr/>
        </p:nvSpPr>
        <p:spPr>
          <a:xfrm>
            <a:off x="274320" y="4114800"/>
            <a:ext cx="8595360" cy="420624"/>
          </a:xfrm>
          <a:prstGeom prst="rect">
            <a:avLst/>
          </a:prstGeom>
          <a:solidFill>
            <a:srgbClr val="FFFFFF"/>
          </a:solidFill>
          <a:ln w="12700">
            <a:solidFill>
              <a:srgbClr val="DDE4EF"/>
            </a:solidFill>
            <a:prstDash val="solid"/>
          </a:ln>
        </p:spPr>
      </p:sp>
      <p:sp>
        <p:nvSpPr>
          <p:cNvPr id="54" name="Shape 52"/>
          <p:cNvSpPr/>
          <p:nvPr/>
        </p:nvSpPr>
        <p:spPr>
          <a:xfrm>
            <a:off x="2212848" y="4114800"/>
            <a:ext cx="1691640" cy="420624"/>
          </a:xfrm>
          <a:prstGeom prst="rect">
            <a:avLst/>
          </a:prstGeom>
          <a:solidFill>
            <a:srgbClr val="E6F7F4"/>
          </a:solidFill>
          <a:ln w="12700">
            <a:solidFill>
              <a:srgbClr val="C2EBE5"/>
            </a:solidFill>
            <a:prstDash val="solid"/>
          </a:ln>
        </p:spPr>
      </p:sp>
      <p:sp>
        <p:nvSpPr>
          <p:cNvPr id="55" name="Text 53"/>
          <p:cNvSpPr/>
          <p:nvPr/>
        </p:nvSpPr>
        <p:spPr>
          <a:xfrm>
            <a:off x="347472" y="4151376"/>
            <a:ext cx="1810512" cy="347472"/>
          </a:xfrm>
          <a:prstGeom prst="rect">
            <a:avLst/>
          </a:prstGeom>
          <a:noFill/>
          <a:ln/>
        </p:spPr>
        <p:txBody>
          <a:bodyPr wrap="square" lIns="0" tIns="0" rIns="0" bIns="0" rtlCol="0" anchor="ctr"/>
          <a:lstStyle/>
          <a:p>
            <a:pPr marL="0" indent="0">
              <a:buNone/>
            </a:pPr>
            <a:r>
              <a:rPr lang="en-US" sz="880" dirty="0">
                <a:solidFill>
                  <a:srgbClr val="2D3A4A"/>
                </a:solidFill>
                <a:latin typeface="Calibri" pitchFamily="34" charset="0"/>
                <a:ea typeface="Calibri" pitchFamily="34" charset="-122"/>
                <a:cs typeface="Calibri" pitchFamily="34" charset="-120"/>
              </a:rPr>
              <a:t>Regulatory</a:t>
            </a:r>
            <a:endParaRPr lang="en-US" sz="880" dirty="0"/>
          </a:p>
          <a:p>
            <a:pPr marL="0" indent="0">
              <a:buNone/>
            </a:pPr>
            <a:r>
              <a:rPr lang="en-US" sz="880" dirty="0">
                <a:solidFill>
                  <a:srgbClr val="2D3A4A"/>
                </a:solidFill>
                <a:latin typeface="Calibri" pitchFamily="34" charset="0"/>
                <a:ea typeface="Calibri" pitchFamily="34" charset="-122"/>
                <a:cs typeface="Calibri" pitchFamily="34" charset="-120"/>
              </a:rPr>
              <a:t>read node</a:t>
            </a:r>
            <a:endParaRPr lang="en-US" sz="880" dirty="0"/>
          </a:p>
        </p:txBody>
      </p:sp>
      <p:sp>
        <p:nvSpPr>
          <p:cNvPr id="56" name="Text 54"/>
          <p:cNvSpPr/>
          <p:nvPr/>
        </p:nvSpPr>
        <p:spPr>
          <a:xfrm>
            <a:off x="2286000" y="4151376"/>
            <a:ext cx="1581912" cy="347472"/>
          </a:xfrm>
          <a:prstGeom prst="rect">
            <a:avLst/>
          </a:prstGeom>
          <a:noFill/>
          <a:ln/>
        </p:spPr>
        <p:txBody>
          <a:bodyPr wrap="square" lIns="0" tIns="0" rIns="0" bIns="0" rtlCol="0" anchor="ctr"/>
          <a:lstStyle/>
          <a:p>
            <a:pPr marL="0" indent="0">
              <a:buNone/>
            </a:pPr>
            <a:r>
              <a:rPr lang="en-US" sz="880" b="1" dirty="0">
                <a:solidFill>
                  <a:srgbClr val="0A6D3D"/>
                </a:solidFill>
                <a:latin typeface="Calibri" pitchFamily="34" charset="0"/>
                <a:ea typeface="Calibri" pitchFamily="34" charset="-122"/>
                <a:cs typeface="Calibri" pitchFamily="34" charset="-120"/>
              </a:rPr>
              <a:t>✓ Observer node native</a:t>
            </a:r>
            <a:endParaRPr lang="en-US" sz="880" dirty="0"/>
          </a:p>
        </p:txBody>
      </p:sp>
      <p:sp>
        <p:nvSpPr>
          <p:cNvPr id="57" name="Text 55"/>
          <p:cNvSpPr/>
          <p:nvPr/>
        </p:nvSpPr>
        <p:spPr>
          <a:xfrm>
            <a:off x="3995928" y="4151376"/>
            <a:ext cx="1581912" cy="347472"/>
          </a:xfrm>
          <a:prstGeom prst="rect">
            <a:avLst/>
          </a:prstGeom>
          <a:noFill/>
          <a:ln/>
        </p:spPr>
        <p:txBody>
          <a:bodyPr wrap="square" lIns="0" tIns="0" rIns="0" bIns="0" rtlCol="0" anchor="ctr"/>
          <a:lstStyle/>
          <a:p>
            <a:pPr marL="0" indent="0">
              <a:buNone/>
            </a:pPr>
            <a:r>
              <a:rPr lang="en-US" sz="880" dirty="0">
                <a:solidFill>
                  <a:srgbClr val="A05C00"/>
                </a:solidFill>
                <a:latin typeface="Calibri" pitchFamily="34" charset="0"/>
                <a:ea typeface="Calibri" pitchFamily="34" charset="-122"/>
                <a:cs typeface="Calibri" pitchFamily="34" charset="-120"/>
              </a:rPr>
              <a:t>⚠ Requires custom build</a:t>
            </a:r>
            <a:endParaRPr lang="en-US" sz="880" dirty="0"/>
          </a:p>
        </p:txBody>
      </p:sp>
      <p:sp>
        <p:nvSpPr>
          <p:cNvPr id="58" name="Text 56"/>
          <p:cNvSpPr/>
          <p:nvPr/>
        </p:nvSpPr>
        <p:spPr>
          <a:xfrm>
            <a:off x="5705856" y="4151376"/>
            <a:ext cx="1581912" cy="347472"/>
          </a:xfrm>
          <a:prstGeom prst="rect">
            <a:avLst/>
          </a:prstGeom>
          <a:noFill/>
          <a:ln/>
        </p:spPr>
        <p:txBody>
          <a:bodyPr wrap="square" lIns="0" tIns="0" rIns="0" bIns="0" rtlCol="0" anchor="ctr"/>
          <a:lstStyle/>
          <a:p>
            <a:pPr marL="0" indent="0">
              <a:buNone/>
            </a:pPr>
            <a:r>
              <a:rPr lang="en-US" sz="880" dirty="0">
                <a:solidFill>
                  <a:srgbClr val="0A6D3D"/>
                </a:solidFill>
                <a:latin typeface="Calibri" pitchFamily="34" charset="0"/>
                <a:ea typeface="Calibri" pitchFamily="34" charset="-122"/>
                <a:cs typeface="Calibri" pitchFamily="34" charset="-120"/>
              </a:rPr>
              <a:t>✓ Observer supported</a:t>
            </a:r>
            <a:endParaRPr lang="en-US" sz="880" dirty="0"/>
          </a:p>
        </p:txBody>
      </p:sp>
      <p:sp>
        <p:nvSpPr>
          <p:cNvPr id="59" name="Text 57"/>
          <p:cNvSpPr/>
          <p:nvPr/>
        </p:nvSpPr>
        <p:spPr>
          <a:xfrm>
            <a:off x="7415784" y="4151376"/>
            <a:ext cx="1399032" cy="347472"/>
          </a:xfrm>
          <a:prstGeom prst="rect">
            <a:avLst/>
          </a:prstGeom>
          <a:noFill/>
          <a:ln/>
        </p:spPr>
        <p:txBody>
          <a:bodyPr wrap="square" lIns="0" tIns="0" rIns="0" bIns="0" rtlCol="0" anchor="ctr"/>
          <a:lstStyle/>
          <a:p>
            <a:pPr marL="0" indent="0">
              <a:buNone/>
            </a:pPr>
            <a:r>
              <a:rPr lang="en-US" sz="880" dirty="0">
                <a:solidFill>
                  <a:srgbClr val="8B0000"/>
                </a:solidFill>
                <a:latin typeface="Calibri" pitchFamily="34" charset="0"/>
                <a:ea typeface="Calibri" pitchFamily="34" charset="-122"/>
                <a:cs typeface="Calibri" pitchFamily="34" charset="-120"/>
              </a:rPr>
              <a:t>✗ No audit trail</a:t>
            </a:r>
            <a:endParaRPr lang="en-US" sz="880" dirty="0"/>
          </a:p>
        </p:txBody>
      </p:sp>
      <p:sp>
        <p:nvSpPr>
          <p:cNvPr id="60" name="Shape 58"/>
          <p:cNvSpPr/>
          <p:nvPr/>
        </p:nvSpPr>
        <p:spPr>
          <a:xfrm>
            <a:off x="274320" y="4553712"/>
            <a:ext cx="8595360" cy="420624"/>
          </a:xfrm>
          <a:prstGeom prst="rect">
            <a:avLst/>
          </a:prstGeom>
          <a:solidFill>
            <a:srgbClr val="F4F6FA"/>
          </a:solidFill>
          <a:ln w="12700">
            <a:solidFill>
              <a:srgbClr val="DDE4EF"/>
            </a:solidFill>
            <a:prstDash val="solid"/>
          </a:ln>
        </p:spPr>
      </p:sp>
      <p:sp>
        <p:nvSpPr>
          <p:cNvPr id="61" name="Shape 59"/>
          <p:cNvSpPr/>
          <p:nvPr/>
        </p:nvSpPr>
        <p:spPr>
          <a:xfrm>
            <a:off x="2212848" y="4553712"/>
            <a:ext cx="1691640" cy="420624"/>
          </a:xfrm>
          <a:prstGeom prst="rect">
            <a:avLst/>
          </a:prstGeom>
          <a:solidFill>
            <a:srgbClr val="E6F7F4"/>
          </a:solidFill>
          <a:ln w="12700">
            <a:solidFill>
              <a:srgbClr val="C2EBE5"/>
            </a:solidFill>
            <a:prstDash val="solid"/>
          </a:ln>
        </p:spPr>
      </p:sp>
      <p:sp>
        <p:nvSpPr>
          <p:cNvPr id="62" name="Text 60"/>
          <p:cNvSpPr/>
          <p:nvPr/>
        </p:nvSpPr>
        <p:spPr>
          <a:xfrm>
            <a:off x="347472" y="4590288"/>
            <a:ext cx="1810512" cy="347472"/>
          </a:xfrm>
          <a:prstGeom prst="rect">
            <a:avLst/>
          </a:prstGeom>
          <a:noFill/>
          <a:ln/>
        </p:spPr>
        <p:txBody>
          <a:bodyPr wrap="square" lIns="0" tIns="0" rIns="0" bIns="0" rtlCol="0" anchor="ctr"/>
          <a:lstStyle/>
          <a:p>
            <a:pPr marL="0" indent="0">
              <a:buNone/>
            </a:pPr>
            <a:r>
              <a:rPr lang="en-US" sz="880" dirty="0">
                <a:solidFill>
                  <a:srgbClr val="2D3A4A"/>
                </a:solidFill>
                <a:latin typeface="Calibri" pitchFamily="34" charset="0"/>
                <a:ea typeface="Calibri" pitchFamily="34" charset="-122"/>
                <a:cs typeface="Calibri" pitchFamily="34" charset="-120"/>
              </a:rPr>
              <a:t>FCA / PSR</a:t>
            </a:r>
            <a:endParaRPr lang="en-US" sz="880" dirty="0"/>
          </a:p>
          <a:p>
            <a:pPr marL="0" indent="0">
              <a:buNone/>
            </a:pPr>
            <a:r>
              <a:rPr lang="en-US" sz="880" dirty="0">
                <a:solidFill>
                  <a:srgbClr val="2D3A4A"/>
                </a:solidFill>
                <a:latin typeface="Calibri" pitchFamily="34" charset="0"/>
                <a:ea typeface="Calibri" pitchFamily="34" charset="-122"/>
                <a:cs typeface="Calibri" pitchFamily="34" charset="-120"/>
              </a:rPr>
              <a:t>acceptance</a:t>
            </a:r>
            <a:endParaRPr lang="en-US" sz="880" dirty="0"/>
          </a:p>
        </p:txBody>
      </p:sp>
      <p:sp>
        <p:nvSpPr>
          <p:cNvPr id="63" name="Text 61"/>
          <p:cNvSpPr/>
          <p:nvPr/>
        </p:nvSpPr>
        <p:spPr>
          <a:xfrm>
            <a:off x="2286000" y="4590288"/>
            <a:ext cx="1581912" cy="347472"/>
          </a:xfrm>
          <a:prstGeom prst="rect">
            <a:avLst/>
          </a:prstGeom>
          <a:noFill/>
          <a:ln/>
        </p:spPr>
        <p:txBody>
          <a:bodyPr wrap="square" lIns="0" tIns="0" rIns="0" bIns="0" rtlCol="0" anchor="ctr"/>
          <a:lstStyle/>
          <a:p>
            <a:pPr marL="0" indent="0">
              <a:buNone/>
            </a:pPr>
            <a:r>
              <a:rPr lang="en-US" sz="880" b="1" dirty="0">
                <a:solidFill>
                  <a:srgbClr val="0A6D3D"/>
                </a:solidFill>
                <a:latin typeface="Calibri" pitchFamily="34" charset="0"/>
                <a:ea typeface="Calibri" pitchFamily="34" charset="-122"/>
                <a:cs typeface="Calibri" pitchFamily="34" charset="-120"/>
              </a:rPr>
              <a:t>✓ BoE sandbox tested</a:t>
            </a:r>
            <a:endParaRPr lang="en-US" sz="880" dirty="0"/>
          </a:p>
        </p:txBody>
      </p:sp>
      <p:sp>
        <p:nvSpPr>
          <p:cNvPr id="64" name="Text 62"/>
          <p:cNvSpPr/>
          <p:nvPr/>
        </p:nvSpPr>
        <p:spPr>
          <a:xfrm>
            <a:off x="3995928" y="4590288"/>
            <a:ext cx="1581912" cy="347472"/>
          </a:xfrm>
          <a:prstGeom prst="rect">
            <a:avLst/>
          </a:prstGeom>
          <a:noFill/>
          <a:ln/>
        </p:spPr>
        <p:txBody>
          <a:bodyPr wrap="square" lIns="0" tIns="0" rIns="0" bIns="0" rtlCol="0" anchor="ctr"/>
          <a:lstStyle/>
          <a:p>
            <a:pPr marL="0" indent="0">
              <a:buNone/>
            </a:pPr>
            <a:r>
              <a:rPr lang="en-US" sz="880" dirty="0">
                <a:solidFill>
                  <a:srgbClr val="A05C00"/>
                </a:solidFill>
                <a:latin typeface="Calibri" pitchFamily="34" charset="0"/>
                <a:ea typeface="Calibri" pitchFamily="34" charset="-122"/>
                <a:cs typeface="Calibri" pitchFamily="34" charset="-120"/>
              </a:rPr>
              <a:t>⚠ Under review</a:t>
            </a:r>
            <a:endParaRPr lang="en-US" sz="880" dirty="0"/>
          </a:p>
        </p:txBody>
      </p:sp>
      <p:sp>
        <p:nvSpPr>
          <p:cNvPr id="65" name="Text 63"/>
          <p:cNvSpPr/>
          <p:nvPr/>
        </p:nvSpPr>
        <p:spPr>
          <a:xfrm>
            <a:off x="5705856" y="4590288"/>
            <a:ext cx="1581912" cy="347472"/>
          </a:xfrm>
          <a:prstGeom prst="rect">
            <a:avLst/>
          </a:prstGeom>
          <a:noFill/>
          <a:ln/>
        </p:spPr>
        <p:txBody>
          <a:bodyPr wrap="square" lIns="0" tIns="0" rIns="0" bIns="0" rtlCol="0" anchor="ctr"/>
          <a:lstStyle/>
          <a:p>
            <a:pPr marL="0" indent="0">
              <a:buNone/>
            </a:pPr>
            <a:r>
              <a:rPr lang="en-US" sz="880" dirty="0">
                <a:solidFill>
                  <a:srgbClr val="0A6D3D"/>
                </a:solidFill>
                <a:latin typeface="Calibri" pitchFamily="34" charset="0"/>
                <a:ea typeface="Calibri" pitchFamily="34" charset="-122"/>
                <a:cs typeface="Calibri" pitchFamily="34" charset="-120"/>
              </a:rPr>
              <a:t>✓ FCA sandbox tested</a:t>
            </a:r>
            <a:endParaRPr lang="en-US" sz="880" dirty="0"/>
          </a:p>
        </p:txBody>
      </p:sp>
      <p:sp>
        <p:nvSpPr>
          <p:cNvPr id="66" name="Text 64"/>
          <p:cNvSpPr/>
          <p:nvPr/>
        </p:nvSpPr>
        <p:spPr>
          <a:xfrm>
            <a:off x="7415784" y="4590288"/>
            <a:ext cx="1399032" cy="347472"/>
          </a:xfrm>
          <a:prstGeom prst="rect">
            <a:avLst/>
          </a:prstGeom>
          <a:noFill/>
          <a:ln/>
        </p:spPr>
        <p:txBody>
          <a:bodyPr wrap="square" lIns="0" tIns="0" rIns="0" bIns="0" rtlCol="0" anchor="ctr"/>
          <a:lstStyle/>
          <a:p>
            <a:pPr marL="0" indent="0">
              <a:buNone/>
            </a:pPr>
            <a:r>
              <a:rPr lang="en-US" sz="880" dirty="0">
                <a:solidFill>
                  <a:srgbClr val="8B0000"/>
                </a:solidFill>
                <a:latin typeface="Calibri" pitchFamily="34" charset="0"/>
                <a:ea typeface="Calibri" pitchFamily="34" charset="-122"/>
                <a:cs typeface="Calibri" pitchFamily="34" charset="-120"/>
              </a:rPr>
              <a:t>✗ Not applicable</a:t>
            </a:r>
            <a:endParaRPr lang="en-US" sz="880" dirty="0"/>
          </a:p>
        </p:txBody>
      </p:sp>
      <p:sp>
        <p:nvSpPr>
          <p:cNvPr id="67" name="Shape 65"/>
          <p:cNvSpPr/>
          <p:nvPr/>
        </p:nvSpPr>
        <p:spPr>
          <a:xfrm>
            <a:off x="274320" y="5010912"/>
            <a:ext cx="8595360" cy="0"/>
          </a:xfrm>
          <a:prstGeom prst="roundRect">
            <a:avLst/>
          </a:prstGeom>
          <a:noFill/>
          <a:ln/>
        </p:spPr>
      </p:sp>
      <p:sp>
        <p:nvSpPr>
          <p:cNvPr id="68" name="Shape 66"/>
          <p:cNvSpPr/>
          <p:nvPr/>
        </p:nvSpPr>
        <p:spPr>
          <a:xfrm>
            <a:off x="274320" y="4956048"/>
            <a:ext cx="8595360" cy="0"/>
          </a:xfrm>
          <a:prstGeom prst="roundRect">
            <a:avLst/>
          </a:prstGeom>
          <a:noFill/>
          <a:ln/>
        </p:spPr>
      </p:sp>
      <p:sp>
        <p:nvSpPr>
          <p:cNvPr id="69" name="Shape 67"/>
          <p:cNvSpPr/>
          <p:nvPr/>
        </p:nvSpPr>
        <p:spPr>
          <a:xfrm>
            <a:off x="274320" y="4846320"/>
            <a:ext cx="8595360" cy="201168"/>
          </a:xfrm>
          <a:prstGeom prst="roundRect">
            <a:avLst>
              <a:gd name="adj" fmla="val 22727"/>
            </a:avLst>
          </a:prstGeom>
          <a:solidFill>
            <a:srgbClr val="0D9488"/>
          </a:solidFill>
          <a:ln w="12700">
            <a:solidFill>
              <a:srgbClr val="0D9488"/>
            </a:solidFill>
            <a:prstDash val="solid"/>
          </a:ln>
        </p:spPr>
      </p:sp>
      <p:sp>
        <p:nvSpPr>
          <p:cNvPr id="70" name="Text 68"/>
          <p:cNvSpPr/>
          <p:nvPr/>
        </p:nvSpPr>
        <p:spPr>
          <a:xfrm>
            <a:off x="411480" y="4864608"/>
            <a:ext cx="8321040" cy="164592"/>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Verdict: Hyperledger Fabric is the recommended technology — permissioned, token-free, channel-private, proven in UK banking, and FCA sandbox-tested.</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D3A"/>
        </a:solidFill>
        <a:effectLst/>
      </p:bgPr>
    </p:bg>
    <p:spTree>
      <p:nvGrpSpPr>
        <p:cNvPr id="1" name=""/>
        <p:cNvGrpSpPr/>
        <p:nvPr/>
      </p:nvGrpSpPr>
      <p:grpSpPr>
        <a:xfrm>
          <a:off x="0" y="0"/>
          <a:ext cx="0" cy="0"/>
          <a:chOff x="0" y="0"/>
          <a:chExt cx="0" cy="0"/>
        </a:xfrm>
      </p:grpSpPr>
      <p:sp>
        <p:nvSpPr>
          <p:cNvPr id="2" name="Text 0"/>
          <p:cNvSpPr/>
          <p:nvPr/>
        </p:nvSpPr>
        <p:spPr>
          <a:xfrm>
            <a:off x="365760" y="109728"/>
            <a:ext cx="8412480" cy="320040"/>
          </a:xfrm>
          <a:prstGeom prst="rect">
            <a:avLst/>
          </a:prstGeom>
          <a:noFill/>
          <a:ln/>
        </p:spPr>
        <p:txBody>
          <a:bodyPr wrap="square" lIns="0" tIns="0" rIns="0" bIns="0" rtlCol="0" anchor="ctr"/>
          <a:lstStyle/>
          <a:p>
            <a:pPr marL="0" indent="0">
              <a:buNone/>
            </a:pPr>
            <a:r>
              <a:rPr lang="en-US" sz="1000" b="1" kern="0" spc="300" dirty="0">
                <a:solidFill>
                  <a:srgbClr val="E8A020"/>
                </a:solidFill>
                <a:latin typeface="Calibri" pitchFamily="34" charset="0"/>
                <a:ea typeface="Calibri" pitchFamily="34" charset="-122"/>
                <a:cs typeface="Calibri" pitchFamily="34" charset="-120"/>
              </a:rPr>
              <a:t>WORKING ARCHITECTURE</a:t>
            </a:r>
            <a:endParaRPr lang="en-US" sz="1000" dirty="0"/>
          </a:p>
        </p:txBody>
      </p:sp>
      <p:sp>
        <p:nvSpPr>
          <p:cNvPr id="3" name="Text 1"/>
          <p:cNvSpPr/>
          <p:nvPr/>
        </p:nvSpPr>
        <p:spPr>
          <a:xfrm>
            <a:off x="365760" y="402336"/>
            <a:ext cx="8412480" cy="45720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Full System Component Map</a:t>
            </a:r>
            <a:endParaRPr lang="en-US" sz="2000" dirty="0"/>
          </a:p>
        </p:txBody>
      </p:sp>
      <p:sp>
        <p:nvSpPr>
          <p:cNvPr id="4" name="Shape 2"/>
          <p:cNvSpPr/>
          <p:nvPr/>
        </p:nvSpPr>
        <p:spPr>
          <a:xfrm>
            <a:off x="228600" y="932688"/>
            <a:ext cx="8686800" cy="960120"/>
          </a:xfrm>
          <a:prstGeom prst="roundRect">
            <a:avLst>
              <a:gd name="adj" fmla="val 9524"/>
            </a:avLst>
          </a:prstGeom>
          <a:solidFill>
            <a:srgbClr val="0D2035"/>
          </a:solidFill>
          <a:ln w="12700">
            <a:solidFill>
              <a:srgbClr val="0D9488"/>
            </a:solidFill>
            <a:prstDash val="solid"/>
          </a:ln>
        </p:spPr>
      </p:sp>
      <p:sp>
        <p:nvSpPr>
          <p:cNvPr id="5" name="Text 3"/>
          <p:cNvSpPr/>
          <p:nvPr/>
        </p:nvSpPr>
        <p:spPr>
          <a:xfrm>
            <a:off x="411480" y="987552"/>
            <a:ext cx="3657600" cy="256032"/>
          </a:xfrm>
          <a:prstGeom prst="rect">
            <a:avLst/>
          </a:prstGeom>
          <a:noFill/>
          <a:ln/>
        </p:spPr>
        <p:txBody>
          <a:bodyPr wrap="square" lIns="0" tIns="0" rIns="0" bIns="0" rtlCol="0" anchor="ctr"/>
          <a:lstStyle/>
          <a:p>
            <a:pPr marL="0" indent="0">
              <a:buNone/>
            </a:pPr>
            <a:r>
              <a:rPr lang="en-US" sz="800" b="1" kern="0" spc="100" dirty="0">
                <a:solidFill>
                  <a:srgbClr val="0D9488"/>
                </a:solidFill>
                <a:latin typeface="Calibri" pitchFamily="34" charset="0"/>
                <a:ea typeface="Calibri" pitchFamily="34" charset="-122"/>
                <a:cs typeface="Calibri" pitchFamily="34" charset="-120"/>
              </a:rPr>
              <a:t>LAYER 1  —  CUSTOMER &amp; BANK FRONT-END</a:t>
            </a:r>
            <a:endParaRPr lang="en-US" sz="800" dirty="0"/>
          </a:p>
        </p:txBody>
      </p:sp>
      <p:sp>
        <p:nvSpPr>
          <p:cNvPr id="6" name="Shape 4"/>
          <p:cNvSpPr/>
          <p:nvPr/>
        </p:nvSpPr>
        <p:spPr>
          <a:xfrm>
            <a:off x="384048" y="1243584"/>
            <a:ext cx="1463040" cy="548640"/>
          </a:xfrm>
          <a:prstGeom prst="roundRect">
            <a:avLst>
              <a:gd name="adj" fmla="val 11667"/>
            </a:avLst>
          </a:prstGeom>
          <a:solidFill>
            <a:srgbClr val="1E3A5F"/>
          </a:solidFill>
          <a:ln w="12700">
            <a:solidFill>
              <a:srgbClr val="0D9488"/>
            </a:solidFill>
            <a:prstDash val="solid"/>
          </a:ln>
          <a:effectLst>
            <a:outerShdw blurRad="63500" dist="25400" dir="2700000" algn="bl" rotWithShape="0">
              <a:srgbClr val="000000">
                <a:alpha val="13000"/>
              </a:srgbClr>
            </a:outerShdw>
          </a:effectLst>
        </p:spPr>
      </p:sp>
      <p:sp>
        <p:nvSpPr>
          <p:cNvPr id="7" name="Text 5"/>
          <p:cNvSpPr/>
          <p:nvPr/>
        </p:nvSpPr>
        <p:spPr>
          <a:xfrm>
            <a:off x="438912" y="1261872"/>
            <a:ext cx="1353312" cy="51206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Customer</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Mobile / Web App</a:t>
            </a:r>
            <a:endParaRPr lang="en-US" sz="850" dirty="0"/>
          </a:p>
        </p:txBody>
      </p:sp>
      <p:sp>
        <p:nvSpPr>
          <p:cNvPr id="8" name="Shape 6"/>
          <p:cNvSpPr/>
          <p:nvPr/>
        </p:nvSpPr>
        <p:spPr>
          <a:xfrm>
            <a:off x="2029968" y="1243584"/>
            <a:ext cx="1463040" cy="548640"/>
          </a:xfrm>
          <a:prstGeom prst="roundRect">
            <a:avLst>
              <a:gd name="adj" fmla="val 11667"/>
            </a:avLst>
          </a:prstGeom>
          <a:solidFill>
            <a:srgbClr val="1E3A5F"/>
          </a:solidFill>
          <a:ln w="12700">
            <a:solidFill>
              <a:srgbClr val="0D9488"/>
            </a:solidFill>
            <a:prstDash val="solid"/>
          </a:ln>
          <a:effectLst>
            <a:outerShdw blurRad="63500" dist="25400" dir="2700000" algn="bl" rotWithShape="0">
              <a:srgbClr val="000000">
                <a:alpha val="13000"/>
              </a:srgbClr>
            </a:outerShdw>
          </a:effectLst>
        </p:spPr>
      </p:sp>
      <p:sp>
        <p:nvSpPr>
          <p:cNvPr id="9" name="Text 7"/>
          <p:cNvSpPr/>
          <p:nvPr/>
        </p:nvSpPr>
        <p:spPr>
          <a:xfrm>
            <a:off x="2084832" y="1261872"/>
            <a:ext cx="1353312" cy="51206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Payment</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Initiation API</a:t>
            </a:r>
            <a:endParaRPr lang="en-US" sz="850" dirty="0"/>
          </a:p>
        </p:txBody>
      </p:sp>
      <p:sp>
        <p:nvSpPr>
          <p:cNvPr id="10" name="Shape 8"/>
          <p:cNvSpPr/>
          <p:nvPr/>
        </p:nvSpPr>
        <p:spPr>
          <a:xfrm>
            <a:off x="3675888" y="1243584"/>
            <a:ext cx="1463040" cy="548640"/>
          </a:xfrm>
          <a:prstGeom prst="roundRect">
            <a:avLst>
              <a:gd name="adj" fmla="val 11667"/>
            </a:avLst>
          </a:prstGeom>
          <a:solidFill>
            <a:srgbClr val="1E3A5F"/>
          </a:solidFill>
          <a:ln w="12700">
            <a:solidFill>
              <a:srgbClr val="0D9488"/>
            </a:solidFill>
            <a:prstDash val="solid"/>
          </a:ln>
          <a:effectLst>
            <a:outerShdw blurRad="63500" dist="25400" dir="2700000" algn="bl" rotWithShape="0">
              <a:srgbClr val="000000">
                <a:alpha val="13000"/>
              </a:srgbClr>
            </a:outerShdw>
          </a:effectLst>
        </p:spPr>
      </p:sp>
      <p:sp>
        <p:nvSpPr>
          <p:cNvPr id="11" name="Text 9"/>
          <p:cNvSpPr/>
          <p:nvPr/>
        </p:nvSpPr>
        <p:spPr>
          <a:xfrm>
            <a:off x="3730752" y="1261872"/>
            <a:ext cx="1353312" cy="51206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Core Banking</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System (CBS)</a:t>
            </a:r>
            <a:endParaRPr lang="en-US" sz="850" dirty="0"/>
          </a:p>
        </p:txBody>
      </p:sp>
      <p:sp>
        <p:nvSpPr>
          <p:cNvPr id="12" name="Shape 10"/>
          <p:cNvSpPr/>
          <p:nvPr/>
        </p:nvSpPr>
        <p:spPr>
          <a:xfrm>
            <a:off x="5321808" y="1243584"/>
            <a:ext cx="1463040" cy="548640"/>
          </a:xfrm>
          <a:prstGeom prst="roundRect">
            <a:avLst>
              <a:gd name="adj" fmla="val 11667"/>
            </a:avLst>
          </a:prstGeom>
          <a:solidFill>
            <a:srgbClr val="1E3A5F"/>
          </a:solidFill>
          <a:ln w="12700">
            <a:solidFill>
              <a:srgbClr val="0D9488"/>
            </a:solidFill>
            <a:prstDash val="solid"/>
          </a:ln>
          <a:effectLst>
            <a:outerShdw blurRad="63500" dist="25400" dir="2700000" algn="bl" rotWithShape="0">
              <a:srgbClr val="000000">
                <a:alpha val="13000"/>
              </a:srgbClr>
            </a:outerShdw>
          </a:effectLst>
        </p:spPr>
      </p:sp>
      <p:sp>
        <p:nvSpPr>
          <p:cNvPr id="13" name="Text 11"/>
          <p:cNvSpPr/>
          <p:nvPr/>
        </p:nvSpPr>
        <p:spPr>
          <a:xfrm>
            <a:off x="5376672" y="1261872"/>
            <a:ext cx="1353312" cy="51206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KYC / AML</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Engine</a:t>
            </a:r>
            <a:endParaRPr lang="en-US" sz="850" dirty="0"/>
          </a:p>
        </p:txBody>
      </p:sp>
      <p:sp>
        <p:nvSpPr>
          <p:cNvPr id="14" name="Shape 12"/>
          <p:cNvSpPr/>
          <p:nvPr/>
        </p:nvSpPr>
        <p:spPr>
          <a:xfrm>
            <a:off x="6967728" y="1243584"/>
            <a:ext cx="1463040" cy="548640"/>
          </a:xfrm>
          <a:prstGeom prst="roundRect">
            <a:avLst>
              <a:gd name="adj" fmla="val 11667"/>
            </a:avLst>
          </a:prstGeom>
          <a:solidFill>
            <a:srgbClr val="1E3A5F"/>
          </a:solidFill>
          <a:ln w="12700">
            <a:solidFill>
              <a:srgbClr val="0D9488"/>
            </a:solidFill>
            <a:prstDash val="solid"/>
          </a:ln>
          <a:effectLst>
            <a:outerShdw blurRad="63500" dist="25400" dir="2700000" algn="bl" rotWithShape="0">
              <a:srgbClr val="000000">
                <a:alpha val="13000"/>
              </a:srgbClr>
            </a:outerShdw>
          </a:effectLst>
        </p:spPr>
      </p:sp>
      <p:sp>
        <p:nvSpPr>
          <p:cNvPr id="15" name="Text 13"/>
          <p:cNvSpPr/>
          <p:nvPr/>
        </p:nvSpPr>
        <p:spPr>
          <a:xfrm>
            <a:off x="7022592" y="1261872"/>
            <a:ext cx="1353312" cy="51206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Fraud Ops</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Dashboard</a:t>
            </a:r>
            <a:endParaRPr lang="en-US" sz="850" dirty="0"/>
          </a:p>
        </p:txBody>
      </p:sp>
      <p:sp>
        <p:nvSpPr>
          <p:cNvPr id="16" name="Text 14"/>
          <p:cNvSpPr/>
          <p:nvPr/>
        </p:nvSpPr>
        <p:spPr>
          <a:xfrm>
            <a:off x="3291840" y="1920240"/>
            <a:ext cx="3200400" cy="237744"/>
          </a:xfrm>
          <a:prstGeom prst="rect">
            <a:avLst/>
          </a:prstGeom>
          <a:noFill/>
          <a:ln/>
        </p:spPr>
        <p:txBody>
          <a:bodyPr wrap="square" lIns="0" tIns="0" rIns="0" bIns="0" rtlCol="0" anchor="ctr"/>
          <a:lstStyle/>
          <a:p>
            <a:pPr marL="0" indent="0" algn="ctr">
              <a:buNone/>
            </a:pPr>
            <a:r>
              <a:rPr lang="en-US" sz="850" i="1" dirty="0">
                <a:solidFill>
                  <a:srgbClr val="8FA5BF"/>
                </a:solidFill>
                <a:latin typeface="Calibri" pitchFamily="34" charset="0"/>
                <a:ea typeface="Calibri" pitchFamily="34" charset="-122"/>
                <a:cs typeface="Calibri" pitchFamily="34" charset="-120"/>
              </a:rPr>
              <a:t>↓  Integration APIs (REST / gRPC)</a:t>
            </a:r>
            <a:endParaRPr lang="en-US" sz="850" dirty="0"/>
          </a:p>
        </p:txBody>
      </p:sp>
      <p:sp>
        <p:nvSpPr>
          <p:cNvPr id="17" name="Shape 15"/>
          <p:cNvSpPr/>
          <p:nvPr/>
        </p:nvSpPr>
        <p:spPr>
          <a:xfrm>
            <a:off x="228600" y="2176272"/>
            <a:ext cx="8686800" cy="1115568"/>
          </a:xfrm>
          <a:prstGeom prst="roundRect">
            <a:avLst>
              <a:gd name="adj" fmla="val 8197"/>
            </a:avLst>
          </a:prstGeom>
          <a:solidFill>
            <a:srgbClr val="1A0D2E"/>
          </a:solidFill>
          <a:ln w="12700">
            <a:solidFill>
              <a:srgbClr val="E8A020"/>
            </a:solidFill>
            <a:prstDash val="solid"/>
          </a:ln>
        </p:spPr>
      </p:sp>
      <p:sp>
        <p:nvSpPr>
          <p:cNvPr id="18" name="Text 16"/>
          <p:cNvSpPr/>
          <p:nvPr/>
        </p:nvSpPr>
        <p:spPr>
          <a:xfrm>
            <a:off x="411480" y="2231136"/>
            <a:ext cx="5486400" cy="256032"/>
          </a:xfrm>
          <a:prstGeom prst="rect">
            <a:avLst/>
          </a:prstGeom>
          <a:noFill/>
          <a:ln/>
        </p:spPr>
        <p:txBody>
          <a:bodyPr wrap="square" lIns="0" tIns="0" rIns="0" bIns="0" rtlCol="0" anchor="ctr"/>
          <a:lstStyle/>
          <a:p>
            <a:pPr marL="0" indent="0">
              <a:buNone/>
            </a:pPr>
            <a:r>
              <a:rPr lang="en-US" sz="800" b="1" kern="0" spc="100" dirty="0">
                <a:solidFill>
                  <a:srgbClr val="E8A020"/>
                </a:solidFill>
                <a:latin typeface="Calibri" pitchFamily="34" charset="0"/>
                <a:ea typeface="Calibri" pitchFamily="34" charset="-122"/>
                <a:cs typeface="Calibri" pitchFamily="34" charset="-120"/>
              </a:rPr>
              <a:t>LAYER 2  —  BLOCKCHAIN INTEGRATION LAYER  (New Build)</a:t>
            </a:r>
            <a:endParaRPr lang="en-US" sz="800" dirty="0"/>
          </a:p>
        </p:txBody>
      </p:sp>
      <p:sp>
        <p:nvSpPr>
          <p:cNvPr id="19" name="Shape 17"/>
          <p:cNvSpPr/>
          <p:nvPr/>
        </p:nvSpPr>
        <p:spPr>
          <a:xfrm>
            <a:off x="384048" y="2505456"/>
            <a:ext cx="1463040" cy="685800"/>
          </a:xfrm>
          <a:prstGeom prst="roundRect">
            <a:avLst>
              <a:gd name="adj" fmla="val 9333"/>
            </a:avLst>
          </a:prstGeom>
          <a:solidFill>
            <a:srgbClr val="2A1A4A"/>
          </a:solidFill>
          <a:ln w="12700">
            <a:solidFill>
              <a:srgbClr val="E8A020"/>
            </a:solidFill>
            <a:prstDash val="solid"/>
          </a:ln>
          <a:effectLst>
            <a:outerShdw blurRad="63500" dist="25400" dir="2700000" algn="bl" rotWithShape="0">
              <a:srgbClr val="000000">
                <a:alpha val="13000"/>
              </a:srgbClr>
            </a:outerShdw>
          </a:effectLst>
        </p:spPr>
      </p:sp>
      <p:sp>
        <p:nvSpPr>
          <p:cNvPr id="20" name="Text 18"/>
          <p:cNvSpPr/>
          <p:nvPr/>
        </p:nvSpPr>
        <p:spPr>
          <a:xfrm>
            <a:off x="438912" y="2523744"/>
            <a:ext cx="1353312" cy="649224"/>
          </a:xfrm>
          <a:prstGeom prst="rect">
            <a:avLst/>
          </a:prstGeom>
          <a:noFill/>
          <a:ln/>
        </p:spPr>
        <p:txBody>
          <a:bodyPr wrap="square" lIns="0" tIns="0" rIns="0" bIns="0" rtlCol="0" anchor="ctr"/>
          <a:lstStyle/>
          <a:p>
            <a:pPr marL="0" indent="0" algn="ctr">
              <a:buNone/>
            </a:pPr>
            <a:r>
              <a:rPr lang="en-US" sz="820" b="1" dirty="0">
                <a:solidFill>
                  <a:srgbClr val="FFFFFF"/>
                </a:solidFill>
                <a:latin typeface="Calibri" pitchFamily="34" charset="0"/>
                <a:ea typeface="Calibri" pitchFamily="34" charset="-122"/>
                <a:cs typeface="Calibri" pitchFamily="34" charset="-120"/>
              </a:rPr>
              <a:t>Context</a:t>
            </a:r>
            <a:endParaRPr lang="en-US" sz="820" dirty="0"/>
          </a:p>
          <a:p>
            <a:pPr marL="0" indent="0" algn="ctr">
              <a:buNone/>
            </a:pPr>
            <a:r>
              <a:rPr lang="en-US" sz="820" b="1" dirty="0">
                <a:solidFill>
                  <a:srgbClr val="FFFFFF"/>
                </a:solidFill>
                <a:latin typeface="Calibri" pitchFamily="34" charset="0"/>
                <a:ea typeface="Calibri" pitchFamily="34" charset="-122"/>
                <a:cs typeface="Calibri" pitchFamily="34" charset="-120"/>
              </a:rPr>
              <a:t>Capture</a:t>
            </a:r>
            <a:endParaRPr lang="en-US" sz="820" dirty="0"/>
          </a:p>
          <a:p>
            <a:pPr marL="0" indent="0" algn="ctr">
              <a:buNone/>
            </a:pPr>
            <a:r>
              <a:rPr lang="en-US" sz="820" b="1" dirty="0">
                <a:solidFill>
                  <a:srgbClr val="FFFFFF"/>
                </a:solidFill>
                <a:latin typeface="Calibri" pitchFamily="34" charset="0"/>
                <a:ea typeface="Calibri" pitchFamily="34" charset="-122"/>
                <a:cs typeface="Calibri" pitchFamily="34" charset="-120"/>
              </a:rPr>
              <a:t>Service</a:t>
            </a:r>
            <a:endParaRPr lang="en-US" sz="820" dirty="0"/>
          </a:p>
        </p:txBody>
      </p:sp>
      <p:sp>
        <p:nvSpPr>
          <p:cNvPr id="21" name="Shape 19"/>
          <p:cNvSpPr/>
          <p:nvPr/>
        </p:nvSpPr>
        <p:spPr>
          <a:xfrm>
            <a:off x="2029968" y="2505456"/>
            <a:ext cx="1463040" cy="685800"/>
          </a:xfrm>
          <a:prstGeom prst="roundRect">
            <a:avLst>
              <a:gd name="adj" fmla="val 9333"/>
            </a:avLst>
          </a:prstGeom>
          <a:solidFill>
            <a:srgbClr val="2A1A4A"/>
          </a:solidFill>
          <a:ln w="12700">
            <a:solidFill>
              <a:srgbClr val="E8A020"/>
            </a:solidFill>
            <a:prstDash val="solid"/>
          </a:ln>
          <a:effectLst>
            <a:outerShdw blurRad="63500" dist="25400" dir="2700000" algn="bl" rotWithShape="0">
              <a:srgbClr val="000000">
                <a:alpha val="13000"/>
              </a:srgbClr>
            </a:outerShdw>
          </a:effectLst>
        </p:spPr>
      </p:sp>
      <p:sp>
        <p:nvSpPr>
          <p:cNvPr id="22" name="Text 20"/>
          <p:cNvSpPr/>
          <p:nvPr/>
        </p:nvSpPr>
        <p:spPr>
          <a:xfrm>
            <a:off x="2084832" y="2523744"/>
            <a:ext cx="1353312" cy="649224"/>
          </a:xfrm>
          <a:prstGeom prst="rect">
            <a:avLst/>
          </a:prstGeom>
          <a:noFill/>
          <a:ln/>
        </p:spPr>
        <p:txBody>
          <a:bodyPr wrap="square" lIns="0" tIns="0" rIns="0" bIns="0" rtlCol="0" anchor="ctr"/>
          <a:lstStyle/>
          <a:p>
            <a:pPr marL="0" indent="0" algn="ctr">
              <a:buNone/>
            </a:pPr>
            <a:r>
              <a:rPr lang="en-US" sz="820" b="1" dirty="0">
                <a:solidFill>
                  <a:srgbClr val="FFFFFF"/>
                </a:solidFill>
                <a:latin typeface="Calibri" pitchFamily="34" charset="0"/>
                <a:ea typeface="Calibri" pitchFamily="34" charset="-122"/>
                <a:cs typeface="Calibri" pitchFamily="34" charset="-120"/>
              </a:rPr>
              <a:t>Smart</a:t>
            </a:r>
            <a:endParaRPr lang="en-US" sz="820" dirty="0"/>
          </a:p>
          <a:p>
            <a:pPr marL="0" indent="0" algn="ctr">
              <a:buNone/>
            </a:pPr>
            <a:r>
              <a:rPr lang="en-US" sz="820" b="1" dirty="0">
                <a:solidFill>
                  <a:srgbClr val="FFFFFF"/>
                </a:solidFill>
                <a:latin typeface="Calibri" pitchFamily="34" charset="0"/>
                <a:ea typeface="Calibri" pitchFamily="34" charset="-122"/>
                <a:cs typeface="Calibri" pitchFamily="34" charset="-120"/>
              </a:rPr>
              <a:t>Contract</a:t>
            </a:r>
            <a:endParaRPr lang="en-US" sz="820" dirty="0"/>
          </a:p>
          <a:p>
            <a:pPr marL="0" indent="0" algn="ctr">
              <a:buNone/>
            </a:pPr>
            <a:r>
              <a:rPr lang="en-US" sz="820" b="1" dirty="0">
                <a:solidFill>
                  <a:srgbClr val="FFFFFF"/>
                </a:solidFill>
                <a:latin typeface="Calibri" pitchFamily="34" charset="0"/>
                <a:ea typeface="Calibri" pitchFamily="34" charset="-122"/>
                <a:cs typeface="Calibri" pitchFamily="34" charset="-120"/>
              </a:rPr>
              <a:t>Orchestrator</a:t>
            </a:r>
            <a:endParaRPr lang="en-US" sz="820" dirty="0"/>
          </a:p>
        </p:txBody>
      </p:sp>
      <p:sp>
        <p:nvSpPr>
          <p:cNvPr id="23" name="Shape 21"/>
          <p:cNvSpPr/>
          <p:nvPr/>
        </p:nvSpPr>
        <p:spPr>
          <a:xfrm>
            <a:off x="3675888" y="2505456"/>
            <a:ext cx="1463040" cy="685800"/>
          </a:xfrm>
          <a:prstGeom prst="roundRect">
            <a:avLst>
              <a:gd name="adj" fmla="val 9333"/>
            </a:avLst>
          </a:prstGeom>
          <a:solidFill>
            <a:srgbClr val="2A1A4A"/>
          </a:solidFill>
          <a:ln w="12700">
            <a:solidFill>
              <a:srgbClr val="E8A020"/>
            </a:solidFill>
            <a:prstDash val="solid"/>
          </a:ln>
          <a:effectLst>
            <a:outerShdw blurRad="63500" dist="25400" dir="2700000" algn="bl" rotWithShape="0">
              <a:srgbClr val="000000">
                <a:alpha val="13000"/>
              </a:srgbClr>
            </a:outerShdw>
          </a:effectLst>
        </p:spPr>
      </p:sp>
      <p:sp>
        <p:nvSpPr>
          <p:cNvPr id="24" name="Text 22"/>
          <p:cNvSpPr/>
          <p:nvPr/>
        </p:nvSpPr>
        <p:spPr>
          <a:xfrm>
            <a:off x="3730752" y="2523744"/>
            <a:ext cx="1353312" cy="649224"/>
          </a:xfrm>
          <a:prstGeom prst="rect">
            <a:avLst/>
          </a:prstGeom>
          <a:noFill/>
          <a:ln/>
        </p:spPr>
        <p:txBody>
          <a:bodyPr wrap="square" lIns="0" tIns="0" rIns="0" bIns="0" rtlCol="0" anchor="ctr"/>
          <a:lstStyle/>
          <a:p>
            <a:pPr marL="0" indent="0" algn="ctr">
              <a:buNone/>
            </a:pPr>
            <a:r>
              <a:rPr lang="en-US" sz="820" b="1" dirty="0">
                <a:solidFill>
                  <a:srgbClr val="FFFFFF"/>
                </a:solidFill>
                <a:latin typeface="Calibri" pitchFamily="34" charset="0"/>
                <a:ea typeface="Calibri" pitchFamily="34" charset="-122"/>
                <a:cs typeface="Calibri" pitchFamily="34" charset="-120"/>
              </a:rPr>
              <a:t>On-Chain</a:t>
            </a:r>
            <a:endParaRPr lang="en-US" sz="820" dirty="0"/>
          </a:p>
          <a:p>
            <a:pPr marL="0" indent="0" algn="ctr">
              <a:buNone/>
            </a:pPr>
            <a:r>
              <a:rPr lang="en-US" sz="820" b="1" dirty="0">
                <a:solidFill>
                  <a:srgbClr val="FFFFFF"/>
                </a:solidFill>
                <a:latin typeface="Calibri" pitchFamily="34" charset="0"/>
                <a:ea typeface="Calibri" pitchFamily="34" charset="-122"/>
                <a:cs typeface="Calibri" pitchFamily="34" charset="-120"/>
              </a:rPr>
              <a:t>Audit Trail</a:t>
            </a:r>
            <a:endParaRPr lang="en-US" sz="820" dirty="0"/>
          </a:p>
          <a:p>
            <a:pPr marL="0" indent="0" algn="ctr">
              <a:buNone/>
            </a:pPr>
            <a:r>
              <a:rPr lang="en-US" sz="820" b="1" dirty="0">
                <a:solidFill>
                  <a:srgbClr val="FFFFFF"/>
                </a:solidFill>
                <a:latin typeface="Calibri" pitchFamily="34" charset="0"/>
                <a:ea typeface="Calibri" pitchFamily="34" charset="-122"/>
                <a:cs typeface="Calibri" pitchFamily="34" charset="-120"/>
              </a:rPr>
              <a:t>Writer</a:t>
            </a:r>
            <a:endParaRPr lang="en-US" sz="820" dirty="0"/>
          </a:p>
        </p:txBody>
      </p:sp>
      <p:sp>
        <p:nvSpPr>
          <p:cNvPr id="25" name="Shape 23"/>
          <p:cNvSpPr/>
          <p:nvPr/>
        </p:nvSpPr>
        <p:spPr>
          <a:xfrm>
            <a:off x="5321808" y="2505456"/>
            <a:ext cx="1463040" cy="685800"/>
          </a:xfrm>
          <a:prstGeom prst="roundRect">
            <a:avLst>
              <a:gd name="adj" fmla="val 9333"/>
            </a:avLst>
          </a:prstGeom>
          <a:solidFill>
            <a:srgbClr val="2A1A4A"/>
          </a:solidFill>
          <a:ln w="12700">
            <a:solidFill>
              <a:srgbClr val="E8A020"/>
            </a:solidFill>
            <a:prstDash val="solid"/>
          </a:ln>
          <a:effectLst>
            <a:outerShdw blurRad="63500" dist="25400" dir="2700000" algn="bl" rotWithShape="0">
              <a:srgbClr val="000000">
                <a:alpha val="13000"/>
              </a:srgbClr>
            </a:outerShdw>
          </a:effectLst>
        </p:spPr>
      </p:sp>
      <p:sp>
        <p:nvSpPr>
          <p:cNvPr id="26" name="Text 24"/>
          <p:cNvSpPr/>
          <p:nvPr/>
        </p:nvSpPr>
        <p:spPr>
          <a:xfrm>
            <a:off x="5376672" y="2523744"/>
            <a:ext cx="1353312" cy="649224"/>
          </a:xfrm>
          <a:prstGeom prst="rect">
            <a:avLst/>
          </a:prstGeom>
          <a:noFill/>
          <a:ln/>
        </p:spPr>
        <p:txBody>
          <a:bodyPr wrap="square" lIns="0" tIns="0" rIns="0" bIns="0" rtlCol="0" anchor="ctr"/>
          <a:lstStyle/>
          <a:p>
            <a:pPr marL="0" indent="0" algn="ctr">
              <a:buNone/>
            </a:pPr>
            <a:r>
              <a:rPr lang="en-US" sz="820" b="1" dirty="0">
                <a:solidFill>
                  <a:srgbClr val="FFFFFF"/>
                </a:solidFill>
                <a:latin typeface="Calibri" pitchFamily="34" charset="0"/>
                <a:ea typeface="Calibri" pitchFamily="34" charset="-122"/>
                <a:cs typeface="Calibri" pitchFamily="34" charset="-120"/>
              </a:rPr>
              <a:t>Ledger</a:t>
            </a:r>
            <a:endParaRPr lang="en-US" sz="820" dirty="0"/>
          </a:p>
          <a:p>
            <a:pPr marL="0" indent="0" algn="ctr">
              <a:buNone/>
            </a:pPr>
            <a:r>
              <a:rPr lang="en-US" sz="820" b="1" dirty="0">
                <a:solidFill>
                  <a:srgbClr val="FFFFFF"/>
                </a:solidFill>
                <a:latin typeface="Calibri" pitchFamily="34" charset="0"/>
                <a:ea typeface="Calibri" pitchFamily="34" charset="-122"/>
                <a:cs typeface="Calibri" pitchFamily="34" charset="-120"/>
              </a:rPr>
              <a:t>Query</a:t>
            </a:r>
            <a:endParaRPr lang="en-US" sz="820" dirty="0"/>
          </a:p>
          <a:p>
            <a:pPr marL="0" indent="0" algn="ctr">
              <a:buNone/>
            </a:pPr>
            <a:r>
              <a:rPr lang="en-US" sz="820" b="1" dirty="0">
                <a:solidFill>
                  <a:srgbClr val="FFFFFF"/>
                </a:solidFill>
                <a:latin typeface="Calibri" pitchFamily="34" charset="0"/>
                <a:ea typeface="Calibri" pitchFamily="34" charset="-122"/>
                <a:cs typeface="Calibri" pitchFamily="34" charset="-120"/>
              </a:rPr>
              <a:t>Service</a:t>
            </a:r>
            <a:endParaRPr lang="en-US" sz="820" dirty="0"/>
          </a:p>
        </p:txBody>
      </p:sp>
      <p:sp>
        <p:nvSpPr>
          <p:cNvPr id="27" name="Shape 25"/>
          <p:cNvSpPr/>
          <p:nvPr/>
        </p:nvSpPr>
        <p:spPr>
          <a:xfrm>
            <a:off x="6967728" y="2505456"/>
            <a:ext cx="1463040" cy="685800"/>
          </a:xfrm>
          <a:prstGeom prst="roundRect">
            <a:avLst>
              <a:gd name="adj" fmla="val 9333"/>
            </a:avLst>
          </a:prstGeom>
          <a:solidFill>
            <a:srgbClr val="2A1A4A"/>
          </a:solidFill>
          <a:ln w="12700">
            <a:solidFill>
              <a:srgbClr val="E8A020"/>
            </a:solidFill>
            <a:prstDash val="solid"/>
          </a:ln>
          <a:effectLst>
            <a:outerShdw blurRad="63500" dist="25400" dir="2700000" algn="bl" rotWithShape="0">
              <a:srgbClr val="000000">
                <a:alpha val="13000"/>
              </a:srgbClr>
            </a:outerShdw>
          </a:effectLst>
        </p:spPr>
      </p:sp>
      <p:sp>
        <p:nvSpPr>
          <p:cNvPr id="28" name="Text 26"/>
          <p:cNvSpPr/>
          <p:nvPr/>
        </p:nvSpPr>
        <p:spPr>
          <a:xfrm>
            <a:off x="7022592" y="2523744"/>
            <a:ext cx="1353312" cy="649224"/>
          </a:xfrm>
          <a:prstGeom prst="rect">
            <a:avLst/>
          </a:prstGeom>
          <a:noFill/>
          <a:ln/>
        </p:spPr>
        <p:txBody>
          <a:bodyPr wrap="square" lIns="0" tIns="0" rIns="0" bIns="0" rtlCol="0" anchor="ctr"/>
          <a:lstStyle/>
          <a:p>
            <a:pPr marL="0" indent="0" algn="ctr">
              <a:buNone/>
            </a:pPr>
            <a:r>
              <a:rPr lang="en-US" sz="820" b="1" dirty="0">
                <a:solidFill>
                  <a:srgbClr val="FFFFFF"/>
                </a:solidFill>
                <a:latin typeface="Calibri" pitchFamily="34" charset="0"/>
                <a:ea typeface="Calibri" pitchFamily="34" charset="-122"/>
                <a:cs typeface="Calibri" pitchFamily="34" charset="-120"/>
              </a:rPr>
              <a:t>ML Oracle</a:t>
            </a:r>
            <a:endParaRPr lang="en-US" sz="820" dirty="0"/>
          </a:p>
          <a:p>
            <a:pPr marL="0" indent="0" algn="ctr">
              <a:buNone/>
            </a:pPr>
            <a:r>
              <a:rPr lang="en-US" sz="820" b="1" dirty="0">
                <a:solidFill>
                  <a:srgbClr val="FFFFFF"/>
                </a:solidFill>
                <a:latin typeface="Calibri" pitchFamily="34" charset="0"/>
                <a:ea typeface="Calibri" pitchFamily="34" charset="-122"/>
                <a:cs typeface="Calibri" pitchFamily="34" charset="-120"/>
              </a:rPr>
              <a:t>Bridge</a:t>
            </a:r>
            <a:endParaRPr lang="en-US" sz="820" dirty="0"/>
          </a:p>
        </p:txBody>
      </p:sp>
      <p:sp>
        <p:nvSpPr>
          <p:cNvPr id="29" name="Text 27"/>
          <p:cNvSpPr/>
          <p:nvPr/>
        </p:nvSpPr>
        <p:spPr>
          <a:xfrm>
            <a:off x="3291840" y="3291840"/>
            <a:ext cx="3200400" cy="237744"/>
          </a:xfrm>
          <a:prstGeom prst="rect">
            <a:avLst/>
          </a:prstGeom>
          <a:noFill/>
          <a:ln/>
        </p:spPr>
        <p:txBody>
          <a:bodyPr wrap="square" lIns="0" tIns="0" rIns="0" bIns="0" rtlCol="0" anchor="ctr"/>
          <a:lstStyle/>
          <a:p>
            <a:pPr marL="0" indent="0" algn="ctr">
              <a:buNone/>
            </a:pPr>
            <a:r>
              <a:rPr lang="en-US" sz="850" i="1" dirty="0">
                <a:solidFill>
                  <a:srgbClr val="8FA5BF"/>
                </a:solidFill>
                <a:latin typeface="Calibri" pitchFamily="34" charset="0"/>
                <a:ea typeface="Calibri" pitchFamily="34" charset="-122"/>
                <a:cs typeface="Calibri" pitchFamily="34" charset="-120"/>
              </a:rPr>
              <a:t>↓  Fabric SDK / gRPC (peer endorsement)</a:t>
            </a:r>
            <a:endParaRPr lang="en-US" sz="850" dirty="0"/>
          </a:p>
        </p:txBody>
      </p:sp>
      <p:sp>
        <p:nvSpPr>
          <p:cNvPr id="30" name="Shape 28"/>
          <p:cNvSpPr/>
          <p:nvPr/>
        </p:nvSpPr>
        <p:spPr>
          <a:xfrm>
            <a:off x="228600" y="3547872"/>
            <a:ext cx="8686800" cy="1115568"/>
          </a:xfrm>
          <a:prstGeom prst="roundRect">
            <a:avLst>
              <a:gd name="adj" fmla="val 8197"/>
            </a:avLst>
          </a:prstGeom>
          <a:solidFill>
            <a:srgbClr val="0A1E14"/>
          </a:solidFill>
          <a:ln w="12700">
            <a:solidFill>
              <a:srgbClr val="1DB87A"/>
            </a:solidFill>
            <a:prstDash val="solid"/>
          </a:ln>
        </p:spPr>
      </p:sp>
      <p:sp>
        <p:nvSpPr>
          <p:cNvPr id="31" name="Text 29"/>
          <p:cNvSpPr/>
          <p:nvPr/>
        </p:nvSpPr>
        <p:spPr>
          <a:xfrm>
            <a:off x="411480" y="3602736"/>
            <a:ext cx="6400800" cy="256032"/>
          </a:xfrm>
          <a:prstGeom prst="rect">
            <a:avLst/>
          </a:prstGeom>
          <a:noFill/>
          <a:ln/>
        </p:spPr>
        <p:txBody>
          <a:bodyPr wrap="square" lIns="0" tIns="0" rIns="0" bIns="0" rtlCol="0" anchor="ctr"/>
          <a:lstStyle/>
          <a:p>
            <a:pPr marL="0" indent="0">
              <a:buNone/>
            </a:pPr>
            <a:r>
              <a:rPr lang="en-US" sz="800" b="1" kern="0" spc="100" dirty="0">
                <a:solidFill>
                  <a:srgbClr val="1DB87A"/>
                </a:solidFill>
                <a:latin typeface="Calibri" pitchFamily="34" charset="0"/>
                <a:ea typeface="Calibri" pitchFamily="34" charset="-122"/>
                <a:cs typeface="Calibri" pitchFamily="34" charset="-120"/>
              </a:rPr>
              <a:t>LAYER 3  —  HYPERLEDGER FABRIC CONSORTIUM NETWORK  (Cross-Bank)</a:t>
            </a:r>
            <a:endParaRPr lang="en-US" sz="800" dirty="0"/>
          </a:p>
        </p:txBody>
      </p:sp>
      <p:sp>
        <p:nvSpPr>
          <p:cNvPr id="32" name="Shape 30"/>
          <p:cNvSpPr/>
          <p:nvPr/>
        </p:nvSpPr>
        <p:spPr>
          <a:xfrm>
            <a:off x="384048" y="3858768"/>
            <a:ext cx="1463040" cy="694944"/>
          </a:xfrm>
          <a:prstGeom prst="roundRect">
            <a:avLst>
              <a:gd name="adj" fmla="val 9211"/>
            </a:avLst>
          </a:prstGeom>
          <a:solidFill>
            <a:srgbClr val="112A1A"/>
          </a:solidFill>
          <a:ln w="12700">
            <a:solidFill>
              <a:srgbClr val="1DB87A"/>
            </a:solidFill>
            <a:prstDash val="solid"/>
          </a:ln>
          <a:effectLst>
            <a:outerShdw blurRad="63500" dist="25400" dir="2700000" algn="bl" rotWithShape="0">
              <a:srgbClr val="000000">
                <a:alpha val="13000"/>
              </a:srgbClr>
            </a:outerShdw>
          </a:effectLst>
        </p:spPr>
      </p:sp>
      <p:sp>
        <p:nvSpPr>
          <p:cNvPr id="33" name="Text 31"/>
          <p:cNvSpPr/>
          <p:nvPr/>
        </p:nvSpPr>
        <p:spPr>
          <a:xfrm>
            <a:off x="438912" y="3877056"/>
            <a:ext cx="1353312" cy="658368"/>
          </a:xfrm>
          <a:prstGeom prst="rect">
            <a:avLst/>
          </a:prstGeom>
          <a:noFill/>
          <a:ln/>
        </p:spPr>
        <p:txBody>
          <a:bodyPr wrap="square" lIns="0" tIns="0" rIns="0" bIns="0" rtlCol="0" anchor="ctr"/>
          <a:lstStyle/>
          <a:p>
            <a:pPr marL="0" indent="0" algn="ctr">
              <a:buNone/>
            </a:pPr>
            <a:r>
              <a:rPr lang="en-US" sz="820" b="1" dirty="0">
                <a:solidFill>
                  <a:srgbClr val="FFFFFF"/>
                </a:solidFill>
                <a:latin typeface="Calibri" pitchFamily="34" charset="0"/>
                <a:ea typeface="Calibri" pitchFamily="34" charset="-122"/>
                <a:cs typeface="Calibri" pitchFamily="34" charset="-120"/>
              </a:rPr>
              <a:t>Ordering</a:t>
            </a:r>
            <a:endParaRPr lang="en-US" sz="820" dirty="0"/>
          </a:p>
          <a:p>
            <a:pPr marL="0" indent="0" algn="ctr">
              <a:buNone/>
            </a:pPr>
            <a:r>
              <a:rPr lang="en-US" sz="820" b="1" dirty="0">
                <a:solidFill>
                  <a:srgbClr val="FFFFFF"/>
                </a:solidFill>
                <a:latin typeface="Calibri" pitchFamily="34" charset="0"/>
                <a:ea typeface="Calibri" pitchFamily="34" charset="-122"/>
                <a:cs typeface="Calibri" pitchFamily="34" charset="-120"/>
              </a:rPr>
              <a:t>Service</a:t>
            </a:r>
            <a:endParaRPr lang="en-US" sz="820" dirty="0"/>
          </a:p>
          <a:p>
            <a:pPr marL="0" indent="0" algn="ctr">
              <a:buNone/>
            </a:pPr>
            <a:r>
              <a:rPr lang="en-US" sz="820" b="1" dirty="0">
                <a:solidFill>
                  <a:srgbClr val="FFFFFF"/>
                </a:solidFill>
                <a:latin typeface="Calibri" pitchFamily="34" charset="0"/>
                <a:ea typeface="Calibri" pitchFamily="34" charset="-122"/>
                <a:cs typeface="Calibri" pitchFamily="34" charset="-120"/>
              </a:rPr>
              <a:t>(Raft)</a:t>
            </a:r>
            <a:endParaRPr lang="en-US" sz="820" dirty="0"/>
          </a:p>
        </p:txBody>
      </p:sp>
      <p:sp>
        <p:nvSpPr>
          <p:cNvPr id="34" name="Shape 32"/>
          <p:cNvSpPr/>
          <p:nvPr/>
        </p:nvSpPr>
        <p:spPr>
          <a:xfrm>
            <a:off x="2029968" y="3858768"/>
            <a:ext cx="1463040" cy="694944"/>
          </a:xfrm>
          <a:prstGeom prst="roundRect">
            <a:avLst>
              <a:gd name="adj" fmla="val 9211"/>
            </a:avLst>
          </a:prstGeom>
          <a:solidFill>
            <a:srgbClr val="112A1A"/>
          </a:solidFill>
          <a:ln w="12700">
            <a:solidFill>
              <a:srgbClr val="1DB87A"/>
            </a:solidFill>
            <a:prstDash val="solid"/>
          </a:ln>
          <a:effectLst>
            <a:outerShdw blurRad="63500" dist="25400" dir="2700000" algn="bl" rotWithShape="0">
              <a:srgbClr val="000000">
                <a:alpha val="13000"/>
              </a:srgbClr>
            </a:outerShdw>
          </a:effectLst>
        </p:spPr>
      </p:sp>
      <p:sp>
        <p:nvSpPr>
          <p:cNvPr id="35" name="Text 33"/>
          <p:cNvSpPr/>
          <p:nvPr/>
        </p:nvSpPr>
        <p:spPr>
          <a:xfrm>
            <a:off x="2084832" y="3877056"/>
            <a:ext cx="1353312" cy="658368"/>
          </a:xfrm>
          <a:prstGeom prst="rect">
            <a:avLst/>
          </a:prstGeom>
          <a:noFill/>
          <a:ln/>
        </p:spPr>
        <p:txBody>
          <a:bodyPr wrap="square" lIns="0" tIns="0" rIns="0" bIns="0" rtlCol="0" anchor="ctr"/>
          <a:lstStyle/>
          <a:p>
            <a:pPr marL="0" indent="0" algn="ctr">
              <a:buNone/>
            </a:pPr>
            <a:r>
              <a:rPr lang="en-US" sz="820" b="1" dirty="0">
                <a:solidFill>
                  <a:srgbClr val="FFFFFF"/>
                </a:solidFill>
                <a:latin typeface="Calibri" pitchFamily="34" charset="0"/>
                <a:ea typeface="Calibri" pitchFamily="34" charset="-122"/>
                <a:cs typeface="Calibri" pitchFamily="34" charset="-120"/>
              </a:rPr>
              <a:t>Peer Nodes</a:t>
            </a:r>
            <a:endParaRPr lang="en-US" sz="820" dirty="0"/>
          </a:p>
          <a:p>
            <a:pPr marL="0" indent="0" algn="ctr">
              <a:buNone/>
            </a:pPr>
            <a:r>
              <a:rPr lang="en-US" sz="820" b="1" dirty="0">
                <a:solidFill>
                  <a:srgbClr val="FFFFFF"/>
                </a:solidFill>
                <a:latin typeface="Calibri" pitchFamily="34" charset="0"/>
                <a:ea typeface="Calibri" pitchFamily="34" charset="-122"/>
                <a:cs typeface="Calibri" pitchFamily="34" charset="-120"/>
              </a:rPr>
              <a:t>(Lloyds Bank</a:t>
            </a:r>
            <a:endParaRPr lang="en-US" sz="820" dirty="0"/>
          </a:p>
          <a:p>
            <a:pPr marL="0" indent="0" algn="ctr">
              <a:buNone/>
            </a:pPr>
            <a:r>
              <a:rPr lang="en-US" sz="820" b="1" dirty="0">
                <a:solidFill>
                  <a:srgbClr val="FFFFFF"/>
                </a:solidFill>
                <a:latin typeface="Calibri" pitchFamily="34" charset="0"/>
                <a:ea typeface="Calibri" pitchFamily="34" charset="-122"/>
                <a:cs typeface="Calibri" pitchFamily="34" charset="-120"/>
              </a:rPr>
              <a:t>Org)</a:t>
            </a:r>
            <a:endParaRPr lang="en-US" sz="820" dirty="0"/>
          </a:p>
        </p:txBody>
      </p:sp>
      <p:sp>
        <p:nvSpPr>
          <p:cNvPr id="36" name="Shape 34"/>
          <p:cNvSpPr/>
          <p:nvPr/>
        </p:nvSpPr>
        <p:spPr>
          <a:xfrm>
            <a:off x="3675888" y="3858768"/>
            <a:ext cx="1463040" cy="694944"/>
          </a:xfrm>
          <a:prstGeom prst="roundRect">
            <a:avLst>
              <a:gd name="adj" fmla="val 9211"/>
            </a:avLst>
          </a:prstGeom>
          <a:solidFill>
            <a:srgbClr val="112A1A"/>
          </a:solidFill>
          <a:ln w="12700">
            <a:solidFill>
              <a:srgbClr val="1DB87A"/>
            </a:solidFill>
            <a:prstDash val="solid"/>
          </a:ln>
          <a:effectLst>
            <a:outerShdw blurRad="63500" dist="25400" dir="2700000" algn="bl" rotWithShape="0">
              <a:srgbClr val="000000">
                <a:alpha val="13000"/>
              </a:srgbClr>
            </a:outerShdw>
          </a:effectLst>
        </p:spPr>
      </p:sp>
      <p:sp>
        <p:nvSpPr>
          <p:cNvPr id="37" name="Text 35"/>
          <p:cNvSpPr/>
          <p:nvPr/>
        </p:nvSpPr>
        <p:spPr>
          <a:xfrm>
            <a:off x="3730752" y="3877056"/>
            <a:ext cx="1353312" cy="658368"/>
          </a:xfrm>
          <a:prstGeom prst="rect">
            <a:avLst/>
          </a:prstGeom>
          <a:noFill/>
          <a:ln/>
        </p:spPr>
        <p:txBody>
          <a:bodyPr wrap="square" lIns="0" tIns="0" rIns="0" bIns="0" rtlCol="0" anchor="ctr"/>
          <a:lstStyle/>
          <a:p>
            <a:pPr marL="0" indent="0" algn="ctr">
              <a:buNone/>
            </a:pPr>
            <a:r>
              <a:rPr lang="en-US" sz="820" b="1" dirty="0">
                <a:solidFill>
                  <a:srgbClr val="FFFFFF"/>
                </a:solidFill>
                <a:latin typeface="Calibri" pitchFamily="34" charset="0"/>
                <a:ea typeface="Calibri" pitchFamily="34" charset="-122"/>
                <a:cs typeface="Calibri" pitchFamily="34" charset="-120"/>
              </a:rPr>
              <a:t>Peer Nodes</a:t>
            </a:r>
            <a:endParaRPr lang="en-US" sz="820" dirty="0"/>
          </a:p>
          <a:p>
            <a:pPr marL="0" indent="0" algn="ctr">
              <a:buNone/>
            </a:pPr>
            <a:r>
              <a:rPr lang="en-US" sz="820" b="1" dirty="0">
                <a:solidFill>
                  <a:srgbClr val="FFFFFF"/>
                </a:solidFill>
                <a:latin typeface="Calibri" pitchFamily="34" charset="0"/>
                <a:ea typeface="Calibri" pitchFamily="34" charset="-122"/>
                <a:cs typeface="Calibri" pitchFamily="34" charset="-120"/>
              </a:rPr>
              <a:t>(Consortium</a:t>
            </a:r>
            <a:endParaRPr lang="en-US" sz="820" dirty="0"/>
          </a:p>
          <a:p>
            <a:pPr marL="0" indent="0" algn="ctr">
              <a:buNone/>
            </a:pPr>
            <a:r>
              <a:rPr lang="en-US" sz="820" b="1" dirty="0">
                <a:solidFill>
                  <a:srgbClr val="FFFFFF"/>
                </a:solidFill>
                <a:latin typeface="Calibri" pitchFamily="34" charset="0"/>
                <a:ea typeface="Calibri" pitchFamily="34" charset="-122"/>
                <a:cs typeface="Calibri" pitchFamily="34" charset="-120"/>
              </a:rPr>
              <a:t>Banks)</a:t>
            </a:r>
            <a:endParaRPr lang="en-US" sz="820" dirty="0"/>
          </a:p>
        </p:txBody>
      </p:sp>
      <p:sp>
        <p:nvSpPr>
          <p:cNvPr id="38" name="Shape 36"/>
          <p:cNvSpPr/>
          <p:nvPr/>
        </p:nvSpPr>
        <p:spPr>
          <a:xfrm>
            <a:off x="5321808" y="3858768"/>
            <a:ext cx="1463040" cy="694944"/>
          </a:xfrm>
          <a:prstGeom prst="roundRect">
            <a:avLst>
              <a:gd name="adj" fmla="val 9211"/>
            </a:avLst>
          </a:prstGeom>
          <a:solidFill>
            <a:srgbClr val="112A1A"/>
          </a:solidFill>
          <a:ln w="12700">
            <a:solidFill>
              <a:srgbClr val="1DB87A"/>
            </a:solidFill>
            <a:prstDash val="solid"/>
          </a:ln>
          <a:effectLst>
            <a:outerShdw blurRad="63500" dist="25400" dir="2700000" algn="bl" rotWithShape="0">
              <a:srgbClr val="000000">
                <a:alpha val="13000"/>
              </a:srgbClr>
            </a:outerShdw>
          </a:effectLst>
        </p:spPr>
      </p:sp>
      <p:sp>
        <p:nvSpPr>
          <p:cNvPr id="39" name="Text 37"/>
          <p:cNvSpPr/>
          <p:nvPr/>
        </p:nvSpPr>
        <p:spPr>
          <a:xfrm>
            <a:off x="5376672" y="3877056"/>
            <a:ext cx="1353312" cy="658368"/>
          </a:xfrm>
          <a:prstGeom prst="rect">
            <a:avLst/>
          </a:prstGeom>
          <a:noFill/>
          <a:ln/>
        </p:spPr>
        <p:txBody>
          <a:bodyPr wrap="square" lIns="0" tIns="0" rIns="0" bIns="0" rtlCol="0" anchor="ctr"/>
          <a:lstStyle/>
          <a:p>
            <a:pPr marL="0" indent="0" algn="ctr">
              <a:buNone/>
            </a:pPr>
            <a:r>
              <a:rPr lang="en-US" sz="820" b="1" dirty="0">
                <a:solidFill>
                  <a:srgbClr val="FFFFFF"/>
                </a:solidFill>
                <a:latin typeface="Calibri" pitchFamily="34" charset="0"/>
                <a:ea typeface="Calibri" pitchFamily="34" charset="-122"/>
                <a:cs typeface="Calibri" pitchFamily="34" charset="-120"/>
              </a:rPr>
              <a:t>Hashed Fraud</a:t>
            </a:r>
            <a:endParaRPr lang="en-US" sz="820" dirty="0"/>
          </a:p>
          <a:p>
            <a:pPr marL="0" indent="0" algn="ctr">
              <a:buNone/>
            </a:pPr>
            <a:r>
              <a:rPr lang="en-US" sz="820" b="1" dirty="0">
                <a:solidFill>
                  <a:srgbClr val="FFFFFF"/>
                </a:solidFill>
                <a:latin typeface="Calibri" pitchFamily="34" charset="0"/>
                <a:ea typeface="Calibri" pitchFamily="34" charset="-122"/>
                <a:cs typeface="Calibri" pitchFamily="34" charset="-120"/>
              </a:rPr>
              <a:t>Signal</a:t>
            </a:r>
            <a:endParaRPr lang="en-US" sz="820" dirty="0"/>
          </a:p>
          <a:p>
            <a:pPr marL="0" indent="0" algn="ctr">
              <a:buNone/>
            </a:pPr>
            <a:r>
              <a:rPr lang="en-US" sz="820" b="1" dirty="0">
                <a:solidFill>
                  <a:srgbClr val="FFFFFF"/>
                </a:solidFill>
                <a:latin typeface="Calibri" pitchFamily="34" charset="0"/>
                <a:ea typeface="Calibri" pitchFamily="34" charset="-122"/>
                <a:cs typeface="Calibri" pitchFamily="34" charset="-120"/>
              </a:rPr>
              <a:t>Registry</a:t>
            </a:r>
            <a:endParaRPr lang="en-US" sz="820" dirty="0"/>
          </a:p>
        </p:txBody>
      </p:sp>
      <p:sp>
        <p:nvSpPr>
          <p:cNvPr id="40" name="Shape 38"/>
          <p:cNvSpPr/>
          <p:nvPr/>
        </p:nvSpPr>
        <p:spPr>
          <a:xfrm>
            <a:off x="6967728" y="3858768"/>
            <a:ext cx="1463040" cy="694944"/>
          </a:xfrm>
          <a:prstGeom prst="roundRect">
            <a:avLst>
              <a:gd name="adj" fmla="val 9211"/>
            </a:avLst>
          </a:prstGeom>
          <a:solidFill>
            <a:srgbClr val="112A1A"/>
          </a:solidFill>
          <a:ln w="12700">
            <a:solidFill>
              <a:srgbClr val="1DB87A"/>
            </a:solidFill>
            <a:prstDash val="solid"/>
          </a:ln>
          <a:effectLst>
            <a:outerShdw blurRad="63500" dist="25400" dir="2700000" algn="bl" rotWithShape="0">
              <a:srgbClr val="000000">
                <a:alpha val="13000"/>
              </a:srgbClr>
            </a:outerShdw>
          </a:effectLst>
        </p:spPr>
      </p:sp>
      <p:sp>
        <p:nvSpPr>
          <p:cNvPr id="41" name="Text 39"/>
          <p:cNvSpPr/>
          <p:nvPr/>
        </p:nvSpPr>
        <p:spPr>
          <a:xfrm>
            <a:off x="7022592" y="3877056"/>
            <a:ext cx="1353312" cy="658368"/>
          </a:xfrm>
          <a:prstGeom prst="rect">
            <a:avLst/>
          </a:prstGeom>
          <a:noFill/>
          <a:ln/>
        </p:spPr>
        <p:txBody>
          <a:bodyPr wrap="square" lIns="0" tIns="0" rIns="0" bIns="0" rtlCol="0" anchor="ctr"/>
          <a:lstStyle/>
          <a:p>
            <a:pPr marL="0" indent="0" algn="ctr">
              <a:buNone/>
            </a:pPr>
            <a:r>
              <a:rPr lang="en-US" sz="820" b="1" dirty="0">
                <a:solidFill>
                  <a:srgbClr val="FFFFFF"/>
                </a:solidFill>
                <a:latin typeface="Calibri" pitchFamily="34" charset="0"/>
                <a:ea typeface="Calibri" pitchFamily="34" charset="-122"/>
                <a:cs typeface="Calibri" pitchFamily="34" charset="-120"/>
              </a:rPr>
              <a:t>Regulator</a:t>
            </a:r>
            <a:endParaRPr lang="en-US" sz="820" dirty="0"/>
          </a:p>
          <a:p>
            <a:pPr marL="0" indent="0" algn="ctr">
              <a:buNone/>
            </a:pPr>
            <a:r>
              <a:rPr lang="en-US" sz="820" b="1" dirty="0">
                <a:solidFill>
                  <a:srgbClr val="FFFFFF"/>
                </a:solidFill>
                <a:latin typeface="Calibri" pitchFamily="34" charset="0"/>
                <a:ea typeface="Calibri" pitchFamily="34" charset="-122"/>
                <a:cs typeface="Calibri" pitchFamily="34" charset="-120"/>
              </a:rPr>
              <a:t>Observer</a:t>
            </a:r>
            <a:endParaRPr lang="en-US" sz="820" dirty="0"/>
          </a:p>
          <a:p>
            <a:pPr marL="0" indent="0" algn="ctr">
              <a:buNone/>
            </a:pPr>
            <a:r>
              <a:rPr lang="en-US" sz="820" b="1" dirty="0">
                <a:solidFill>
                  <a:srgbClr val="FFFFFF"/>
                </a:solidFill>
                <a:latin typeface="Calibri" pitchFamily="34" charset="0"/>
                <a:ea typeface="Calibri" pitchFamily="34" charset="-122"/>
                <a:cs typeface="Calibri" pitchFamily="34" charset="-120"/>
              </a:rPr>
              <a:t>Node (FCA)</a:t>
            </a:r>
            <a:endParaRPr lang="en-US" sz="820" dirty="0"/>
          </a:p>
        </p:txBody>
      </p:sp>
      <p:sp>
        <p:nvSpPr>
          <p:cNvPr id="42" name="Text 40"/>
          <p:cNvSpPr/>
          <p:nvPr/>
        </p:nvSpPr>
        <p:spPr>
          <a:xfrm>
            <a:off x="6400800" y="402336"/>
            <a:ext cx="2487168" cy="274320"/>
          </a:xfrm>
          <a:prstGeom prst="rect">
            <a:avLst/>
          </a:prstGeom>
          <a:noFill/>
          <a:ln/>
        </p:spPr>
        <p:txBody>
          <a:bodyPr wrap="square" lIns="0" tIns="0" rIns="0" bIns="0" rtlCol="0" anchor="ctr"/>
          <a:lstStyle/>
          <a:p>
            <a:pPr marL="0" indent="0" algn="r">
              <a:buNone/>
            </a:pPr>
            <a:r>
              <a:rPr lang="en-US" sz="800" dirty="0">
                <a:solidFill>
                  <a:srgbClr val="8FA5BF"/>
                </a:solidFill>
                <a:latin typeface="Calibri" pitchFamily="34" charset="0"/>
                <a:ea typeface="Calibri" pitchFamily="34" charset="-122"/>
                <a:cs typeface="Calibri" pitchFamily="34" charset="-120"/>
              </a:rPr>
              <a:t>■ Existing   ■ New Build   ■ Consortium</a:t>
            </a:r>
            <a:endParaRPr lang="en-US" sz="800" dirty="0"/>
          </a:p>
        </p:txBody>
      </p:sp>
      <p:sp>
        <p:nvSpPr>
          <p:cNvPr id="43" name="Shape 41"/>
          <p:cNvSpPr/>
          <p:nvPr/>
        </p:nvSpPr>
        <p:spPr>
          <a:xfrm>
            <a:off x="6419088" y="457200"/>
            <a:ext cx="128016" cy="128016"/>
          </a:xfrm>
          <a:prstGeom prst="rect">
            <a:avLst/>
          </a:prstGeom>
          <a:solidFill>
            <a:srgbClr val="0D9488"/>
          </a:solidFill>
          <a:ln w="12700">
            <a:solidFill>
              <a:srgbClr val="0D9488"/>
            </a:solidFill>
            <a:prstDash val="solid"/>
          </a:ln>
        </p:spPr>
      </p:sp>
      <p:sp>
        <p:nvSpPr>
          <p:cNvPr id="44" name="Shape 42"/>
          <p:cNvSpPr/>
          <p:nvPr/>
        </p:nvSpPr>
        <p:spPr>
          <a:xfrm>
            <a:off x="7150608" y="457200"/>
            <a:ext cx="128016" cy="128016"/>
          </a:xfrm>
          <a:prstGeom prst="rect">
            <a:avLst/>
          </a:prstGeom>
          <a:solidFill>
            <a:srgbClr val="E8A020"/>
          </a:solidFill>
          <a:ln w="12700">
            <a:solidFill>
              <a:srgbClr val="E8A020"/>
            </a:solidFill>
            <a:prstDash val="solid"/>
          </a:ln>
        </p:spPr>
      </p:sp>
      <p:sp>
        <p:nvSpPr>
          <p:cNvPr id="45" name="Shape 43"/>
          <p:cNvSpPr/>
          <p:nvPr/>
        </p:nvSpPr>
        <p:spPr>
          <a:xfrm>
            <a:off x="8001000" y="457200"/>
            <a:ext cx="128016" cy="128016"/>
          </a:xfrm>
          <a:prstGeom prst="rect">
            <a:avLst/>
          </a:prstGeom>
          <a:solidFill>
            <a:srgbClr val="1DB87A"/>
          </a:solidFill>
          <a:ln w="12700">
            <a:solidFill>
              <a:srgbClr val="1DB87A"/>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B1D3A"/>
          </a:solidFill>
          <a:ln w="12700">
            <a:solidFill>
              <a:srgbClr val="0B1D3A"/>
            </a:solidFill>
            <a:prstDash val="solid"/>
          </a:ln>
        </p:spPr>
      </p:sp>
      <p:sp>
        <p:nvSpPr>
          <p:cNvPr id="3" name="Text 1"/>
          <p:cNvSpPr/>
          <p:nvPr/>
        </p:nvSpPr>
        <p:spPr>
          <a:xfrm>
            <a:off x="365760" y="73152"/>
            <a:ext cx="8229600" cy="320040"/>
          </a:xfrm>
          <a:prstGeom prst="rect">
            <a:avLst/>
          </a:prstGeom>
          <a:noFill/>
          <a:ln/>
        </p:spPr>
        <p:txBody>
          <a:bodyPr wrap="square" lIns="0" tIns="0" rIns="0" bIns="0" rtlCol="0" anchor="ctr"/>
          <a:lstStyle/>
          <a:p>
            <a:pPr marL="0" indent="0">
              <a:buNone/>
            </a:pPr>
            <a:r>
              <a:rPr lang="en-US" sz="1000" b="1" kern="0" spc="300" dirty="0">
                <a:solidFill>
                  <a:srgbClr val="E8A020"/>
                </a:solidFill>
                <a:latin typeface="Calibri" pitchFamily="34" charset="0"/>
                <a:ea typeface="Calibri" pitchFamily="34" charset="-122"/>
                <a:cs typeface="Calibri" pitchFamily="34" charset="-120"/>
              </a:rPr>
              <a:t>TRANSACTION LIFECYCLE</a:t>
            </a:r>
            <a:endParaRPr lang="en-US" sz="1000" dirty="0"/>
          </a:p>
        </p:txBody>
      </p:sp>
      <p:sp>
        <p:nvSpPr>
          <p:cNvPr id="4" name="Text 2"/>
          <p:cNvSpPr/>
          <p:nvPr/>
        </p:nvSpPr>
        <p:spPr>
          <a:xfrm>
            <a:off x="365760" y="420624"/>
            <a:ext cx="822960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From Payment Initiation to Detection, Hold &amp; Resolution</a:t>
            </a:r>
            <a:endParaRPr lang="en-US" sz="1600" dirty="0"/>
          </a:p>
        </p:txBody>
      </p:sp>
      <p:sp>
        <p:nvSpPr>
          <p:cNvPr id="5" name="Shape 3"/>
          <p:cNvSpPr/>
          <p:nvPr/>
        </p:nvSpPr>
        <p:spPr>
          <a:xfrm>
            <a:off x="201168" y="960120"/>
            <a:ext cx="1024128" cy="621792"/>
          </a:xfrm>
          <a:prstGeom prst="roundRect">
            <a:avLst>
              <a:gd name="adj" fmla="val 11765"/>
            </a:avLst>
          </a:prstGeom>
          <a:solidFill>
            <a:srgbClr val="E6F7F5"/>
          </a:solidFill>
          <a:ln w="19050">
            <a:solidFill>
              <a:srgbClr val="0D9488"/>
            </a:solidFill>
            <a:prstDash val="solid"/>
          </a:ln>
          <a:effectLst>
            <a:outerShdw blurRad="63500" dist="25400" dir="2700000" algn="bl" rotWithShape="0">
              <a:srgbClr val="000000">
                <a:alpha val="13000"/>
              </a:srgbClr>
            </a:outerShdw>
          </a:effectLst>
        </p:spPr>
      </p:sp>
      <p:sp>
        <p:nvSpPr>
          <p:cNvPr id="6" name="Shape 4"/>
          <p:cNvSpPr/>
          <p:nvPr/>
        </p:nvSpPr>
        <p:spPr>
          <a:xfrm>
            <a:off x="530352" y="996696"/>
            <a:ext cx="365760" cy="365760"/>
          </a:xfrm>
          <a:prstGeom prst="ellipse">
            <a:avLst/>
          </a:prstGeom>
          <a:solidFill>
            <a:srgbClr val="0D9488"/>
          </a:solidFill>
          <a:ln w="12700">
            <a:solidFill>
              <a:srgbClr val="0D9488"/>
            </a:solidFill>
            <a:prstDash val="solid"/>
          </a:ln>
        </p:spPr>
      </p:sp>
      <p:sp>
        <p:nvSpPr>
          <p:cNvPr id="7" name="Text 5"/>
          <p:cNvSpPr/>
          <p:nvPr/>
        </p:nvSpPr>
        <p:spPr>
          <a:xfrm>
            <a:off x="530352" y="99669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246888" y="1362456"/>
            <a:ext cx="932688" cy="256032"/>
          </a:xfrm>
          <a:prstGeom prst="rect">
            <a:avLst/>
          </a:prstGeom>
          <a:noFill/>
          <a:ln/>
        </p:spPr>
        <p:txBody>
          <a:bodyPr wrap="square" lIns="0" tIns="0" rIns="0" bIns="0" rtlCol="0" anchor="ctr"/>
          <a:lstStyle/>
          <a:p>
            <a:pPr marL="0" indent="0" algn="ctr">
              <a:buNone/>
            </a:pPr>
            <a:r>
              <a:rPr lang="en-US" sz="850" b="1" dirty="0">
                <a:solidFill>
                  <a:srgbClr val="0D9488"/>
                </a:solidFill>
                <a:latin typeface="Calibri" pitchFamily="34" charset="0"/>
                <a:ea typeface="Calibri" pitchFamily="34" charset="-122"/>
                <a:cs typeface="Calibri" pitchFamily="34" charset="-120"/>
              </a:rPr>
              <a:t>Customer</a:t>
            </a:r>
            <a:endParaRPr lang="en-US" sz="850" dirty="0"/>
          </a:p>
          <a:p>
            <a:pPr marL="0" indent="0" algn="ctr">
              <a:buNone/>
            </a:pPr>
            <a:r>
              <a:rPr lang="en-US" sz="850" b="1" dirty="0">
                <a:solidFill>
                  <a:srgbClr val="0D9488"/>
                </a:solidFill>
                <a:latin typeface="Calibri" pitchFamily="34" charset="0"/>
                <a:ea typeface="Calibri" pitchFamily="34" charset="-122"/>
                <a:cs typeface="Calibri" pitchFamily="34" charset="-120"/>
              </a:rPr>
              <a:t>Initiates</a:t>
            </a:r>
            <a:endParaRPr lang="en-US" sz="850" dirty="0"/>
          </a:p>
        </p:txBody>
      </p:sp>
      <p:sp>
        <p:nvSpPr>
          <p:cNvPr id="9" name="Text 7"/>
          <p:cNvSpPr/>
          <p:nvPr/>
        </p:nvSpPr>
        <p:spPr>
          <a:xfrm>
            <a:off x="1234440" y="1161288"/>
            <a:ext cx="64008" cy="219456"/>
          </a:xfrm>
          <a:prstGeom prst="rect">
            <a:avLst/>
          </a:prstGeom>
          <a:noFill/>
          <a:ln/>
        </p:spPr>
        <p:txBody>
          <a:bodyPr wrap="square" lIns="0" tIns="0" rIns="0" bIns="0" rtlCol="0" anchor="ctr"/>
          <a:lstStyle/>
          <a:p>
            <a:pPr marL="0" indent="0">
              <a:buNone/>
            </a:pPr>
            <a:r>
              <a:rPr lang="en-US" sz="900" dirty="0">
                <a:solidFill>
                  <a:srgbClr val="8FA5BF"/>
                </a:solidFill>
                <a:latin typeface="Calibri" pitchFamily="34" charset="0"/>
                <a:ea typeface="Calibri" pitchFamily="34" charset="-122"/>
                <a:cs typeface="Calibri" pitchFamily="34" charset="-120"/>
              </a:rPr>
              <a:t>▶</a:t>
            </a:r>
            <a:endParaRPr lang="en-US" sz="900" dirty="0"/>
          </a:p>
        </p:txBody>
      </p:sp>
      <p:sp>
        <p:nvSpPr>
          <p:cNvPr id="10" name="Shape 8"/>
          <p:cNvSpPr/>
          <p:nvPr/>
        </p:nvSpPr>
        <p:spPr>
          <a:xfrm>
            <a:off x="1280160" y="960120"/>
            <a:ext cx="1024128" cy="621792"/>
          </a:xfrm>
          <a:prstGeom prst="roundRect">
            <a:avLst>
              <a:gd name="adj" fmla="val 11765"/>
            </a:avLst>
          </a:prstGeom>
          <a:solidFill>
            <a:srgbClr val="E8F3FB"/>
          </a:solidFill>
          <a:ln w="19050">
            <a:solidFill>
              <a:srgbClr val="2980B9"/>
            </a:solidFill>
            <a:prstDash val="solid"/>
          </a:ln>
          <a:effectLst>
            <a:outerShdw blurRad="63500" dist="25400" dir="2700000" algn="bl" rotWithShape="0">
              <a:srgbClr val="000000">
                <a:alpha val="13000"/>
              </a:srgbClr>
            </a:outerShdw>
          </a:effectLst>
        </p:spPr>
      </p:sp>
      <p:sp>
        <p:nvSpPr>
          <p:cNvPr id="11" name="Shape 9"/>
          <p:cNvSpPr/>
          <p:nvPr/>
        </p:nvSpPr>
        <p:spPr>
          <a:xfrm>
            <a:off x="1609344" y="996696"/>
            <a:ext cx="365760" cy="365760"/>
          </a:xfrm>
          <a:prstGeom prst="ellipse">
            <a:avLst/>
          </a:prstGeom>
          <a:solidFill>
            <a:srgbClr val="2980B9"/>
          </a:solidFill>
          <a:ln w="12700">
            <a:solidFill>
              <a:srgbClr val="2980B9"/>
            </a:solidFill>
            <a:prstDash val="solid"/>
          </a:ln>
        </p:spPr>
      </p:sp>
      <p:sp>
        <p:nvSpPr>
          <p:cNvPr id="12" name="Text 10"/>
          <p:cNvSpPr/>
          <p:nvPr/>
        </p:nvSpPr>
        <p:spPr>
          <a:xfrm>
            <a:off x="1609344" y="99669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1325880" y="1362456"/>
            <a:ext cx="932688" cy="256032"/>
          </a:xfrm>
          <a:prstGeom prst="rect">
            <a:avLst/>
          </a:prstGeom>
          <a:noFill/>
          <a:ln/>
        </p:spPr>
        <p:txBody>
          <a:bodyPr wrap="square" lIns="0" tIns="0" rIns="0" bIns="0" rtlCol="0" anchor="ctr"/>
          <a:lstStyle/>
          <a:p>
            <a:pPr marL="0" indent="0" algn="ctr">
              <a:buNone/>
            </a:pPr>
            <a:r>
              <a:rPr lang="en-US" sz="850" b="1" dirty="0">
                <a:solidFill>
                  <a:srgbClr val="2980B9"/>
                </a:solidFill>
                <a:latin typeface="Calibri" pitchFamily="34" charset="0"/>
                <a:ea typeface="Calibri" pitchFamily="34" charset="-122"/>
                <a:cs typeface="Calibri" pitchFamily="34" charset="-120"/>
              </a:rPr>
              <a:t>Context</a:t>
            </a:r>
            <a:endParaRPr lang="en-US" sz="850" dirty="0"/>
          </a:p>
          <a:p>
            <a:pPr marL="0" indent="0" algn="ctr">
              <a:buNone/>
            </a:pPr>
            <a:r>
              <a:rPr lang="en-US" sz="850" b="1" dirty="0">
                <a:solidFill>
                  <a:srgbClr val="2980B9"/>
                </a:solidFill>
                <a:latin typeface="Calibri" pitchFamily="34" charset="0"/>
                <a:ea typeface="Calibri" pitchFamily="34" charset="-122"/>
                <a:cs typeface="Calibri" pitchFamily="34" charset="-120"/>
              </a:rPr>
              <a:t>Capture</a:t>
            </a:r>
            <a:endParaRPr lang="en-US" sz="850" dirty="0"/>
          </a:p>
        </p:txBody>
      </p:sp>
      <p:sp>
        <p:nvSpPr>
          <p:cNvPr id="14" name="Text 12"/>
          <p:cNvSpPr/>
          <p:nvPr/>
        </p:nvSpPr>
        <p:spPr>
          <a:xfrm>
            <a:off x="2313432" y="1161288"/>
            <a:ext cx="64008" cy="219456"/>
          </a:xfrm>
          <a:prstGeom prst="rect">
            <a:avLst/>
          </a:prstGeom>
          <a:noFill/>
          <a:ln/>
        </p:spPr>
        <p:txBody>
          <a:bodyPr wrap="square" lIns="0" tIns="0" rIns="0" bIns="0" rtlCol="0" anchor="ctr"/>
          <a:lstStyle/>
          <a:p>
            <a:pPr marL="0" indent="0">
              <a:buNone/>
            </a:pPr>
            <a:r>
              <a:rPr lang="en-US" sz="900" dirty="0">
                <a:solidFill>
                  <a:srgbClr val="8FA5BF"/>
                </a:solidFill>
                <a:latin typeface="Calibri" pitchFamily="34" charset="0"/>
                <a:ea typeface="Calibri" pitchFamily="34" charset="-122"/>
                <a:cs typeface="Calibri" pitchFamily="34" charset="-120"/>
              </a:rPr>
              <a:t>▶</a:t>
            </a:r>
            <a:endParaRPr lang="en-US" sz="900" dirty="0"/>
          </a:p>
        </p:txBody>
      </p:sp>
      <p:sp>
        <p:nvSpPr>
          <p:cNvPr id="15" name="Shape 13"/>
          <p:cNvSpPr/>
          <p:nvPr/>
        </p:nvSpPr>
        <p:spPr>
          <a:xfrm>
            <a:off x="2359152" y="960120"/>
            <a:ext cx="1024128" cy="621792"/>
          </a:xfrm>
          <a:prstGeom prst="roundRect">
            <a:avLst>
              <a:gd name="adj" fmla="val 11765"/>
            </a:avLst>
          </a:prstGeom>
          <a:solidFill>
            <a:srgbClr val="F3EAFF"/>
          </a:solidFill>
          <a:ln w="19050">
            <a:solidFill>
              <a:srgbClr val="7B2FBE"/>
            </a:solidFill>
            <a:prstDash val="solid"/>
          </a:ln>
          <a:effectLst>
            <a:outerShdw blurRad="63500" dist="25400" dir="2700000" algn="bl" rotWithShape="0">
              <a:srgbClr val="000000">
                <a:alpha val="13000"/>
              </a:srgbClr>
            </a:outerShdw>
          </a:effectLst>
        </p:spPr>
      </p:sp>
      <p:sp>
        <p:nvSpPr>
          <p:cNvPr id="16" name="Shape 14"/>
          <p:cNvSpPr/>
          <p:nvPr/>
        </p:nvSpPr>
        <p:spPr>
          <a:xfrm>
            <a:off x="2688336" y="996696"/>
            <a:ext cx="365760" cy="365760"/>
          </a:xfrm>
          <a:prstGeom prst="ellipse">
            <a:avLst/>
          </a:prstGeom>
          <a:solidFill>
            <a:srgbClr val="7B2FBE"/>
          </a:solidFill>
          <a:ln w="12700">
            <a:solidFill>
              <a:srgbClr val="7B2FBE"/>
            </a:solidFill>
            <a:prstDash val="solid"/>
          </a:ln>
        </p:spPr>
      </p:sp>
      <p:sp>
        <p:nvSpPr>
          <p:cNvPr id="17" name="Text 15"/>
          <p:cNvSpPr/>
          <p:nvPr/>
        </p:nvSpPr>
        <p:spPr>
          <a:xfrm>
            <a:off x="2688336" y="99669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p:nvPr/>
        </p:nvSpPr>
        <p:spPr>
          <a:xfrm>
            <a:off x="2404872" y="1362456"/>
            <a:ext cx="932688" cy="256032"/>
          </a:xfrm>
          <a:prstGeom prst="rect">
            <a:avLst/>
          </a:prstGeom>
          <a:noFill/>
          <a:ln/>
        </p:spPr>
        <p:txBody>
          <a:bodyPr wrap="square" lIns="0" tIns="0" rIns="0" bIns="0" rtlCol="0" anchor="ctr"/>
          <a:lstStyle/>
          <a:p>
            <a:pPr marL="0" indent="0" algn="ctr">
              <a:buNone/>
            </a:pPr>
            <a:r>
              <a:rPr lang="en-US" sz="850" b="1" dirty="0">
                <a:solidFill>
                  <a:srgbClr val="7B2FBE"/>
                </a:solidFill>
                <a:latin typeface="Calibri" pitchFamily="34" charset="0"/>
                <a:ea typeface="Calibri" pitchFamily="34" charset="-122"/>
                <a:cs typeface="Calibri" pitchFamily="34" charset="-120"/>
              </a:rPr>
              <a:t>Ledger</a:t>
            </a:r>
            <a:endParaRPr lang="en-US" sz="850" dirty="0"/>
          </a:p>
          <a:p>
            <a:pPr marL="0" indent="0" algn="ctr">
              <a:buNone/>
            </a:pPr>
            <a:r>
              <a:rPr lang="en-US" sz="850" b="1" dirty="0">
                <a:solidFill>
                  <a:srgbClr val="7B2FBE"/>
                </a:solidFill>
                <a:latin typeface="Calibri" pitchFamily="34" charset="0"/>
                <a:ea typeface="Calibri" pitchFamily="34" charset="-122"/>
                <a:cs typeface="Calibri" pitchFamily="34" charset="-120"/>
              </a:rPr>
              <a:t>Query</a:t>
            </a:r>
            <a:endParaRPr lang="en-US" sz="850" dirty="0"/>
          </a:p>
        </p:txBody>
      </p:sp>
      <p:sp>
        <p:nvSpPr>
          <p:cNvPr id="19" name="Text 17"/>
          <p:cNvSpPr/>
          <p:nvPr/>
        </p:nvSpPr>
        <p:spPr>
          <a:xfrm>
            <a:off x="3392424" y="1161288"/>
            <a:ext cx="64008" cy="219456"/>
          </a:xfrm>
          <a:prstGeom prst="rect">
            <a:avLst/>
          </a:prstGeom>
          <a:noFill/>
          <a:ln/>
        </p:spPr>
        <p:txBody>
          <a:bodyPr wrap="square" lIns="0" tIns="0" rIns="0" bIns="0" rtlCol="0" anchor="ctr"/>
          <a:lstStyle/>
          <a:p>
            <a:pPr marL="0" indent="0">
              <a:buNone/>
            </a:pPr>
            <a:r>
              <a:rPr lang="en-US" sz="900" dirty="0">
                <a:solidFill>
                  <a:srgbClr val="8FA5BF"/>
                </a:solidFill>
                <a:latin typeface="Calibri" pitchFamily="34" charset="0"/>
                <a:ea typeface="Calibri" pitchFamily="34" charset="-122"/>
                <a:cs typeface="Calibri" pitchFamily="34" charset="-120"/>
              </a:rPr>
              <a:t>▶</a:t>
            </a:r>
            <a:endParaRPr lang="en-US" sz="900" dirty="0"/>
          </a:p>
        </p:txBody>
      </p:sp>
      <p:sp>
        <p:nvSpPr>
          <p:cNvPr id="20" name="Shape 18"/>
          <p:cNvSpPr/>
          <p:nvPr/>
        </p:nvSpPr>
        <p:spPr>
          <a:xfrm>
            <a:off x="3438144" y="960120"/>
            <a:ext cx="1024128" cy="621792"/>
          </a:xfrm>
          <a:prstGeom prst="roundRect">
            <a:avLst>
              <a:gd name="adj" fmla="val 11765"/>
            </a:avLst>
          </a:prstGeom>
          <a:solidFill>
            <a:srgbClr val="FFF4E0"/>
          </a:solidFill>
          <a:ln w="19050">
            <a:solidFill>
              <a:srgbClr val="E8A020"/>
            </a:solidFill>
            <a:prstDash val="solid"/>
          </a:ln>
          <a:effectLst>
            <a:outerShdw blurRad="63500" dist="25400" dir="2700000" algn="bl" rotWithShape="0">
              <a:srgbClr val="000000">
                <a:alpha val="13000"/>
              </a:srgbClr>
            </a:outerShdw>
          </a:effectLst>
        </p:spPr>
      </p:sp>
      <p:sp>
        <p:nvSpPr>
          <p:cNvPr id="21" name="Shape 19"/>
          <p:cNvSpPr/>
          <p:nvPr/>
        </p:nvSpPr>
        <p:spPr>
          <a:xfrm>
            <a:off x="3767328" y="996696"/>
            <a:ext cx="365760" cy="365760"/>
          </a:xfrm>
          <a:prstGeom prst="ellipse">
            <a:avLst/>
          </a:prstGeom>
          <a:solidFill>
            <a:srgbClr val="E8A020"/>
          </a:solidFill>
          <a:ln w="12700">
            <a:solidFill>
              <a:srgbClr val="E8A020"/>
            </a:solidFill>
            <a:prstDash val="solid"/>
          </a:ln>
        </p:spPr>
      </p:sp>
      <p:sp>
        <p:nvSpPr>
          <p:cNvPr id="22" name="Text 20"/>
          <p:cNvSpPr/>
          <p:nvPr/>
        </p:nvSpPr>
        <p:spPr>
          <a:xfrm>
            <a:off x="3767328" y="99669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p:nvPr/>
        </p:nvSpPr>
        <p:spPr>
          <a:xfrm>
            <a:off x="3483864" y="1362456"/>
            <a:ext cx="932688" cy="256032"/>
          </a:xfrm>
          <a:prstGeom prst="rect">
            <a:avLst/>
          </a:prstGeom>
          <a:noFill/>
          <a:ln/>
        </p:spPr>
        <p:txBody>
          <a:bodyPr wrap="square" lIns="0" tIns="0" rIns="0" bIns="0" rtlCol="0" anchor="ctr"/>
          <a:lstStyle/>
          <a:p>
            <a:pPr marL="0" indent="0" algn="ctr">
              <a:buNone/>
            </a:pPr>
            <a:r>
              <a:rPr lang="en-US" sz="850" b="1" dirty="0">
                <a:solidFill>
                  <a:srgbClr val="A05C00"/>
                </a:solidFill>
                <a:latin typeface="Calibri" pitchFamily="34" charset="0"/>
                <a:ea typeface="Calibri" pitchFamily="34" charset="-122"/>
                <a:cs typeface="Calibri" pitchFamily="34" charset="-120"/>
              </a:rPr>
              <a:t>ML Oracle</a:t>
            </a:r>
            <a:endParaRPr lang="en-US" sz="850" dirty="0"/>
          </a:p>
          <a:p>
            <a:pPr marL="0" indent="0" algn="ctr">
              <a:buNone/>
            </a:pPr>
            <a:r>
              <a:rPr lang="en-US" sz="850" b="1" dirty="0">
                <a:solidFill>
                  <a:srgbClr val="A05C00"/>
                </a:solidFill>
                <a:latin typeface="Calibri" pitchFamily="34" charset="0"/>
                <a:ea typeface="Calibri" pitchFamily="34" charset="-122"/>
                <a:cs typeface="Calibri" pitchFamily="34" charset="-120"/>
              </a:rPr>
              <a:t>Score</a:t>
            </a:r>
            <a:endParaRPr lang="en-US" sz="850" dirty="0"/>
          </a:p>
        </p:txBody>
      </p:sp>
      <p:sp>
        <p:nvSpPr>
          <p:cNvPr id="24" name="Text 22"/>
          <p:cNvSpPr/>
          <p:nvPr/>
        </p:nvSpPr>
        <p:spPr>
          <a:xfrm>
            <a:off x="4471416" y="1161288"/>
            <a:ext cx="64008" cy="219456"/>
          </a:xfrm>
          <a:prstGeom prst="rect">
            <a:avLst/>
          </a:prstGeom>
          <a:noFill/>
          <a:ln/>
        </p:spPr>
        <p:txBody>
          <a:bodyPr wrap="square" lIns="0" tIns="0" rIns="0" bIns="0" rtlCol="0" anchor="ctr"/>
          <a:lstStyle/>
          <a:p>
            <a:pPr marL="0" indent="0">
              <a:buNone/>
            </a:pPr>
            <a:r>
              <a:rPr lang="en-US" sz="900" dirty="0">
                <a:solidFill>
                  <a:srgbClr val="8FA5BF"/>
                </a:solidFill>
                <a:latin typeface="Calibri" pitchFamily="34" charset="0"/>
                <a:ea typeface="Calibri" pitchFamily="34" charset="-122"/>
                <a:cs typeface="Calibri" pitchFamily="34" charset="-120"/>
              </a:rPr>
              <a:t>▶</a:t>
            </a:r>
            <a:endParaRPr lang="en-US" sz="900" dirty="0"/>
          </a:p>
        </p:txBody>
      </p:sp>
      <p:sp>
        <p:nvSpPr>
          <p:cNvPr id="25" name="Shape 23"/>
          <p:cNvSpPr/>
          <p:nvPr/>
        </p:nvSpPr>
        <p:spPr>
          <a:xfrm>
            <a:off x="4517136" y="960120"/>
            <a:ext cx="1024128" cy="621792"/>
          </a:xfrm>
          <a:prstGeom prst="roundRect">
            <a:avLst>
              <a:gd name="adj" fmla="val 11765"/>
            </a:avLst>
          </a:prstGeom>
          <a:solidFill>
            <a:srgbClr val="FFF4E0"/>
          </a:solidFill>
          <a:ln w="19050">
            <a:solidFill>
              <a:srgbClr val="E8A020"/>
            </a:solidFill>
            <a:prstDash val="solid"/>
          </a:ln>
          <a:effectLst>
            <a:outerShdw blurRad="63500" dist="25400" dir="2700000" algn="bl" rotWithShape="0">
              <a:srgbClr val="000000">
                <a:alpha val="13000"/>
              </a:srgbClr>
            </a:outerShdw>
          </a:effectLst>
        </p:spPr>
      </p:sp>
      <p:sp>
        <p:nvSpPr>
          <p:cNvPr id="26" name="Shape 24"/>
          <p:cNvSpPr/>
          <p:nvPr/>
        </p:nvSpPr>
        <p:spPr>
          <a:xfrm>
            <a:off x="4846320" y="996696"/>
            <a:ext cx="365760" cy="365760"/>
          </a:xfrm>
          <a:prstGeom prst="ellipse">
            <a:avLst/>
          </a:prstGeom>
          <a:solidFill>
            <a:srgbClr val="E8A020"/>
          </a:solidFill>
          <a:ln w="12700">
            <a:solidFill>
              <a:srgbClr val="E8A020"/>
            </a:solidFill>
            <a:prstDash val="solid"/>
          </a:ln>
        </p:spPr>
      </p:sp>
      <p:sp>
        <p:nvSpPr>
          <p:cNvPr id="27" name="Text 25"/>
          <p:cNvSpPr/>
          <p:nvPr/>
        </p:nvSpPr>
        <p:spPr>
          <a:xfrm>
            <a:off x="4846320" y="99669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8" name="Text 26"/>
          <p:cNvSpPr/>
          <p:nvPr/>
        </p:nvSpPr>
        <p:spPr>
          <a:xfrm>
            <a:off x="4562856" y="1362456"/>
            <a:ext cx="932688" cy="256032"/>
          </a:xfrm>
          <a:prstGeom prst="rect">
            <a:avLst/>
          </a:prstGeom>
          <a:noFill/>
          <a:ln/>
        </p:spPr>
        <p:txBody>
          <a:bodyPr wrap="square" lIns="0" tIns="0" rIns="0" bIns="0" rtlCol="0" anchor="ctr"/>
          <a:lstStyle/>
          <a:p>
            <a:pPr marL="0" indent="0" algn="ctr">
              <a:buNone/>
            </a:pPr>
            <a:r>
              <a:rPr lang="en-US" sz="850" b="1" dirty="0">
                <a:solidFill>
                  <a:srgbClr val="A05C00"/>
                </a:solidFill>
                <a:latin typeface="Calibri" pitchFamily="34" charset="0"/>
                <a:ea typeface="Calibri" pitchFamily="34" charset="-122"/>
                <a:cs typeface="Calibri" pitchFamily="34" charset="-120"/>
              </a:rPr>
              <a:t>Smart</a:t>
            </a:r>
            <a:endParaRPr lang="en-US" sz="850" dirty="0"/>
          </a:p>
          <a:p>
            <a:pPr marL="0" indent="0" algn="ctr">
              <a:buNone/>
            </a:pPr>
            <a:r>
              <a:rPr lang="en-US" sz="850" b="1" dirty="0">
                <a:solidFill>
                  <a:srgbClr val="A05C00"/>
                </a:solidFill>
                <a:latin typeface="Calibri" pitchFamily="34" charset="0"/>
                <a:ea typeface="Calibri" pitchFamily="34" charset="-122"/>
                <a:cs typeface="Calibri" pitchFamily="34" charset="-120"/>
              </a:rPr>
              <a:t>Contract</a:t>
            </a:r>
            <a:endParaRPr lang="en-US" sz="850" dirty="0"/>
          </a:p>
        </p:txBody>
      </p:sp>
      <p:sp>
        <p:nvSpPr>
          <p:cNvPr id="29" name="Text 27"/>
          <p:cNvSpPr/>
          <p:nvPr/>
        </p:nvSpPr>
        <p:spPr>
          <a:xfrm>
            <a:off x="5550408" y="1161288"/>
            <a:ext cx="64008" cy="219456"/>
          </a:xfrm>
          <a:prstGeom prst="rect">
            <a:avLst/>
          </a:prstGeom>
          <a:noFill/>
          <a:ln/>
        </p:spPr>
        <p:txBody>
          <a:bodyPr wrap="square" lIns="0" tIns="0" rIns="0" bIns="0" rtlCol="0" anchor="ctr"/>
          <a:lstStyle/>
          <a:p>
            <a:pPr marL="0" indent="0">
              <a:buNone/>
            </a:pPr>
            <a:r>
              <a:rPr lang="en-US" sz="900" dirty="0">
                <a:solidFill>
                  <a:srgbClr val="8FA5BF"/>
                </a:solidFill>
                <a:latin typeface="Calibri" pitchFamily="34" charset="0"/>
                <a:ea typeface="Calibri" pitchFamily="34" charset="-122"/>
                <a:cs typeface="Calibri" pitchFamily="34" charset="-120"/>
              </a:rPr>
              <a:t>▶</a:t>
            </a:r>
            <a:endParaRPr lang="en-US" sz="900" dirty="0"/>
          </a:p>
        </p:txBody>
      </p:sp>
      <p:sp>
        <p:nvSpPr>
          <p:cNvPr id="30" name="Shape 28"/>
          <p:cNvSpPr/>
          <p:nvPr/>
        </p:nvSpPr>
        <p:spPr>
          <a:xfrm>
            <a:off x="5596128" y="960120"/>
            <a:ext cx="1024128" cy="621792"/>
          </a:xfrm>
          <a:prstGeom prst="roundRect">
            <a:avLst>
              <a:gd name="adj" fmla="val 11765"/>
            </a:avLst>
          </a:prstGeom>
          <a:solidFill>
            <a:srgbClr val="FDECEA"/>
          </a:solidFill>
          <a:ln w="19050">
            <a:solidFill>
              <a:srgbClr val="C0392B"/>
            </a:solidFill>
            <a:prstDash val="solid"/>
          </a:ln>
          <a:effectLst>
            <a:outerShdw blurRad="63500" dist="25400" dir="2700000" algn="bl" rotWithShape="0">
              <a:srgbClr val="000000">
                <a:alpha val="13000"/>
              </a:srgbClr>
            </a:outerShdw>
          </a:effectLst>
        </p:spPr>
      </p:sp>
      <p:sp>
        <p:nvSpPr>
          <p:cNvPr id="31" name="Shape 29"/>
          <p:cNvSpPr/>
          <p:nvPr/>
        </p:nvSpPr>
        <p:spPr>
          <a:xfrm>
            <a:off x="5925312" y="996696"/>
            <a:ext cx="365760" cy="365760"/>
          </a:xfrm>
          <a:prstGeom prst="ellipse">
            <a:avLst/>
          </a:prstGeom>
          <a:solidFill>
            <a:srgbClr val="C0392B"/>
          </a:solidFill>
          <a:ln w="12700">
            <a:solidFill>
              <a:srgbClr val="C0392B"/>
            </a:solidFill>
            <a:prstDash val="solid"/>
          </a:ln>
        </p:spPr>
      </p:sp>
      <p:sp>
        <p:nvSpPr>
          <p:cNvPr id="32" name="Text 30"/>
          <p:cNvSpPr/>
          <p:nvPr/>
        </p:nvSpPr>
        <p:spPr>
          <a:xfrm>
            <a:off x="5925312" y="99669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3" name="Text 31"/>
          <p:cNvSpPr/>
          <p:nvPr/>
        </p:nvSpPr>
        <p:spPr>
          <a:xfrm>
            <a:off x="5641848" y="1362456"/>
            <a:ext cx="932688" cy="256032"/>
          </a:xfrm>
          <a:prstGeom prst="rect">
            <a:avLst/>
          </a:prstGeom>
          <a:noFill/>
          <a:ln/>
        </p:spPr>
        <p:txBody>
          <a:bodyPr wrap="square" lIns="0" tIns="0" rIns="0" bIns="0" rtlCol="0" anchor="ctr"/>
          <a:lstStyle/>
          <a:p>
            <a:pPr marL="0" indent="0" algn="ctr">
              <a:buNone/>
            </a:pPr>
            <a:r>
              <a:rPr lang="en-US" sz="850" b="1" dirty="0">
                <a:solidFill>
                  <a:srgbClr val="C0392B"/>
                </a:solidFill>
                <a:latin typeface="Calibri" pitchFamily="34" charset="0"/>
                <a:ea typeface="Calibri" pitchFamily="34" charset="-122"/>
                <a:cs typeface="Calibri" pitchFamily="34" charset="-120"/>
              </a:rPr>
              <a:t>Decision</a:t>
            </a:r>
            <a:endParaRPr lang="en-US" sz="850" dirty="0"/>
          </a:p>
          <a:p>
            <a:pPr marL="0" indent="0" algn="ctr">
              <a:buNone/>
            </a:pPr>
            <a:r>
              <a:rPr lang="en-US" sz="850" b="1" dirty="0">
                <a:solidFill>
                  <a:srgbClr val="C0392B"/>
                </a:solidFill>
                <a:latin typeface="Calibri" pitchFamily="34" charset="0"/>
                <a:ea typeface="Calibri" pitchFamily="34" charset="-122"/>
                <a:cs typeface="Calibri" pitchFamily="34" charset="-120"/>
              </a:rPr>
              <a:t>Gate</a:t>
            </a:r>
            <a:endParaRPr lang="en-US" sz="850" dirty="0"/>
          </a:p>
        </p:txBody>
      </p:sp>
      <p:sp>
        <p:nvSpPr>
          <p:cNvPr id="34" name="Text 32"/>
          <p:cNvSpPr/>
          <p:nvPr/>
        </p:nvSpPr>
        <p:spPr>
          <a:xfrm>
            <a:off x="6629400" y="1161288"/>
            <a:ext cx="64008" cy="219456"/>
          </a:xfrm>
          <a:prstGeom prst="rect">
            <a:avLst/>
          </a:prstGeom>
          <a:noFill/>
          <a:ln/>
        </p:spPr>
        <p:txBody>
          <a:bodyPr wrap="square" lIns="0" tIns="0" rIns="0" bIns="0" rtlCol="0" anchor="ctr"/>
          <a:lstStyle/>
          <a:p>
            <a:pPr marL="0" indent="0">
              <a:buNone/>
            </a:pPr>
            <a:r>
              <a:rPr lang="en-US" sz="900" dirty="0">
                <a:solidFill>
                  <a:srgbClr val="8FA5BF"/>
                </a:solidFill>
                <a:latin typeface="Calibri" pitchFamily="34" charset="0"/>
                <a:ea typeface="Calibri" pitchFamily="34" charset="-122"/>
                <a:cs typeface="Calibri" pitchFamily="34" charset="-120"/>
              </a:rPr>
              <a:t>▶</a:t>
            </a:r>
            <a:endParaRPr lang="en-US" sz="900" dirty="0"/>
          </a:p>
        </p:txBody>
      </p:sp>
      <p:sp>
        <p:nvSpPr>
          <p:cNvPr id="35" name="Shape 33"/>
          <p:cNvSpPr/>
          <p:nvPr/>
        </p:nvSpPr>
        <p:spPr>
          <a:xfrm>
            <a:off x="6675120" y="960120"/>
            <a:ext cx="1024128" cy="621792"/>
          </a:xfrm>
          <a:prstGeom prst="roundRect">
            <a:avLst>
              <a:gd name="adj" fmla="val 11765"/>
            </a:avLst>
          </a:prstGeom>
          <a:solidFill>
            <a:srgbClr val="FDECEA"/>
          </a:solidFill>
          <a:ln w="19050">
            <a:solidFill>
              <a:srgbClr val="C0392B"/>
            </a:solidFill>
            <a:prstDash val="solid"/>
          </a:ln>
          <a:effectLst>
            <a:outerShdw blurRad="63500" dist="25400" dir="2700000" algn="bl" rotWithShape="0">
              <a:srgbClr val="000000">
                <a:alpha val="13000"/>
              </a:srgbClr>
            </a:outerShdw>
          </a:effectLst>
        </p:spPr>
      </p:sp>
      <p:sp>
        <p:nvSpPr>
          <p:cNvPr id="36" name="Shape 34"/>
          <p:cNvSpPr/>
          <p:nvPr/>
        </p:nvSpPr>
        <p:spPr>
          <a:xfrm>
            <a:off x="7004304" y="996696"/>
            <a:ext cx="365760" cy="365760"/>
          </a:xfrm>
          <a:prstGeom prst="ellipse">
            <a:avLst/>
          </a:prstGeom>
          <a:solidFill>
            <a:srgbClr val="C0392B"/>
          </a:solidFill>
          <a:ln w="12700">
            <a:solidFill>
              <a:srgbClr val="C0392B"/>
            </a:solidFill>
            <a:prstDash val="solid"/>
          </a:ln>
        </p:spPr>
      </p:sp>
      <p:sp>
        <p:nvSpPr>
          <p:cNvPr id="37" name="Text 35"/>
          <p:cNvSpPr/>
          <p:nvPr/>
        </p:nvSpPr>
        <p:spPr>
          <a:xfrm>
            <a:off x="7004304" y="99669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8" name="Text 36"/>
          <p:cNvSpPr/>
          <p:nvPr/>
        </p:nvSpPr>
        <p:spPr>
          <a:xfrm>
            <a:off x="6720840" y="1362456"/>
            <a:ext cx="932688" cy="256032"/>
          </a:xfrm>
          <a:prstGeom prst="rect">
            <a:avLst/>
          </a:prstGeom>
          <a:noFill/>
          <a:ln/>
        </p:spPr>
        <p:txBody>
          <a:bodyPr wrap="square" lIns="0" tIns="0" rIns="0" bIns="0" rtlCol="0" anchor="ctr"/>
          <a:lstStyle/>
          <a:p>
            <a:pPr marL="0" indent="0" algn="ctr">
              <a:buNone/>
            </a:pPr>
            <a:r>
              <a:rPr lang="en-US" sz="850" b="1" dirty="0">
                <a:solidFill>
                  <a:srgbClr val="C0392B"/>
                </a:solidFill>
                <a:latin typeface="Calibri" pitchFamily="34" charset="0"/>
                <a:ea typeface="Calibri" pitchFamily="34" charset="-122"/>
                <a:cs typeface="Calibri" pitchFamily="34" charset="-120"/>
              </a:rPr>
              <a:t>Hold &amp;</a:t>
            </a:r>
            <a:endParaRPr lang="en-US" sz="850" dirty="0"/>
          </a:p>
          <a:p>
            <a:pPr marL="0" indent="0" algn="ctr">
              <a:buNone/>
            </a:pPr>
            <a:r>
              <a:rPr lang="en-US" sz="850" b="1" dirty="0">
                <a:solidFill>
                  <a:srgbClr val="C0392B"/>
                </a:solidFill>
                <a:latin typeface="Calibri" pitchFamily="34" charset="0"/>
                <a:ea typeface="Calibri" pitchFamily="34" charset="-122"/>
                <a:cs typeface="Calibri" pitchFamily="34" charset="-120"/>
              </a:rPr>
              <a:t>Alert</a:t>
            </a:r>
            <a:endParaRPr lang="en-US" sz="850" dirty="0"/>
          </a:p>
        </p:txBody>
      </p:sp>
      <p:sp>
        <p:nvSpPr>
          <p:cNvPr id="39" name="Text 37"/>
          <p:cNvSpPr/>
          <p:nvPr/>
        </p:nvSpPr>
        <p:spPr>
          <a:xfrm>
            <a:off x="7708392" y="1161288"/>
            <a:ext cx="64008" cy="219456"/>
          </a:xfrm>
          <a:prstGeom prst="rect">
            <a:avLst/>
          </a:prstGeom>
          <a:noFill/>
          <a:ln/>
        </p:spPr>
        <p:txBody>
          <a:bodyPr wrap="square" lIns="0" tIns="0" rIns="0" bIns="0" rtlCol="0" anchor="ctr"/>
          <a:lstStyle/>
          <a:p>
            <a:pPr marL="0" indent="0">
              <a:buNone/>
            </a:pPr>
            <a:r>
              <a:rPr lang="en-US" sz="900" dirty="0">
                <a:solidFill>
                  <a:srgbClr val="8FA5BF"/>
                </a:solidFill>
                <a:latin typeface="Calibri" pitchFamily="34" charset="0"/>
                <a:ea typeface="Calibri" pitchFamily="34" charset="-122"/>
                <a:cs typeface="Calibri" pitchFamily="34" charset="-120"/>
              </a:rPr>
              <a:t>▶</a:t>
            </a:r>
            <a:endParaRPr lang="en-US" sz="900" dirty="0"/>
          </a:p>
        </p:txBody>
      </p:sp>
      <p:sp>
        <p:nvSpPr>
          <p:cNvPr id="40" name="Shape 38"/>
          <p:cNvSpPr/>
          <p:nvPr/>
        </p:nvSpPr>
        <p:spPr>
          <a:xfrm>
            <a:off x="7754112" y="960120"/>
            <a:ext cx="1024128" cy="621792"/>
          </a:xfrm>
          <a:prstGeom prst="roundRect">
            <a:avLst>
              <a:gd name="adj" fmla="val 11765"/>
            </a:avLst>
          </a:prstGeom>
          <a:solidFill>
            <a:srgbClr val="E6FAF3"/>
          </a:solidFill>
          <a:ln w="19050">
            <a:solidFill>
              <a:srgbClr val="1DB87A"/>
            </a:solidFill>
            <a:prstDash val="solid"/>
          </a:ln>
          <a:effectLst>
            <a:outerShdw blurRad="63500" dist="25400" dir="2700000" algn="bl" rotWithShape="0">
              <a:srgbClr val="000000">
                <a:alpha val="13000"/>
              </a:srgbClr>
            </a:outerShdw>
          </a:effectLst>
        </p:spPr>
      </p:sp>
      <p:sp>
        <p:nvSpPr>
          <p:cNvPr id="41" name="Shape 39"/>
          <p:cNvSpPr/>
          <p:nvPr/>
        </p:nvSpPr>
        <p:spPr>
          <a:xfrm>
            <a:off x="8083296" y="996696"/>
            <a:ext cx="365760" cy="365760"/>
          </a:xfrm>
          <a:prstGeom prst="ellipse">
            <a:avLst/>
          </a:prstGeom>
          <a:solidFill>
            <a:srgbClr val="1DB87A"/>
          </a:solidFill>
          <a:ln w="12700">
            <a:solidFill>
              <a:srgbClr val="1DB87A"/>
            </a:solidFill>
            <a:prstDash val="solid"/>
          </a:ln>
        </p:spPr>
      </p:sp>
      <p:sp>
        <p:nvSpPr>
          <p:cNvPr id="42" name="Text 40"/>
          <p:cNvSpPr/>
          <p:nvPr/>
        </p:nvSpPr>
        <p:spPr>
          <a:xfrm>
            <a:off x="8083296" y="99669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43" name="Text 41"/>
          <p:cNvSpPr/>
          <p:nvPr/>
        </p:nvSpPr>
        <p:spPr>
          <a:xfrm>
            <a:off x="7799832" y="1362456"/>
            <a:ext cx="932688" cy="256032"/>
          </a:xfrm>
          <a:prstGeom prst="rect">
            <a:avLst/>
          </a:prstGeom>
          <a:noFill/>
          <a:ln/>
        </p:spPr>
        <p:txBody>
          <a:bodyPr wrap="square" lIns="0" tIns="0" rIns="0" bIns="0" rtlCol="0" anchor="ctr"/>
          <a:lstStyle/>
          <a:p>
            <a:pPr marL="0" indent="0" algn="ctr">
              <a:buNone/>
            </a:pPr>
            <a:r>
              <a:rPr lang="en-US" sz="850" b="1" dirty="0">
                <a:solidFill>
                  <a:srgbClr val="1DB87A"/>
                </a:solidFill>
                <a:latin typeface="Calibri" pitchFamily="34" charset="0"/>
                <a:ea typeface="Calibri" pitchFamily="34" charset="-122"/>
                <a:cs typeface="Calibri" pitchFamily="34" charset="-120"/>
              </a:rPr>
              <a:t>Audit</a:t>
            </a:r>
            <a:endParaRPr lang="en-US" sz="850" dirty="0"/>
          </a:p>
          <a:p>
            <a:pPr marL="0" indent="0" algn="ctr">
              <a:buNone/>
            </a:pPr>
            <a:r>
              <a:rPr lang="en-US" sz="850" b="1" dirty="0">
                <a:solidFill>
                  <a:srgbClr val="1DB87A"/>
                </a:solidFill>
                <a:latin typeface="Calibri" pitchFamily="34" charset="0"/>
                <a:ea typeface="Calibri" pitchFamily="34" charset="-122"/>
                <a:cs typeface="Calibri" pitchFamily="34" charset="-120"/>
              </a:rPr>
              <a:t>Record</a:t>
            </a:r>
            <a:endParaRPr lang="en-US" sz="850" dirty="0"/>
          </a:p>
        </p:txBody>
      </p:sp>
      <p:sp>
        <p:nvSpPr>
          <p:cNvPr id="44" name="Shape 42"/>
          <p:cNvSpPr/>
          <p:nvPr/>
        </p:nvSpPr>
        <p:spPr>
          <a:xfrm>
            <a:off x="201168" y="1691640"/>
            <a:ext cx="1024128" cy="1417320"/>
          </a:xfrm>
          <a:prstGeom prst="roundRect">
            <a:avLst>
              <a:gd name="adj" fmla="val 6250"/>
            </a:avLst>
          </a:prstGeom>
          <a:solidFill>
            <a:srgbClr val="FFFFFF"/>
          </a:solidFill>
          <a:ln w="12700">
            <a:solidFill>
              <a:srgbClr val="DDE4EF"/>
            </a:solidFill>
            <a:prstDash val="solid"/>
          </a:ln>
          <a:effectLst>
            <a:outerShdw blurRad="63500" dist="25400" dir="2700000" algn="bl" rotWithShape="0">
              <a:srgbClr val="000000">
                <a:alpha val="13000"/>
              </a:srgbClr>
            </a:outerShdw>
          </a:effectLst>
        </p:spPr>
      </p:sp>
      <p:sp>
        <p:nvSpPr>
          <p:cNvPr id="45" name="Text 43"/>
          <p:cNvSpPr/>
          <p:nvPr/>
        </p:nvSpPr>
        <p:spPr>
          <a:xfrm>
            <a:off x="265176" y="1737360"/>
            <a:ext cx="896112" cy="1325880"/>
          </a:xfrm>
          <a:prstGeom prst="rect">
            <a:avLst/>
          </a:prstGeom>
          <a:noFill/>
          <a:ln/>
        </p:spPr>
        <p:txBody>
          <a:bodyPr wrap="square" lIns="0" tIns="0" rIns="0" bIns="0" rtlCol="0" anchor="ctr"/>
          <a:lstStyle/>
          <a:p>
            <a:pPr marL="0" indent="0">
              <a:buNone/>
            </a:pPr>
            <a:r>
              <a:rPr lang="en-US" sz="800" dirty="0">
                <a:solidFill>
                  <a:srgbClr val="3A4A5E"/>
                </a:solidFill>
                <a:latin typeface="Calibri" pitchFamily="34" charset="0"/>
                <a:ea typeface="Calibri" pitchFamily="34" charset="-122"/>
                <a:cs typeface="Calibri" pitchFamily="34" charset="-120"/>
              </a:rPr>
              <a:t>Customer enters payee &amp; amount in app. Session context captured: device ID, IP, typing speed, navigation path.</a:t>
            </a:r>
            <a:endParaRPr lang="en-US" sz="800" dirty="0"/>
          </a:p>
        </p:txBody>
      </p:sp>
      <p:sp>
        <p:nvSpPr>
          <p:cNvPr id="46" name="Shape 44"/>
          <p:cNvSpPr/>
          <p:nvPr/>
        </p:nvSpPr>
        <p:spPr>
          <a:xfrm>
            <a:off x="1280160" y="1691640"/>
            <a:ext cx="1024128" cy="1417320"/>
          </a:xfrm>
          <a:prstGeom prst="roundRect">
            <a:avLst>
              <a:gd name="adj" fmla="val 6250"/>
            </a:avLst>
          </a:prstGeom>
          <a:solidFill>
            <a:srgbClr val="FFFFFF"/>
          </a:solidFill>
          <a:ln w="12700">
            <a:solidFill>
              <a:srgbClr val="DDE4EF"/>
            </a:solidFill>
            <a:prstDash val="solid"/>
          </a:ln>
          <a:effectLst>
            <a:outerShdw blurRad="63500" dist="25400" dir="2700000" algn="bl" rotWithShape="0">
              <a:srgbClr val="000000">
                <a:alpha val="13000"/>
              </a:srgbClr>
            </a:outerShdw>
          </a:effectLst>
        </p:spPr>
      </p:sp>
      <p:sp>
        <p:nvSpPr>
          <p:cNvPr id="47" name="Text 45"/>
          <p:cNvSpPr/>
          <p:nvPr/>
        </p:nvSpPr>
        <p:spPr>
          <a:xfrm>
            <a:off x="1344168" y="1737360"/>
            <a:ext cx="896112" cy="1325880"/>
          </a:xfrm>
          <a:prstGeom prst="rect">
            <a:avLst/>
          </a:prstGeom>
          <a:noFill/>
          <a:ln/>
        </p:spPr>
        <p:txBody>
          <a:bodyPr wrap="square" lIns="0" tIns="0" rIns="0" bIns="0" rtlCol="0" anchor="ctr"/>
          <a:lstStyle/>
          <a:p>
            <a:pPr marL="0" indent="0">
              <a:buNone/>
            </a:pPr>
            <a:r>
              <a:rPr lang="en-US" sz="800" dirty="0">
                <a:solidFill>
                  <a:srgbClr val="3A4A5E"/>
                </a:solidFill>
                <a:latin typeface="Calibri" pitchFamily="34" charset="0"/>
                <a:ea typeface="Calibri" pitchFamily="34" charset="-122"/>
                <a:cs typeface="Calibri" pitchFamily="34" charset="-120"/>
              </a:rPr>
              <a:t>Context Capture Service intercepts request. Builds authorisation bundle: amount, payee (new/known), device, time, biometrics.</a:t>
            </a:r>
            <a:endParaRPr lang="en-US" sz="800" dirty="0"/>
          </a:p>
        </p:txBody>
      </p:sp>
      <p:sp>
        <p:nvSpPr>
          <p:cNvPr id="48" name="Shape 46"/>
          <p:cNvSpPr/>
          <p:nvPr/>
        </p:nvSpPr>
        <p:spPr>
          <a:xfrm>
            <a:off x="2359152" y="1691640"/>
            <a:ext cx="1024128" cy="1417320"/>
          </a:xfrm>
          <a:prstGeom prst="roundRect">
            <a:avLst>
              <a:gd name="adj" fmla="val 6250"/>
            </a:avLst>
          </a:prstGeom>
          <a:solidFill>
            <a:srgbClr val="FFFFFF"/>
          </a:solidFill>
          <a:ln w="12700">
            <a:solidFill>
              <a:srgbClr val="DDE4EF"/>
            </a:solidFill>
            <a:prstDash val="solid"/>
          </a:ln>
          <a:effectLst>
            <a:outerShdw blurRad="63500" dist="25400" dir="2700000" algn="bl" rotWithShape="0">
              <a:srgbClr val="000000">
                <a:alpha val="13000"/>
              </a:srgbClr>
            </a:outerShdw>
          </a:effectLst>
        </p:spPr>
      </p:sp>
      <p:sp>
        <p:nvSpPr>
          <p:cNvPr id="49" name="Text 47"/>
          <p:cNvSpPr/>
          <p:nvPr/>
        </p:nvSpPr>
        <p:spPr>
          <a:xfrm>
            <a:off x="2423160" y="1737360"/>
            <a:ext cx="896112" cy="1325880"/>
          </a:xfrm>
          <a:prstGeom prst="rect">
            <a:avLst/>
          </a:prstGeom>
          <a:noFill/>
          <a:ln/>
        </p:spPr>
        <p:txBody>
          <a:bodyPr wrap="square" lIns="0" tIns="0" rIns="0" bIns="0" rtlCol="0" anchor="ctr"/>
          <a:lstStyle/>
          <a:p>
            <a:pPr marL="0" indent="0">
              <a:buNone/>
            </a:pPr>
            <a:r>
              <a:rPr lang="en-US" sz="800" dirty="0">
                <a:solidFill>
                  <a:srgbClr val="3A4A5E"/>
                </a:solidFill>
                <a:latin typeface="Calibri" pitchFamily="34" charset="0"/>
                <a:ea typeface="Calibri" pitchFamily="34" charset="-122"/>
                <a:cs typeface="Calibri" pitchFamily="34" charset="-120"/>
              </a:rPr>
              <a:t>Ledger Query Service checks Fabric fraud registry. Is receiving account flagged by any consortium bank?</a:t>
            </a:r>
            <a:endParaRPr lang="en-US" sz="800" dirty="0"/>
          </a:p>
        </p:txBody>
      </p:sp>
      <p:sp>
        <p:nvSpPr>
          <p:cNvPr id="50" name="Shape 48"/>
          <p:cNvSpPr/>
          <p:nvPr/>
        </p:nvSpPr>
        <p:spPr>
          <a:xfrm>
            <a:off x="3438144" y="1691640"/>
            <a:ext cx="1024128" cy="1417320"/>
          </a:xfrm>
          <a:prstGeom prst="roundRect">
            <a:avLst>
              <a:gd name="adj" fmla="val 6250"/>
            </a:avLst>
          </a:prstGeom>
          <a:solidFill>
            <a:srgbClr val="FFFFFF"/>
          </a:solidFill>
          <a:ln w="12700">
            <a:solidFill>
              <a:srgbClr val="DDE4EF"/>
            </a:solidFill>
            <a:prstDash val="solid"/>
          </a:ln>
          <a:effectLst>
            <a:outerShdw blurRad="63500" dist="25400" dir="2700000" algn="bl" rotWithShape="0">
              <a:srgbClr val="000000">
                <a:alpha val="13000"/>
              </a:srgbClr>
            </a:outerShdw>
          </a:effectLst>
        </p:spPr>
      </p:sp>
      <p:sp>
        <p:nvSpPr>
          <p:cNvPr id="51" name="Text 49"/>
          <p:cNvSpPr/>
          <p:nvPr/>
        </p:nvSpPr>
        <p:spPr>
          <a:xfrm>
            <a:off x="3502152" y="1737360"/>
            <a:ext cx="896112" cy="1325880"/>
          </a:xfrm>
          <a:prstGeom prst="rect">
            <a:avLst/>
          </a:prstGeom>
          <a:noFill/>
          <a:ln/>
        </p:spPr>
        <p:txBody>
          <a:bodyPr wrap="square" lIns="0" tIns="0" rIns="0" bIns="0" rtlCol="0" anchor="ctr"/>
          <a:lstStyle/>
          <a:p>
            <a:pPr marL="0" indent="0">
              <a:buNone/>
            </a:pPr>
            <a:r>
              <a:rPr lang="en-US" sz="800" dirty="0">
                <a:solidFill>
                  <a:srgbClr val="3A4A5E"/>
                </a:solidFill>
                <a:latin typeface="Calibri" pitchFamily="34" charset="0"/>
                <a:ea typeface="Calibri" pitchFamily="34" charset="-122"/>
                <a:cs typeface="Calibri" pitchFamily="34" charset="-120"/>
              </a:rPr>
              <a:t>ML Oracle Bridge fetches real-time fraud risk score from bank's existing ML model. Score ingested by smart contract.</a:t>
            </a:r>
            <a:endParaRPr lang="en-US" sz="800" dirty="0"/>
          </a:p>
        </p:txBody>
      </p:sp>
      <p:sp>
        <p:nvSpPr>
          <p:cNvPr id="52" name="Shape 50"/>
          <p:cNvSpPr/>
          <p:nvPr/>
        </p:nvSpPr>
        <p:spPr>
          <a:xfrm>
            <a:off x="4517136" y="1691640"/>
            <a:ext cx="1024128" cy="1417320"/>
          </a:xfrm>
          <a:prstGeom prst="roundRect">
            <a:avLst>
              <a:gd name="adj" fmla="val 6250"/>
            </a:avLst>
          </a:prstGeom>
          <a:solidFill>
            <a:srgbClr val="FFFFFF"/>
          </a:solidFill>
          <a:ln w="12700">
            <a:solidFill>
              <a:srgbClr val="DDE4EF"/>
            </a:solidFill>
            <a:prstDash val="solid"/>
          </a:ln>
          <a:effectLst>
            <a:outerShdw blurRad="63500" dist="25400" dir="2700000" algn="bl" rotWithShape="0">
              <a:srgbClr val="000000">
                <a:alpha val="13000"/>
              </a:srgbClr>
            </a:outerShdw>
          </a:effectLst>
        </p:spPr>
      </p:sp>
      <p:sp>
        <p:nvSpPr>
          <p:cNvPr id="53" name="Text 51"/>
          <p:cNvSpPr/>
          <p:nvPr/>
        </p:nvSpPr>
        <p:spPr>
          <a:xfrm>
            <a:off x="4581144" y="1737360"/>
            <a:ext cx="896112" cy="1325880"/>
          </a:xfrm>
          <a:prstGeom prst="rect">
            <a:avLst/>
          </a:prstGeom>
          <a:noFill/>
          <a:ln/>
        </p:spPr>
        <p:txBody>
          <a:bodyPr wrap="square" lIns="0" tIns="0" rIns="0" bIns="0" rtlCol="0" anchor="ctr"/>
          <a:lstStyle/>
          <a:p>
            <a:pPr marL="0" indent="0">
              <a:buNone/>
            </a:pPr>
            <a:r>
              <a:rPr lang="en-US" sz="800" dirty="0">
                <a:solidFill>
                  <a:srgbClr val="3A4A5E"/>
                </a:solidFill>
                <a:latin typeface="Calibri" pitchFamily="34" charset="0"/>
                <a:ea typeface="Calibri" pitchFamily="34" charset="-122"/>
                <a:cs typeface="Calibri" pitchFamily="34" charset="-120"/>
              </a:rPr>
              <a:t>Smart Contract Orchestrator evaluates all signals: payee flag, ML score, amount threshold, anomaly indicators.</a:t>
            </a:r>
            <a:endParaRPr lang="en-US" sz="800" dirty="0"/>
          </a:p>
        </p:txBody>
      </p:sp>
      <p:sp>
        <p:nvSpPr>
          <p:cNvPr id="54" name="Shape 52"/>
          <p:cNvSpPr/>
          <p:nvPr/>
        </p:nvSpPr>
        <p:spPr>
          <a:xfrm>
            <a:off x="5596128" y="1691640"/>
            <a:ext cx="1024128" cy="1417320"/>
          </a:xfrm>
          <a:prstGeom prst="roundRect">
            <a:avLst>
              <a:gd name="adj" fmla="val 6250"/>
            </a:avLst>
          </a:prstGeom>
          <a:solidFill>
            <a:srgbClr val="FFFFFF"/>
          </a:solidFill>
          <a:ln w="12700">
            <a:solidFill>
              <a:srgbClr val="DDE4EF"/>
            </a:solidFill>
            <a:prstDash val="solid"/>
          </a:ln>
          <a:effectLst>
            <a:outerShdw blurRad="63500" dist="25400" dir="2700000" algn="bl" rotWithShape="0">
              <a:srgbClr val="000000">
                <a:alpha val="13000"/>
              </a:srgbClr>
            </a:outerShdw>
          </a:effectLst>
        </p:spPr>
      </p:sp>
      <p:sp>
        <p:nvSpPr>
          <p:cNvPr id="55" name="Text 53"/>
          <p:cNvSpPr/>
          <p:nvPr/>
        </p:nvSpPr>
        <p:spPr>
          <a:xfrm>
            <a:off x="5660136" y="1737360"/>
            <a:ext cx="896112" cy="1325880"/>
          </a:xfrm>
          <a:prstGeom prst="rect">
            <a:avLst/>
          </a:prstGeom>
          <a:noFill/>
          <a:ln/>
        </p:spPr>
        <p:txBody>
          <a:bodyPr wrap="square" lIns="0" tIns="0" rIns="0" bIns="0" rtlCol="0" anchor="ctr"/>
          <a:lstStyle/>
          <a:p>
            <a:pPr marL="0" indent="0">
              <a:buNone/>
            </a:pPr>
            <a:r>
              <a:rPr lang="en-US" sz="800" dirty="0">
                <a:solidFill>
                  <a:srgbClr val="3A4A5E"/>
                </a:solidFill>
                <a:latin typeface="Calibri" pitchFamily="34" charset="0"/>
                <a:ea typeface="Calibri" pitchFamily="34" charset="-122"/>
                <a:cs typeface="Calibri" pitchFamily="34" charset="-120"/>
              </a:rPr>
              <a:t>Contract returns one of three outcomes: PROCEED (clean), HOLD (step-up required), or REJECT (confirmed fraud flag).</a:t>
            </a:r>
            <a:endParaRPr lang="en-US" sz="800" dirty="0"/>
          </a:p>
        </p:txBody>
      </p:sp>
      <p:sp>
        <p:nvSpPr>
          <p:cNvPr id="56" name="Shape 54"/>
          <p:cNvSpPr/>
          <p:nvPr/>
        </p:nvSpPr>
        <p:spPr>
          <a:xfrm>
            <a:off x="6675120" y="1691640"/>
            <a:ext cx="1024128" cy="1417320"/>
          </a:xfrm>
          <a:prstGeom prst="roundRect">
            <a:avLst>
              <a:gd name="adj" fmla="val 6250"/>
            </a:avLst>
          </a:prstGeom>
          <a:solidFill>
            <a:srgbClr val="FFFFFF"/>
          </a:solidFill>
          <a:ln w="12700">
            <a:solidFill>
              <a:srgbClr val="DDE4EF"/>
            </a:solidFill>
            <a:prstDash val="solid"/>
          </a:ln>
          <a:effectLst>
            <a:outerShdw blurRad="63500" dist="25400" dir="2700000" algn="bl" rotWithShape="0">
              <a:srgbClr val="000000">
                <a:alpha val="13000"/>
              </a:srgbClr>
            </a:outerShdw>
          </a:effectLst>
        </p:spPr>
      </p:sp>
      <p:sp>
        <p:nvSpPr>
          <p:cNvPr id="57" name="Text 55"/>
          <p:cNvSpPr/>
          <p:nvPr/>
        </p:nvSpPr>
        <p:spPr>
          <a:xfrm>
            <a:off x="6739128" y="1737360"/>
            <a:ext cx="896112" cy="1325880"/>
          </a:xfrm>
          <a:prstGeom prst="rect">
            <a:avLst/>
          </a:prstGeom>
          <a:noFill/>
          <a:ln/>
        </p:spPr>
        <p:txBody>
          <a:bodyPr wrap="square" lIns="0" tIns="0" rIns="0" bIns="0" rtlCol="0" anchor="ctr"/>
          <a:lstStyle/>
          <a:p>
            <a:pPr marL="0" indent="0">
              <a:buNone/>
            </a:pPr>
            <a:r>
              <a:rPr lang="en-US" sz="800" dirty="0">
                <a:solidFill>
                  <a:srgbClr val="3A4A5E"/>
                </a:solidFill>
                <a:latin typeface="Calibri" pitchFamily="34" charset="0"/>
                <a:ea typeface="Calibri" pitchFamily="34" charset="-122"/>
                <a:cs typeface="Calibri" pitchFamily="34" charset="-120"/>
              </a:rPr>
              <a:t>Payment held before FPS. Customer notified. Case auto-raised in Fraud Ops. On-chain record sealed with hold reason.</a:t>
            </a:r>
            <a:endParaRPr lang="en-US" sz="800" dirty="0"/>
          </a:p>
        </p:txBody>
      </p:sp>
      <p:sp>
        <p:nvSpPr>
          <p:cNvPr id="58" name="Shape 56"/>
          <p:cNvSpPr/>
          <p:nvPr/>
        </p:nvSpPr>
        <p:spPr>
          <a:xfrm>
            <a:off x="7754112" y="1691640"/>
            <a:ext cx="1024128" cy="1417320"/>
          </a:xfrm>
          <a:prstGeom prst="roundRect">
            <a:avLst>
              <a:gd name="adj" fmla="val 6250"/>
            </a:avLst>
          </a:prstGeom>
          <a:solidFill>
            <a:srgbClr val="FFFFFF"/>
          </a:solidFill>
          <a:ln w="12700">
            <a:solidFill>
              <a:srgbClr val="DDE4EF"/>
            </a:solidFill>
            <a:prstDash val="solid"/>
          </a:ln>
          <a:effectLst>
            <a:outerShdw blurRad="63500" dist="25400" dir="2700000" algn="bl" rotWithShape="0">
              <a:srgbClr val="000000">
                <a:alpha val="13000"/>
              </a:srgbClr>
            </a:outerShdw>
          </a:effectLst>
        </p:spPr>
      </p:sp>
      <p:sp>
        <p:nvSpPr>
          <p:cNvPr id="59" name="Text 57"/>
          <p:cNvSpPr/>
          <p:nvPr/>
        </p:nvSpPr>
        <p:spPr>
          <a:xfrm>
            <a:off x="7818120" y="1737360"/>
            <a:ext cx="896112" cy="1325880"/>
          </a:xfrm>
          <a:prstGeom prst="rect">
            <a:avLst/>
          </a:prstGeom>
          <a:noFill/>
          <a:ln/>
        </p:spPr>
        <p:txBody>
          <a:bodyPr wrap="square" lIns="0" tIns="0" rIns="0" bIns="0" rtlCol="0" anchor="ctr"/>
          <a:lstStyle/>
          <a:p>
            <a:pPr marL="0" indent="0">
              <a:buNone/>
            </a:pPr>
            <a:r>
              <a:rPr lang="en-US" sz="800" dirty="0">
                <a:solidFill>
                  <a:srgbClr val="3A4A5E"/>
                </a:solidFill>
                <a:latin typeface="Calibri" pitchFamily="34" charset="0"/>
                <a:ea typeface="Calibri" pitchFamily="34" charset="-122"/>
                <a:cs typeface="Calibri" pitchFamily="34" charset="-120"/>
              </a:rPr>
              <a:t>Full chain of custody written to ledger: intent, scores, contract outcome, hold status. Immutable. Regulator-accessible.</a:t>
            </a:r>
            <a:endParaRPr lang="en-US" sz="800" dirty="0"/>
          </a:p>
        </p:txBody>
      </p:sp>
      <p:sp>
        <p:nvSpPr>
          <p:cNvPr id="60" name="Shape 58"/>
          <p:cNvSpPr/>
          <p:nvPr/>
        </p:nvSpPr>
        <p:spPr>
          <a:xfrm>
            <a:off x="201168" y="3200400"/>
            <a:ext cx="8741664" cy="1810512"/>
          </a:xfrm>
          <a:prstGeom prst="roundRect">
            <a:avLst>
              <a:gd name="adj" fmla="val 5051"/>
            </a:avLst>
          </a:prstGeom>
          <a:solidFill>
            <a:srgbClr val="0B1D3A"/>
          </a:solidFill>
          <a:ln w="12700">
            <a:solidFill>
              <a:srgbClr val="1E3A5F"/>
            </a:solidFill>
            <a:prstDash val="solid"/>
          </a:ln>
        </p:spPr>
      </p:sp>
      <p:sp>
        <p:nvSpPr>
          <p:cNvPr id="61" name="Text 59"/>
          <p:cNvSpPr/>
          <p:nvPr/>
        </p:nvSpPr>
        <p:spPr>
          <a:xfrm>
            <a:off x="384048" y="3273552"/>
            <a:ext cx="3657600" cy="256032"/>
          </a:xfrm>
          <a:prstGeom prst="rect">
            <a:avLst/>
          </a:prstGeom>
          <a:noFill/>
          <a:ln/>
        </p:spPr>
        <p:txBody>
          <a:bodyPr wrap="square" lIns="0" tIns="0" rIns="0" bIns="0" rtlCol="0" anchor="ctr"/>
          <a:lstStyle/>
          <a:p>
            <a:pPr marL="0" indent="0">
              <a:buNone/>
            </a:pPr>
            <a:r>
              <a:rPr lang="en-US" sz="850" b="1" kern="0" spc="100" dirty="0">
                <a:solidFill>
                  <a:srgbClr val="E8A020"/>
                </a:solidFill>
                <a:latin typeface="Calibri" pitchFamily="34" charset="0"/>
                <a:ea typeface="Calibri" pitchFamily="34" charset="-122"/>
                <a:cs typeface="Calibri" pitchFamily="34" charset="-120"/>
              </a:rPr>
              <a:t>DECISION OUTCOMES FROM STEP 6</a:t>
            </a:r>
            <a:endParaRPr lang="en-US" sz="850" dirty="0"/>
          </a:p>
        </p:txBody>
      </p:sp>
      <p:sp>
        <p:nvSpPr>
          <p:cNvPr id="62" name="Shape 60"/>
          <p:cNvSpPr/>
          <p:nvPr/>
        </p:nvSpPr>
        <p:spPr>
          <a:xfrm>
            <a:off x="347472" y="3566160"/>
            <a:ext cx="2743200" cy="1353312"/>
          </a:xfrm>
          <a:prstGeom prst="roundRect">
            <a:avLst>
              <a:gd name="adj" fmla="val 6081"/>
            </a:avLst>
          </a:prstGeom>
          <a:solidFill>
            <a:srgbClr val="112A1A"/>
          </a:solidFill>
          <a:ln w="12700">
            <a:solidFill>
              <a:srgbClr val="1DB87A"/>
            </a:solidFill>
            <a:prstDash val="solid"/>
          </a:ln>
          <a:effectLst>
            <a:outerShdw blurRad="63500" dist="25400" dir="2700000" algn="bl" rotWithShape="0">
              <a:srgbClr val="000000">
                <a:alpha val="13000"/>
              </a:srgbClr>
            </a:outerShdw>
          </a:effectLst>
        </p:spPr>
      </p:sp>
      <p:sp>
        <p:nvSpPr>
          <p:cNvPr id="63" name="Text 61"/>
          <p:cNvSpPr/>
          <p:nvPr/>
        </p:nvSpPr>
        <p:spPr>
          <a:xfrm>
            <a:off x="484632" y="3630168"/>
            <a:ext cx="2468880" cy="347472"/>
          </a:xfrm>
          <a:prstGeom prst="rect">
            <a:avLst/>
          </a:prstGeom>
          <a:noFill/>
          <a:ln/>
        </p:spPr>
        <p:txBody>
          <a:bodyPr wrap="square" lIns="0" tIns="0" rIns="0" bIns="0" rtlCol="0" anchor="ctr"/>
          <a:lstStyle/>
          <a:p>
            <a:pPr marL="0" indent="0">
              <a:buNone/>
            </a:pPr>
            <a:r>
              <a:rPr lang="en-US" sz="1400" b="1" dirty="0">
                <a:solidFill>
                  <a:srgbClr val="1DB87A"/>
                </a:solidFill>
                <a:latin typeface="Calibri" pitchFamily="34" charset="0"/>
                <a:ea typeface="Calibri" pitchFamily="34" charset="-122"/>
                <a:cs typeface="Calibri" pitchFamily="34" charset="-120"/>
              </a:rPr>
              <a:t>✓  PROCEED</a:t>
            </a:r>
            <a:endParaRPr lang="en-US" sz="1400" dirty="0"/>
          </a:p>
        </p:txBody>
      </p:sp>
      <p:sp>
        <p:nvSpPr>
          <p:cNvPr id="64" name="Text 62"/>
          <p:cNvSpPr/>
          <p:nvPr/>
        </p:nvSpPr>
        <p:spPr>
          <a:xfrm>
            <a:off x="484632" y="3986784"/>
            <a:ext cx="2468880" cy="877824"/>
          </a:xfrm>
          <a:prstGeom prst="rect">
            <a:avLst/>
          </a:prstGeom>
          <a:noFill/>
          <a:ln/>
        </p:spPr>
        <p:txBody>
          <a:bodyPr wrap="square" lIns="0" tIns="0" rIns="0" bIns="0" rtlCol="0" anchor="ctr"/>
          <a:lstStyle/>
          <a:p>
            <a:pPr marL="0" indent="0">
              <a:buNone/>
            </a:pPr>
            <a:r>
              <a:rPr lang="en-US" sz="850" dirty="0">
                <a:solidFill>
                  <a:srgbClr val="CBD8EA"/>
                </a:solidFill>
                <a:latin typeface="Calibri" pitchFamily="34" charset="0"/>
                <a:ea typeface="Calibri" pitchFamily="34" charset="-122"/>
                <a:cs typeface="Calibri" pitchFamily="34" charset="-120"/>
              </a:rPr>
              <a:t>No flags. Score below threshold. New payee but amount within normal range. Payment passes directly to Faster Payments rail. On-chain record created (clean).</a:t>
            </a:r>
            <a:endParaRPr lang="en-US" sz="850" dirty="0"/>
          </a:p>
        </p:txBody>
      </p:sp>
      <p:sp>
        <p:nvSpPr>
          <p:cNvPr id="65" name="Shape 63"/>
          <p:cNvSpPr/>
          <p:nvPr/>
        </p:nvSpPr>
        <p:spPr>
          <a:xfrm>
            <a:off x="3255264" y="3566160"/>
            <a:ext cx="2743200" cy="1353312"/>
          </a:xfrm>
          <a:prstGeom prst="roundRect">
            <a:avLst>
              <a:gd name="adj" fmla="val 6081"/>
            </a:avLst>
          </a:prstGeom>
          <a:solidFill>
            <a:srgbClr val="2A1A00"/>
          </a:solidFill>
          <a:ln w="12700">
            <a:solidFill>
              <a:srgbClr val="E8A020"/>
            </a:solidFill>
            <a:prstDash val="solid"/>
          </a:ln>
          <a:effectLst>
            <a:outerShdw blurRad="63500" dist="25400" dir="2700000" algn="bl" rotWithShape="0">
              <a:srgbClr val="000000">
                <a:alpha val="13000"/>
              </a:srgbClr>
            </a:outerShdw>
          </a:effectLst>
        </p:spPr>
      </p:sp>
      <p:sp>
        <p:nvSpPr>
          <p:cNvPr id="66" name="Text 64"/>
          <p:cNvSpPr/>
          <p:nvPr/>
        </p:nvSpPr>
        <p:spPr>
          <a:xfrm>
            <a:off x="3392424" y="3630168"/>
            <a:ext cx="2468880" cy="347472"/>
          </a:xfrm>
          <a:prstGeom prst="rect">
            <a:avLst/>
          </a:prstGeom>
          <a:noFill/>
          <a:ln/>
        </p:spPr>
        <p:txBody>
          <a:bodyPr wrap="square" lIns="0" tIns="0" rIns="0" bIns="0" rtlCol="0" anchor="ctr"/>
          <a:lstStyle/>
          <a:p>
            <a:pPr marL="0" indent="0">
              <a:buNone/>
            </a:pPr>
            <a:r>
              <a:rPr lang="en-US" sz="1400" b="1" dirty="0">
                <a:solidFill>
                  <a:srgbClr val="E8A020"/>
                </a:solidFill>
                <a:latin typeface="Calibri" pitchFamily="34" charset="0"/>
                <a:ea typeface="Calibri" pitchFamily="34" charset="-122"/>
                <a:cs typeface="Calibri" pitchFamily="34" charset="-120"/>
              </a:rPr>
              <a:t>⏸  HOLD</a:t>
            </a:r>
            <a:endParaRPr lang="en-US" sz="1400" dirty="0"/>
          </a:p>
        </p:txBody>
      </p:sp>
      <p:sp>
        <p:nvSpPr>
          <p:cNvPr id="67" name="Text 65"/>
          <p:cNvSpPr/>
          <p:nvPr/>
        </p:nvSpPr>
        <p:spPr>
          <a:xfrm>
            <a:off x="3392424" y="3986784"/>
            <a:ext cx="2468880" cy="877824"/>
          </a:xfrm>
          <a:prstGeom prst="rect">
            <a:avLst/>
          </a:prstGeom>
          <a:noFill/>
          <a:ln/>
        </p:spPr>
        <p:txBody>
          <a:bodyPr wrap="square" lIns="0" tIns="0" rIns="0" bIns="0" rtlCol="0" anchor="ctr"/>
          <a:lstStyle/>
          <a:p>
            <a:pPr marL="0" indent="0">
              <a:buNone/>
            </a:pPr>
            <a:r>
              <a:rPr lang="en-US" sz="850" dirty="0">
                <a:solidFill>
                  <a:srgbClr val="CBD8EA"/>
                </a:solidFill>
                <a:latin typeface="Calibri" pitchFamily="34" charset="0"/>
                <a:ea typeface="Calibri" pitchFamily="34" charset="-122"/>
                <a:cs typeface="Calibri" pitchFamily="34" charset="-120"/>
              </a:rPr>
              <a:t>Anomaly detected OR new payee + high amount OR score above soft threshold. Payment paused. Customer prompted for step-up verification (biometric, call-back, OTP). 4–24hr cooling-off window.</a:t>
            </a:r>
            <a:endParaRPr lang="en-US" sz="850" dirty="0"/>
          </a:p>
        </p:txBody>
      </p:sp>
      <p:sp>
        <p:nvSpPr>
          <p:cNvPr id="68" name="Shape 66"/>
          <p:cNvSpPr/>
          <p:nvPr/>
        </p:nvSpPr>
        <p:spPr>
          <a:xfrm>
            <a:off x="6163056" y="3566160"/>
            <a:ext cx="2743200" cy="1353312"/>
          </a:xfrm>
          <a:prstGeom prst="roundRect">
            <a:avLst>
              <a:gd name="adj" fmla="val 6081"/>
            </a:avLst>
          </a:prstGeom>
          <a:solidFill>
            <a:srgbClr val="2A0A0A"/>
          </a:solidFill>
          <a:ln w="12700">
            <a:solidFill>
              <a:srgbClr val="C0392B"/>
            </a:solidFill>
            <a:prstDash val="solid"/>
          </a:ln>
          <a:effectLst>
            <a:outerShdw blurRad="63500" dist="25400" dir="2700000" algn="bl" rotWithShape="0">
              <a:srgbClr val="000000">
                <a:alpha val="13000"/>
              </a:srgbClr>
            </a:outerShdw>
          </a:effectLst>
        </p:spPr>
      </p:sp>
      <p:sp>
        <p:nvSpPr>
          <p:cNvPr id="69" name="Text 67"/>
          <p:cNvSpPr/>
          <p:nvPr/>
        </p:nvSpPr>
        <p:spPr>
          <a:xfrm>
            <a:off x="6300216" y="3630168"/>
            <a:ext cx="2468880" cy="347472"/>
          </a:xfrm>
          <a:prstGeom prst="rect">
            <a:avLst/>
          </a:prstGeom>
          <a:noFill/>
          <a:ln/>
        </p:spPr>
        <p:txBody>
          <a:bodyPr wrap="square" lIns="0" tIns="0" rIns="0" bIns="0" rtlCol="0" anchor="ctr"/>
          <a:lstStyle/>
          <a:p>
            <a:pPr marL="0" indent="0">
              <a:buNone/>
            </a:pPr>
            <a:r>
              <a:rPr lang="en-US" sz="1400" b="1" dirty="0">
                <a:solidFill>
                  <a:srgbClr val="C0392B"/>
                </a:solidFill>
                <a:latin typeface="Calibri" pitchFamily="34" charset="0"/>
                <a:ea typeface="Calibri" pitchFamily="34" charset="-122"/>
                <a:cs typeface="Calibri" pitchFamily="34" charset="-120"/>
              </a:rPr>
              <a:t>✗  REJECT</a:t>
            </a:r>
            <a:endParaRPr lang="en-US" sz="1400" dirty="0"/>
          </a:p>
        </p:txBody>
      </p:sp>
      <p:sp>
        <p:nvSpPr>
          <p:cNvPr id="70" name="Text 68"/>
          <p:cNvSpPr/>
          <p:nvPr/>
        </p:nvSpPr>
        <p:spPr>
          <a:xfrm>
            <a:off x="6300216" y="3986784"/>
            <a:ext cx="2468880" cy="877824"/>
          </a:xfrm>
          <a:prstGeom prst="rect">
            <a:avLst/>
          </a:prstGeom>
          <a:noFill/>
          <a:ln/>
        </p:spPr>
        <p:txBody>
          <a:bodyPr wrap="square" lIns="0" tIns="0" rIns="0" bIns="0" rtlCol="0" anchor="ctr"/>
          <a:lstStyle/>
          <a:p>
            <a:pPr marL="0" indent="0">
              <a:buNone/>
            </a:pPr>
            <a:r>
              <a:rPr lang="en-US" sz="850" dirty="0">
                <a:solidFill>
                  <a:srgbClr val="CBD8EA"/>
                </a:solidFill>
                <a:latin typeface="Calibri" pitchFamily="34" charset="0"/>
                <a:ea typeface="Calibri" pitchFamily="34" charset="-122"/>
                <a:cs typeface="Calibri" pitchFamily="34" charset="-120"/>
              </a:rPr>
              <a:t>Receiving account has active fraud flag in consortium ledger. Payment blocked immediately. Fraud case auto-raised. Customer notified. Evidence bundle sealed on-chain for investigation.</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D3A"/>
        </a:solidFill>
        <a:effectLst/>
      </p:bgPr>
    </p:bg>
    <p:spTree>
      <p:nvGrpSpPr>
        <p:cNvPr id="1" name=""/>
        <p:cNvGrpSpPr/>
        <p:nvPr/>
      </p:nvGrpSpPr>
      <p:grpSpPr>
        <a:xfrm>
          <a:off x="0" y="0"/>
          <a:ext cx="0" cy="0"/>
          <a:chOff x="0" y="0"/>
          <a:chExt cx="0" cy="0"/>
        </a:xfrm>
      </p:grpSpPr>
      <p:sp>
        <p:nvSpPr>
          <p:cNvPr id="2" name="Text 0"/>
          <p:cNvSpPr/>
          <p:nvPr/>
        </p:nvSpPr>
        <p:spPr>
          <a:xfrm>
            <a:off x="365760" y="137160"/>
            <a:ext cx="8229600" cy="320040"/>
          </a:xfrm>
          <a:prstGeom prst="rect">
            <a:avLst/>
          </a:prstGeom>
          <a:noFill/>
          <a:ln/>
        </p:spPr>
        <p:txBody>
          <a:bodyPr wrap="square" lIns="0" tIns="0" rIns="0" bIns="0" rtlCol="0" anchor="ctr"/>
          <a:lstStyle/>
          <a:p>
            <a:pPr marL="0" indent="0">
              <a:buNone/>
            </a:pPr>
            <a:r>
              <a:rPr lang="en-US" sz="1000" b="1" kern="0" spc="300" dirty="0">
                <a:solidFill>
                  <a:srgbClr val="E8A020"/>
                </a:solidFill>
                <a:latin typeface="Calibri" pitchFamily="34" charset="0"/>
                <a:ea typeface="Calibri" pitchFamily="34" charset="-122"/>
                <a:cs typeface="Calibri" pitchFamily="34" charset="-120"/>
              </a:rPr>
              <a:t>SMART CONTRACT LOGIC</a:t>
            </a:r>
            <a:endParaRPr lang="en-US" sz="1000" dirty="0"/>
          </a:p>
        </p:txBody>
      </p:sp>
      <p:sp>
        <p:nvSpPr>
          <p:cNvPr id="3" name="Text 1"/>
          <p:cNvSpPr/>
          <p:nvPr/>
        </p:nvSpPr>
        <p:spPr>
          <a:xfrm>
            <a:off x="365760" y="438912"/>
            <a:ext cx="8229600" cy="475488"/>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How the Decision Engine Works Inside the Chaincode</a:t>
            </a:r>
            <a:endParaRPr lang="en-US" sz="2000" dirty="0"/>
          </a:p>
        </p:txBody>
      </p:sp>
      <p:sp>
        <p:nvSpPr>
          <p:cNvPr id="4" name="Shape 2"/>
          <p:cNvSpPr/>
          <p:nvPr/>
        </p:nvSpPr>
        <p:spPr>
          <a:xfrm>
            <a:off x="228600" y="1024128"/>
            <a:ext cx="2697480" cy="3931920"/>
          </a:xfrm>
          <a:prstGeom prst="roundRect">
            <a:avLst>
              <a:gd name="adj" fmla="val 3390"/>
            </a:avLst>
          </a:prstGeom>
          <a:solidFill>
            <a:srgbClr val="162D52"/>
          </a:solidFill>
          <a:ln w="12700">
            <a:solidFill>
              <a:srgbClr val="1E3A5F"/>
            </a:solidFill>
            <a:prstDash val="solid"/>
          </a:ln>
          <a:effectLst>
            <a:outerShdw blurRad="101600" dist="38100" dir="2700000" algn="bl" rotWithShape="0">
              <a:srgbClr val="000000">
                <a:alpha val="20000"/>
              </a:srgbClr>
            </a:outerShdw>
          </a:effectLst>
        </p:spPr>
      </p:sp>
      <p:sp>
        <p:nvSpPr>
          <p:cNvPr id="5" name="Text 3"/>
          <p:cNvSpPr/>
          <p:nvPr/>
        </p:nvSpPr>
        <p:spPr>
          <a:xfrm>
            <a:off x="384048" y="1097280"/>
            <a:ext cx="2395728" cy="292608"/>
          </a:xfrm>
          <a:prstGeom prst="rect">
            <a:avLst/>
          </a:prstGeom>
          <a:noFill/>
          <a:ln/>
        </p:spPr>
        <p:txBody>
          <a:bodyPr wrap="square" lIns="0" tIns="0" rIns="0" bIns="0" rtlCol="0" anchor="ctr"/>
          <a:lstStyle/>
          <a:p>
            <a:pPr marL="0" indent="0">
              <a:buNone/>
            </a:pPr>
            <a:r>
              <a:rPr lang="en-US" sz="950" b="1" kern="0" spc="100" dirty="0">
                <a:solidFill>
                  <a:srgbClr val="0D9488"/>
                </a:solidFill>
                <a:latin typeface="Calibri" pitchFamily="34" charset="0"/>
                <a:ea typeface="Calibri" pitchFamily="34" charset="-122"/>
                <a:cs typeface="Calibri" pitchFamily="34" charset="-120"/>
              </a:rPr>
              <a:t>INPUT SIGNALS</a:t>
            </a:r>
            <a:endParaRPr lang="en-US" sz="950" dirty="0"/>
          </a:p>
        </p:txBody>
      </p:sp>
      <p:sp>
        <p:nvSpPr>
          <p:cNvPr id="6" name="Shape 4"/>
          <p:cNvSpPr/>
          <p:nvPr/>
        </p:nvSpPr>
        <p:spPr>
          <a:xfrm>
            <a:off x="347472" y="1463040"/>
            <a:ext cx="2450592" cy="411480"/>
          </a:xfrm>
          <a:prstGeom prst="roundRect">
            <a:avLst>
              <a:gd name="adj" fmla="val 15556"/>
            </a:avLst>
          </a:prstGeom>
          <a:solidFill>
            <a:srgbClr val="0D1F35"/>
          </a:solidFill>
          <a:ln w="12700">
            <a:solidFill>
              <a:srgbClr val="0D9488"/>
            </a:solidFill>
            <a:prstDash val="solid"/>
          </a:ln>
        </p:spPr>
      </p:sp>
      <p:sp>
        <p:nvSpPr>
          <p:cNvPr id="7" name="Text 5"/>
          <p:cNvSpPr/>
          <p:nvPr/>
        </p:nvSpPr>
        <p:spPr>
          <a:xfrm>
            <a:off x="438912" y="1490472"/>
            <a:ext cx="2267712" cy="201168"/>
          </a:xfrm>
          <a:prstGeom prst="rect">
            <a:avLst/>
          </a:prstGeom>
          <a:noFill/>
          <a:ln/>
        </p:spPr>
        <p:txBody>
          <a:bodyPr wrap="square" lIns="0" tIns="0" rIns="0" bIns="0" rtlCol="0" anchor="ctr"/>
          <a:lstStyle/>
          <a:p>
            <a:pPr marL="0" indent="0">
              <a:buNone/>
            </a:pPr>
            <a:r>
              <a:rPr lang="en-US" sz="950" b="1" dirty="0">
                <a:solidFill>
                  <a:srgbClr val="0D9488"/>
                </a:solidFill>
                <a:latin typeface="Calibri" pitchFamily="34" charset="0"/>
                <a:ea typeface="Calibri" pitchFamily="34" charset="-122"/>
                <a:cs typeface="Calibri" pitchFamily="34" charset="-120"/>
              </a:rPr>
              <a:t>Payee Ledger Flag</a:t>
            </a:r>
            <a:endParaRPr lang="en-US" sz="950" dirty="0"/>
          </a:p>
        </p:txBody>
      </p:sp>
      <p:sp>
        <p:nvSpPr>
          <p:cNvPr id="8" name="Text 6"/>
          <p:cNvSpPr/>
          <p:nvPr/>
        </p:nvSpPr>
        <p:spPr>
          <a:xfrm>
            <a:off x="438912" y="1673352"/>
            <a:ext cx="2267712" cy="164592"/>
          </a:xfrm>
          <a:prstGeom prst="rect">
            <a:avLst/>
          </a:prstGeom>
          <a:noFill/>
          <a:ln/>
        </p:spPr>
        <p:txBody>
          <a:bodyPr wrap="square" lIns="0" tIns="0" rIns="0" bIns="0" rtlCol="0" anchor="ctr"/>
          <a:lstStyle/>
          <a:p>
            <a:pPr marL="0" indent="0">
              <a:buNone/>
            </a:pPr>
            <a:r>
              <a:rPr lang="en-US" sz="800" i="1" dirty="0">
                <a:solidFill>
                  <a:srgbClr val="8FA5BF"/>
                </a:solidFill>
                <a:latin typeface="Calibri" pitchFamily="34" charset="0"/>
                <a:ea typeface="Calibri" pitchFamily="34" charset="-122"/>
                <a:cs typeface="Calibri" pitchFamily="34" charset="-120"/>
              </a:rPr>
              <a:t>Fabric fraud registry query</a:t>
            </a:r>
            <a:endParaRPr lang="en-US" sz="800" dirty="0"/>
          </a:p>
        </p:txBody>
      </p:sp>
      <p:sp>
        <p:nvSpPr>
          <p:cNvPr id="9" name="Shape 7"/>
          <p:cNvSpPr/>
          <p:nvPr/>
        </p:nvSpPr>
        <p:spPr>
          <a:xfrm>
            <a:off x="347472" y="1938528"/>
            <a:ext cx="2450592" cy="411480"/>
          </a:xfrm>
          <a:prstGeom prst="roundRect">
            <a:avLst>
              <a:gd name="adj" fmla="val 15556"/>
            </a:avLst>
          </a:prstGeom>
          <a:solidFill>
            <a:srgbClr val="0D1F35"/>
          </a:solidFill>
          <a:ln w="12700">
            <a:solidFill>
              <a:srgbClr val="2980B9"/>
            </a:solidFill>
            <a:prstDash val="solid"/>
          </a:ln>
        </p:spPr>
      </p:sp>
      <p:sp>
        <p:nvSpPr>
          <p:cNvPr id="10" name="Text 8"/>
          <p:cNvSpPr/>
          <p:nvPr/>
        </p:nvSpPr>
        <p:spPr>
          <a:xfrm>
            <a:off x="438912" y="1965960"/>
            <a:ext cx="2267712" cy="201168"/>
          </a:xfrm>
          <a:prstGeom prst="rect">
            <a:avLst/>
          </a:prstGeom>
          <a:noFill/>
          <a:ln/>
        </p:spPr>
        <p:txBody>
          <a:bodyPr wrap="square" lIns="0" tIns="0" rIns="0" bIns="0" rtlCol="0" anchor="ctr"/>
          <a:lstStyle/>
          <a:p>
            <a:pPr marL="0" indent="0">
              <a:buNone/>
            </a:pPr>
            <a:r>
              <a:rPr lang="en-US" sz="950" b="1" dirty="0">
                <a:solidFill>
                  <a:srgbClr val="2980B9"/>
                </a:solidFill>
                <a:latin typeface="Calibri" pitchFamily="34" charset="0"/>
                <a:ea typeface="Calibri" pitchFamily="34" charset="-122"/>
                <a:cs typeface="Calibri" pitchFamily="34" charset="-120"/>
              </a:rPr>
              <a:t>ML Risk Score</a:t>
            </a:r>
            <a:endParaRPr lang="en-US" sz="950" dirty="0"/>
          </a:p>
        </p:txBody>
      </p:sp>
      <p:sp>
        <p:nvSpPr>
          <p:cNvPr id="11" name="Text 9"/>
          <p:cNvSpPr/>
          <p:nvPr/>
        </p:nvSpPr>
        <p:spPr>
          <a:xfrm>
            <a:off x="438912" y="2148840"/>
            <a:ext cx="2267712" cy="164592"/>
          </a:xfrm>
          <a:prstGeom prst="rect">
            <a:avLst/>
          </a:prstGeom>
          <a:noFill/>
          <a:ln/>
        </p:spPr>
        <p:txBody>
          <a:bodyPr wrap="square" lIns="0" tIns="0" rIns="0" bIns="0" rtlCol="0" anchor="ctr"/>
          <a:lstStyle/>
          <a:p>
            <a:pPr marL="0" indent="0">
              <a:buNone/>
            </a:pPr>
            <a:r>
              <a:rPr lang="en-US" sz="800" i="1" dirty="0">
                <a:solidFill>
                  <a:srgbClr val="8FA5BF"/>
                </a:solidFill>
                <a:latin typeface="Calibri" pitchFamily="34" charset="0"/>
                <a:ea typeface="Calibri" pitchFamily="34" charset="-122"/>
                <a:cs typeface="Calibri" pitchFamily="34" charset="-120"/>
              </a:rPr>
              <a:t>Oracle bridge (0.0 – 1.0)</a:t>
            </a:r>
            <a:endParaRPr lang="en-US" sz="800" dirty="0"/>
          </a:p>
        </p:txBody>
      </p:sp>
      <p:sp>
        <p:nvSpPr>
          <p:cNvPr id="12" name="Shape 10"/>
          <p:cNvSpPr/>
          <p:nvPr/>
        </p:nvSpPr>
        <p:spPr>
          <a:xfrm>
            <a:off x="347472" y="2414016"/>
            <a:ext cx="2450592" cy="411480"/>
          </a:xfrm>
          <a:prstGeom prst="roundRect">
            <a:avLst>
              <a:gd name="adj" fmla="val 15556"/>
            </a:avLst>
          </a:prstGeom>
          <a:solidFill>
            <a:srgbClr val="0D1F35"/>
          </a:solidFill>
          <a:ln w="12700">
            <a:solidFill>
              <a:srgbClr val="7B2FBE"/>
            </a:solidFill>
            <a:prstDash val="solid"/>
          </a:ln>
        </p:spPr>
      </p:sp>
      <p:sp>
        <p:nvSpPr>
          <p:cNvPr id="13" name="Text 11"/>
          <p:cNvSpPr/>
          <p:nvPr/>
        </p:nvSpPr>
        <p:spPr>
          <a:xfrm>
            <a:off x="438912" y="2441448"/>
            <a:ext cx="2267712" cy="201168"/>
          </a:xfrm>
          <a:prstGeom prst="rect">
            <a:avLst/>
          </a:prstGeom>
          <a:noFill/>
          <a:ln/>
        </p:spPr>
        <p:txBody>
          <a:bodyPr wrap="square" lIns="0" tIns="0" rIns="0" bIns="0" rtlCol="0" anchor="ctr"/>
          <a:lstStyle/>
          <a:p>
            <a:pPr marL="0" indent="0">
              <a:buNone/>
            </a:pPr>
            <a:r>
              <a:rPr lang="en-US" sz="950" b="1" dirty="0">
                <a:solidFill>
                  <a:srgbClr val="7B2FBE"/>
                </a:solidFill>
                <a:latin typeface="Calibri" pitchFamily="34" charset="0"/>
                <a:ea typeface="Calibri" pitchFamily="34" charset="-122"/>
                <a:cs typeface="Calibri" pitchFamily="34" charset="-120"/>
              </a:rPr>
              <a:t>Payee Known?</a:t>
            </a:r>
            <a:endParaRPr lang="en-US" sz="950" dirty="0"/>
          </a:p>
        </p:txBody>
      </p:sp>
      <p:sp>
        <p:nvSpPr>
          <p:cNvPr id="14" name="Text 12"/>
          <p:cNvSpPr/>
          <p:nvPr/>
        </p:nvSpPr>
        <p:spPr>
          <a:xfrm>
            <a:off x="438912" y="2624328"/>
            <a:ext cx="2267712" cy="164592"/>
          </a:xfrm>
          <a:prstGeom prst="rect">
            <a:avLst/>
          </a:prstGeom>
          <a:noFill/>
          <a:ln/>
        </p:spPr>
        <p:txBody>
          <a:bodyPr wrap="square" lIns="0" tIns="0" rIns="0" bIns="0" rtlCol="0" anchor="ctr"/>
          <a:lstStyle/>
          <a:p>
            <a:pPr marL="0" indent="0">
              <a:buNone/>
            </a:pPr>
            <a:r>
              <a:rPr lang="en-US" sz="800" i="1" dirty="0">
                <a:solidFill>
                  <a:srgbClr val="8FA5BF"/>
                </a:solidFill>
                <a:latin typeface="Calibri" pitchFamily="34" charset="0"/>
                <a:ea typeface="Calibri" pitchFamily="34" charset="-122"/>
                <a:cs typeface="Calibri" pitchFamily="34" charset="-120"/>
              </a:rPr>
              <a:t>Payment history lookup</a:t>
            </a:r>
            <a:endParaRPr lang="en-US" sz="800" dirty="0"/>
          </a:p>
        </p:txBody>
      </p:sp>
      <p:sp>
        <p:nvSpPr>
          <p:cNvPr id="15" name="Shape 13"/>
          <p:cNvSpPr/>
          <p:nvPr/>
        </p:nvSpPr>
        <p:spPr>
          <a:xfrm>
            <a:off x="347472" y="2889504"/>
            <a:ext cx="2450592" cy="411480"/>
          </a:xfrm>
          <a:prstGeom prst="roundRect">
            <a:avLst>
              <a:gd name="adj" fmla="val 15556"/>
            </a:avLst>
          </a:prstGeom>
          <a:solidFill>
            <a:srgbClr val="0D1F35"/>
          </a:solidFill>
          <a:ln w="12700">
            <a:solidFill>
              <a:srgbClr val="E8A020"/>
            </a:solidFill>
            <a:prstDash val="solid"/>
          </a:ln>
        </p:spPr>
      </p:sp>
      <p:sp>
        <p:nvSpPr>
          <p:cNvPr id="16" name="Text 14"/>
          <p:cNvSpPr/>
          <p:nvPr/>
        </p:nvSpPr>
        <p:spPr>
          <a:xfrm>
            <a:off x="438912" y="2916936"/>
            <a:ext cx="2267712" cy="201168"/>
          </a:xfrm>
          <a:prstGeom prst="rect">
            <a:avLst/>
          </a:prstGeom>
          <a:noFill/>
          <a:ln/>
        </p:spPr>
        <p:txBody>
          <a:bodyPr wrap="square" lIns="0" tIns="0" rIns="0" bIns="0" rtlCol="0" anchor="ctr"/>
          <a:lstStyle/>
          <a:p>
            <a:pPr marL="0" indent="0">
              <a:buNone/>
            </a:pPr>
            <a:r>
              <a:rPr lang="en-US" sz="950" b="1" dirty="0">
                <a:solidFill>
                  <a:srgbClr val="E8A020"/>
                </a:solidFill>
                <a:latin typeface="Calibri" pitchFamily="34" charset="0"/>
                <a:ea typeface="Calibri" pitchFamily="34" charset="-122"/>
                <a:cs typeface="Calibri" pitchFamily="34" charset="-120"/>
              </a:rPr>
              <a:t>Amount vs Baseline</a:t>
            </a:r>
            <a:endParaRPr lang="en-US" sz="950" dirty="0"/>
          </a:p>
        </p:txBody>
      </p:sp>
      <p:sp>
        <p:nvSpPr>
          <p:cNvPr id="17" name="Text 15"/>
          <p:cNvSpPr/>
          <p:nvPr/>
        </p:nvSpPr>
        <p:spPr>
          <a:xfrm>
            <a:off x="438912" y="3099816"/>
            <a:ext cx="2267712" cy="164592"/>
          </a:xfrm>
          <a:prstGeom prst="rect">
            <a:avLst/>
          </a:prstGeom>
          <a:noFill/>
          <a:ln/>
        </p:spPr>
        <p:txBody>
          <a:bodyPr wrap="square" lIns="0" tIns="0" rIns="0" bIns="0" rtlCol="0" anchor="ctr"/>
          <a:lstStyle/>
          <a:p>
            <a:pPr marL="0" indent="0">
              <a:buNone/>
            </a:pPr>
            <a:r>
              <a:rPr lang="en-US" sz="800" i="1" dirty="0">
                <a:solidFill>
                  <a:srgbClr val="8FA5BF"/>
                </a:solidFill>
                <a:latin typeface="Calibri" pitchFamily="34" charset="0"/>
                <a:ea typeface="Calibri" pitchFamily="34" charset="-122"/>
                <a:cs typeface="Calibri" pitchFamily="34" charset="-120"/>
              </a:rPr>
              <a:t>Customer spend profile</a:t>
            </a:r>
            <a:endParaRPr lang="en-US" sz="800" dirty="0"/>
          </a:p>
        </p:txBody>
      </p:sp>
      <p:sp>
        <p:nvSpPr>
          <p:cNvPr id="18" name="Shape 16"/>
          <p:cNvSpPr/>
          <p:nvPr/>
        </p:nvSpPr>
        <p:spPr>
          <a:xfrm>
            <a:off x="347472" y="3364992"/>
            <a:ext cx="2450592" cy="411480"/>
          </a:xfrm>
          <a:prstGeom prst="roundRect">
            <a:avLst>
              <a:gd name="adj" fmla="val 15556"/>
            </a:avLst>
          </a:prstGeom>
          <a:solidFill>
            <a:srgbClr val="0D1F35"/>
          </a:solidFill>
          <a:ln w="12700">
            <a:solidFill>
              <a:srgbClr val="1DB87A"/>
            </a:solidFill>
            <a:prstDash val="solid"/>
          </a:ln>
        </p:spPr>
      </p:sp>
      <p:sp>
        <p:nvSpPr>
          <p:cNvPr id="19" name="Text 17"/>
          <p:cNvSpPr/>
          <p:nvPr/>
        </p:nvSpPr>
        <p:spPr>
          <a:xfrm>
            <a:off x="438912" y="3392424"/>
            <a:ext cx="2267712" cy="201168"/>
          </a:xfrm>
          <a:prstGeom prst="rect">
            <a:avLst/>
          </a:prstGeom>
          <a:noFill/>
          <a:ln/>
        </p:spPr>
        <p:txBody>
          <a:bodyPr wrap="square" lIns="0" tIns="0" rIns="0" bIns="0" rtlCol="0" anchor="ctr"/>
          <a:lstStyle/>
          <a:p>
            <a:pPr marL="0" indent="0">
              <a:buNone/>
            </a:pPr>
            <a:r>
              <a:rPr lang="en-US" sz="950" b="1" dirty="0">
                <a:solidFill>
                  <a:srgbClr val="1DB87A"/>
                </a:solidFill>
                <a:latin typeface="Calibri" pitchFamily="34" charset="0"/>
                <a:ea typeface="Calibri" pitchFamily="34" charset="-122"/>
                <a:cs typeface="Calibri" pitchFamily="34" charset="-120"/>
              </a:rPr>
              <a:t>Device Known?</a:t>
            </a:r>
            <a:endParaRPr lang="en-US" sz="950" dirty="0"/>
          </a:p>
        </p:txBody>
      </p:sp>
      <p:sp>
        <p:nvSpPr>
          <p:cNvPr id="20" name="Text 18"/>
          <p:cNvSpPr/>
          <p:nvPr/>
        </p:nvSpPr>
        <p:spPr>
          <a:xfrm>
            <a:off x="438912" y="3575304"/>
            <a:ext cx="2267712" cy="164592"/>
          </a:xfrm>
          <a:prstGeom prst="rect">
            <a:avLst/>
          </a:prstGeom>
          <a:noFill/>
          <a:ln/>
        </p:spPr>
        <p:txBody>
          <a:bodyPr wrap="square" lIns="0" tIns="0" rIns="0" bIns="0" rtlCol="0" anchor="ctr"/>
          <a:lstStyle/>
          <a:p>
            <a:pPr marL="0" indent="0">
              <a:buNone/>
            </a:pPr>
            <a:r>
              <a:rPr lang="en-US" sz="800" i="1" dirty="0">
                <a:solidFill>
                  <a:srgbClr val="8FA5BF"/>
                </a:solidFill>
                <a:latin typeface="Calibri" pitchFamily="34" charset="0"/>
                <a:ea typeface="Calibri" pitchFamily="34" charset="-122"/>
                <a:cs typeface="Calibri" pitchFamily="34" charset="-120"/>
              </a:rPr>
              <a:t>Device fingerprint registry</a:t>
            </a:r>
            <a:endParaRPr lang="en-US" sz="800" dirty="0"/>
          </a:p>
        </p:txBody>
      </p:sp>
      <p:sp>
        <p:nvSpPr>
          <p:cNvPr id="21" name="Shape 19"/>
          <p:cNvSpPr/>
          <p:nvPr/>
        </p:nvSpPr>
        <p:spPr>
          <a:xfrm>
            <a:off x="347472" y="3840480"/>
            <a:ext cx="2450592" cy="411480"/>
          </a:xfrm>
          <a:prstGeom prst="roundRect">
            <a:avLst>
              <a:gd name="adj" fmla="val 15556"/>
            </a:avLst>
          </a:prstGeom>
          <a:solidFill>
            <a:srgbClr val="0D1F35"/>
          </a:solidFill>
          <a:ln w="12700">
            <a:solidFill>
              <a:srgbClr val="E8A020"/>
            </a:solidFill>
            <a:prstDash val="solid"/>
          </a:ln>
        </p:spPr>
      </p:sp>
      <p:sp>
        <p:nvSpPr>
          <p:cNvPr id="22" name="Text 20"/>
          <p:cNvSpPr/>
          <p:nvPr/>
        </p:nvSpPr>
        <p:spPr>
          <a:xfrm>
            <a:off x="438912" y="3867912"/>
            <a:ext cx="2267712" cy="201168"/>
          </a:xfrm>
          <a:prstGeom prst="rect">
            <a:avLst/>
          </a:prstGeom>
          <a:noFill/>
          <a:ln/>
        </p:spPr>
        <p:txBody>
          <a:bodyPr wrap="square" lIns="0" tIns="0" rIns="0" bIns="0" rtlCol="0" anchor="ctr"/>
          <a:lstStyle/>
          <a:p>
            <a:pPr marL="0" indent="0">
              <a:buNone/>
            </a:pPr>
            <a:r>
              <a:rPr lang="en-US" sz="950" b="1" dirty="0">
                <a:solidFill>
                  <a:srgbClr val="E8A020"/>
                </a:solidFill>
                <a:latin typeface="Calibri" pitchFamily="34" charset="0"/>
                <a:ea typeface="Calibri" pitchFamily="34" charset="-122"/>
                <a:cs typeface="Calibri" pitchFamily="34" charset="-120"/>
              </a:rPr>
              <a:t>Velocity Check</a:t>
            </a:r>
            <a:endParaRPr lang="en-US" sz="950" dirty="0"/>
          </a:p>
        </p:txBody>
      </p:sp>
      <p:sp>
        <p:nvSpPr>
          <p:cNvPr id="23" name="Text 21"/>
          <p:cNvSpPr/>
          <p:nvPr/>
        </p:nvSpPr>
        <p:spPr>
          <a:xfrm>
            <a:off x="438912" y="4050792"/>
            <a:ext cx="2267712" cy="164592"/>
          </a:xfrm>
          <a:prstGeom prst="rect">
            <a:avLst/>
          </a:prstGeom>
          <a:noFill/>
          <a:ln/>
        </p:spPr>
        <p:txBody>
          <a:bodyPr wrap="square" lIns="0" tIns="0" rIns="0" bIns="0" rtlCol="0" anchor="ctr"/>
          <a:lstStyle/>
          <a:p>
            <a:pPr marL="0" indent="0">
              <a:buNone/>
            </a:pPr>
            <a:r>
              <a:rPr lang="en-US" sz="800" i="1" dirty="0">
                <a:solidFill>
                  <a:srgbClr val="8FA5BF"/>
                </a:solidFill>
                <a:latin typeface="Calibri" pitchFamily="34" charset="0"/>
                <a:ea typeface="Calibri" pitchFamily="34" charset="-122"/>
                <a:cs typeface="Calibri" pitchFamily="34" charset="-120"/>
              </a:rPr>
              <a:t>Last 24hr payment count</a:t>
            </a:r>
            <a:endParaRPr lang="en-US" sz="800" dirty="0"/>
          </a:p>
        </p:txBody>
      </p:sp>
      <p:sp>
        <p:nvSpPr>
          <p:cNvPr id="24" name="Shape 22"/>
          <p:cNvSpPr/>
          <p:nvPr/>
        </p:nvSpPr>
        <p:spPr>
          <a:xfrm>
            <a:off x="347472" y="4315968"/>
            <a:ext cx="2450592" cy="411480"/>
          </a:xfrm>
          <a:prstGeom prst="roundRect">
            <a:avLst>
              <a:gd name="adj" fmla="val 15556"/>
            </a:avLst>
          </a:prstGeom>
          <a:solidFill>
            <a:srgbClr val="0D1F35"/>
          </a:solidFill>
          <a:ln w="12700">
            <a:solidFill>
              <a:srgbClr val="0D9488"/>
            </a:solidFill>
            <a:prstDash val="solid"/>
          </a:ln>
        </p:spPr>
      </p:sp>
      <p:sp>
        <p:nvSpPr>
          <p:cNvPr id="25" name="Text 23"/>
          <p:cNvSpPr/>
          <p:nvPr/>
        </p:nvSpPr>
        <p:spPr>
          <a:xfrm>
            <a:off x="438912" y="4343400"/>
            <a:ext cx="2267712" cy="201168"/>
          </a:xfrm>
          <a:prstGeom prst="rect">
            <a:avLst/>
          </a:prstGeom>
          <a:noFill/>
          <a:ln/>
        </p:spPr>
        <p:txBody>
          <a:bodyPr wrap="square" lIns="0" tIns="0" rIns="0" bIns="0" rtlCol="0" anchor="ctr"/>
          <a:lstStyle/>
          <a:p>
            <a:pPr marL="0" indent="0">
              <a:buNone/>
            </a:pPr>
            <a:r>
              <a:rPr lang="en-US" sz="950" b="1" dirty="0">
                <a:solidFill>
                  <a:srgbClr val="0D9488"/>
                </a:solidFill>
                <a:latin typeface="Calibri" pitchFamily="34" charset="0"/>
                <a:ea typeface="Calibri" pitchFamily="34" charset="-122"/>
                <a:cs typeface="Calibri" pitchFamily="34" charset="-120"/>
              </a:rPr>
              <a:t>Behavioural Score</a:t>
            </a:r>
            <a:endParaRPr lang="en-US" sz="950" dirty="0"/>
          </a:p>
        </p:txBody>
      </p:sp>
      <p:sp>
        <p:nvSpPr>
          <p:cNvPr id="26" name="Text 24"/>
          <p:cNvSpPr/>
          <p:nvPr/>
        </p:nvSpPr>
        <p:spPr>
          <a:xfrm>
            <a:off x="438912" y="4526280"/>
            <a:ext cx="2267712" cy="164592"/>
          </a:xfrm>
          <a:prstGeom prst="rect">
            <a:avLst/>
          </a:prstGeom>
          <a:noFill/>
          <a:ln/>
        </p:spPr>
        <p:txBody>
          <a:bodyPr wrap="square" lIns="0" tIns="0" rIns="0" bIns="0" rtlCol="0" anchor="ctr"/>
          <a:lstStyle/>
          <a:p>
            <a:pPr marL="0" indent="0">
              <a:buNone/>
            </a:pPr>
            <a:r>
              <a:rPr lang="en-US" sz="800" i="1" dirty="0">
                <a:solidFill>
                  <a:srgbClr val="8FA5BF"/>
                </a:solidFill>
                <a:latin typeface="Calibri" pitchFamily="34" charset="0"/>
                <a:ea typeface="Calibri" pitchFamily="34" charset="-122"/>
                <a:cs typeface="Calibri" pitchFamily="34" charset="-120"/>
              </a:rPr>
              <a:t>Session biometric model</a:t>
            </a:r>
            <a:endParaRPr lang="en-US" sz="800" dirty="0"/>
          </a:p>
        </p:txBody>
      </p:sp>
      <p:sp>
        <p:nvSpPr>
          <p:cNvPr id="27" name="Shape 25"/>
          <p:cNvSpPr/>
          <p:nvPr/>
        </p:nvSpPr>
        <p:spPr>
          <a:xfrm>
            <a:off x="3090672" y="1024128"/>
            <a:ext cx="3520440" cy="3931920"/>
          </a:xfrm>
          <a:prstGeom prst="roundRect">
            <a:avLst>
              <a:gd name="adj" fmla="val 2597"/>
            </a:avLst>
          </a:prstGeom>
          <a:solidFill>
            <a:srgbClr val="0D1628"/>
          </a:solidFill>
          <a:ln w="12700">
            <a:solidFill>
              <a:srgbClr val="E8A020"/>
            </a:solidFill>
            <a:prstDash val="solid"/>
          </a:ln>
          <a:effectLst>
            <a:outerShdw blurRad="101600" dist="38100" dir="2700000" algn="bl" rotWithShape="0">
              <a:srgbClr val="000000">
                <a:alpha val="20000"/>
              </a:srgbClr>
            </a:outerShdw>
          </a:effectLst>
        </p:spPr>
      </p:sp>
      <p:sp>
        <p:nvSpPr>
          <p:cNvPr id="28" name="Text 26"/>
          <p:cNvSpPr/>
          <p:nvPr/>
        </p:nvSpPr>
        <p:spPr>
          <a:xfrm>
            <a:off x="3246120" y="1097280"/>
            <a:ext cx="3200400" cy="292608"/>
          </a:xfrm>
          <a:prstGeom prst="rect">
            <a:avLst/>
          </a:prstGeom>
          <a:noFill/>
          <a:ln/>
        </p:spPr>
        <p:txBody>
          <a:bodyPr wrap="square" lIns="0" tIns="0" rIns="0" bIns="0" rtlCol="0" anchor="ctr"/>
          <a:lstStyle/>
          <a:p>
            <a:pPr marL="0" indent="0">
              <a:buNone/>
            </a:pPr>
            <a:r>
              <a:rPr lang="en-US" sz="950" b="1" kern="0" spc="100" dirty="0">
                <a:solidFill>
                  <a:srgbClr val="E8A020"/>
                </a:solidFill>
                <a:latin typeface="Calibri" pitchFamily="34" charset="0"/>
                <a:ea typeface="Calibri" pitchFamily="34" charset="-122"/>
                <a:cs typeface="Calibri" pitchFamily="34" charset="-120"/>
              </a:rPr>
              <a:t>CHAINCODE RULE TREE</a:t>
            </a:r>
            <a:endParaRPr lang="en-US" sz="950" dirty="0"/>
          </a:p>
        </p:txBody>
      </p:sp>
      <p:sp>
        <p:nvSpPr>
          <p:cNvPr id="29" name="Text 27"/>
          <p:cNvSpPr/>
          <p:nvPr/>
        </p:nvSpPr>
        <p:spPr>
          <a:xfrm>
            <a:off x="3218688" y="1481328"/>
            <a:ext cx="3310128" cy="237744"/>
          </a:xfrm>
          <a:prstGeom prst="rect">
            <a:avLst/>
          </a:prstGeom>
          <a:noFill/>
          <a:ln/>
        </p:spPr>
        <p:txBody>
          <a:bodyPr wrap="square" lIns="0" tIns="0" rIns="0" bIns="0" rtlCol="0" anchor="ctr"/>
          <a:lstStyle/>
          <a:p>
            <a:pPr marL="0" indent="0">
              <a:buNone/>
            </a:pPr>
            <a:r>
              <a:rPr lang="en-US" sz="880" b="1" dirty="0">
                <a:solidFill>
                  <a:srgbClr val="C0392B"/>
                </a:solidFill>
                <a:latin typeface="Courier New" pitchFamily="34" charset="0"/>
                <a:ea typeface="Courier New" pitchFamily="34" charset="-122"/>
                <a:cs typeface="Courier New" pitchFamily="34" charset="-120"/>
              </a:rPr>
              <a:t>IF payee_flag = CONFIRMED_FRAUD</a:t>
            </a:r>
            <a:endParaRPr lang="en-US" sz="880" dirty="0"/>
          </a:p>
        </p:txBody>
      </p:sp>
      <p:sp>
        <p:nvSpPr>
          <p:cNvPr id="30" name="Text 28"/>
          <p:cNvSpPr/>
          <p:nvPr/>
        </p:nvSpPr>
        <p:spPr>
          <a:xfrm>
            <a:off x="3419856" y="1719072"/>
            <a:ext cx="3310128" cy="237744"/>
          </a:xfrm>
          <a:prstGeom prst="rect">
            <a:avLst/>
          </a:prstGeom>
          <a:noFill/>
          <a:ln/>
        </p:spPr>
        <p:txBody>
          <a:bodyPr wrap="square" lIns="0" tIns="0" rIns="0" bIns="0" rtlCol="0" anchor="ctr"/>
          <a:lstStyle/>
          <a:p>
            <a:pPr marL="0" indent="0">
              <a:buNone/>
            </a:pPr>
            <a:r>
              <a:rPr lang="en-US" sz="880" dirty="0">
                <a:solidFill>
                  <a:srgbClr val="C0392B"/>
                </a:solidFill>
                <a:latin typeface="Courier New" pitchFamily="34" charset="0"/>
                <a:ea typeface="Courier New" pitchFamily="34" charset="-122"/>
                <a:cs typeface="Courier New" pitchFamily="34" charset="-120"/>
              </a:rPr>
              <a:t>→ REJECT (immediate block)</a:t>
            </a:r>
            <a:endParaRPr lang="en-US" sz="880" dirty="0"/>
          </a:p>
        </p:txBody>
      </p:sp>
      <p:sp>
        <p:nvSpPr>
          <p:cNvPr id="31" name="Text 29"/>
          <p:cNvSpPr/>
          <p:nvPr/>
        </p:nvSpPr>
        <p:spPr>
          <a:xfrm>
            <a:off x="3218688" y="1993392"/>
            <a:ext cx="3310128" cy="237744"/>
          </a:xfrm>
          <a:prstGeom prst="rect">
            <a:avLst/>
          </a:prstGeom>
          <a:noFill/>
          <a:ln/>
        </p:spPr>
        <p:txBody>
          <a:bodyPr wrap="square" lIns="0" tIns="0" rIns="0" bIns="0" rtlCol="0" anchor="ctr"/>
          <a:lstStyle/>
          <a:p>
            <a:pPr marL="0" indent="0">
              <a:buNone/>
            </a:pPr>
            <a:r>
              <a:rPr lang="en-US" sz="880" b="1" dirty="0">
                <a:solidFill>
                  <a:srgbClr val="C0392B"/>
                </a:solidFill>
                <a:latin typeface="Courier New" pitchFamily="34" charset="0"/>
                <a:ea typeface="Courier New" pitchFamily="34" charset="-122"/>
                <a:cs typeface="Courier New" pitchFamily="34" charset="-120"/>
              </a:rPr>
              <a:t>ELSE IF ml_score &gt; 0.85</a:t>
            </a:r>
            <a:endParaRPr lang="en-US" sz="880" dirty="0"/>
          </a:p>
        </p:txBody>
      </p:sp>
      <p:sp>
        <p:nvSpPr>
          <p:cNvPr id="32" name="Text 30"/>
          <p:cNvSpPr/>
          <p:nvPr/>
        </p:nvSpPr>
        <p:spPr>
          <a:xfrm>
            <a:off x="3419856" y="2231136"/>
            <a:ext cx="3310128" cy="237744"/>
          </a:xfrm>
          <a:prstGeom prst="rect">
            <a:avLst/>
          </a:prstGeom>
          <a:noFill/>
          <a:ln/>
        </p:spPr>
        <p:txBody>
          <a:bodyPr wrap="square" lIns="0" tIns="0" rIns="0" bIns="0" rtlCol="0" anchor="ctr"/>
          <a:lstStyle/>
          <a:p>
            <a:pPr marL="0" indent="0">
              <a:buNone/>
            </a:pPr>
            <a:r>
              <a:rPr lang="en-US" sz="880" dirty="0">
                <a:solidFill>
                  <a:srgbClr val="C0392B"/>
                </a:solidFill>
                <a:latin typeface="Courier New" pitchFamily="34" charset="0"/>
                <a:ea typeface="Courier New" pitchFamily="34" charset="-122"/>
                <a:cs typeface="Courier New" pitchFamily="34" charset="-120"/>
              </a:rPr>
              <a:t>→ REJECT (high confidence fraud)</a:t>
            </a:r>
            <a:endParaRPr lang="en-US" sz="880" dirty="0"/>
          </a:p>
        </p:txBody>
      </p:sp>
      <p:sp>
        <p:nvSpPr>
          <p:cNvPr id="33" name="Text 31"/>
          <p:cNvSpPr/>
          <p:nvPr/>
        </p:nvSpPr>
        <p:spPr>
          <a:xfrm>
            <a:off x="3218688" y="2505456"/>
            <a:ext cx="3310128" cy="237744"/>
          </a:xfrm>
          <a:prstGeom prst="rect">
            <a:avLst/>
          </a:prstGeom>
          <a:noFill/>
          <a:ln/>
        </p:spPr>
        <p:txBody>
          <a:bodyPr wrap="square" lIns="0" tIns="0" rIns="0" bIns="0" rtlCol="0" anchor="ctr"/>
          <a:lstStyle/>
          <a:p>
            <a:pPr marL="0" indent="0">
              <a:buNone/>
            </a:pPr>
            <a:r>
              <a:rPr lang="en-US" sz="880" b="1" dirty="0">
                <a:solidFill>
                  <a:srgbClr val="E8A020"/>
                </a:solidFill>
                <a:latin typeface="Courier New" pitchFamily="34" charset="0"/>
                <a:ea typeface="Courier New" pitchFamily="34" charset="-122"/>
                <a:cs typeface="Courier New" pitchFamily="34" charset="-120"/>
              </a:rPr>
              <a:t>ELSE IF ml_score &gt; 0.55</a:t>
            </a:r>
            <a:endParaRPr lang="en-US" sz="880" dirty="0"/>
          </a:p>
        </p:txBody>
      </p:sp>
      <p:sp>
        <p:nvSpPr>
          <p:cNvPr id="34" name="Text 32"/>
          <p:cNvSpPr/>
          <p:nvPr/>
        </p:nvSpPr>
        <p:spPr>
          <a:xfrm>
            <a:off x="3419856" y="2743200"/>
            <a:ext cx="3310128" cy="237744"/>
          </a:xfrm>
          <a:prstGeom prst="rect">
            <a:avLst/>
          </a:prstGeom>
          <a:noFill/>
          <a:ln/>
        </p:spPr>
        <p:txBody>
          <a:bodyPr wrap="square" lIns="0" tIns="0" rIns="0" bIns="0" rtlCol="0" anchor="ctr"/>
          <a:lstStyle/>
          <a:p>
            <a:pPr marL="0" indent="0">
              <a:buNone/>
            </a:pPr>
            <a:r>
              <a:rPr lang="en-US" sz="880" dirty="0">
                <a:solidFill>
                  <a:srgbClr val="E8A020"/>
                </a:solidFill>
                <a:latin typeface="Courier New" pitchFamily="34" charset="0"/>
                <a:ea typeface="Courier New" pitchFamily="34" charset="-122"/>
                <a:cs typeface="Courier New" pitchFamily="34" charset="-120"/>
              </a:rPr>
              <a:t>  OR new_payee AND amount &gt; £10,000</a:t>
            </a:r>
            <a:endParaRPr lang="en-US" sz="880" dirty="0"/>
          </a:p>
        </p:txBody>
      </p:sp>
      <p:sp>
        <p:nvSpPr>
          <p:cNvPr id="35" name="Text 33"/>
          <p:cNvSpPr/>
          <p:nvPr/>
        </p:nvSpPr>
        <p:spPr>
          <a:xfrm>
            <a:off x="3419856" y="2980944"/>
            <a:ext cx="3310128" cy="237744"/>
          </a:xfrm>
          <a:prstGeom prst="rect">
            <a:avLst/>
          </a:prstGeom>
          <a:noFill/>
          <a:ln/>
        </p:spPr>
        <p:txBody>
          <a:bodyPr wrap="square" lIns="0" tIns="0" rIns="0" bIns="0" rtlCol="0" anchor="ctr"/>
          <a:lstStyle/>
          <a:p>
            <a:pPr marL="0" indent="0">
              <a:buNone/>
            </a:pPr>
            <a:r>
              <a:rPr lang="en-US" sz="880" dirty="0">
                <a:solidFill>
                  <a:srgbClr val="E8A020"/>
                </a:solidFill>
                <a:latin typeface="Courier New" pitchFamily="34" charset="0"/>
                <a:ea typeface="Courier New" pitchFamily="34" charset="-122"/>
                <a:cs typeface="Courier New" pitchFamily="34" charset="-120"/>
              </a:rPr>
              <a:t>  OR new_device AND amount &gt; £5,000</a:t>
            </a:r>
            <a:endParaRPr lang="en-US" sz="880" dirty="0"/>
          </a:p>
        </p:txBody>
      </p:sp>
      <p:sp>
        <p:nvSpPr>
          <p:cNvPr id="36" name="Text 34"/>
          <p:cNvSpPr/>
          <p:nvPr/>
        </p:nvSpPr>
        <p:spPr>
          <a:xfrm>
            <a:off x="3419856" y="3218688"/>
            <a:ext cx="3310128" cy="237744"/>
          </a:xfrm>
          <a:prstGeom prst="rect">
            <a:avLst/>
          </a:prstGeom>
          <a:noFill/>
          <a:ln/>
        </p:spPr>
        <p:txBody>
          <a:bodyPr wrap="square" lIns="0" tIns="0" rIns="0" bIns="0" rtlCol="0" anchor="ctr"/>
          <a:lstStyle/>
          <a:p>
            <a:pPr marL="0" indent="0">
              <a:buNone/>
            </a:pPr>
            <a:r>
              <a:rPr lang="en-US" sz="880" dirty="0">
                <a:solidFill>
                  <a:srgbClr val="E8A020"/>
                </a:solidFill>
                <a:latin typeface="Courier New" pitchFamily="34" charset="0"/>
                <a:ea typeface="Courier New" pitchFamily="34" charset="-122"/>
                <a:cs typeface="Courier New" pitchFamily="34" charset="-120"/>
              </a:rPr>
              <a:t>  OR velocity_breach = TRUE</a:t>
            </a:r>
            <a:endParaRPr lang="en-US" sz="880" dirty="0"/>
          </a:p>
        </p:txBody>
      </p:sp>
      <p:sp>
        <p:nvSpPr>
          <p:cNvPr id="37" name="Text 35"/>
          <p:cNvSpPr/>
          <p:nvPr/>
        </p:nvSpPr>
        <p:spPr>
          <a:xfrm>
            <a:off x="3621024" y="3456432"/>
            <a:ext cx="3310128" cy="237744"/>
          </a:xfrm>
          <a:prstGeom prst="rect">
            <a:avLst/>
          </a:prstGeom>
          <a:noFill/>
          <a:ln/>
        </p:spPr>
        <p:txBody>
          <a:bodyPr wrap="square" lIns="0" tIns="0" rIns="0" bIns="0" rtlCol="0" anchor="ctr"/>
          <a:lstStyle/>
          <a:p>
            <a:pPr marL="0" indent="0">
              <a:buNone/>
            </a:pPr>
            <a:r>
              <a:rPr lang="en-US" sz="880" dirty="0">
                <a:solidFill>
                  <a:srgbClr val="E8A020"/>
                </a:solidFill>
                <a:latin typeface="Courier New" pitchFamily="34" charset="0"/>
                <a:ea typeface="Courier New" pitchFamily="34" charset="-122"/>
                <a:cs typeface="Courier New" pitchFamily="34" charset="-120"/>
              </a:rPr>
              <a:t>→ HOLD + cooling-off period</a:t>
            </a:r>
            <a:endParaRPr lang="en-US" sz="880" dirty="0"/>
          </a:p>
        </p:txBody>
      </p:sp>
      <p:sp>
        <p:nvSpPr>
          <p:cNvPr id="38" name="Text 36"/>
          <p:cNvSpPr/>
          <p:nvPr/>
        </p:nvSpPr>
        <p:spPr>
          <a:xfrm>
            <a:off x="3218688" y="3730752"/>
            <a:ext cx="3310128" cy="237744"/>
          </a:xfrm>
          <a:prstGeom prst="rect">
            <a:avLst/>
          </a:prstGeom>
          <a:noFill/>
          <a:ln/>
        </p:spPr>
        <p:txBody>
          <a:bodyPr wrap="square" lIns="0" tIns="0" rIns="0" bIns="0" rtlCol="0" anchor="ctr"/>
          <a:lstStyle/>
          <a:p>
            <a:pPr marL="0" indent="0">
              <a:buNone/>
            </a:pPr>
            <a:r>
              <a:rPr lang="en-US" sz="880" b="1" dirty="0">
                <a:solidFill>
                  <a:srgbClr val="3AB0FF"/>
                </a:solidFill>
                <a:latin typeface="Courier New" pitchFamily="34" charset="0"/>
                <a:ea typeface="Courier New" pitchFamily="34" charset="-122"/>
                <a:cs typeface="Courier New" pitchFamily="34" charset="-120"/>
              </a:rPr>
              <a:t>ELSE IF amount &gt; £50,000</a:t>
            </a:r>
            <a:endParaRPr lang="en-US" sz="880" dirty="0"/>
          </a:p>
        </p:txBody>
      </p:sp>
      <p:sp>
        <p:nvSpPr>
          <p:cNvPr id="39" name="Text 37"/>
          <p:cNvSpPr/>
          <p:nvPr/>
        </p:nvSpPr>
        <p:spPr>
          <a:xfrm>
            <a:off x="3419856" y="3968496"/>
            <a:ext cx="3310128" cy="237744"/>
          </a:xfrm>
          <a:prstGeom prst="rect">
            <a:avLst/>
          </a:prstGeom>
          <a:noFill/>
          <a:ln/>
        </p:spPr>
        <p:txBody>
          <a:bodyPr wrap="square" lIns="0" tIns="0" rIns="0" bIns="0" rtlCol="0" anchor="ctr"/>
          <a:lstStyle/>
          <a:p>
            <a:pPr marL="0" indent="0">
              <a:buNone/>
            </a:pPr>
            <a:r>
              <a:rPr lang="en-US" sz="880" dirty="0">
                <a:solidFill>
                  <a:srgbClr val="3AB0FF"/>
                </a:solidFill>
                <a:latin typeface="Courier New" pitchFamily="34" charset="0"/>
                <a:ea typeface="Courier New" pitchFamily="34" charset="-122"/>
                <a:cs typeface="Courier New" pitchFamily="34" charset="-120"/>
              </a:rPr>
              <a:t>→ HOLD + multi-sig required</a:t>
            </a:r>
            <a:endParaRPr lang="en-US" sz="880" dirty="0"/>
          </a:p>
        </p:txBody>
      </p:sp>
      <p:sp>
        <p:nvSpPr>
          <p:cNvPr id="40" name="Text 38"/>
          <p:cNvSpPr/>
          <p:nvPr/>
        </p:nvSpPr>
        <p:spPr>
          <a:xfrm>
            <a:off x="3218688" y="4242816"/>
            <a:ext cx="3310128" cy="237744"/>
          </a:xfrm>
          <a:prstGeom prst="rect">
            <a:avLst/>
          </a:prstGeom>
          <a:noFill/>
          <a:ln/>
        </p:spPr>
        <p:txBody>
          <a:bodyPr wrap="square" lIns="0" tIns="0" rIns="0" bIns="0" rtlCol="0" anchor="ctr"/>
          <a:lstStyle/>
          <a:p>
            <a:pPr marL="0" indent="0">
              <a:buNone/>
            </a:pPr>
            <a:r>
              <a:rPr lang="en-US" sz="880" b="1" dirty="0">
                <a:solidFill>
                  <a:srgbClr val="1DB87A"/>
                </a:solidFill>
                <a:latin typeface="Courier New" pitchFamily="34" charset="0"/>
                <a:ea typeface="Courier New" pitchFamily="34" charset="-122"/>
                <a:cs typeface="Courier New" pitchFamily="34" charset="-120"/>
              </a:rPr>
              <a:t>ELSE</a:t>
            </a:r>
            <a:endParaRPr lang="en-US" sz="880" dirty="0"/>
          </a:p>
        </p:txBody>
      </p:sp>
      <p:sp>
        <p:nvSpPr>
          <p:cNvPr id="41" name="Text 39"/>
          <p:cNvSpPr/>
          <p:nvPr/>
        </p:nvSpPr>
        <p:spPr>
          <a:xfrm>
            <a:off x="3419856" y="4480560"/>
            <a:ext cx="3310128" cy="237744"/>
          </a:xfrm>
          <a:prstGeom prst="rect">
            <a:avLst/>
          </a:prstGeom>
          <a:noFill/>
          <a:ln/>
        </p:spPr>
        <p:txBody>
          <a:bodyPr wrap="square" lIns="0" tIns="0" rIns="0" bIns="0" rtlCol="0" anchor="ctr"/>
          <a:lstStyle/>
          <a:p>
            <a:pPr marL="0" indent="0">
              <a:buNone/>
            </a:pPr>
            <a:r>
              <a:rPr lang="en-US" sz="880" dirty="0">
                <a:solidFill>
                  <a:srgbClr val="1DB87A"/>
                </a:solidFill>
                <a:latin typeface="Courier New" pitchFamily="34" charset="0"/>
                <a:ea typeface="Courier New" pitchFamily="34" charset="-122"/>
                <a:cs typeface="Courier New" pitchFamily="34" charset="-120"/>
              </a:rPr>
              <a:t>→ PROCEED + write audit record</a:t>
            </a:r>
            <a:endParaRPr lang="en-US" sz="880" dirty="0"/>
          </a:p>
        </p:txBody>
      </p:sp>
      <p:sp>
        <p:nvSpPr>
          <p:cNvPr id="42" name="Shape 40"/>
          <p:cNvSpPr/>
          <p:nvPr/>
        </p:nvSpPr>
        <p:spPr>
          <a:xfrm>
            <a:off x="6784848" y="1024128"/>
            <a:ext cx="2130552" cy="3931920"/>
          </a:xfrm>
          <a:prstGeom prst="roundRect">
            <a:avLst>
              <a:gd name="adj" fmla="val 4292"/>
            </a:avLst>
          </a:prstGeom>
          <a:solidFill>
            <a:srgbClr val="162D52"/>
          </a:solidFill>
          <a:ln w="12700">
            <a:solidFill>
              <a:srgbClr val="1E3A5F"/>
            </a:solidFill>
            <a:prstDash val="solid"/>
          </a:ln>
          <a:effectLst>
            <a:outerShdw blurRad="101600" dist="38100" dir="2700000" algn="bl" rotWithShape="0">
              <a:srgbClr val="000000">
                <a:alpha val="20000"/>
              </a:srgbClr>
            </a:outerShdw>
          </a:effectLst>
        </p:spPr>
      </p:sp>
      <p:sp>
        <p:nvSpPr>
          <p:cNvPr id="43" name="Text 41"/>
          <p:cNvSpPr/>
          <p:nvPr/>
        </p:nvSpPr>
        <p:spPr>
          <a:xfrm>
            <a:off x="6931152" y="1097280"/>
            <a:ext cx="1828800" cy="292608"/>
          </a:xfrm>
          <a:prstGeom prst="rect">
            <a:avLst/>
          </a:prstGeom>
          <a:noFill/>
          <a:ln/>
        </p:spPr>
        <p:txBody>
          <a:bodyPr wrap="square" lIns="0" tIns="0" rIns="0" bIns="0" rtlCol="0" anchor="ctr"/>
          <a:lstStyle/>
          <a:p>
            <a:pPr marL="0" indent="0">
              <a:buNone/>
            </a:pPr>
            <a:r>
              <a:rPr lang="en-US" sz="950" b="1" kern="0" spc="100" dirty="0">
                <a:solidFill>
                  <a:srgbClr val="1DB87A"/>
                </a:solidFill>
                <a:latin typeface="Calibri" pitchFamily="34" charset="0"/>
                <a:ea typeface="Calibri" pitchFamily="34" charset="-122"/>
                <a:cs typeface="Calibri" pitchFamily="34" charset="-120"/>
              </a:rPr>
              <a:t>OUTPUTS</a:t>
            </a:r>
            <a:endParaRPr lang="en-US" sz="950" dirty="0"/>
          </a:p>
        </p:txBody>
      </p:sp>
      <p:sp>
        <p:nvSpPr>
          <p:cNvPr id="44" name="Shape 42"/>
          <p:cNvSpPr/>
          <p:nvPr/>
        </p:nvSpPr>
        <p:spPr>
          <a:xfrm>
            <a:off x="6903720" y="1481328"/>
            <a:ext cx="1874520" cy="768096"/>
          </a:xfrm>
          <a:prstGeom prst="roundRect">
            <a:avLst>
              <a:gd name="adj" fmla="val 9524"/>
            </a:avLst>
          </a:prstGeom>
          <a:solidFill>
            <a:srgbClr val="0D1F35"/>
          </a:solidFill>
          <a:ln w="12700">
            <a:solidFill>
              <a:srgbClr val="1DB87A"/>
            </a:solidFill>
            <a:prstDash val="solid"/>
          </a:ln>
        </p:spPr>
      </p:sp>
      <p:sp>
        <p:nvSpPr>
          <p:cNvPr id="45" name="Text 43"/>
          <p:cNvSpPr/>
          <p:nvPr/>
        </p:nvSpPr>
        <p:spPr>
          <a:xfrm>
            <a:off x="6995160" y="1517904"/>
            <a:ext cx="1691640" cy="274320"/>
          </a:xfrm>
          <a:prstGeom prst="rect">
            <a:avLst/>
          </a:prstGeom>
          <a:noFill/>
          <a:ln/>
        </p:spPr>
        <p:txBody>
          <a:bodyPr wrap="square" lIns="0" tIns="0" rIns="0" bIns="0" rtlCol="0" anchor="ctr"/>
          <a:lstStyle/>
          <a:p>
            <a:pPr marL="0" indent="0">
              <a:buNone/>
            </a:pPr>
            <a:r>
              <a:rPr lang="en-US" sz="950" b="1" dirty="0">
                <a:solidFill>
                  <a:srgbClr val="1DB87A"/>
                </a:solidFill>
                <a:latin typeface="Calibri" pitchFamily="34" charset="0"/>
                <a:ea typeface="Calibri" pitchFamily="34" charset="-122"/>
                <a:cs typeface="Calibri" pitchFamily="34" charset="-120"/>
              </a:rPr>
              <a:t>PROCEED</a:t>
            </a:r>
            <a:endParaRPr lang="en-US" sz="950" dirty="0"/>
          </a:p>
        </p:txBody>
      </p:sp>
      <p:sp>
        <p:nvSpPr>
          <p:cNvPr id="46" name="Text 44"/>
          <p:cNvSpPr/>
          <p:nvPr/>
        </p:nvSpPr>
        <p:spPr>
          <a:xfrm>
            <a:off x="6995160" y="1783080"/>
            <a:ext cx="1691640" cy="420624"/>
          </a:xfrm>
          <a:prstGeom prst="rect">
            <a:avLst/>
          </a:prstGeom>
          <a:noFill/>
          <a:ln/>
        </p:spPr>
        <p:txBody>
          <a:bodyPr wrap="square" lIns="0" tIns="0" rIns="0" bIns="0" rtlCol="0" anchor="ctr"/>
          <a:lstStyle/>
          <a:p>
            <a:pPr marL="0" indent="0">
              <a:buNone/>
            </a:pPr>
            <a:r>
              <a:rPr lang="en-US" sz="780" dirty="0">
                <a:solidFill>
                  <a:srgbClr val="CBD8EA"/>
                </a:solidFill>
                <a:latin typeface="Calibri" pitchFamily="34" charset="0"/>
                <a:ea typeface="Calibri" pitchFamily="34" charset="-122"/>
                <a:cs typeface="Calibri" pitchFamily="34" charset="-120"/>
              </a:rPr>
              <a:t>Payment forwarded to Faster Payments. Audit hash written.</a:t>
            </a:r>
            <a:endParaRPr lang="en-US" sz="780" dirty="0"/>
          </a:p>
        </p:txBody>
      </p:sp>
      <p:sp>
        <p:nvSpPr>
          <p:cNvPr id="47" name="Shape 45"/>
          <p:cNvSpPr/>
          <p:nvPr/>
        </p:nvSpPr>
        <p:spPr>
          <a:xfrm>
            <a:off x="6903720" y="2377440"/>
            <a:ext cx="1874520" cy="768096"/>
          </a:xfrm>
          <a:prstGeom prst="roundRect">
            <a:avLst>
              <a:gd name="adj" fmla="val 9524"/>
            </a:avLst>
          </a:prstGeom>
          <a:solidFill>
            <a:srgbClr val="0D1F35"/>
          </a:solidFill>
          <a:ln w="12700">
            <a:solidFill>
              <a:srgbClr val="E8A020"/>
            </a:solidFill>
            <a:prstDash val="solid"/>
          </a:ln>
        </p:spPr>
      </p:sp>
      <p:sp>
        <p:nvSpPr>
          <p:cNvPr id="48" name="Text 46"/>
          <p:cNvSpPr/>
          <p:nvPr/>
        </p:nvSpPr>
        <p:spPr>
          <a:xfrm>
            <a:off x="6995160" y="2414016"/>
            <a:ext cx="1691640" cy="274320"/>
          </a:xfrm>
          <a:prstGeom prst="rect">
            <a:avLst/>
          </a:prstGeom>
          <a:noFill/>
          <a:ln/>
        </p:spPr>
        <p:txBody>
          <a:bodyPr wrap="square" lIns="0" tIns="0" rIns="0" bIns="0" rtlCol="0" anchor="ctr"/>
          <a:lstStyle/>
          <a:p>
            <a:pPr marL="0" indent="0">
              <a:buNone/>
            </a:pPr>
            <a:r>
              <a:rPr lang="en-US" sz="950" b="1" dirty="0">
                <a:solidFill>
                  <a:srgbClr val="E8A020"/>
                </a:solidFill>
                <a:latin typeface="Calibri" pitchFamily="34" charset="0"/>
                <a:ea typeface="Calibri" pitchFamily="34" charset="-122"/>
                <a:cs typeface="Calibri" pitchFamily="34" charset="-120"/>
              </a:rPr>
              <a:t>HOLD (Cooling-Off)</a:t>
            </a:r>
            <a:endParaRPr lang="en-US" sz="950" dirty="0"/>
          </a:p>
        </p:txBody>
      </p:sp>
      <p:sp>
        <p:nvSpPr>
          <p:cNvPr id="49" name="Text 47"/>
          <p:cNvSpPr/>
          <p:nvPr/>
        </p:nvSpPr>
        <p:spPr>
          <a:xfrm>
            <a:off x="6995160" y="2679192"/>
            <a:ext cx="1691640" cy="420624"/>
          </a:xfrm>
          <a:prstGeom prst="rect">
            <a:avLst/>
          </a:prstGeom>
          <a:noFill/>
          <a:ln/>
        </p:spPr>
        <p:txBody>
          <a:bodyPr wrap="square" lIns="0" tIns="0" rIns="0" bIns="0" rtlCol="0" anchor="ctr"/>
          <a:lstStyle/>
          <a:p>
            <a:pPr marL="0" indent="0">
              <a:buNone/>
            </a:pPr>
            <a:r>
              <a:rPr lang="en-US" sz="780" dirty="0">
                <a:solidFill>
                  <a:srgbClr val="CBD8EA"/>
                </a:solidFill>
                <a:latin typeface="Calibri" pitchFamily="34" charset="0"/>
                <a:ea typeface="Calibri" pitchFamily="34" charset="-122"/>
                <a:cs typeface="Calibri" pitchFamily="34" charset="-120"/>
              </a:rPr>
              <a:t>Payment paused. Customer notified. 4–24hr window to confirm or cancel.</a:t>
            </a:r>
            <a:endParaRPr lang="en-US" sz="780" dirty="0"/>
          </a:p>
        </p:txBody>
      </p:sp>
      <p:sp>
        <p:nvSpPr>
          <p:cNvPr id="50" name="Shape 48"/>
          <p:cNvSpPr/>
          <p:nvPr/>
        </p:nvSpPr>
        <p:spPr>
          <a:xfrm>
            <a:off x="6903720" y="3273552"/>
            <a:ext cx="1874520" cy="768096"/>
          </a:xfrm>
          <a:prstGeom prst="roundRect">
            <a:avLst>
              <a:gd name="adj" fmla="val 9524"/>
            </a:avLst>
          </a:prstGeom>
          <a:solidFill>
            <a:srgbClr val="0D1F35"/>
          </a:solidFill>
          <a:ln w="12700">
            <a:solidFill>
              <a:srgbClr val="3AB0FF"/>
            </a:solidFill>
            <a:prstDash val="solid"/>
          </a:ln>
        </p:spPr>
      </p:sp>
      <p:sp>
        <p:nvSpPr>
          <p:cNvPr id="51" name="Text 49"/>
          <p:cNvSpPr/>
          <p:nvPr/>
        </p:nvSpPr>
        <p:spPr>
          <a:xfrm>
            <a:off x="6995160" y="3310128"/>
            <a:ext cx="1691640" cy="274320"/>
          </a:xfrm>
          <a:prstGeom prst="rect">
            <a:avLst/>
          </a:prstGeom>
          <a:noFill/>
          <a:ln/>
        </p:spPr>
        <p:txBody>
          <a:bodyPr wrap="square" lIns="0" tIns="0" rIns="0" bIns="0" rtlCol="0" anchor="ctr"/>
          <a:lstStyle/>
          <a:p>
            <a:pPr marL="0" indent="0">
              <a:buNone/>
            </a:pPr>
            <a:r>
              <a:rPr lang="en-US" sz="950" b="1" dirty="0">
                <a:solidFill>
                  <a:srgbClr val="3AB0FF"/>
                </a:solidFill>
                <a:latin typeface="Calibri" pitchFamily="34" charset="0"/>
                <a:ea typeface="Calibri" pitchFamily="34" charset="-122"/>
                <a:cs typeface="Calibri" pitchFamily="34" charset="-120"/>
              </a:rPr>
              <a:t>HOLD (Multi-Sig)</a:t>
            </a:r>
            <a:endParaRPr lang="en-US" sz="950" dirty="0"/>
          </a:p>
        </p:txBody>
      </p:sp>
      <p:sp>
        <p:nvSpPr>
          <p:cNvPr id="52" name="Text 50"/>
          <p:cNvSpPr/>
          <p:nvPr/>
        </p:nvSpPr>
        <p:spPr>
          <a:xfrm>
            <a:off x="6995160" y="3575304"/>
            <a:ext cx="1691640" cy="420624"/>
          </a:xfrm>
          <a:prstGeom prst="rect">
            <a:avLst/>
          </a:prstGeom>
          <a:noFill/>
          <a:ln/>
        </p:spPr>
        <p:txBody>
          <a:bodyPr wrap="square" lIns="0" tIns="0" rIns="0" bIns="0" rtlCol="0" anchor="ctr"/>
          <a:lstStyle/>
          <a:p>
            <a:pPr marL="0" indent="0">
              <a:buNone/>
            </a:pPr>
            <a:r>
              <a:rPr lang="en-US" sz="780" dirty="0">
                <a:solidFill>
                  <a:srgbClr val="CBD8EA"/>
                </a:solidFill>
                <a:latin typeface="Calibri" pitchFamily="34" charset="0"/>
                <a:ea typeface="Calibri" pitchFamily="34" charset="-122"/>
                <a:cs typeface="Calibri" pitchFamily="34" charset="-120"/>
              </a:rPr>
              <a:t>Payment paused. Two-factor sign-off required before release.</a:t>
            </a:r>
            <a:endParaRPr lang="en-US" sz="780" dirty="0"/>
          </a:p>
        </p:txBody>
      </p:sp>
      <p:sp>
        <p:nvSpPr>
          <p:cNvPr id="53" name="Shape 51"/>
          <p:cNvSpPr/>
          <p:nvPr/>
        </p:nvSpPr>
        <p:spPr>
          <a:xfrm>
            <a:off x="6903720" y="4169664"/>
            <a:ext cx="1874520" cy="768096"/>
          </a:xfrm>
          <a:prstGeom prst="roundRect">
            <a:avLst>
              <a:gd name="adj" fmla="val 9524"/>
            </a:avLst>
          </a:prstGeom>
          <a:solidFill>
            <a:srgbClr val="0D1F35"/>
          </a:solidFill>
          <a:ln w="12700">
            <a:solidFill>
              <a:srgbClr val="C0392B"/>
            </a:solidFill>
            <a:prstDash val="solid"/>
          </a:ln>
        </p:spPr>
      </p:sp>
      <p:sp>
        <p:nvSpPr>
          <p:cNvPr id="54" name="Text 52"/>
          <p:cNvSpPr/>
          <p:nvPr/>
        </p:nvSpPr>
        <p:spPr>
          <a:xfrm>
            <a:off x="6995160" y="4206240"/>
            <a:ext cx="1691640" cy="274320"/>
          </a:xfrm>
          <a:prstGeom prst="rect">
            <a:avLst/>
          </a:prstGeom>
          <a:noFill/>
          <a:ln/>
        </p:spPr>
        <p:txBody>
          <a:bodyPr wrap="square" lIns="0" tIns="0" rIns="0" bIns="0" rtlCol="0" anchor="ctr"/>
          <a:lstStyle/>
          <a:p>
            <a:pPr marL="0" indent="0">
              <a:buNone/>
            </a:pPr>
            <a:r>
              <a:rPr lang="en-US" sz="950" b="1" dirty="0">
                <a:solidFill>
                  <a:srgbClr val="C0392B"/>
                </a:solidFill>
                <a:latin typeface="Calibri" pitchFamily="34" charset="0"/>
                <a:ea typeface="Calibri" pitchFamily="34" charset="-122"/>
                <a:cs typeface="Calibri" pitchFamily="34" charset="-120"/>
              </a:rPr>
              <a:t>REJECT</a:t>
            </a:r>
            <a:endParaRPr lang="en-US" sz="950" dirty="0"/>
          </a:p>
        </p:txBody>
      </p:sp>
      <p:sp>
        <p:nvSpPr>
          <p:cNvPr id="55" name="Text 53"/>
          <p:cNvSpPr/>
          <p:nvPr/>
        </p:nvSpPr>
        <p:spPr>
          <a:xfrm>
            <a:off x="6995160" y="4471416"/>
            <a:ext cx="1691640" cy="420624"/>
          </a:xfrm>
          <a:prstGeom prst="rect">
            <a:avLst/>
          </a:prstGeom>
          <a:noFill/>
          <a:ln/>
        </p:spPr>
        <p:txBody>
          <a:bodyPr wrap="square" lIns="0" tIns="0" rIns="0" bIns="0" rtlCol="0" anchor="ctr"/>
          <a:lstStyle/>
          <a:p>
            <a:pPr marL="0" indent="0">
              <a:buNone/>
            </a:pPr>
            <a:r>
              <a:rPr lang="en-US" sz="780" dirty="0">
                <a:solidFill>
                  <a:srgbClr val="CBD8EA"/>
                </a:solidFill>
                <a:latin typeface="Calibri" pitchFamily="34" charset="0"/>
                <a:ea typeface="Calibri" pitchFamily="34" charset="-122"/>
                <a:cs typeface="Calibri" pitchFamily="34" charset="-120"/>
              </a:rPr>
              <a:t>Payment blocked. Fraud case auto-raised. Evidence sealed on-chain.</a:t>
            </a:r>
            <a:endParaRPr lang="en-US" sz="780" dirty="0"/>
          </a:p>
        </p:txBody>
      </p:sp>
      <p:sp>
        <p:nvSpPr>
          <p:cNvPr id="56" name="Text 54"/>
          <p:cNvSpPr/>
          <p:nvPr/>
        </p:nvSpPr>
        <p:spPr>
          <a:xfrm>
            <a:off x="2907792" y="2852928"/>
            <a:ext cx="237744" cy="274320"/>
          </a:xfrm>
          <a:prstGeom prst="rect">
            <a:avLst/>
          </a:prstGeom>
          <a:noFill/>
          <a:ln/>
        </p:spPr>
        <p:txBody>
          <a:bodyPr wrap="square" lIns="0" tIns="0" rIns="0" bIns="0" rtlCol="0" anchor="ctr"/>
          <a:lstStyle/>
          <a:p>
            <a:pPr marL="0" indent="0">
              <a:buNone/>
            </a:pPr>
            <a:r>
              <a:rPr lang="en-US" sz="1300" dirty="0">
                <a:solidFill>
                  <a:srgbClr val="8FA5BF"/>
                </a:solidFill>
                <a:latin typeface="Calibri" pitchFamily="34" charset="0"/>
                <a:ea typeface="Calibri" pitchFamily="34" charset="-122"/>
                <a:cs typeface="Calibri" pitchFamily="34" charset="-120"/>
              </a:rPr>
              <a:t>→</a:t>
            </a:r>
            <a:endParaRPr lang="en-US" sz="1300" dirty="0"/>
          </a:p>
        </p:txBody>
      </p:sp>
      <p:sp>
        <p:nvSpPr>
          <p:cNvPr id="57" name="Text 55"/>
          <p:cNvSpPr/>
          <p:nvPr/>
        </p:nvSpPr>
        <p:spPr>
          <a:xfrm>
            <a:off x="6656832" y="2852928"/>
            <a:ext cx="237744" cy="274320"/>
          </a:xfrm>
          <a:prstGeom prst="rect">
            <a:avLst/>
          </a:prstGeom>
          <a:noFill/>
          <a:ln/>
        </p:spPr>
        <p:txBody>
          <a:bodyPr wrap="square" lIns="0" tIns="0" rIns="0" bIns="0" rtlCol="0" anchor="ctr"/>
          <a:lstStyle/>
          <a:p>
            <a:pPr marL="0" indent="0">
              <a:buNone/>
            </a:pPr>
            <a:r>
              <a:rPr lang="en-US" sz="1300" dirty="0">
                <a:solidFill>
                  <a:srgbClr val="8FA5BF"/>
                </a:solidFill>
                <a:latin typeface="Calibri" pitchFamily="34" charset="0"/>
                <a:ea typeface="Calibri" pitchFamily="34" charset="-122"/>
                <a:cs typeface="Calibri" pitchFamily="34" charset="-120"/>
              </a:rPr>
              <a: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1D3A"/>
          </a:solidFill>
          <a:ln w="12700">
            <a:solidFill>
              <a:srgbClr val="0B1D3A"/>
            </a:solidFill>
            <a:prstDash val="solid"/>
          </a:ln>
        </p:spPr>
      </p:sp>
      <p:sp>
        <p:nvSpPr>
          <p:cNvPr id="3" name="Text 1"/>
          <p:cNvSpPr/>
          <p:nvPr/>
        </p:nvSpPr>
        <p:spPr>
          <a:xfrm>
            <a:off x="365760" y="91440"/>
            <a:ext cx="8229600" cy="320040"/>
          </a:xfrm>
          <a:prstGeom prst="rect">
            <a:avLst/>
          </a:prstGeom>
          <a:noFill/>
          <a:ln/>
        </p:spPr>
        <p:txBody>
          <a:bodyPr wrap="square" lIns="0" tIns="0" rIns="0" bIns="0" rtlCol="0" anchor="ctr"/>
          <a:lstStyle/>
          <a:p>
            <a:pPr marL="0" indent="0">
              <a:buNone/>
            </a:pPr>
            <a:r>
              <a:rPr lang="en-US" sz="1000" b="1" kern="0" spc="300" dirty="0">
                <a:solidFill>
                  <a:srgbClr val="E8A020"/>
                </a:solidFill>
                <a:latin typeface="Calibri" pitchFamily="34" charset="0"/>
                <a:ea typeface="Calibri" pitchFamily="34" charset="-122"/>
                <a:cs typeface="Calibri" pitchFamily="34" charset="-120"/>
              </a:rPr>
              <a:t>ADVANTAGES</a:t>
            </a:r>
            <a:endParaRPr lang="en-US" sz="1000" dirty="0"/>
          </a:p>
        </p:txBody>
      </p:sp>
      <p:sp>
        <p:nvSpPr>
          <p:cNvPr id="4" name="Text 2"/>
          <p:cNvSpPr/>
          <p:nvPr/>
        </p:nvSpPr>
        <p:spPr>
          <a:xfrm>
            <a:off x="365760" y="438912"/>
            <a:ext cx="8229600" cy="38404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8 Key Advantages Over the Legacy System</a:t>
            </a:r>
            <a:endParaRPr lang="en-US" sz="1700" dirty="0"/>
          </a:p>
        </p:txBody>
      </p:sp>
      <p:sp>
        <p:nvSpPr>
          <p:cNvPr id="5" name="Shape 3"/>
          <p:cNvSpPr/>
          <p:nvPr/>
        </p:nvSpPr>
        <p:spPr>
          <a:xfrm>
            <a:off x="256032" y="1005840"/>
            <a:ext cx="4251960" cy="932688"/>
          </a:xfrm>
          <a:prstGeom prst="roundRect">
            <a:avLst>
              <a:gd name="adj" fmla="val 9804"/>
            </a:avLst>
          </a:prstGeom>
          <a:solidFill>
            <a:srgbClr val="FFFFFF"/>
          </a:solidFill>
          <a:ln w="12700">
            <a:solidFill>
              <a:srgbClr val="DDE4EF"/>
            </a:solidFill>
            <a:prstDash val="solid"/>
          </a:ln>
          <a:effectLst>
            <a:outerShdw blurRad="63500" dist="25400" dir="2700000" algn="bl" rotWithShape="0">
              <a:srgbClr val="000000">
                <a:alpha val="13000"/>
              </a:srgbClr>
            </a:outerShdw>
          </a:effectLst>
        </p:spPr>
      </p:sp>
      <p:sp>
        <p:nvSpPr>
          <p:cNvPr id="6" name="Shape 4"/>
          <p:cNvSpPr/>
          <p:nvPr/>
        </p:nvSpPr>
        <p:spPr>
          <a:xfrm>
            <a:off x="384048" y="1115568"/>
            <a:ext cx="512064" cy="512064"/>
          </a:xfrm>
          <a:prstGeom prst="ellipse">
            <a:avLst/>
          </a:prstGeom>
          <a:solidFill>
            <a:srgbClr val="E8F0F8"/>
          </a:solidFill>
          <a:ln w="12700">
            <a:solidFill>
              <a:srgbClr val="0D9488"/>
            </a:solidFill>
            <a:prstDash val="solid"/>
          </a:ln>
        </p:spPr>
      </p:sp>
      <p:pic>
        <p:nvPicPr>
          <p:cNvPr id="7" name="Image 0" descr="preencoded.png"/>
          <p:cNvPicPr>
            <a:picLocks noChangeAspect="1"/>
          </p:cNvPicPr>
          <p:nvPr/>
        </p:nvPicPr>
        <p:blipFill>
          <a:blip r:embed="rId3"/>
          <a:stretch>
            <a:fillRect/>
          </a:stretch>
        </p:blipFill>
        <p:spPr>
          <a:xfrm>
            <a:off x="457200" y="1179576"/>
            <a:ext cx="365760" cy="365760"/>
          </a:xfrm>
          <a:prstGeom prst="rect">
            <a:avLst/>
          </a:prstGeom>
        </p:spPr>
      </p:pic>
      <p:sp>
        <p:nvSpPr>
          <p:cNvPr id="8" name="Text 5"/>
          <p:cNvSpPr/>
          <p:nvPr/>
        </p:nvSpPr>
        <p:spPr>
          <a:xfrm>
            <a:off x="969264" y="1078992"/>
            <a:ext cx="384048" cy="274320"/>
          </a:xfrm>
          <a:prstGeom prst="rect">
            <a:avLst/>
          </a:prstGeom>
          <a:noFill/>
          <a:ln/>
        </p:spPr>
        <p:txBody>
          <a:bodyPr wrap="square" lIns="0" tIns="0" rIns="0" bIns="0" rtlCol="0" anchor="ctr"/>
          <a:lstStyle/>
          <a:p>
            <a:pPr marL="0" indent="0">
              <a:buNone/>
            </a:pPr>
            <a:r>
              <a:rPr lang="en-US" sz="900" b="1" dirty="0">
                <a:solidFill>
                  <a:srgbClr val="0D9488"/>
                </a:solidFill>
                <a:latin typeface="Calibri" pitchFamily="34" charset="0"/>
                <a:ea typeface="Calibri" pitchFamily="34" charset="-122"/>
                <a:cs typeface="Calibri" pitchFamily="34" charset="-120"/>
              </a:rPr>
              <a:t>01</a:t>
            </a:r>
            <a:endParaRPr lang="en-US" sz="900" dirty="0"/>
          </a:p>
        </p:txBody>
      </p:sp>
      <p:sp>
        <p:nvSpPr>
          <p:cNvPr id="9" name="Text 6"/>
          <p:cNvSpPr/>
          <p:nvPr/>
        </p:nvSpPr>
        <p:spPr>
          <a:xfrm>
            <a:off x="969264" y="1078992"/>
            <a:ext cx="3429000" cy="310896"/>
          </a:xfrm>
          <a:prstGeom prst="rect">
            <a:avLst/>
          </a:prstGeom>
          <a:noFill/>
          <a:ln/>
        </p:spPr>
        <p:txBody>
          <a:bodyPr wrap="square" lIns="0" tIns="0" rIns="0" bIns="0" rtlCol="0" anchor="ctr"/>
          <a:lstStyle/>
          <a:p>
            <a:pPr marL="0" indent="0" algn="r">
              <a:buNone/>
            </a:pPr>
            <a:r>
              <a:rPr lang="en-US" sz="1200" b="1" dirty="0">
                <a:solidFill>
                  <a:srgbClr val="0B1D3A"/>
                </a:solidFill>
                <a:latin typeface="Calibri" pitchFamily="34" charset="0"/>
                <a:ea typeface="Calibri" pitchFamily="34" charset="-122"/>
                <a:cs typeface="Calibri" pitchFamily="34" charset="-120"/>
              </a:rPr>
              <a:t>Pre-Settlement Intervention</a:t>
            </a:r>
            <a:endParaRPr lang="en-US" sz="1200" dirty="0"/>
          </a:p>
        </p:txBody>
      </p:sp>
      <p:sp>
        <p:nvSpPr>
          <p:cNvPr id="10" name="Text 7"/>
          <p:cNvSpPr/>
          <p:nvPr/>
        </p:nvSpPr>
        <p:spPr>
          <a:xfrm>
            <a:off x="969264" y="1408176"/>
            <a:ext cx="3429000" cy="475488"/>
          </a:xfrm>
          <a:prstGeom prst="rect">
            <a:avLst/>
          </a:prstGeom>
          <a:noFill/>
          <a:ln/>
        </p:spPr>
        <p:txBody>
          <a:bodyPr wrap="square" lIns="0" tIns="0" rIns="0" bIns="0" rtlCol="0" anchor="ctr"/>
          <a:lstStyle/>
          <a:p>
            <a:pPr marL="0" indent="0">
              <a:buNone/>
            </a:pPr>
            <a:r>
              <a:rPr lang="en-US" sz="920" dirty="0">
                <a:solidFill>
                  <a:srgbClr val="4A5568"/>
                </a:solidFill>
                <a:latin typeface="Calibri" pitchFamily="34" charset="0"/>
                <a:ea typeface="Calibri" pitchFamily="34" charset="-122"/>
                <a:cs typeface="Calibri" pitchFamily="34" charset="-120"/>
              </a:rPr>
              <a:t>Smart contracts fire before Faster Payments is called. The current system has zero equivalent — it only detects fraud after funds have cleared.</a:t>
            </a:r>
            <a:endParaRPr lang="en-US" sz="920" dirty="0"/>
          </a:p>
        </p:txBody>
      </p:sp>
      <p:sp>
        <p:nvSpPr>
          <p:cNvPr id="11" name="Shape 8"/>
          <p:cNvSpPr/>
          <p:nvPr/>
        </p:nvSpPr>
        <p:spPr>
          <a:xfrm>
            <a:off x="4718304" y="1005840"/>
            <a:ext cx="4251960" cy="932688"/>
          </a:xfrm>
          <a:prstGeom prst="roundRect">
            <a:avLst>
              <a:gd name="adj" fmla="val 9804"/>
            </a:avLst>
          </a:prstGeom>
          <a:solidFill>
            <a:srgbClr val="FFFFFF"/>
          </a:solidFill>
          <a:ln w="12700">
            <a:solidFill>
              <a:srgbClr val="DDE4EF"/>
            </a:solidFill>
            <a:prstDash val="solid"/>
          </a:ln>
          <a:effectLst>
            <a:outerShdw blurRad="63500" dist="25400" dir="2700000" algn="bl" rotWithShape="0">
              <a:srgbClr val="000000">
                <a:alpha val="13000"/>
              </a:srgbClr>
            </a:outerShdw>
          </a:effectLst>
        </p:spPr>
      </p:sp>
      <p:sp>
        <p:nvSpPr>
          <p:cNvPr id="12" name="Shape 9"/>
          <p:cNvSpPr/>
          <p:nvPr/>
        </p:nvSpPr>
        <p:spPr>
          <a:xfrm>
            <a:off x="4846320" y="1115568"/>
            <a:ext cx="512064" cy="512064"/>
          </a:xfrm>
          <a:prstGeom prst="ellipse">
            <a:avLst/>
          </a:prstGeom>
          <a:solidFill>
            <a:srgbClr val="E8F0F8"/>
          </a:solidFill>
          <a:ln w="12700">
            <a:solidFill>
              <a:srgbClr val="2980B9"/>
            </a:solidFill>
            <a:prstDash val="solid"/>
          </a:ln>
        </p:spPr>
      </p:sp>
      <p:pic>
        <p:nvPicPr>
          <p:cNvPr id="13" name="Image 1" descr="preencoded.png"/>
          <p:cNvPicPr>
            <a:picLocks noChangeAspect="1"/>
          </p:cNvPicPr>
          <p:nvPr/>
        </p:nvPicPr>
        <p:blipFill>
          <a:blip r:embed="rId4"/>
          <a:stretch>
            <a:fillRect/>
          </a:stretch>
        </p:blipFill>
        <p:spPr>
          <a:xfrm>
            <a:off x="4919472" y="1179576"/>
            <a:ext cx="365760" cy="365760"/>
          </a:xfrm>
          <a:prstGeom prst="rect">
            <a:avLst/>
          </a:prstGeom>
        </p:spPr>
      </p:pic>
      <p:sp>
        <p:nvSpPr>
          <p:cNvPr id="14" name="Text 10"/>
          <p:cNvSpPr/>
          <p:nvPr/>
        </p:nvSpPr>
        <p:spPr>
          <a:xfrm>
            <a:off x="5431536" y="1078992"/>
            <a:ext cx="384048" cy="274320"/>
          </a:xfrm>
          <a:prstGeom prst="rect">
            <a:avLst/>
          </a:prstGeom>
          <a:noFill/>
          <a:ln/>
        </p:spPr>
        <p:txBody>
          <a:bodyPr wrap="square" lIns="0" tIns="0" rIns="0" bIns="0" rtlCol="0" anchor="ctr"/>
          <a:lstStyle/>
          <a:p>
            <a:pPr marL="0" indent="0">
              <a:buNone/>
            </a:pPr>
            <a:r>
              <a:rPr lang="en-US" sz="900" b="1" dirty="0">
                <a:solidFill>
                  <a:srgbClr val="2980B9"/>
                </a:solidFill>
                <a:latin typeface="Calibri" pitchFamily="34" charset="0"/>
                <a:ea typeface="Calibri" pitchFamily="34" charset="-122"/>
                <a:cs typeface="Calibri" pitchFamily="34" charset="-120"/>
              </a:rPr>
              <a:t>02</a:t>
            </a:r>
            <a:endParaRPr lang="en-US" sz="900" dirty="0"/>
          </a:p>
        </p:txBody>
      </p:sp>
      <p:sp>
        <p:nvSpPr>
          <p:cNvPr id="15" name="Text 11"/>
          <p:cNvSpPr/>
          <p:nvPr/>
        </p:nvSpPr>
        <p:spPr>
          <a:xfrm>
            <a:off x="5431536" y="1078992"/>
            <a:ext cx="3429000" cy="310896"/>
          </a:xfrm>
          <a:prstGeom prst="rect">
            <a:avLst/>
          </a:prstGeom>
          <a:noFill/>
          <a:ln/>
        </p:spPr>
        <p:txBody>
          <a:bodyPr wrap="square" lIns="0" tIns="0" rIns="0" bIns="0" rtlCol="0" anchor="ctr"/>
          <a:lstStyle/>
          <a:p>
            <a:pPr marL="0" indent="0" algn="r">
              <a:buNone/>
            </a:pPr>
            <a:r>
              <a:rPr lang="en-US" sz="1200" b="1" dirty="0">
                <a:solidFill>
                  <a:srgbClr val="0B1D3A"/>
                </a:solidFill>
                <a:latin typeface="Calibri" pitchFamily="34" charset="0"/>
                <a:ea typeface="Calibri" pitchFamily="34" charset="-122"/>
                <a:cs typeface="Calibri" pitchFamily="34" charset="-120"/>
              </a:rPr>
              <a:t>Immutable Audit Trail</a:t>
            </a:r>
            <a:endParaRPr lang="en-US" sz="1200" dirty="0"/>
          </a:p>
        </p:txBody>
      </p:sp>
      <p:sp>
        <p:nvSpPr>
          <p:cNvPr id="16" name="Text 12"/>
          <p:cNvSpPr/>
          <p:nvPr/>
        </p:nvSpPr>
        <p:spPr>
          <a:xfrm>
            <a:off x="5431536" y="1408176"/>
            <a:ext cx="3429000" cy="475488"/>
          </a:xfrm>
          <a:prstGeom prst="rect">
            <a:avLst/>
          </a:prstGeom>
          <a:noFill/>
          <a:ln/>
        </p:spPr>
        <p:txBody>
          <a:bodyPr wrap="square" lIns="0" tIns="0" rIns="0" bIns="0" rtlCol="0" anchor="ctr"/>
          <a:lstStyle/>
          <a:p>
            <a:pPr marL="0" indent="0">
              <a:buNone/>
            </a:pPr>
            <a:r>
              <a:rPr lang="en-US" sz="920" dirty="0">
                <a:solidFill>
                  <a:srgbClr val="4A5568"/>
                </a:solidFill>
                <a:latin typeface="Calibri" pitchFamily="34" charset="0"/>
                <a:ea typeface="Calibri" pitchFamily="34" charset="-122"/>
                <a:cs typeface="Calibri" pitchFamily="34" charset="-120"/>
              </a:rPr>
              <a:t>Every authorisation event is hashed and written to the ledger before the payment moves. Tamper-proof, time-stamped, and regulator-accessible.</a:t>
            </a:r>
            <a:endParaRPr lang="en-US" sz="920" dirty="0"/>
          </a:p>
        </p:txBody>
      </p:sp>
      <p:sp>
        <p:nvSpPr>
          <p:cNvPr id="17" name="Shape 13"/>
          <p:cNvSpPr/>
          <p:nvPr/>
        </p:nvSpPr>
        <p:spPr>
          <a:xfrm>
            <a:off x="256032" y="2029968"/>
            <a:ext cx="4251960" cy="932688"/>
          </a:xfrm>
          <a:prstGeom prst="roundRect">
            <a:avLst>
              <a:gd name="adj" fmla="val 9804"/>
            </a:avLst>
          </a:prstGeom>
          <a:solidFill>
            <a:srgbClr val="FFFFFF"/>
          </a:solidFill>
          <a:ln w="12700">
            <a:solidFill>
              <a:srgbClr val="DDE4EF"/>
            </a:solidFill>
            <a:prstDash val="solid"/>
          </a:ln>
          <a:effectLst>
            <a:outerShdw blurRad="63500" dist="25400" dir="2700000" algn="bl" rotWithShape="0">
              <a:srgbClr val="000000">
                <a:alpha val="13000"/>
              </a:srgbClr>
            </a:outerShdw>
          </a:effectLst>
        </p:spPr>
      </p:sp>
      <p:sp>
        <p:nvSpPr>
          <p:cNvPr id="18" name="Shape 14"/>
          <p:cNvSpPr/>
          <p:nvPr/>
        </p:nvSpPr>
        <p:spPr>
          <a:xfrm>
            <a:off x="384048" y="2139696"/>
            <a:ext cx="512064" cy="512064"/>
          </a:xfrm>
          <a:prstGeom prst="ellipse">
            <a:avLst/>
          </a:prstGeom>
          <a:solidFill>
            <a:srgbClr val="E8F0F8"/>
          </a:solidFill>
          <a:ln w="12700">
            <a:solidFill>
              <a:srgbClr val="7B2FBE"/>
            </a:solidFill>
            <a:prstDash val="solid"/>
          </a:ln>
        </p:spPr>
      </p:sp>
      <p:pic>
        <p:nvPicPr>
          <p:cNvPr id="19" name="Image 2" descr="preencoded.png"/>
          <p:cNvPicPr>
            <a:picLocks noChangeAspect="1"/>
          </p:cNvPicPr>
          <p:nvPr/>
        </p:nvPicPr>
        <p:blipFill>
          <a:blip r:embed="rId5"/>
          <a:stretch>
            <a:fillRect/>
          </a:stretch>
        </p:blipFill>
        <p:spPr>
          <a:xfrm>
            <a:off x="457200" y="2203704"/>
            <a:ext cx="365760" cy="365760"/>
          </a:xfrm>
          <a:prstGeom prst="rect">
            <a:avLst/>
          </a:prstGeom>
        </p:spPr>
      </p:pic>
      <p:sp>
        <p:nvSpPr>
          <p:cNvPr id="20" name="Text 15"/>
          <p:cNvSpPr/>
          <p:nvPr/>
        </p:nvSpPr>
        <p:spPr>
          <a:xfrm>
            <a:off x="969264" y="2103120"/>
            <a:ext cx="384048" cy="274320"/>
          </a:xfrm>
          <a:prstGeom prst="rect">
            <a:avLst/>
          </a:prstGeom>
          <a:noFill/>
          <a:ln/>
        </p:spPr>
        <p:txBody>
          <a:bodyPr wrap="square" lIns="0" tIns="0" rIns="0" bIns="0" rtlCol="0" anchor="ctr"/>
          <a:lstStyle/>
          <a:p>
            <a:pPr marL="0" indent="0">
              <a:buNone/>
            </a:pPr>
            <a:r>
              <a:rPr lang="en-US" sz="900" b="1" dirty="0">
                <a:solidFill>
                  <a:srgbClr val="7B2FBE"/>
                </a:solidFill>
                <a:latin typeface="Calibri" pitchFamily="34" charset="0"/>
                <a:ea typeface="Calibri" pitchFamily="34" charset="-122"/>
                <a:cs typeface="Calibri" pitchFamily="34" charset="-120"/>
              </a:rPr>
              <a:t>03</a:t>
            </a:r>
            <a:endParaRPr lang="en-US" sz="900" dirty="0"/>
          </a:p>
        </p:txBody>
      </p:sp>
      <p:sp>
        <p:nvSpPr>
          <p:cNvPr id="21" name="Text 16"/>
          <p:cNvSpPr/>
          <p:nvPr/>
        </p:nvSpPr>
        <p:spPr>
          <a:xfrm>
            <a:off x="969264" y="2103120"/>
            <a:ext cx="3429000" cy="310896"/>
          </a:xfrm>
          <a:prstGeom prst="rect">
            <a:avLst/>
          </a:prstGeom>
          <a:noFill/>
          <a:ln/>
        </p:spPr>
        <p:txBody>
          <a:bodyPr wrap="square" lIns="0" tIns="0" rIns="0" bIns="0" rtlCol="0" anchor="ctr"/>
          <a:lstStyle/>
          <a:p>
            <a:pPr marL="0" indent="0" algn="r">
              <a:buNone/>
            </a:pPr>
            <a:r>
              <a:rPr lang="en-US" sz="1200" b="1" dirty="0">
                <a:solidFill>
                  <a:srgbClr val="0B1D3A"/>
                </a:solidFill>
                <a:latin typeface="Calibri" pitchFamily="34" charset="0"/>
                <a:ea typeface="Calibri" pitchFamily="34" charset="-122"/>
                <a:cs typeface="Calibri" pitchFamily="34" charset="-120"/>
              </a:rPr>
              <a:t>Cross-Institution Intelligence</a:t>
            </a:r>
            <a:endParaRPr lang="en-US" sz="1200" dirty="0"/>
          </a:p>
        </p:txBody>
      </p:sp>
      <p:sp>
        <p:nvSpPr>
          <p:cNvPr id="22" name="Text 17"/>
          <p:cNvSpPr/>
          <p:nvPr/>
        </p:nvSpPr>
        <p:spPr>
          <a:xfrm>
            <a:off x="969264" y="2432304"/>
            <a:ext cx="3429000" cy="475488"/>
          </a:xfrm>
          <a:prstGeom prst="rect">
            <a:avLst/>
          </a:prstGeom>
          <a:noFill/>
          <a:ln/>
        </p:spPr>
        <p:txBody>
          <a:bodyPr wrap="square" lIns="0" tIns="0" rIns="0" bIns="0" rtlCol="0" anchor="ctr"/>
          <a:lstStyle/>
          <a:p>
            <a:pPr marL="0" indent="0">
              <a:buNone/>
            </a:pPr>
            <a:r>
              <a:rPr lang="en-US" sz="920" dirty="0">
                <a:solidFill>
                  <a:srgbClr val="4A5568"/>
                </a:solidFill>
                <a:latin typeface="Calibri" pitchFamily="34" charset="0"/>
                <a:ea typeface="Calibri" pitchFamily="34" charset="-122"/>
                <a:cs typeface="Calibri" pitchFamily="34" charset="-120"/>
              </a:rPr>
              <a:t>Mule accounts flagged by any bank are instantly visible to all consortium members. One flag protects every customer across the network.</a:t>
            </a:r>
            <a:endParaRPr lang="en-US" sz="920" dirty="0"/>
          </a:p>
        </p:txBody>
      </p:sp>
      <p:sp>
        <p:nvSpPr>
          <p:cNvPr id="23" name="Shape 18"/>
          <p:cNvSpPr/>
          <p:nvPr/>
        </p:nvSpPr>
        <p:spPr>
          <a:xfrm>
            <a:off x="4718304" y="2029968"/>
            <a:ext cx="4251960" cy="932688"/>
          </a:xfrm>
          <a:prstGeom prst="roundRect">
            <a:avLst>
              <a:gd name="adj" fmla="val 9804"/>
            </a:avLst>
          </a:prstGeom>
          <a:solidFill>
            <a:srgbClr val="FFFFFF"/>
          </a:solidFill>
          <a:ln w="12700">
            <a:solidFill>
              <a:srgbClr val="DDE4EF"/>
            </a:solidFill>
            <a:prstDash val="solid"/>
          </a:ln>
          <a:effectLst>
            <a:outerShdw blurRad="63500" dist="25400" dir="2700000" algn="bl" rotWithShape="0">
              <a:srgbClr val="000000">
                <a:alpha val="13000"/>
              </a:srgbClr>
            </a:outerShdw>
          </a:effectLst>
        </p:spPr>
      </p:sp>
      <p:sp>
        <p:nvSpPr>
          <p:cNvPr id="24" name="Shape 19"/>
          <p:cNvSpPr/>
          <p:nvPr/>
        </p:nvSpPr>
        <p:spPr>
          <a:xfrm>
            <a:off x="4846320" y="2139696"/>
            <a:ext cx="512064" cy="512064"/>
          </a:xfrm>
          <a:prstGeom prst="ellipse">
            <a:avLst/>
          </a:prstGeom>
          <a:solidFill>
            <a:srgbClr val="E8F0F8"/>
          </a:solidFill>
          <a:ln w="12700">
            <a:solidFill>
              <a:srgbClr val="E8A020"/>
            </a:solidFill>
            <a:prstDash val="solid"/>
          </a:ln>
        </p:spPr>
      </p:sp>
      <p:pic>
        <p:nvPicPr>
          <p:cNvPr id="25" name="Image 3" descr="preencoded.png"/>
          <p:cNvPicPr>
            <a:picLocks noChangeAspect="1"/>
          </p:cNvPicPr>
          <p:nvPr/>
        </p:nvPicPr>
        <p:blipFill>
          <a:blip r:embed="rId6"/>
          <a:stretch>
            <a:fillRect/>
          </a:stretch>
        </p:blipFill>
        <p:spPr>
          <a:xfrm>
            <a:off x="4919472" y="2203704"/>
            <a:ext cx="365760" cy="365760"/>
          </a:xfrm>
          <a:prstGeom prst="rect">
            <a:avLst/>
          </a:prstGeom>
        </p:spPr>
      </p:pic>
      <p:sp>
        <p:nvSpPr>
          <p:cNvPr id="26" name="Text 20"/>
          <p:cNvSpPr/>
          <p:nvPr/>
        </p:nvSpPr>
        <p:spPr>
          <a:xfrm>
            <a:off x="5431536" y="2103120"/>
            <a:ext cx="384048" cy="274320"/>
          </a:xfrm>
          <a:prstGeom prst="rect">
            <a:avLst/>
          </a:prstGeom>
          <a:noFill/>
          <a:ln/>
        </p:spPr>
        <p:txBody>
          <a:bodyPr wrap="square" lIns="0" tIns="0" rIns="0" bIns="0" rtlCol="0" anchor="ctr"/>
          <a:lstStyle/>
          <a:p>
            <a:pPr marL="0" indent="0">
              <a:buNone/>
            </a:pPr>
            <a:r>
              <a:rPr lang="en-US" sz="900" b="1" dirty="0">
                <a:solidFill>
                  <a:srgbClr val="E8A020"/>
                </a:solidFill>
                <a:latin typeface="Calibri" pitchFamily="34" charset="0"/>
                <a:ea typeface="Calibri" pitchFamily="34" charset="-122"/>
                <a:cs typeface="Calibri" pitchFamily="34" charset="-120"/>
              </a:rPr>
              <a:t>04</a:t>
            </a:r>
            <a:endParaRPr lang="en-US" sz="900" dirty="0"/>
          </a:p>
        </p:txBody>
      </p:sp>
      <p:sp>
        <p:nvSpPr>
          <p:cNvPr id="27" name="Text 21"/>
          <p:cNvSpPr/>
          <p:nvPr/>
        </p:nvSpPr>
        <p:spPr>
          <a:xfrm>
            <a:off x="5431536" y="2103120"/>
            <a:ext cx="3429000" cy="310896"/>
          </a:xfrm>
          <a:prstGeom prst="rect">
            <a:avLst/>
          </a:prstGeom>
          <a:noFill/>
          <a:ln/>
        </p:spPr>
        <p:txBody>
          <a:bodyPr wrap="square" lIns="0" tIns="0" rIns="0" bIns="0" rtlCol="0" anchor="ctr"/>
          <a:lstStyle/>
          <a:p>
            <a:pPr marL="0" indent="0" algn="r">
              <a:buNone/>
            </a:pPr>
            <a:r>
              <a:rPr lang="en-US" sz="1200" b="1" dirty="0">
                <a:solidFill>
                  <a:srgbClr val="0B1D3A"/>
                </a:solidFill>
                <a:latin typeface="Calibri" pitchFamily="34" charset="0"/>
                <a:ea typeface="Calibri" pitchFamily="34" charset="-122"/>
                <a:cs typeface="Calibri" pitchFamily="34" charset="-120"/>
              </a:rPr>
              <a:t>Privacy-Preserving by Design</a:t>
            </a:r>
            <a:endParaRPr lang="en-US" sz="1200" dirty="0"/>
          </a:p>
        </p:txBody>
      </p:sp>
      <p:sp>
        <p:nvSpPr>
          <p:cNvPr id="28" name="Text 22"/>
          <p:cNvSpPr/>
          <p:nvPr/>
        </p:nvSpPr>
        <p:spPr>
          <a:xfrm>
            <a:off x="5431536" y="2432304"/>
            <a:ext cx="3429000" cy="475488"/>
          </a:xfrm>
          <a:prstGeom prst="rect">
            <a:avLst/>
          </a:prstGeom>
          <a:noFill/>
          <a:ln/>
        </p:spPr>
        <p:txBody>
          <a:bodyPr wrap="square" lIns="0" tIns="0" rIns="0" bIns="0" rtlCol="0" anchor="ctr"/>
          <a:lstStyle/>
          <a:p>
            <a:pPr marL="0" indent="0">
              <a:buNone/>
            </a:pPr>
            <a:r>
              <a:rPr lang="en-US" sz="920" dirty="0">
                <a:solidFill>
                  <a:srgbClr val="4A5568"/>
                </a:solidFill>
                <a:latin typeface="Calibri" pitchFamily="34" charset="0"/>
                <a:ea typeface="Calibri" pitchFamily="34" charset="-122"/>
                <a:cs typeface="Calibri" pitchFamily="34" charset="-120"/>
              </a:rPr>
              <a:t>Hashed identifiers and ZK proofs mean no raw customer data is ever shared across institutions. GDPR compliance is architectural, not bolted on.</a:t>
            </a:r>
            <a:endParaRPr lang="en-US" sz="920" dirty="0"/>
          </a:p>
        </p:txBody>
      </p:sp>
      <p:sp>
        <p:nvSpPr>
          <p:cNvPr id="29" name="Shape 23"/>
          <p:cNvSpPr/>
          <p:nvPr/>
        </p:nvSpPr>
        <p:spPr>
          <a:xfrm>
            <a:off x="256032" y="3054096"/>
            <a:ext cx="4251960" cy="932688"/>
          </a:xfrm>
          <a:prstGeom prst="roundRect">
            <a:avLst>
              <a:gd name="adj" fmla="val 9804"/>
            </a:avLst>
          </a:prstGeom>
          <a:solidFill>
            <a:srgbClr val="FFFFFF"/>
          </a:solidFill>
          <a:ln w="12700">
            <a:solidFill>
              <a:srgbClr val="DDE4EF"/>
            </a:solidFill>
            <a:prstDash val="solid"/>
          </a:ln>
          <a:effectLst>
            <a:outerShdw blurRad="63500" dist="25400" dir="2700000" algn="bl" rotWithShape="0">
              <a:srgbClr val="000000">
                <a:alpha val="13000"/>
              </a:srgbClr>
            </a:outerShdw>
          </a:effectLst>
        </p:spPr>
      </p:sp>
      <p:sp>
        <p:nvSpPr>
          <p:cNvPr id="30" name="Shape 24"/>
          <p:cNvSpPr/>
          <p:nvPr/>
        </p:nvSpPr>
        <p:spPr>
          <a:xfrm>
            <a:off x="384048" y="3163824"/>
            <a:ext cx="512064" cy="512064"/>
          </a:xfrm>
          <a:prstGeom prst="ellipse">
            <a:avLst/>
          </a:prstGeom>
          <a:solidFill>
            <a:srgbClr val="E8F0F8"/>
          </a:solidFill>
          <a:ln w="12700">
            <a:solidFill>
              <a:srgbClr val="1DB87A"/>
            </a:solidFill>
            <a:prstDash val="solid"/>
          </a:ln>
        </p:spPr>
      </p:sp>
      <p:pic>
        <p:nvPicPr>
          <p:cNvPr id="31" name="Image 4" descr="preencoded.png"/>
          <p:cNvPicPr>
            <a:picLocks noChangeAspect="1"/>
          </p:cNvPicPr>
          <p:nvPr/>
        </p:nvPicPr>
        <p:blipFill>
          <a:blip r:embed="rId7"/>
          <a:stretch>
            <a:fillRect/>
          </a:stretch>
        </p:blipFill>
        <p:spPr>
          <a:xfrm>
            <a:off x="457200" y="3227832"/>
            <a:ext cx="365760" cy="365760"/>
          </a:xfrm>
          <a:prstGeom prst="rect">
            <a:avLst/>
          </a:prstGeom>
        </p:spPr>
      </p:pic>
      <p:sp>
        <p:nvSpPr>
          <p:cNvPr id="32" name="Text 25"/>
          <p:cNvSpPr/>
          <p:nvPr/>
        </p:nvSpPr>
        <p:spPr>
          <a:xfrm>
            <a:off x="969264" y="3127248"/>
            <a:ext cx="384048" cy="274320"/>
          </a:xfrm>
          <a:prstGeom prst="rect">
            <a:avLst/>
          </a:prstGeom>
          <a:noFill/>
          <a:ln/>
        </p:spPr>
        <p:txBody>
          <a:bodyPr wrap="square" lIns="0" tIns="0" rIns="0" bIns="0" rtlCol="0" anchor="ctr"/>
          <a:lstStyle/>
          <a:p>
            <a:pPr marL="0" indent="0">
              <a:buNone/>
            </a:pPr>
            <a:r>
              <a:rPr lang="en-US" sz="900" b="1" dirty="0">
                <a:solidFill>
                  <a:srgbClr val="1DB87A"/>
                </a:solidFill>
                <a:latin typeface="Calibri" pitchFamily="34" charset="0"/>
                <a:ea typeface="Calibri" pitchFamily="34" charset="-122"/>
                <a:cs typeface="Calibri" pitchFamily="34" charset="-120"/>
              </a:rPr>
              <a:t>05</a:t>
            </a:r>
            <a:endParaRPr lang="en-US" sz="900" dirty="0"/>
          </a:p>
        </p:txBody>
      </p:sp>
      <p:sp>
        <p:nvSpPr>
          <p:cNvPr id="33" name="Text 26"/>
          <p:cNvSpPr/>
          <p:nvPr/>
        </p:nvSpPr>
        <p:spPr>
          <a:xfrm>
            <a:off x="969264" y="3127248"/>
            <a:ext cx="3429000" cy="310896"/>
          </a:xfrm>
          <a:prstGeom prst="rect">
            <a:avLst/>
          </a:prstGeom>
          <a:noFill/>
          <a:ln/>
        </p:spPr>
        <p:txBody>
          <a:bodyPr wrap="square" lIns="0" tIns="0" rIns="0" bIns="0" rtlCol="0" anchor="ctr"/>
          <a:lstStyle/>
          <a:p>
            <a:pPr marL="0" indent="0" algn="r">
              <a:buNone/>
            </a:pPr>
            <a:r>
              <a:rPr lang="en-US" sz="1200" b="1" dirty="0">
                <a:solidFill>
                  <a:srgbClr val="0B1D3A"/>
                </a:solidFill>
                <a:latin typeface="Calibri" pitchFamily="34" charset="0"/>
                <a:ea typeface="Calibri" pitchFamily="34" charset="-122"/>
                <a:cs typeface="Calibri" pitchFamily="34" charset="-120"/>
              </a:rPr>
              <a:t>Sub-50ms Query Latency</a:t>
            </a:r>
            <a:endParaRPr lang="en-US" sz="1200" dirty="0"/>
          </a:p>
        </p:txBody>
      </p:sp>
      <p:sp>
        <p:nvSpPr>
          <p:cNvPr id="34" name="Text 27"/>
          <p:cNvSpPr/>
          <p:nvPr/>
        </p:nvSpPr>
        <p:spPr>
          <a:xfrm>
            <a:off x="969264" y="3456432"/>
            <a:ext cx="3429000" cy="475488"/>
          </a:xfrm>
          <a:prstGeom prst="rect">
            <a:avLst/>
          </a:prstGeom>
          <a:noFill/>
          <a:ln/>
        </p:spPr>
        <p:txBody>
          <a:bodyPr wrap="square" lIns="0" tIns="0" rIns="0" bIns="0" rtlCol="0" anchor="ctr"/>
          <a:lstStyle/>
          <a:p>
            <a:pPr marL="0" indent="0">
              <a:buNone/>
            </a:pPr>
            <a:r>
              <a:rPr lang="en-US" sz="920" dirty="0">
                <a:solidFill>
                  <a:srgbClr val="4A5568"/>
                </a:solidFill>
                <a:latin typeface="Calibri" pitchFamily="34" charset="0"/>
                <a:ea typeface="Calibri" pitchFamily="34" charset="-122"/>
                <a:cs typeface="Calibri" pitchFamily="34" charset="-120"/>
              </a:rPr>
              <a:t>Ledger fraud flag queries add under 50ms to the payment journey — imperceptible to the customer. No degradation of the payment experience.</a:t>
            </a:r>
            <a:endParaRPr lang="en-US" sz="920" dirty="0"/>
          </a:p>
        </p:txBody>
      </p:sp>
      <p:sp>
        <p:nvSpPr>
          <p:cNvPr id="35" name="Shape 28"/>
          <p:cNvSpPr/>
          <p:nvPr/>
        </p:nvSpPr>
        <p:spPr>
          <a:xfrm>
            <a:off x="4718304" y="3054096"/>
            <a:ext cx="4251960" cy="932688"/>
          </a:xfrm>
          <a:prstGeom prst="roundRect">
            <a:avLst>
              <a:gd name="adj" fmla="val 9804"/>
            </a:avLst>
          </a:prstGeom>
          <a:solidFill>
            <a:srgbClr val="FFFFFF"/>
          </a:solidFill>
          <a:ln w="12700">
            <a:solidFill>
              <a:srgbClr val="DDE4EF"/>
            </a:solidFill>
            <a:prstDash val="solid"/>
          </a:ln>
          <a:effectLst>
            <a:outerShdw blurRad="63500" dist="25400" dir="2700000" algn="bl" rotWithShape="0">
              <a:srgbClr val="000000">
                <a:alpha val="13000"/>
              </a:srgbClr>
            </a:outerShdw>
          </a:effectLst>
        </p:spPr>
      </p:sp>
      <p:sp>
        <p:nvSpPr>
          <p:cNvPr id="36" name="Shape 29"/>
          <p:cNvSpPr/>
          <p:nvPr/>
        </p:nvSpPr>
        <p:spPr>
          <a:xfrm>
            <a:off x="4846320" y="3163824"/>
            <a:ext cx="512064" cy="512064"/>
          </a:xfrm>
          <a:prstGeom prst="ellipse">
            <a:avLst/>
          </a:prstGeom>
          <a:solidFill>
            <a:srgbClr val="E8F0F8"/>
          </a:solidFill>
          <a:ln w="12700">
            <a:solidFill>
              <a:srgbClr val="0D9488"/>
            </a:solidFill>
            <a:prstDash val="solid"/>
          </a:ln>
        </p:spPr>
      </p:sp>
      <p:pic>
        <p:nvPicPr>
          <p:cNvPr id="37" name="Image 5" descr="preencoded.png"/>
          <p:cNvPicPr>
            <a:picLocks noChangeAspect="1"/>
          </p:cNvPicPr>
          <p:nvPr/>
        </p:nvPicPr>
        <p:blipFill>
          <a:blip r:embed="rId8"/>
          <a:stretch>
            <a:fillRect/>
          </a:stretch>
        </p:blipFill>
        <p:spPr>
          <a:xfrm>
            <a:off x="4919472" y="3227832"/>
            <a:ext cx="365760" cy="365760"/>
          </a:xfrm>
          <a:prstGeom prst="rect">
            <a:avLst/>
          </a:prstGeom>
        </p:spPr>
      </p:pic>
      <p:sp>
        <p:nvSpPr>
          <p:cNvPr id="38" name="Text 30"/>
          <p:cNvSpPr/>
          <p:nvPr/>
        </p:nvSpPr>
        <p:spPr>
          <a:xfrm>
            <a:off x="5431536" y="3127248"/>
            <a:ext cx="384048" cy="274320"/>
          </a:xfrm>
          <a:prstGeom prst="rect">
            <a:avLst/>
          </a:prstGeom>
          <a:noFill/>
          <a:ln/>
        </p:spPr>
        <p:txBody>
          <a:bodyPr wrap="square" lIns="0" tIns="0" rIns="0" bIns="0" rtlCol="0" anchor="ctr"/>
          <a:lstStyle/>
          <a:p>
            <a:pPr marL="0" indent="0">
              <a:buNone/>
            </a:pPr>
            <a:r>
              <a:rPr lang="en-US" sz="900" b="1" dirty="0">
                <a:solidFill>
                  <a:srgbClr val="0D9488"/>
                </a:solidFill>
                <a:latin typeface="Calibri" pitchFamily="34" charset="0"/>
                <a:ea typeface="Calibri" pitchFamily="34" charset="-122"/>
                <a:cs typeface="Calibri" pitchFamily="34" charset="-120"/>
              </a:rPr>
              <a:t>06</a:t>
            </a:r>
            <a:endParaRPr lang="en-US" sz="900" dirty="0"/>
          </a:p>
        </p:txBody>
      </p:sp>
      <p:sp>
        <p:nvSpPr>
          <p:cNvPr id="39" name="Text 31"/>
          <p:cNvSpPr/>
          <p:nvPr/>
        </p:nvSpPr>
        <p:spPr>
          <a:xfrm>
            <a:off x="5431536" y="3127248"/>
            <a:ext cx="3429000" cy="310896"/>
          </a:xfrm>
          <a:prstGeom prst="rect">
            <a:avLst/>
          </a:prstGeom>
          <a:noFill/>
          <a:ln/>
        </p:spPr>
        <p:txBody>
          <a:bodyPr wrap="square" lIns="0" tIns="0" rIns="0" bIns="0" rtlCol="0" anchor="ctr"/>
          <a:lstStyle/>
          <a:p>
            <a:pPr marL="0" indent="0" algn="r">
              <a:buNone/>
            </a:pPr>
            <a:r>
              <a:rPr lang="en-US" sz="1200" b="1" dirty="0">
                <a:solidFill>
                  <a:srgbClr val="0B1D3A"/>
                </a:solidFill>
                <a:latin typeface="Calibri" pitchFamily="34" charset="0"/>
                <a:ea typeface="Calibri" pitchFamily="34" charset="-122"/>
                <a:cs typeface="Calibri" pitchFamily="34" charset="-120"/>
              </a:rPr>
              <a:t>Built-In Regulatory Transparency</a:t>
            </a:r>
            <a:endParaRPr lang="en-US" sz="1200" dirty="0"/>
          </a:p>
        </p:txBody>
      </p:sp>
      <p:sp>
        <p:nvSpPr>
          <p:cNvPr id="40" name="Text 32"/>
          <p:cNvSpPr/>
          <p:nvPr/>
        </p:nvSpPr>
        <p:spPr>
          <a:xfrm>
            <a:off x="5431536" y="3456432"/>
            <a:ext cx="3429000" cy="475488"/>
          </a:xfrm>
          <a:prstGeom prst="rect">
            <a:avLst/>
          </a:prstGeom>
          <a:noFill/>
          <a:ln/>
        </p:spPr>
        <p:txBody>
          <a:bodyPr wrap="square" lIns="0" tIns="0" rIns="0" bIns="0" rtlCol="0" anchor="ctr"/>
          <a:lstStyle/>
          <a:p>
            <a:pPr marL="0" indent="0">
              <a:buNone/>
            </a:pPr>
            <a:r>
              <a:rPr lang="en-US" sz="920" dirty="0">
                <a:solidFill>
                  <a:srgbClr val="4A5568"/>
                </a:solidFill>
                <a:latin typeface="Calibri" pitchFamily="34" charset="0"/>
                <a:ea typeface="Calibri" pitchFamily="34" charset="-122"/>
                <a:cs typeface="Calibri" pitchFamily="34" charset="-120"/>
              </a:rPr>
              <a:t>The FCA and PSR get a read-only observer node. Regulatory reporting is automated and on-chain. Compliance evidence is always available.</a:t>
            </a:r>
            <a:endParaRPr lang="en-US" sz="920" dirty="0"/>
          </a:p>
        </p:txBody>
      </p:sp>
      <p:sp>
        <p:nvSpPr>
          <p:cNvPr id="41" name="Shape 33"/>
          <p:cNvSpPr/>
          <p:nvPr/>
        </p:nvSpPr>
        <p:spPr>
          <a:xfrm>
            <a:off x="256032" y="4078224"/>
            <a:ext cx="4251960" cy="932688"/>
          </a:xfrm>
          <a:prstGeom prst="roundRect">
            <a:avLst>
              <a:gd name="adj" fmla="val 9804"/>
            </a:avLst>
          </a:prstGeom>
          <a:solidFill>
            <a:srgbClr val="FFFFFF"/>
          </a:solidFill>
          <a:ln w="12700">
            <a:solidFill>
              <a:srgbClr val="DDE4EF"/>
            </a:solidFill>
            <a:prstDash val="solid"/>
          </a:ln>
          <a:effectLst>
            <a:outerShdw blurRad="63500" dist="25400" dir="2700000" algn="bl" rotWithShape="0">
              <a:srgbClr val="000000">
                <a:alpha val="13000"/>
              </a:srgbClr>
            </a:outerShdw>
          </a:effectLst>
        </p:spPr>
      </p:sp>
      <p:sp>
        <p:nvSpPr>
          <p:cNvPr id="42" name="Shape 34"/>
          <p:cNvSpPr/>
          <p:nvPr/>
        </p:nvSpPr>
        <p:spPr>
          <a:xfrm>
            <a:off x="384048" y="4187952"/>
            <a:ext cx="512064" cy="512064"/>
          </a:xfrm>
          <a:prstGeom prst="ellipse">
            <a:avLst/>
          </a:prstGeom>
          <a:solidFill>
            <a:srgbClr val="E8F0F8"/>
          </a:solidFill>
          <a:ln w="12700">
            <a:solidFill>
              <a:srgbClr val="E8A020"/>
            </a:solidFill>
            <a:prstDash val="solid"/>
          </a:ln>
        </p:spPr>
      </p:sp>
      <p:pic>
        <p:nvPicPr>
          <p:cNvPr id="43" name="Image 6" descr="preencoded.png"/>
          <p:cNvPicPr>
            <a:picLocks noChangeAspect="1"/>
          </p:cNvPicPr>
          <p:nvPr/>
        </p:nvPicPr>
        <p:blipFill>
          <a:blip r:embed="rId9"/>
          <a:stretch>
            <a:fillRect/>
          </a:stretch>
        </p:blipFill>
        <p:spPr>
          <a:xfrm>
            <a:off x="457200" y="4251960"/>
            <a:ext cx="365760" cy="365760"/>
          </a:xfrm>
          <a:prstGeom prst="rect">
            <a:avLst/>
          </a:prstGeom>
        </p:spPr>
      </p:pic>
      <p:sp>
        <p:nvSpPr>
          <p:cNvPr id="44" name="Text 35"/>
          <p:cNvSpPr/>
          <p:nvPr/>
        </p:nvSpPr>
        <p:spPr>
          <a:xfrm>
            <a:off x="969264" y="4151376"/>
            <a:ext cx="384048" cy="274320"/>
          </a:xfrm>
          <a:prstGeom prst="rect">
            <a:avLst/>
          </a:prstGeom>
          <a:noFill/>
          <a:ln/>
        </p:spPr>
        <p:txBody>
          <a:bodyPr wrap="square" lIns="0" tIns="0" rIns="0" bIns="0" rtlCol="0" anchor="ctr"/>
          <a:lstStyle/>
          <a:p>
            <a:pPr marL="0" indent="0">
              <a:buNone/>
            </a:pPr>
            <a:r>
              <a:rPr lang="en-US" sz="900" b="1" dirty="0">
                <a:solidFill>
                  <a:srgbClr val="E8A020"/>
                </a:solidFill>
                <a:latin typeface="Calibri" pitchFamily="34" charset="0"/>
                <a:ea typeface="Calibri" pitchFamily="34" charset="-122"/>
                <a:cs typeface="Calibri" pitchFamily="34" charset="-120"/>
              </a:rPr>
              <a:t>07</a:t>
            </a:r>
            <a:endParaRPr lang="en-US" sz="900" dirty="0"/>
          </a:p>
        </p:txBody>
      </p:sp>
      <p:sp>
        <p:nvSpPr>
          <p:cNvPr id="45" name="Text 36"/>
          <p:cNvSpPr/>
          <p:nvPr/>
        </p:nvSpPr>
        <p:spPr>
          <a:xfrm>
            <a:off x="969264" y="4151376"/>
            <a:ext cx="3429000" cy="310896"/>
          </a:xfrm>
          <a:prstGeom prst="rect">
            <a:avLst/>
          </a:prstGeom>
          <a:noFill/>
          <a:ln/>
        </p:spPr>
        <p:txBody>
          <a:bodyPr wrap="square" lIns="0" tIns="0" rIns="0" bIns="0" rtlCol="0" anchor="ctr"/>
          <a:lstStyle/>
          <a:p>
            <a:pPr marL="0" indent="0" algn="r">
              <a:buNone/>
            </a:pPr>
            <a:r>
              <a:rPr lang="en-US" sz="1200" b="1" dirty="0">
                <a:solidFill>
                  <a:srgbClr val="0B1D3A"/>
                </a:solidFill>
                <a:latin typeface="Calibri" pitchFamily="34" charset="0"/>
                <a:ea typeface="Calibri" pitchFamily="34" charset="-122"/>
                <a:cs typeface="Calibri" pitchFamily="34" charset="-120"/>
              </a:rPr>
              <a:t>Automated Fraud Ops</a:t>
            </a:r>
            <a:endParaRPr lang="en-US" sz="1200" dirty="0"/>
          </a:p>
        </p:txBody>
      </p:sp>
      <p:sp>
        <p:nvSpPr>
          <p:cNvPr id="46" name="Text 37"/>
          <p:cNvSpPr/>
          <p:nvPr/>
        </p:nvSpPr>
        <p:spPr>
          <a:xfrm>
            <a:off x="969264" y="4480560"/>
            <a:ext cx="3429000" cy="475488"/>
          </a:xfrm>
          <a:prstGeom prst="rect">
            <a:avLst/>
          </a:prstGeom>
          <a:noFill/>
          <a:ln/>
        </p:spPr>
        <p:txBody>
          <a:bodyPr wrap="square" lIns="0" tIns="0" rIns="0" bIns="0" rtlCol="0" anchor="ctr"/>
          <a:lstStyle/>
          <a:p>
            <a:pPr marL="0" indent="0">
              <a:buNone/>
            </a:pPr>
            <a:r>
              <a:rPr lang="en-US" sz="920" dirty="0">
                <a:solidFill>
                  <a:srgbClr val="4A5568"/>
                </a:solidFill>
                <a:latin typeface="Calibri" pitchFamily="34" charset="0"/>
                <a:ea typeface="Calibri" pitchFamily="34" charset="-122"/>
                <a:cs typeface="Calibri" pitchFamily="34" charset="-120"/>
              </a:rPr>
              <a:t>Cases are raised automatically with a full evidence bundle. Manual triage, evidence gathering, and cross-bank liaison are eliminated — 60% cost reduction.</a:t>
            </a:r>
            <a:endParaRPr lang="en-US" sz="920" dirty="0"/>
          </a:p>
        </p:txBody>
      </p:sp>
      <p:sp>
        <p:nvSpPr>
          <p:cNvPr id="47" name="Shape 38"/>
          <p:cNvSpPr/>
          <p:nvPr/>
        </p:nvSpPr>
        <p:spPr>
          <a:xfrm>
            <a:off x="4718304" y="4078224"/>
            <a:ext cx="4251960" cy="932688"/>
          </a:xfrm>
          <a:prstGeom prst="roundRect">
            <a:avLst>
              <a:gd name="adj" fmla="val 9804"/>
            </a:avLst>
          </a:prstGeom>
          <a:solidFill>
            <a:srgbClr val="FFFFFF"/>
          </a:solidFill>
          <a:ln w="12700">
            <a:solidFill>
              <a:srgbClr val="DDE4EF"/>
            </a:solidFill>
            <a:prstDash val="solid"/>
          </a:ln>
          <a:effectLst>
            <a:outerShdw blurRad="63500" dist="25400" dir="2700000" algn="bl" rotWithShape="0">
              <a:srgbClr val="000000">
                <a:alpha val="13000"/>
              </a:srgbClr>
            </a:outerShdw>
          </a:effectLst>
        </p:spPr>
      </p:sp>
      <p:sp>
        <p:nvSpPr>
          <p:cNvPr id="48" name="Shape 39"/>
          <p:cNvSpPr/>
          <p:nvPr/>
        </p:nvSpPr>
        <p:spPr>
          <a:xfrm>
            <a:off x="4846320" y="4187952"/>
            <a:ext cx="512064" cy="512064"/>
          </a:xfrm>
          <a:prstGeom prst="ellipse">
            <a:avLst/>
          </a:prstGeom>
          <a:solidFill>
            <a:srgbClr val="E8F0F8"/>
          </a:solidFill>
          <a:ln w="12700">
            <a:solidFill>
              <a:srgbClr val="2980B9"/>
            </a:solidFill>
            <a:prstDash val="solid"/>
          </a:ln>
        </p:spPr>
      </p:sp>
      <p:pic>
        <p:nvPicPr>
          <p:cNvPr id="49" name="Image 7" descr="preencoded.png"/>
          <p:cNvPicPr>
            <a:picLocks noChangeAspect="1"/>
          </p:cNvPicPr>
          <p:nvPr/>
        </p:nvPicPr>
        <p:blipFill>
          <a:blip r:embed="rId10"/>
          <a:stretch>
            <a:fillRect/>
          </a:stretch>
        </p:blipFill>
        <p:spPr>
          <a:xfrm>
            <a:off x="4919472" y="4251960"/>
            <a:ext cx="365760" cy="365760"/>
          </a:xfrm>
          <a:prstGeom prst="rect">
            <a:avLst/>
          </a:prstGeom>
        </p:spPr>
      </p:pic>
      <p:sp>
        <p:nvSpPr>
          <p:cNvPr id="50" name="Text 40"/>
          <p:cNvSpPr/>
          <p:nvPr/>
        </p:nvSpPr>
        <p:spPr>
          <a:xfrm>
            <a:off x="5431536" y="4151376"/>
            <a:ext cx="384048" cy="274320"/>
          </a:xfrm>
          <a:prstGeom prst="rect">
            <a:avLst/>
          </a:prstGeom>
          <a:noFill/>
          <a:ln/>
        </p:spPr>
        <p:txBody>
          <a:bodyPr wrap="square" lIns="0" tIns="0" rIns="0" bIns="0" rtlCol="0" anchor="ctr"/>
          <a:lstStyle/>
          <a:p>
            <a:pPr marL="0" indent="0">
              <a:buNone/>
            </a:pPr>
            <a:r>
              <a:rPr lang="en-US" sz="900" b="1" dirty="0">
                <a:solidFill>
                  <a:srgbClr val="2980B9"/>
                </a:solidFill>
                <a:latin typeface="Calibri" pitchFamily="34" charset="0"/>
                <a:ea typeface="Calibri" pitchFamily="34" charset="-122"/>
                <a:cs typeface="Calibri" pitchFamily="34" charset="-120"/>
              </a:rPr>
              <a:t>08</a:t>
            </a:r>
            <a:endParaRPr lang="en-US" sz="900" dirty="0"/>
          </a:p>
        </p:txBody>
      </p:sp>
      <p:sp>
        <p:nvSpPr>
          <p:cNvPr id="51" name="Text 41"/>
          <p:cNvSpPr/>
          <p:nvPr/>
        </p:nvSpPr>
        <p:spPr>
          <a:xfrm>
            <a:off x="5431536" y="4151376"/>
            <a:ext cx="3429000" cy="310896"/>
          </a:xfrm>
          <a:prstGeom prst="rect">
            <a:avLst/>
          </a:prstGeom>
          <a:noFill/>
          <a:ln/>
        </p:spPr>
        <p:txBody>
          <a:bodyPr wrap="square" lIns="0" tIns="0" rIns="0" bIns="0" rtlCol="0" anchor="ctr"/>
          <a:lstStyle/>
          <a:p>
            <a:pPr marL="0" indent="0" algn="r">
              <a:buNone/>
            </a:pPr>
            <a:r>
              <a:rPr lang="en-US" sz="1200" b="1" dirty="0">
                <a:solidFill>
                  <a:srgbClr val="0B1D3A"/>
                </a:solidFill>
                <a:latin typeface="Calibri" pitchFamily="34" charset="0"/>
                <a:ea typeface="Calibri" pitchFamily="34" charset="-122"/>
                <a:cs typeface="Calibri" pitchFamily="34" charset="-120"/>
              </a:rPr>
              <a:t>Non-Invasive Integration</a:t>
            </a:r>
            <a:endParaRPr lang="en-US" sz="1200" dirty="0"/>
          </a:p>
        </p:txBody>
      </p:sp>
      <p:sp>
        <p:nvSpPr>
          <p:cNvPr id="52" name="Text 42"/>
          <p:cNvSpPr/>
          <p:nvPr/>
        </p:nvSpPr>
        <p:spPr>
          <a:xfrm>
            <a:off x="5431536" y="4480560"/>
            <a:ext cx="3429000" cy="475488"/>
          </a:xfrm>
          <a:prstGeom prst="rect">
            <a:avLst/>
          </a:prstGeom>
          <a:noFill/>
          <a:ln/>
        </p:spPr>
        <p:txBody>
          <a:bodyPr wrap="square" lIns="0" tIns="0" rIns="0" bIns="0" rtlCol="0" anchor="ctr"/>
          <a:lstStyle/>
          <a:p>
            <a:pPr marL="0" indent="0">
              <a:buNone/>
            </a:pPr>
            <a:r>
              <a:rPr lang="en-US" sz="920" dirty="0">
                <a:solidFill>
                  <a:srgbClr val="4A5568"/>
                </a:solidFill>
                <a:latin typeface="Calibri" pitchFamily="34" charset="0"/>
                <a:ea typeface="Calibri" pitchFamily="34" charset="-122"/>
                <a:cs typeface="Calibri" pitchFamily="34" charset="-120"/>
              </a:rPr>
              <a:t>The blockchain layer sits alongside existing systems. Core banking, Faster Payments gateway, and the customer app require zero changes to deploy Phase 1.</a:t>
            </a:r>
            <a:endParaRPr lang="en-US" sz="9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D3A"/>
        </a:solidFill>
        <a:effectLst/>
      </p:bgPr>
    </p:bg>
    <p:spTree>
      <p:nvGrpSpPr>
        <p:cNvPr id="1" name=""/>
        <p:cNvGrpSpPr/>
        <p:nvPr/>
      </p:nvGrpSpPr>
      <p:grpSpPr>
        <a:xfrm>
          <a:off x="0" y="0"/>
          <a:ext cx="0" cy="0"/>
          <a:chOff x="0" y="0"/>
          <a:chExt cx="0" cy="0"/>
        </a:xfrm>
      </p:grpSpPr>
      <p:sp>
        <p:nvSpPr>
          <p:cNvPr id="2" name="Text 0"/>
          <p:cNvSpPr/>
          <p:nvPr/>
        </p:nvSpPr>
        <p:spPr>
          <a:xfrm>
            <a:off x="365760" y="137160"/>
            <a:ext cx="8229600" cy="320040"/>
          </a:xfrm>
          <a:prstGeom prst="rect">
            <a:avLst/>
          </a:prstGeom>
          <a:noFill/>
          <a:ln/>
        </p:spPr>
        <p:txBody>
          <a:bodyPr wrap="square" lIns="0" tIns="0" rIns="0" bIns="0" rtlCol="0" anchor="ctr"/>
          <a:lstStyle/>
          <a:p>
            <a:pPr marL="0" indent="0">
              <a:buNone/>
            </a:pPr>
            <a:r>
              <a:rPr lang="en-US" sz="1000" b="1" kern="0" spc="300" dirty="0">
                <a:solidFill>
                  <a:srgbClr val="C0392B"/>
                </a:solidFill>
                <a:latin typeface="Calibri" pitchFamily="34" charset="0"/>
                <a:ea typeface="Calibri" pitchFamily="34" charset="-122"/>
                <a:cs typeface="Calibri" pitchFamily="34" charset="-120"/>
              </a:rPr>
              <a:t>LIMITATIONS &amp; RISKS</a:t>
            </a:r>
            <a:endParaRPr lang="en-US" sz="1000" dirty="0"/>
          </a:p>
        </p:txBody>
      </p:sp>
      <p:sp>
        <p:nvSpPr>
          <p:cNvPr id="3" name="Text 1"/>
          <p:cNvSpPr/>
          <p:nvPr/>
        </p:nvSpPr>
        <p:spPr>
          <a:xfrm>
            <a:off x="365760" y="438912"/>
            <a:ext cx="8229600" cy="475488"/>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Honest Assessment — Blockchain Is Not a Silver Bullet</a:t>
            </a:r>
            <a:endParaRPr lang="en-US" sz="1900" dirty="0"/>
          </a:p>
        </p:txBody>
      </p:sp>
      <p:sp>
        <p:nvSpPr>
          <p:cNvPr id="4" name="Shape 2"/>
          <p:cNvSpPr/>
          <p:nvPr/>
        </p:nvSpPr>
        <p:spPr>
          <a:xfrm>
            <a:off x="228600" y="1005840"/>
            <a:ext cx="4251960" cy="1261872"/>
          </a:xfrm>
          <a:prstGeom prst="roundRect">
            <a:avLst>
              <a:gd name="adj" fmla="val 7246"/>
            </a:avLst>
          </a:prstGeom>
          <a:solidFill>
            <a:srgbClr val="162D52"/>
          </a:solidFill>
          <a:ln w="12700">
            <a:solidFill>
              <a:srgbClr val="2A3A5A"/>
            </a:solidFill>
            <a:prstDash val="solid"/>
          </a:ln>
          <a:effectLst>
            <a:outerShdw blurRad="101600" dist="38100" dir="2700000" algn="bl" rotWithShape="0">
              <a:srgbClr val="000000">
                <a:alpha val="20000"/>
              </a:srgbClr>
            </a:outerShdw>
          </a:effectLst>
        </p:spPr>
      </p:sp>
      <p:pic>
        <p:nvPicPr>
          <p:cNvPr id="5" name="Image 0" descr="preencoded.png"/>
          <p:cNvPicPr>
            <a:picLocks noChangeAspect="1"/>
          </p:cNvPicPr>
          <p:nvPr/>
        </p:nvPicPr>
        <p:blipFill>
          <a:blip r:embed="rId3"/>
          <a:stretch>
            <a:fillRect/>
          </a:stretch>
        </p:blipFill>
        <p:spPr>
          <a:xfrm>
            <a:off x="365760" y="1115568"/>
            <a:ext cx="347472" cy="347472"/>
          </a:xfrm>
          <a:prstGeom prst="rect">
            <a:avLst/>
          </a:prstGeom>
        </p:spPr>
      </p:pic>
      <p:sp>
        <p:nvSpPr>
          <p:cNvPr id="6" name="Text 3"/>
          <p:cNvSpPr/>
          <p:nvPr/>
        </p:nvSpPr>
        <p:spPr>
          <a:xfrm>
            <a:off x="795528" y="1097280"/>
            <a:ext cx="3566160" cy="310896"/>
          </a:xfrm>
          <a:prstGeom prst="rect">
            <a:avLst/>
          </a:prstGeom>
          <a:noFill/>
          <a:ln/>
        </p:spPr>
        <p:txBody>
          <a:bodyPr wrap="square" lIns="0" tIns="0" rIns="0" bIns="0" rtlCol="0" anchor="ctr"/>
          <a:lstStyle/>
          <a:p>
            <a:pPr marL="0" indent="0">
              <a:buNone/>
            </a:pPr>
            <a:r>
              <a:rPr lang="en-US" sz="1150" b="1" dirty="0">
                <a:solidFill>
                  <a:srgbClr val="E8A020"/>
                </a:solidFill>
                <a:latin typeface="Calibri" pitchFamily="34" charset="0"/>
                <a:ea typeface="Calibri" pitchFamily="34" charset="-122"/>
                <a:cs typeface="Calibri" pitchFamily="34" charset="-120"/>
              </a:rPr>
              <a:t>Consortium Governance Risk</a:t>
            </a:r>
            <a:endParaRPr lang="en-US" sz="1150" dirty="0"/>
          </a:p>
        </p:txBody>
      </p:sp>
      <p:sp>
        <p:nvSpPr>
          <p:cNvPr id="7" name="Text 4"/>
          <p:cNvSpPr/>
          <p:nvPr/>
        </p:nvSpPr>
        <p:spPr>
          <a:xfrm>
            <a:off x="365760" y="1481328"/>
            <a:ext cx="3977640" cy="365760"/>
          </a:xfrm>
          <a:prstGeom prst="rect">
            <a:avLst/>
          </a:prstGeom>
          <a:noFill/>
          <a:ln/>
        </p:spPr>
        <p:txBody>
          <a:bodyPr wrap="square" lIns="0" tIns="0" rIns="0" bIns="0" rtlCol="0" anchor="ctr"/>
          <a:lstStyle/>
          <a:p>
            <a:pPr marL="0" indent="0">
              <a:buNone/>
            </a:pPr>
            <a:r>
              <a:rPr lang="en-US" sz="850" i="1" dirty="0">
                <a:solidFill>
                  <a:srgbClr val="E0CCCC"/>
                </a:solidFill>
                <a:latin typeface="Calibri" pitchFamily="34" charset="0"/>
                <a:ea typeface="Calibri" pitchFamily="34" charset="-122"/>
                <a:cs typeface="Calibri" pitchFamily="34" charset="-120"/>
              </a:rPr>
              <a:t>⚠  A shared ledger requires all participating banks to agree on rules, thresholds, governance, and upgrade cycles. Disagreements can stall the network.</a:t>
            </a:r>
            <a:endParaRPr lang="en-US" sz="850" dirty="0"/>
          </a:p>
        </p:txBody>
      </p:sp>
      <p:sp>
        <p:nvSpPr>
          <p:cNvPr id="8" name="Text 5"/>
          <p:cNvSpPr/>
          <p:nvPr/>
        </p:nvSpPr>
        <p:spPr>
          <a:xfrm>
            <a:off x="365760" y="1856232"/>
            <a:ext cx="3977640" cy="347472"/>
          </a:xfrm>
          <a:prstGeom prst="rect">
            <a:avLst/>
          </a:prstGeom>
          <a:noFill/>
          <a:ln/>
        </p:spPr>
        <p:txBody>
          <a:bodyPr wrap="square" lIns="0" tIns="0" rIns="0" bIns="0" rtlCol="0" anchor="ctr"/>
          <a:lstStyle/>
          <a:p>
            <a:pPr marL="0" indent="0">
              <a:buNone/>
            </a:pPr>
            <a:r>
              <a:rPr lang="en-US" sz="850" dirty="0">
                <a:solidFill>
                  <a:srgbClr val="1DB87A"/>
                </a:solidFill>
                <a:latin typeface="Calibri" pitchFamily="34" charset="0"/>
                <a:ea typeface="Calibri" pitchFamily="34" charset="-122"/>
                <a:cs typeface="Calibri" pitchFamily="34" charset="-120"/>
              </a:rPr>
              <a:t>✓  Establish a consortium governance body modelled on the existing Faster Payments scheme governance. Lloyds to lead as founding institution. Rules encoded in upgradeable chaincodes with supermajority voting.</a:t>
            </a:r>
            <a:endParaRPr lang="en-US" sz="850" dirty="0"/>
          </a:p>
        </p:txBody>
      </p:sp>
      <p:sp>
        <p:nvSpPr>
          <p:cNvPr id="9" name="Shape 6"/>
          <p:cNvSpPr/>
          <p:nvPr/>
        </p:nvSpPr>
        <p:spPr>
          <a:xfrm>
            <a:off x="4709160" y="1005840"/>
            <a:ext cx="4251960" cy="1261872"/>
          </a:xfrm>
          <a:prstGeom prst="roundRect">
            <a:avLst>
              <a:gd name="adj" fmla="val 7246"/>
            </a:avLst>
          </a:prstGeom>
          <a:solidFill>
            <a:srgbClr val="162D52"/>
          </a:solidFill>
          <a:ln w="12700">
            <a:solidFill>
              <a:srgbClr val="2A3A5A"/>
            </a:solidFill>
            <a:prstDash val="solid"/>
          </a:ln>
          <a:effectLst>
            <a:outerShdw blurRad="101600" dist="38100" dir="2700000" algn="bl" rotWithShape="0">
              <a:srgbClr val="000000">
                <a:alpha val="20000"/>
              </a:srgbClr>
            </a:outerShdw>
          </a:effectLst>
        </p:spPr>
      </p:sp>
      <p:pic>
        <p:nvPicPr>
          <p:cNvPr id="10" name="Image 1" descr="preencoded.png"/>
          <p:cNvPicPr>
            <a:picLocks noChangeAspect="1"/>
          </p:cNvPicPr>
          <p:nvPr/>
        </p:nvPicPr>
        <p:blipFill>
          <a:blip r:embed="rId4"/>
          <a:stretch>
            <a:fillRect/>
          </a:stretch>
        </p:blipFill>
        <p:spPr>
          <a:xfrm>
            <a:off x="4846320" y="1115568"/>
            <a:ext cx="347472" cy="347472"/>
          </a:xfrm>
          <a:prstGeom prst="rect">
            <a:avLst/>
          </a:prstGeom>
        </p:spPr>
      </p:pic>
      <p:sp>
        <p:nvSpPr>
          <p:cNvPr id="11" name="Text 7"/>
          <p:cNvSpPr/>
          <p:nvPr/>
        </p:nvSpPr>
        <p:spPr>
          <a:xfrm>
            <a:off x="5276088" y="1097280"/>
            <a:ext cx="3566160" cy="310896"/>
          </a:xfrm>
          <a:prstGeom prst="rect">
            <a:avLst/>
          </a:prstGeom>
          <a:noFill/>
          <a:ln/>
        </p:spPr>
        <p:txBody>
          <a:bodyPr wrap="square" lIns="0" tIns="0" rIns="0" bIns="0" rtlCol="0" anchor="ctr"/>
          <a:lstStyle/>
          <a:p>
            <a:pPr marL="0" indent="0">
              <a:buNone/>
            </a:pPr>
            <a:r>
              <a:rPr lang="en-US" sz="1150" b="1" dirty="0">
                <a:solidFill>
                  <a:srgbClr val="C0392B"/>
                </a:solidFill>
                <a:latin typeface="Calibri" pitchFamily="34" charset="0"/>
                <a:ea typeface="Calibri" pitchFamily="34" charset="-122"/>
                <a:cs typeface="Calibri" pitchFamily="34" charset="-120"/>
              </a:rPr>
              <a:t>False Positive Risk</a:t>
            </a:r>
            <a:endParaRPr lang="en-US" sz="1150" dirty="0"/>
          </a:p>
        </p:txBody>
      </p:sp>
      <p:sp>
        <p:nvSpPr>
          <p:cNvPr id="12" name="Text 8"/>
          <p:cNvSpPr/>
          <p:nvPr/>
        </p:nvSpPr>
        <p:spPr>
          <a:xfrm>
            <a:off x="4846320" y="1481328"/>
            <a:ext cx="3977640" cy="365760"/>
          </a:xfrm>
          <a:prstGeom prst="rect">
            <a:avLst/>
          </a:prstGeom>
          <a:noFill/>
          <a:ln/>
        </p:spPr>
        <p:txBody>
          <a:bodyPr wrap="square" lIns="0" tIns="0" rIns="0" bIns="0" rtlCol="0" anchor="ctr"/>
          <a:lstStyle/>
          <a:p>
            <a:pPr marL="0" indent="0">
              <a:buNone/>
            </a:pPr>
            <a:r>
              <a:rPr lang="en-US" sz="850" i="1" dirty="0">
                <a:solidFill>
                  <a:srgbClr val="E0CCCC"/>
                </a:solidFill>
                <a:latin typeface="Calibri" pitchFamily="34" charset="0"/>
                <a:ea typeface="Calibri" pitchFamily="34" charset="-122"/>
                <a:cs typeface="Calibri" pitchFamily="34" charset="-120"/>
              </a:rPr>
              <a:t>⚠  Aggressive smart contract thresholds may hold legitimate high-value payments — e.g. house purchases — causing customer friction and potential reputational damage.</a:t>
            </a:r>
            <a:endParaRPr lang="en-US" sz="850" dirty="0"/>
          </a:p>
        </p:txBody>
      </p:sp>
      <p:sp>
        <p:nvSpPr>
          <p:cNvPr id="13" name="Text 9"/>
          <p:cNvSpPr/>
          <p:nvPr/>
        </p:nvSpPr>
        <p:spPr>
          <a:xfrm>
            <a:off x="4846320" y="1856232"/>
            <a:ext cx="3977640" cy="347472"/>
          </a:xfrm>
          <a:prstGeom prst="rect">
            <a:avLst/>
          </a:prstGeom>
          <a:noFill/>
          <a:ln/>
        </p:spPr>
        <p:txBody>
          <a:bodyPr wrap="square" lIns="0" tIns="0" rIns="0" bIns="0" rtlCol="0" anchor="ctr"/>
          <a:lstStyle/>
          <a:p>
            <a:pPr marL="0" indent="0">
              <a:buNone/>
            </a:pPr>
            <a:r>
              <a:rPr lang="en-US" sz="850" dirty="0">
                <a:solidFill>
                  <a:srgbClr val="1DB87A"/>
                </a:solidFill>
                <a:latin typeface="Calibri" pitchFamily="34" charset="0"/>
                <a:ea typeface="Calibri" pitchFamily="34" charset="-122"/>
                <a:cs typeface="Calibri" pitchFamily="34" charset="-120"/>
              </a:rPr>
              <a:t>✓  Configurable thresholds with customer-level overrides (e.g. pre-authorised payees, scheduled large transfers). A/B threshold testing framework built into the oracle layer. Initial conservative rollout with gradual tightening.</a:t>
            </a:r>
            <a:endParaRPr lang="en-US" sz="850" dirty="0"/>
          </a:p>
        </p:txBody>
      </p:sp>
      <p:sp>
        <p:nvSpPr>
          <p:cNvPr id="14" name="Shape 10"/>
          <p:cNvSpPr/>
          <p:nvPr/>
        </p:nvSpPr>
        <p:spPr>
          <a:xfrm>
            <a:off x="228600" y="2359152"/>
            <a:ext cx="4251960" cy="1261872"/>
          </a:xfrm>
          <a:prstGeom prst="roundRect">
            <a:avLst>
              <a:gd name="adj" fmla="val 7246"/>
            </a:avLst>
          </a:prstGeom>
          <a:solidFill>
            <a:srgbClr val="162D52"/>
          </a:solidFill>
          <a:ln w="12700">
            <a:solidFill>
              <a:srgbClr val="2A3A5A"/>
            </a:solidFill>
            <a:prstDash val="solid"/>
          </a:ln>
          <a:effectLst>
            <a:outerShdw blurRad="101600" dist="38100" dir="2700000" algn="bl" rotWithShape="0">
              <a:srgbClr val="000000">
                <a:alpha val="20000"/>
              </a:srgbClr>
            </a:outerShdw>
          </a:effectLst>
        </p:spPr>
      </p:sp>
      <p:pic>
        <p:nvPicPr>
          <p:cNvPr id="15" name="Image 2" descr="preencoded.png"/>
          <p:cNvPicPr>
            <a:picLocks noChangeAspect="1"/>
          </p:cNvPicPr>
          <p:nvPr/>
        </p:nvPicPr>
        <p:blipFill>
          <a:blip r:embed="rId5"/>
          <a:stretch>
            <a:fillRect/>
          </a:stretch>
        </p:blipFill>
        <p:spPr>
          <a:xfrm>
            <a:off x="365760" y="2468880"/>
            <a:ext cx="347472" cy="347472"/>
          </a:xfrm>
          <a:prstGeom prst="rect">
            <a:avLst/>
          </a:prstGeom>
        </p:spPr>
      </p:pic>
      <p:sp>
        <p:nvSpPr>
          <p:cNvPr id="16" name="Text 11"/>
          <p:cNvSpPr/>
          <p:nvPr/>
        </p:nvSpPr>
        <p:spPr>
          <a:xfrm>
            <a:off x="795528" y="2450592"/>
            <a:ext cx="3566160" cy="310896"/>
          </a:xfrm>
          <a:prstGeom prst="rect">
            <a:avLst/>
          </a:prstGeom>
          <a:noFill/>
          <a:ln/>
        </p:spPr>
        <p:txBody>
          <a:bodyPr wrap="square" lIns="0" tIns="0" rIns="0" bIns="0" rtlCol="0" anchor="ctr"/>
          <a:lstStyle/>
          <a:p>
            <a:pPr marL="0" indent="0">
              <a:buNone/>
            </a:pPr>
            <a:r>
              <a:rPr lang="en-US" sz="1150" b="1" dirty="0">
                <a:solidFill>
                  <a:srgbClr val="2980B9"/>
                </a:solidFill>
                <a:latin typeface="Calibri" pitchFamily="34" charset="0"/>
                <a:ea typeface="Calibri" pitchFamily="34" charset="-122"/>
                <a:cs typeface="Calibri" pitchFamily="34" charset="-120"/>
              </a:rPr>
              <a:t>Node Availability &amp; Latency</a:t>
            </a:r>
            <a:endParaRPr lang="en-US" sz="1150" dirty="0"/>
          </a:p>
        </p:txBody>
      </p:sp>
      <p:sp>
        <p:nvSpPr>
          <p:cNvPr id="17" name="Text 12"/>
          <p:cNvSpPr/>
          <p:nvPr/>
        </p:nvSpPr>
        <p:spPr>
          <a:xfrm>
            <a:off x="365760" y="2834640"/>
            <a:ext cx="3977640" cy="365760"/>
          </a:xfrm>
          <a:prstGeom prst="rect">
            <a:avLst/>
          </a:prstGeom>
          <a:noFill/>
          <a:ln/>
        </p:spPr>
        <p:txBody>
          <a:bodyPr wrap="square" lIns="0" tIns="0" rIns="0" bIns="0" rtlCol="0" anchor="ctr"/>
          <a:lstStyle/>
          <a:p>
            <a:pPr marL="0" indent="0">
              <a:buNone/>
            </a:pPr>
            <a:r>
              <a:rPr lang="en-US" sz="850" i="1" dirty="0">
                <a:solidFill>
                  <a:srgbClr val="E0CCCC"/>
                </a:solidFill>
                <a:latin typeface="Calibri" pitchFamily="34" charset="0"/>
                <a:ea typeface="Calibri" pitchFamily="34" charset="-122"/>
                <a:cs typeface="Calibri" pitchFamily="34" charset="-120"/>
              </a:rPr>
              <a:t>⚠  If Fabric peer nodes or the ordering service experience downtime, the ledger query and smart contract execution may time out — introducing latency into the payment journey.</a:t>
            </a:r>
            <a:endParaRPr lang="en-US" sz="850" dirty="0"/>
          </a:p>
        </p:txBody>
      </p:sp>
      <p:sp>
        <p:nvSpPr>
          <p:cNvPr id="18" name="Text 13"/>
          <p:cNvSpPr/>
          <p:nvPr/>
        </p:nvSpPr>
        <p:spPr>
          <a:xfrm>
            <a:off x="365760" y="3209544"/>
            <a:ext cx="3977640" cy="347472"/>
          </a:xfrm>
          <a:prstGeom prst="rect">
            <a:avLst/>
          </a:prstGeom>
          <a:noFill/>
          <a:ln/>
        </p:spPr>
        <p:txBody>
          <a:bodyPr wrap="square" lIns="0" tIns="0" rIns="0" bIns="0" rtlCol="0" anchor="ctr"/>
          <a:lstStyle/>
          <a:p>
            <a:pPr marL="0" indent="0">
              <a:buNone/>
            </a:pPr>
            <a:r>
              <a:rPr lang="en-US" sz="850" dirty="0">
                <a:solidFill>
                  <a:srgbClr val="1DB87A"/>
                </a:solidFill>
                <a:latin typeface="Calibri" pitchFamily="34" charset="0"/>
                <a:ea typeface="Calibri" pitchFamily="34" charset="-122"/>
                <a:cs typeface="Calibri" pitchFamily="34" charset="-120"/>
              </a:rPr>
              <a:t>✓  Circuit breaker pattern: if ledger query exceeds 100ms or fails, payment proceeds on existing ML score alone (fail-open with enhanced monitoring). Redundant nodes in active-active configuration. SLA: 99.99% availability.</a:t>
            </a:r>
            <a:endParaRPr lang="en-US" sz="850" dirty="0"/>
          </a:p>
        </p:txBody>
      </p:sp>
      <p:sp>
        <p:nvSpPr>
          <p:cNvPr id="19" name="Shape 14"/>
          <p:cNvSpPr/>
          <p:nvPr/>
        </p:nvSpPr>
        <p:spPr>
          <a:xfrm>
            <a:off x="4709160" y="2359152"/>
            <a:ext cx="4251960" cy="1261872"/>
          </a:xfrm>
          <a:prstGeom prst="roundRect">
            <a:avLst>
              <a:gd name="adj" fmla="val 7246"/>
            </a:avLst>
          </a:prstGeom>
          <a:solidFill>
            <a:srgbClr val="162D52"/>
          </a:solidFill>
          <a:ln w="12700">
            <a:solidFill>
              <a:srgbClr val="2A3A5A"/>
            </a:solidFill>
            <a:prstDash val="solid"/>
          </a:ln>
          <a:effectLst>
            <a:outerShdw blurRad="101600" dist="38100" dir="2700000" algn="bl" rotWithShape="0">
              <a:srgbClr val="000000">
                <a:alpha val="20000"/>
              </a:srgbClr>
            </a:outerShdw>
          </a:effectLst>
        </p:spPr>
      </p:sp>
      <p:pic>
        <p:nvPicPr>
          <p:cNvPr id="20" name="Image 3" descr="preencoded.png"/>
          <p:cNvPicPr>
            <a:picLocks noChangeAspect="1"/>
          </p:cNvPicPr>
          <p:nvPr/>
        </p:nvPicPr>
        <p:blipFill>
          <a:blip r:embed="rId6"/>
          <a:stretch>
            <a:fillRect/>
          </a:stretch>
        </p:blipFill>
        <p:spPr>
          <a:xfrm>
            <a:off x="4846320" y="2468880"/>
            <a:ext cx="347472" cy="347472"/>
          </a:xfrm>
          <a:prstGeom prst="rect">
            <a:avLst/>
          </a:prstGeom>
        </p:spPr>
      </p:pic>
      <p:sp>
        <p:nvSpPr>
          <p:cNvPr id="21" name="Text 15"/>
          <p:cNvSpPr/>
          <p:nvPr/>
        </p:nvSpPr>
        <p:spPr>
          <a:xfrm>
            <a:off x="5276088" y="2450592"/>
            <a:ext cx="3566160" cy="310896"/>
          </a:xfrm>
          <a:prstGeom prst="rect">
            <a:avLst/>
          </a:prstGeom>
          <a:noFill/>
          <a:ln/>
        </p:spPr>
        <p:txBody>
          <a:bodyPr wrap="square" lIns="0" tIns="0" rIns="0" bIns="0" rtlCol="0" anchor="ctr"/>
          <a:lstStyle/>
          <a:p>
            <a:pPr marL="0" indent="0">
              <a:buNone/>
            </a:pPr>
            <a:r>
              <a:rPr lang="en-US" sz="1150" b="1" dirty="0">
                <a:solidFill>
                  <a:srgbClr val="7B2FBE"/>
                </a:solidFill>
                <a:latin typeface="Calibri" pitchFamily="34" charset="0"/>
                <a:ea typeface="Calibri" pitchFamily="34" charset="-122"/>
                <a:cs typeface="Calibri" pitchFamily="34" charset="-120"/>
              </a:rPr>
              <a:t>Key Management Complexity</a:t>
            </a:r>
            <a:endParaRPr lang="en-US" sz="1150" dirty="0"/>
          </a:p>
        </p:txBody>
      </p:sp>
      <p:sp>
        <p:nvSpPr>
          <p:cNvPr id="22" name="Text 16"/>
          <p:cNvSpPr/>
          <p:nvPr/>
        </p:nvSpPr>
        <p:spPr>
          <a:xfrm>
            <a:off x="4846320" y="2834640"/>
            <a:ext cx="3977640" cy="365760"/>
          </a:xfrm>
          <a:prstGeom prst="rect">
            <a:avLst/>
          </a:prstGeom>
          <a:noFill/>
          <a:ln/>
        </p:spPr>
        <p:txBody>
          <a:bodyPr wrap="square" lIns="0" tIns="0" rIns="0" bIns="0" rtlCol="0" anchor="ctr"/>
          <a:lstStyle/>
          <a:p>
            <a:pPr marL="0" indent="0">
              <a:buNone/>
            </a:pPr>
            <a:r>
              <a:rPr lang="en-US" sz="850" i="1" dirty="0">
                <a:solidFill>
                  <a:srgbClr val="E0CCCC"/>
                </a:solidFill>
                <a:latin typeface="Calibri" pitchFamily="34" charset="0"/>
                <a:ea typeface="Calibri" pitchFamily="34" charset="-122"/>
                <a:cs typeface="Calibri" pitchFamily="34" charset="-120"/>
              </a:rPr>
              <a:t>⚠  Hyperledger Fabric uses PKI-based identity. Managing cryptographic keys for multi-sig contracts, bank nodes, and customer wallets introduces operational complexity.</a:t>
            </a:r>
            <a:endParaRPr lang="en-US" sz="850" dirty="0"/>
          </a:p>
        </p:txBody>
      </p:sp>
      <p:sp>
        <p:nvSpPr>
          <p:cNvPr id="23" name="Text 17"/>
          <p:cNvSpPr/>
          <p:nvPr/>
        </p:nvSpPr>
        <p:spPr>
          <a:xfrm>
            <a:off x="4846320" y="3209544"/>
            <a:ext cx="3977640" cy="347472"/>
          </a:xfrm>
          <a:prstGeom prst="rect">
            <a:avLst/>
          </a:prstGeom>
          <a:noFill/>
          <a:ln/>
        </p:spPr>
        <p:txBody>
          <a:bodyPr wrap="square" lIns="0" tIns="0" rIns="0" bIns="0" rtlCol="0" anchor="ctr"/>
          <a:lstStyle/>
          <a:p>
            <a:pPr marL="0" indent="0">
              <a:buNone/>
            </a:pPr>
            <a:r>
              <a:rPr lang="en-US" sz="850" dirty="0">
                <a:solidFill>
                  <a:srgbClr val="1DB87A"/>
                </a:solidFill>
                <a:latin typeface="Calibri" pitchFamily="34" charset="0"/>
                <a:ea typeface="Calibri" pitchFamily="34" charset="-122"/>
                <a:cs typeface="Calibri" pitchFamily="34" charset="-120"/>
              </a:rPr>
              <a:t>✓  Hardware Security Module (HSM) integration for all node keys. Customer-facing keys managed via the bank's existing mobile cryptography infrastructure (Secure Enclave / Android Keystore). Dedicated PKI operations team.</a:t>
            </a:r>
            <a:endParaRPr lang="en-US" sz="850" dirty="0"/>
          </a:p>
        </p:txBody>
      </p:sp>
      <p:sp>
        <p:nvSpPr>
          <p:cNvPr id="24" name="Shape 18"/>
          <p:cNvSpPr/>
          <p:nvPr/>
        </p:nvSpPr>
        <p:spPr>
          <a:xfrm>
            <a:off x="228600" y="3712464"/>
            <a:ext cx="4251960" cy="1261872"/>
          </a:xfrm>
          <a:prstGeom prst="roundRect">
            <a:avLst>
              <a:gd name="adj" fmla="val 7246"/>
            </a:avLst>
          </a:prstGeom>
          <a:solidFill>
            <a:srgbClr val="162D52"/>
          </a:solidFill>
          <a:ln w="12700">
            <a:solidFill>
              <a:srgbClr val="2A3A5A"/>
            </a:solidFill>
            <a:prstDash val="solid"/>
          </a:ln>
          <a:effectLst>
            <a:outerShdw blurRad="101600" dist="38100" dir="2700000" algn="bl" rotWithShape="0">
              <a:srgbClr val="000000">
                <a:alpha val="20000"/>
              </a:srgbClr>
            </a:outerShdw>
          </a:effectLst>
        </p:spPr>
      </p:sp>
      <p:pic>
        <p:nvPicPr>
          <p:cNvPr id="25" name="Image 4" descr="preencoded.png"/>
          <p:cNvPicPr>
            <a:picLocks noChangeAspect="1"/>
          </p:cNvPicPr>
          <p:nvPr/>
        </p:nvPicPr>
        <p:blipFill>
          <a:blip r:embed="rId7"/>
          <a:stretch>
            <a:fillRect/>
          </a:stretch>
        </p:blipFill>
        <p:spPr>
          <a:xfrm>
            <a:off x="365760" y="3822192"/>
            <a:ext cx="347472" cy="347472"/>
          </a:xfrm>
          <a:prstGeom prst="rect">
            <a:avLst/>
          </a:prstGeom>
        </p:spPr>
      </p:pic>
      <p:sp>
        <p:nvSpPr>
          <p:cNvPr id="26" name="Text 19"/>
          <p:cNvSpPr/>
          <p:nvPr/>
        </p:nvSpPr>
        <p:spPr>
          <a:xfrm>
            <a:off x="795528" y="3803904"/>
            <a:ext cx="3566160" cy="310896"/>
          </a:xfrm>
          <a:prstGeom prst="rect">
            <a:avLst/>
          </a:prstGeom>
          <a:noFill/>
          <a:ln/>
        </p:spPr>
        <p:txBody>
          <a:bodyPr wrap="square" lIns="0" tIns="0" rIns="0" bIns="0" rtlCol="0" anchor="ctr"/>
          <a:lstStyle/>
          <a:p>
            <a:pPr marL="0" indent="0">
              <a:buNone/>
            </a:pPr>
            <a:r>
              <a:rPr lang="en-US" sz="1150" b="1" dirty="0">
                <a:solidFill>
                  <a:srgbClr val="0D9488"/>
                </a:solidFill>
                <a:latin typeface="Calibri" pitchFamily="34" charset="0"/>
                <a:ea typeface="Calibri" pitchFamily="34" charset="-122"/>
                <a:cs typeface="Calibri" pitchFamily="34" charset="-120"/>
              </a:rPr>
              <a:t>Regulatory Uncertainty</a:t>
            </a:r>
            <a:endParaRPr lang="en-US" sz="1150" dirty="0"/>
          </a:p>
        </p:txBody>
      </p:sp>
      <p:sp>
        <p:nvSpPr>
          <p:cNvPr id="27" name="Text 20"/>
          <p:cNvSpPr/>
          <p:nvPr/>
        </p:nvSpPr>
        <p:spPr>
          <a:xfrm>
            <a:off x="365760" y="4187952"/>
            <a:ext cx="3977640" cy="365760"/>
          </a:xfrm>
          <a:prstGeom prst="rect">
            <a:avLst/>
          </a:prstGeom>
          <a:noFill/>
          <a:ln/>
        </p:spPr>
        <p:txBody>
          <a:bodyPr wrap="square" lIns="0" tIns="0" rIns="0" bIns="0" rtlCol="0" anchor="ctr"/>
          <a:lstStyle/>
          <a:p>
            <a:pPr marL="0" indent="0">
              <a:buNone/>
            </a:pPr>
            <a:r>
              <a:rPr lang="en-US" sz="850" i="1" dirty="0">
                <a:solidFill>
                  <a:srgbClr val="E0CCCC"/>
                </a:solidFill>
                <a:latin typeface="Calibri" pitchFamily="34" charset="0"/>
                <a:ea typeface="Calibri" pitchFamily="34" charset="-122"/>
                <a:cs typeface="Calibri" pitchFamily="34" charset="-120"/>
              </a:rPr>
              <a:t>⚠  FCA and PSR have not yet published formal guidance on permissioned blockchain use in payment systems. Regulatory position may shift.</a:t>
            </a:r>
            <a:endParaRPr lang="en-US" sz="850" dirty="0"/>
          </a:p>
        </p:txBody>
      </p:sp>
      <p:sp>
        <p:nvSpPr>
          <p:cNvPr id="28" name="Text 21"/>
          <p:cNvSpPr/>
          <p:nvPr/>
        </p:nvSpPr>
        <p:spPr>
          <a:xfrm>
            <a:off x="365760" y="4562856"/>
            <a:ext cx="3977640" cy="347472"/>
          </a:xfrm>
          <a:prstGeom prst="rect">
            <a:avLst/>
          </a:prstGeom>
          <a:noFill/>
          <a:ln/>
        </p:spPr>
        <p:txBody>
          <a:bodyPr wrap="square" lIns="0" tIns="0" rIns="0" bIns="0" rtlCol="0" anchor="ctr"/>
          <a:lstStyle/>
          <a:p>
            <a:pPr marL="0" indent="0">
              <a:buNone/>
            </a:pPr>
            <a:r>
              <a:rPr lang="en-US" sz="850" dirty="0">
                <a:solidFill>
                  <a:srgbClr val="1DB87A"/>
                </a:solidFill>
                <a:latin typeface="Calibri" pitchFamily="34" charset="0"/>
                <a:ea typeface="Calibri" pitchFamily="34" charset="-122"/>
                <a:cs typeface="Calibri" pitchFamily="34" charset="-120"/>
              </a:rPr>
              <a:t>✓  Engage FCA's Digital Sandbox (already accepts Hyperledger Fabric). Structure Phase 1 as a contained proof of concept within existing regulatory frameworks. Proactive engagement with PSR on the consortium governance model.</a:t>
            </a:r>
            <a:endParaRPr lang="en-US" sz="850" dirty="0"/>
          </a:p>
        </p:txBody>
      </p:sp>
      <p:sp>
        <p:nvSpPr>
          <p:cNvPr id="29" name="Shape 22"/>
          <p:cNvSpPr/>
          <p:nvPr/>
        </p:nvSpPr>
        <p:spPr>
          <a:xfrm>
            <a:off x="4709160" y="3712464"/>
            <a:ext cx="4251960" cy="1261872"/>
          </a:xfrm>
          <a:prstGeom prst="roundRect">
            <a:avLst>
              <a:gd name="adj" fmla="val 7246"/>
            </a:avLst>
          </a:prstGeom>
          <a:solidFill>
            <a:srgbClr val="162D52"/>
          </a:solidFill>
          <a:ln w="12700">
            <a:solidFill>
              <a:srgbClr val="2A3A5A"/>
            </a:solidFill>
            <a:prstDash val="solid"/>
          </a:ln>
          <a:effectLst>
            <a:outerShdw blurRad="101600" dist="38100" dir="2700000" algn="bl" rotWithShape="0">
              <a:srgbClr val="000000">
                <a:alpha val="20000"/>
              </a:srgbClr>
            </a:outerShdw>
          </a:effectLst>
        </p:spPr>
      </p:sp>
      <p:pic>
        <p:nvPicPr>
          <p:cNvPr id="30" name="Image 5" descr="preencoded.png"/>
          <p:cNvPicPr>
            <a:picLocks noChangeAspect="1"/>
          </p:cNvPicPr>
          <p:nvPr/>
        </p:nvPicPr>
        <p:blipFill>
          <a:blip r:embed="rId8"/>
          <a:stretch>
            <a:fillRect/>
          </a:stretch>
        </p:blipFill>
        <p:spPr>
          <a:xfrm>
            <a:off x="4846320" y="3822192"/>
            <a:ext cx="347472" cy="347472"/>
          </a:xfrm>
          <a:prstGeom prst="rect">
            <a:avLst/>
          </a:prstGeom>
        </p:spPr>
      </p:pic>
      <p:sp>
        <p:nvSpPr>
          <p:cNvPr id="31" name="Text 23"/>
          <p:cNvSpPr/>
          <p:nvPr/>
        </p:nvSpPr>
        <p:spPr>
          <a:xfrm>
            <a:off x="5276088" y="3803904"/>
            <a:ext cx="3566160" cy="310896"/>
          </a:xfrm>
          <a:prstGeom prst="rect">
            <a:avLst/>
          </a:prstGeom>
          <a:noFill/>
          <a:ln/>
        </p:spPr>
        <p:txBody>
          <a:bodyPr wrap="square" lIns="0" tIns="0" rIns="0" bIns="0" rtlCol="0" anchor="ctr"/>
          <a:lstStyle/>
          <a:p>
            <a:pPr marL="0" indent="0">
              <a:buNone/>
            </a:pPr>
            <a:r>
              <a:rPr lang="en-US" sz="1150" b="1" dirty="0">
                <a:solidFill>
                  <a:srgbClr val="1DB87A"/>
                </a:solidFill>
                <a:latin typeface="Calibri" pitchFamily="34" charset="0"/>
                <a:ea typeface="Calibri" pitchFamily="34" charset="-122"/>
                <a:cs typeface="Calibri" pitchFamily="34" charset="-120"/>
              </a:rPr>
              <a:t>Data Quality of Fraud Signals</a:t>
            </a:r>
            <a:endParaRPr lang="en-US" sz="1150" dirty="0"/>
          </a:p>
        </p:txBody>
      </p:sp>
      <p:sp>
        <p:nvSpPr>
          <p:cNvPr id="32" name="Text 24"/>
          <p:cNvSpPr/>
          <p:nvPr/>
        </p:nvSpPr>
        <p:spPr>
          <a:xfrm>
            <a:off x="4846320" y="4187952"/>
            <a:ext cx="3977640" cy="365760"/>
          </a:xfrm>
          <a:prstGeom prst="rect">
            <a:avLst/>
          </a:prstGeom>
          <a:noFill/>
          <a:ln/>
        </p:spPr>
        <p:txBody>
          <a:bodyPr wrap="square" lIns="0" tIns="0" rIns="0" bIns="0" rtlCol="0" anchor="ctr"/>
          <a:lstStyle/>
          <a:p>
            <a:pPr marL="0" indent="0">
              <a:buNone/>
            </a:pPr>
            <a:r>
              <a:rPr lang="en-US" sz="850" i="1" dirty="0">
                <a:solidFill>
                  <a:srgbClr val="E0CCCC"/>
                </a:solidFill>
                <a:latin typeface="Calibri" pitchFamily="34" charset="0"/>
                <a:ea typeface="Calibri" pitchFamily="34" charset="-122"/>
                <a:cs typeface="Calibri" pitchFamily="34" charset="-120"/>
              </a:rPr>
              <a:t>⚠  The shared ledger is only as good as the fraud signals written to it. Poorly calibrated flags from consortium members could generate noise or suppress genuine fraud signals.</a:t>
            </a:r>
            <a:endParaRPr lang="en-US" sz="850" dirty="0"/>
          </a:p>
        </p:txBody>
      </p:sp>
      <p:sp>
        <p:nvSpPr>
          <p:cNvPr id="33" name="Text 25"/>
          <p:cNvSpPr/>
          <p:nvPr/>
        </p:nvSpPr>
        <p:spPr>
          <a:xfrm>
            <a:off x="4846320" y="4562856"/>
            <a:ext cx="3977640" cy="347472"/>
          </a:xfrm>
          <a:prstGeom prst="rect">
            <a:avLst/>
          </a:prstGeom>
          <a:noFill/>
          <a:ln/>
        </p:spPr>
        <p:txBody>
          <a:bodyPr wrap="square" lIns="0" tIns="0" rIns="0" bIns="0" rtlCol="0" anchor="ctr"/>
          <a:lstStyle/>
          <a:p>
            <a:pPr marL="0" indent="0">
              <a:buNone/>
            </a:pPr>
            <a:r>
              <a:rPr lang="en-US" sz="850" dirty="0">
                <a:solidFill>
                  <a:srgbClr val="1DB87A"/>
                </a:solidFill>
                <a:latin typeface="Calibri" pitchFamily="34" charset="0"/>
                <a:ea typeface="Calibri" pitchFamily="34" charset="-122"/>
                <a:cs typeface="Calibri" pitchFamily="34" charset="-120"/>
              </a:rPr>
              <a:t>✓  Signal quality scoring for each consortium contributor. Weighted flag confidence levels (e.g. a confirmed fraud conviction carries more weight than a soft ML flag). Quarterly consortium signal accuracy reviews.</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D3A"/>
        </a:solidFill>
        <a:effectLst/>
      </p:bgPr>
    </p:bg>
    <p:spTree>
      <p:nvGrpSpPr>
        <p:cNvPr id="1" name=""/>
        <p:cNvGrpSpPr/>
        <p:nvPr/>
      </p:nvGrpSpPr>
      <p:grpSpPr>
        <a:xfrm>
          <a:off x="0" y="0"/>
          <a:ext cx="0" cy="0"/>
          <a:chOff x="0" y="0"/>
          <a:chExt cx="0" cy="0"/>
        </a:xfrm>
      </p:grpSpPr>
      <p:sp>
        <p:nvSpPr>
          <p:cNvPr id="2" name="Text 0"/>
          <p:cNvSpPr/>
          <p:nvPr/>
        </p:nvSpPr>
        <p:spPr>
          <a:xfrm>
            <a:off x="365760" y="118872"/>
            <a:ext cx="8229600" cy="320040"/>
          </a:xfrm>
          <a:prstGeom prst="rect">
            <a:avLst/>
          </a:prstGeom>
          <a:noFill/>
          <a:ln/>
        </p:spPr>
        <p:txBody>
          <a:bodyPr wrap="square" lIns="0" tIns="0" rIns="0" bIns="0" rtlCol="0" anchor="ctr"/>
          <a:lstStyle/>
          <a:p>
            <a:pPr marL="0" indent="0">
              <a:buNone/>
            </a:pPr>
            <a:r>
              <a:rPr lang="en-US" sz="1000" b="1" kern="0" spc="300" dirty="0">
                <a:solidFill>
                  <a:srgbClr val="E8A020"/>
                </a:solidFill>
                <a:latin typeface="Calibri" pitchFamily="34" charset="0"/>
                <a:ea typeface="Calibri" pitchFamily="34" charset="-122"/>
                <a:cs typeface="Calibri" pitchFamily="34" charset="-120"/>
              </a:rPr>
              <a:t>ARCHITECTURE SUMMARY</a:t>
            </a:r>
            <a:endParaRPr lang="en-US" sz="1000" dirty="0"/>
          </a:p>
        </p:txBody>
      </p:sp>
      <p:sp>
        <p:nvSpPr>
          <p:cNvPr id="3" name="Text 1"/>
          <p:cNvSpPr/>
          <p:nvPr/>
        </p:nvSpPr>
        <p:spPr>
          <a:xfrm>
            <a:off x="365760" y="420624"/>
            <a:ext cx="8229600" cy="438912"/>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The Complete Picture on One Slide</a:t>
            </a:r>
            <a:endParaRPr lang="en-US" sz="2000" dirty="0"/>
          </a:p>
        </p:txBody>
      </p:sp>
      <p:sp>
        <p:nvSpPr>
          <p:cNvPr id="4" name="Shape 2"/>
          <p:cNvSpPr/>
          <p:nvPr/>
        </p:nvSpPr>
        <p:spPr>
          <a:xfrm>
            <a:off x="228600" y="960120"/>
            <a:ext cx="2788920" cy="3977640"/>
          </a:xfrm>
          <a:prstGeom prst="roundRect">
            <a:avLst>
              <a:gd name="adj" fmla="val 3279"/>
            </a:avLst>
          </a:prstGeom>
          <a:solidFill>
            <a:srgbClr val="162D52"/>
          </a:solidFill>
          <a:ln w="12700">
            <a:solidFill>
              <a:srgbClr val="0D9488"/>
            </a:solidFill>
            <a:prstDash val="solid"/>
          </a:ln>
          <a:effectLst>
            <a:outerShdw blurRad="101600" dist="38100" dir="2700000" algn="bl" rotWithShape="0">
              <a:srgbClr val="000000">
                <a:alpha val="20000"/>
              </a:srgbClr>
            </a:outerShdw>
          </a:effectLst>
        </p:spPr>
      </p:sp>
      <p:sp>
        <p:nvSpPr>
          <p:cNvPr id="5" name="Text 3"/>
          <p:cNvSpPr/>
          <p:nvPr/>
        </p:nvSpPr>
        <p:spPr>
          <a:xfrm>
            <a:off x="384048" y="1033272"/>
            <a:ext cx="2487168" cy="292608"/>
          </a:xfrm>
          <a:prstGeom prst="rect">
            <a:avLst/>
          </a:prstGeom>
          <a:noFill/>
          <a:ln/>
        </p:spPr>
        <p:txBody>
          <a:bodyPr wrap="square" lIns="0" tIns="0" rIns="0" bIns="0" rtlCol="0" anchor="ctr"/>
          <a:lstStyle/>
          <a:p>
            <a:pPr marL="0" indent="0">
              <a:buNone/>
            </a:pPr>
            <a:r>
              <a:rPr lang="en-US" sz="950" b="1" kern="0" spc="100" dirty="0">
                <a:solidFill>
                  <a:srgbClr val="0D9488"/>
                </a:solidFill>
                <a:latin typeface="Calibri" pitchFamily="34" charset="0"/>
                <a:ea typeface="Calibri" pitchFamily="34" charset="-122"/>
                <a:cs typeface="Calibri" pitchFamily="34" charset="-120"/>
              </a:rPr>
              <a:t>TECHNOLOGY STACK</a:t>
            </a:r>
            <a:endParaRPr lang="en-US" sz="950" dirty="0"/>
          </a:p>
        </p:txBody>
      </p:sp>
      <p:sp>
        <p:nvSpPr>
          <p:cNvPr id="6" name="Text 4"/>
          <p:cNvSpPr/>
          <p:nvPr/>
        </p:nvSpPr>
        <p:spPr>
          <a:xfrm>
            <a:off x="384048" y="1417320"/>
            <a:ext cx="1115568" cy="347472"/>
          </a:xfrm>
          <a:prstGeom prst="rect">
            <a:avLst/>
          </a:prstGeom>
          <a:noFill/>
          <a:ln/>
        </p:spPr>
        <p:txBody>
          <a:bodyPr wrap="square" lIns="0" tIns="0" rIns="0" bIns="0" rtlCol="0" anchor="ctr"/>
          <a:lstStyle/>
          <a:p>
            <a:pPr marL="0" indent="0">
              <a:buNone/>
            </a:pPr>
            <a:r>
              <a:rPr lang="en-US" sz="900" dirty="0">
                <a:solidFill>
                  <a:srgbClr val="8FA5BF"/>
                </a:solidFill>
                <a:latin typeface="Calibri" pitchFamily="34" charset="0"/>
                <a:ea typeface="Calibri" pitchFamily="34" charset="-122"/>
                <a:cs typeface="Calibri" pitchFamily="34" charset="-120"/>
              </a:rPr>
              <a:t>Blockchain:</a:t>
            </a:r>
            <a:endParaRPr lang="en-US" sz="900" dirty="0"/>
          </a:p>
        </p:txBody>
      </p:sp>
      <p:sp>
        <p:nvSpPr>
          <p:cNvPr id="7" name="Text 5"/>
          <p:cNvSpPr/>
          <p:nvPr/>
        </p:nvSpPr>
        <p:spPr>
          <a:xfrm>
            <a:off x="1536192" y="1417320"/>
            <a:ext cx="1353312" cy="347472"/>
          </a:xfrm>
          <a:prstGeom prst="rect">
            <a:avLst/>
          </a:prstGeom>
          <a:noFill/>
          <a:ln/>
        </p:spPr>
        <p:txBody>
          <a:bodyPr wrap="square" lIns="0" tIns="0" rIns="0" bIns="0" rtlCol="0" anchor="ctr"/>
          <a:lstStyle/>
          <a:p>
            <a:pPr marL="0" indent="0">
              <a:buNone/>
            </a:pPr>
            <a:r>
              <a:rPr lang="en-US" sz="900" b="1" dirty="0">
                <a:solidFill>
                  <a:srgbClr val="0D9488"/>
                </a:solidFill>
                <a:latin typeface="Calibri" pitchFamily="34" charset="0"/>
                <a:ea typeface="Calibri" pitchFamily="34" charset="-122"/>
                <a:cs typeface="Calibri" pitchFamily="34" charset="-120"/>
              </a:rPr>
              <a:t>Hyperledger Fabric 2.x</a:t>
            </a:r>
            <a:endParaRPr lang="en-US" sz="900" dirty="0"/>
          </a:p>
        </p:txBody>
      </p:sp>
      <p:sp>
        <p:nvSpPr>
          <p:cNvPr id="8" name="Text 6"/>
          <p:cNvSpPr/>
          <p:nvPr/>
        </p:nvSpPr>
        <p:spPr>
          <a:xfrm>
            <a:off x="384048" y="1801368"/>
            <a:ext cx="1115568" cy="347472"/>
          </a:xfrm>
          <a:prstGeom prst="rect">
            <a:avLst/>
          </a:prstGeom>
          <a:noFill/>
          <a:ln/>
        </p:spPr>
        <p:txBody>
          <a:bodyPr wrap="square" lIns="0" tIns="0" rIns="0" bIns="0" rtlCol="0" anchor="ctr"/>
          <a:lstStyle/>
          <a:p>
            <a:pPr marL="0" indent="0">
              <a:buNone/>
            </a:pPr>
            <a:r>
              <a:rPr lang="en-US" sz="900" dirty="0">
                <a:solidFill>
                  <a:srgbClr val="8FA5BF"/>
                </a:solidFill>
                <a:latin typeface="Calibri" pitchFamily="34" charset="0"/>
                <a:ea typeface="Calibri" pitchFamily="34" charset="-122"/>
                <a:cs typeface="Calibri" pitchFamily="34" charset="-120"/>
              </a:rPr>
              <a:t>Consensus:</a:t>
            </a:r>
            <a:endParaRPr lang="en-US" sz="900" dirty="0"/>
          </a:p>
        </p:txBody>
      </p:sp>
      <p:sp>
        <p:nvSpPr>
          <p:cNvPr id="9" name="Text 7"/>
          <p:cNvSpPr/>
          <p:nvPr/>
        </p:nvSpPr>
        <p:spPr>
          <a:xfrm>
            <a:off x="1536192" y="1801368"/>
            <a:ext cx="1353312" cy="347472"/>
          </a:xfrm>
          <a:prstGeom prst="rect">
            <a:avLst/>
          </a:prstGeom>
          <a:noFill/>
          <a:ln/>
        </p:spPr>
        <p:txBody>
          <a:bodyPr wrap="square" lIns="0" tIns="0" rIns="0" bIns="0" rtlCol="0" anchor="ctr"/>
          <a:lstStyle/>
          <a:p>
            <a:pPr marL="0" indent="0">
              <a:buNone/>
            </a:pPr>
            <a:r>
              <a:rPr lang="en-US" sz="900" b="1" dirty="0">
                <a:solidFill>
                  <a:srgbClr val="0D9488"/>
                </a:solidFill>
                <a:latin typeface="Calibri" pitchFamily="34" charset="0"/>
                <a:ea typeface="Calibri" pitchFamily="34" charset="-122"/>
                <a:cs typeface="Calibri" pitchFamily="34" charset="-120"/>
              </a:rPr>
              <a:t>Raft (permissioned)</a:t>
            </a:r>
            <a:endParaRPr lang="en-US" sz="900" dirty="0"/>
          </a:p>
        </p:txBody>
      </p:sp>
      <p:sp>
        <p:nvSpPr>
          <p:cNvPr id="10" name="Text 8"/>
          <p:cNvSpPr/>
          <p:nvPr/>
        </p:nvSpPr>
        <p:spPr>
          <a:xfrm>
            <a:off x="384048" y="2185416"/>
            <a:ext cx="1115568" cy="347472"/>
          </a:xfrm>
          <a:prstGeom prst="rect">
            <a:avLst/>
          </a:prstGeom>
          <a:noFill/>
          <a:ln/>
        </p:spPr>
        <p:txBody>
          <a:bodyPr wrap="square" lIns="0" tIns="0" rIns="0" bIns="0" rtlCol="0" anchor="ctr"/>
          <a:lstStyle/>
          <a:p>
            <a:pPr marL="0" indent="0">
              <a:buNone/>
            </a:pPr>
            <a:r>
              <a:rPr lang="en-US" sz="900" dirty="0">
                <a:solidFill>
                  <a:srgbClr val="8FA5BF"/>
                </a:solidFill>
                <a:latin typeface="Calibri" pitchFamily="34" charset="0"/>
                <a:ea typeface="Calibri" pitchFamily="34" charset="-122"/>
                <a:cs typeface="Calibri" pitchFamily="34" charset="-120"/>
              </a:rPr>
              <a:t>Smart Contracts:</a:t>
            </a:r>
            <a:endParaRPr lang="en-US" sz="900" dirty="0"/>
          </a:p>
        </p:txBody>
      </p:sp>
      <p:sp>
        <p:nvSpPr>
          <p:cNvPr id="11" name="Text 9"/>
          <p:cNvSpPr/>
          <p:nvPr/>
        </p:nvSpPr>
        <p:spPr>
          <a:xfrm>
            <a:off x="1536192" y="2185416"/>
            <a:ext cx="1353312" cy="347472"/>
          </a:xfrm>
          <a:prstGeom prst="rect">
            <a:avLst/>
          </a:prstGeom>
          <a:noFill/>
          <a:ln/>
        </p:spPr>
        <p:txBody>
          <a:bodyPr wrap="square" lIns="0" tIns="0" rIns="0" bIns="0" rtlCol="0" anchor="ctr"/>
          <a:lstStyle/>
          <a:p>
            <a:pPr marL="0" indent="0">
              <a:buNone/>
            </a:pPr>
            <a:r>
              <a:rPr lang="en-US" sz="900" b="1" dirty="0">
                <a:solidFill>
                  <a:srgbClr val="E8A020"/>
                </a:solidFill>
                <a:latin typeface="Calibri" pitchFamily="34" charset="0"/>
                <a:ea typeface="Calibri" pitchFamily="34" charset="-122"/>
                <a:cs typeface="Calibri" pitchFamily="34" charset="-120"/>
              </a:rPr>
              <a:t>Go Chaincode</a:t>
            </a:r>
            <a:endParaRPr lang="en-US" sz="900" dirty="0"/>
          </a:p>
        </p:txBody>
      </p:sp>
      <p:sp>
        <p:nvSpPr>
          <p:cNvPr id="12" name="Text 10"/>
          <p:cNvSpPr/>
          <p:nvPr/>
        </p:nvSpPr>
        <p:spPr>
          <a:xfrm>
            <a:off x="384048" y="2569464"/>
            <a:ext cx="1115568" cy="347472"/>
          </a:xfrm>
          <a:prstGeom prst="rect">
            <a:avLst/>
          </a:prstGeom>
          <a:noFill/>
          <a:ln/>
        </p:spPr>
        <p:txBody>
          <a:bodyPr wrap="square" lIns="0" tIns="0" rIns="0" bIns="0" rtlCol="0" anchor="ctr"/>
          <a:lstStyle/>
          <a:p>
            <a:pPr marL="0" indent="0">
              <a:buNone/>
            </a:pPr>
            <a:r>
              <a:rPr lang="en-US" sz="900" dirty="0">
                <a:solidFill>
                  <a:srgbClr val="8FA5BF"/>
                </a:solidFill>
                <a:latin typeface="Calibri" pitchFamily="34" charset="0"/>
                <a:ea typeface="Calibri" pitchFamily="34" charset="-122"/>
                <a:cs typeface="Calibri" pitchFamily="34" charset="-120"/>
              </a:rPr>
              <a:t>Privacy:</a:t>
            </a:r>
            <a:endParaRPr lang="en-US" sz="900" dirty="0"/>
          </a:p>
        </p:txBody>
      </p:sp>
      <p:sp>
        <p:nvSpPr>
          <p:cNvPr id="13" name="Text 11"/>
          <p:cNvSpPr/>
          <p:nvPr/>
        </p:nvSpPr>
        <p:spPr>
          <a:xfrm>
            <a:off x="1536192" y="2569464"/>
            <a:ext cx="1353312" cy="347472"/>
          </a:xfrm>
          <a:prstGeom prst="rect">
            <a:avLst/>
          </a:prstGeom>
          <a:noFill/>
          <a:ln/>
        </p:spPr>
        <p:txBody>
          <a:bodyPr wrap="square" lIns="0" tIns="0" rIns="0" bIns="0" rtlCol="0" anchor="ctr"/>
          <a:lstStyle/>
          <a:p>
            <a:pPr marL="0" indent="0">
              <a:buNone/>
            </a:pPr>
            <a:r>
              <a:rPr lang="en-US" sz="900" b="1" dirty="0">
                <a:solidFill>
                  <a:srgbClr val="7B2FBE"/>
                </a:solidFill>
                <a:latin typeface="Calibri" pitchFamily="34" charset="0"/>
                <a:ea typeface="Calibri" pitchFamily="34" charset="-122"/>
                <a:cs typeface="Calibri" pitchFamily="34" charset="-120"/>
              </a:rPr>
              <a:t>Channels + ZK Proofs</a:t>
            </a:r>
            <a:endParaRPr lang="en-US" sz="900" dirty="0"/>
          </a:p>
        </p:txBody>
      </p:sp>
      <p:sp>
        <p:nvSpPr>
          <p:cNvPr id="14" name="Text 12"/>
          <p:cNvSpPr/>
          <p:nvPr/>
        </p:nvSpPr>
        <p:spPr>
          <a:xfrm>
            <a:off x="384048" y="2953512"/>
            <a:ext cx="1115568" cy="347472"/>
          </a:xfrm>
          <a:prstGeom prst="rect">
            <a:avLst/>
          </a:prstGeom>
          <a:noFill/>
          <a:ln/>
        </p:spPr>
        <p:txBody>
          <a:bodyPr wrap="square" lIns="0" tIns="0" rIns="0" bIns="0" rtlCol="0" anchor="ctr"/>
          <a:lstStyle/>
          <a:p>
            <a:pPr marL="0" indent="0">
              <a:buNone/>
            </a:pPr>
            <a:r>
              <a:rPr lang="en-US" sz="900" dirty="0">
                <a:solidFill>
                  <a:srgbClr val="8FA5BF"/>
                </a:solidFill>
                <a:latin typeface="Calibri" pitchFamily="34" charset="0"/>
                <a:ea typeface="Calibri" pitchFamily="34" charset="-122"/>
                <a:cs typeface="Calibri" pitchFamily="34" charset="-120"/>
              </a:rPr>
              <a:t>Integration:</a:t>
            </a:r>
            <a:endParaRPr lang="en-US" sz="900" dirty="0"/>
          </a:p>
        </p:txBody>
      </p:sp>
      <p:sp>
        <p:nvSpPr>
          <p:cNvPr id="15" name="Text 13"/>
          <p:cNvSpPr/>
          <p:nvPr/>
        </p:nvSpPr>
        <p:spPr>
          <a:xfrm>
            <a:off x="1536192" y="2953512"/>
            <a:ext cx="1353312" cy="347472"/>
          </a:xfrm>
          <a:prstGeom prst="rect">
            <a:avLst/>
          </a:prstGeom>
          <a:noFill/>
          <a:ln/>
        </p:spPr>
        <p:txBody>
          <a:bodyPr wrap="square" lIns="0" tIns="0" rIns="0" bIns="0" rtlCol="0" anchor="ctr"/>
          <a:lstStyle/>
          <a:p>
            <a:pPr marL="0" indent="0">
              <a:buNone/>
            </a:pPr>
            <a:r>
              <a:rPr lang="en-US" sz="900" b="1" dirty="0">
                <a:solidFill>
                  <a:srgbClr val="2980B9"/>
                </a:solidFill>
                <a:latin typeface="Calibri" pitchFamily="34" charset="0"/>
                <a:ea typeface="Calibri" pitchFamily="34" charset="-122"/>
                <a:cs typeface="Calibri" pitchFamily="34" charset="-120"/>
              </a:rPr>
              <a:t>REST / gRPC APIs</a:t>
            </a:r>
            <a:endParaRPr lang="en-US" sz="900" dirty="0"/>
          </a:p>
        </p:txBody>
      </p:sp>
      <p:sp>
        <p:nvSpPr>
          <p:cNvPr id="16" name="Text 14"/>
          <p:cNvSpPr/>
          <p:nvPr/>
        </p:nvSpPr>
        <p:spPr>
          <a:xfrm>
            <a:off x="384048" y="3337560"/>
            <a:ext cx="1115568" cy="347472"/>
          </a:xfrm>
          <a:prstGeom prst="rect">
            <a:avLst/>
          </a:prstGeom>
          <a:noFill/>
          <a:ln/>
        </p:spPr>
        <p:txBody>
          <a:bodyPr wrap="square" lIns="0" tIns="0" rIns="0" bIns="0" rtlCol="0" anchor="ctr"/>
          <a:lstStyle/>
          <a:p>
            <a:pPr marL="0" indent="0">
              <a:buNone/>
            </a:pPr>
            <a:r>
              <a:rPr lang="en-US" sz="900" dirty="0">
                <a:solidFill>
                  <a:srgbClr val="8FA5BF"/>
                </a:solidFill>
                <a:latin typeface="Calibri" pitchFamily="34" charset="0"/>
                <a:ea typeface="Calibri" pitchFamily="34" charset="-122"/>
                <a:cs typeface="Calibri" pitchFamily="34" charset="-120"/>
              </a:rPr>
              <a:t>Oracle:</a:t>
            </a:r>
            <a:endParaRPr lang="en-US" sz="900" dirty="0"/>
          </a:p>
        </p:txBody>
      </p:sp>
      <p:sp>
        <p:nvSpPr>
          <p:cNvPr id="17" name="Text 15"/>
          <p:cNvSpPr/>
          <p:nvPr/>
        </p:nvSpPr>
        <p:spPr>
          <a:xfrm>
            <a:off x="1536192" y="3337560"/>
            <a:ext cx="1353312" cy="347472"/>
          </a:xfrm>
          <a:prstGeom prst="rect">
            <a:avLst/>
          </a:prstGeom>
          <a:noFill/>
          <a:ln/>
        </p:spPr>
        <p:txBody>
          <a:bodyPr wrap="square" lIns="0" tIns="0" rIns="0" bIns="0" rtlCol="0" anchor="ctr"/>
          <a:lstStyle/>
          <a:p>
            <a:pPr marL="0" indent="0">
              <a:buNone/>
            </a:pPr>
            <a:r>
              <a:rPr lang="en-US" sz="900" b="1" dirty="0">
                <a:solidFill>
                  <a:srgbClr val="E8A020"/>
                </a:solidFill>
                <a:latin typeface="Calibri" pitchFamily="34" charset="0"/>
                <a:ea typeface="Calibri" pitchFamily="34" charset="-122"/>
                <a:cs typeface="Calibri" pitchFamily="34" charset="-120"/>
              </a:rPr>
              <a:t>Chainlink-style bridge</a:t>
            </a:r>
            <a:endParaRPr lang="en-US" sz="900" dirty="0"/>
          </a:p>
        </p:txBody>
      </p:sp>
      <p:sp>
        <p:nvSpPr>
          <p:cNvPr id="18" name="Text 16"/>
          <p:cNvSpPr/>
          <p:nvPr/>
        </p:nvSpPr>
        <p:spPr>
          <a:xfrm>
            <a:off x="384048" y="3721608"/>
            <a:ext cx="1115568" cy="347472"/>
          </a:xfrm>
          <a:prstGeom prst="rect">
            <a:avLst/>
          </a:prstGeom>
          <a:noFill/>
          <a:ln/>
        </p:spPr>
        <p:txBody>
          <a:bodyPr wrap="square" lIns="0" tIns="0" rIns="0" bIns="0" rtlCol="0" anchor="ctr"/>
          <a:lstStyle/>
          <a:p>
            <a:pPr marL="0" indent="0">
              <a:buNone/>
            </a:pPr>
            <a:r>
              <a:rPr lang="en-US" sz="900" dirty="0">
                <a:solidFill>
                  <a:srgbClr val="8FA5BF"/>
                </a:solidFill>
                <a:latin typeface="Calibri" pitchFamily="34" charset="0"/>
                <a:ea typeface="Calibri" pitchFamily="34" charset="-122"/>
                <a:cs typeface="Calibri" pitchFamily="34" charset="-120"/>
              </a:rPr>
              <a:t>Identity:</a:t>
            </a:r>
            <a:endParaRPr lang="en-US" sz="900" dirty="0"/>
          </a:p>
        </p:txBody>
      </p:sp>
      <p:sp>
        <p:nvSpPr>
          <p:cNvPr id="19" name="Text 17"/>
          <p:cNvSpPr/>
          <p:nvPr/>
        </p:nvSpPr>
        <p:spPr>
          <a:xfrm>
            <a:off x="1536192" y="3721608"/>
            <a:ext cx="1353312" cy="347472"/>
          </a:xfrm>
          <a:prstGeom prst="rect">
            <a:avLst/>
          </a:prstGeom>
          <a:noFill/>
          <a:ln/>
        </p:spPr>
        <p:txBody>
          <a:bodyPr wrap="square" lIns="0" tIns="0" rIns="0" bIns="0" rtlCol="0" anchor="ctr"/>
          <a:lstStyle/>
          <a:p>
            <a:pPr marL="0" indent="0">
              <a:buNone/>
            </a:pPr>
            <a:r>
              <a:rPr lang="en-US" sz="900" b="1" dirty="0">
                <a:solidFill>
                  <a:srgbClr val="1DB87A"/>
                </a:solidFill>
                <a:latin typeface="Calibri" pitchFamily="34" charset="0"/>
                <a:ea typeface="Calibri" pitchFamily="34" charset="-122"/>
                <a:cs typeface="Calibri" pitchFamily="34" charset="-120"/>
              </a:rPr>
              <a:t>Fabric CA + HSM keys</a:t>
            </a:r>
            <a:endParaRPr lang="en-US" sz="900" dirty="0"/>
          </a:p>
        </p:txBody>
      </p:sp>
      <p:sp>
        <p:nvSpPr>
          <p:cNvPr id="20" name="Text 18"/>
          <p:cNvSpPr/>
          <p:nvPr/>
        </p:nvSpPr>
        <p:spPr>
          <a:xfrm>
            <a:off x="384048" y="4105656"/>
            <a:ext cx="1115568" cy="347472"/>
          </a:xfrm>
          <a:prstGeom prst="rect">
            <a:avLst/>
          </a:prstGeom>
          <a:noFill/>
          <a:ln/>
        </p:spPr>
        <p:txBody>
          <a:bodyPr wrap="square" lIns="0" tIns="0" rIns="0" bIns="0" rtlCol="0" anchor="ctr"/>
          <a:lstStyle/>
          <a:p>
            <a:pPr marL="0" indent="0">
              <a:buNone/>
            </a:pPr>
            <a:r>
              <a:rPr lang="en-US" sz="900" dirty="0">
                <a:solidFill>
                  <a:srgbClr val="8FA5BF"/>
                </a:solidFill>
                <a:latin typeface="Calibri" pitchFamily="34" charset="0"/>
                <a:ea typeface="Calibri" pitchFamily="34" charset="-122"/>
                <a:cs typeface="Calibri" pitchFamily="34" charset="-120"/>
              </a:rPr>
              <a:t>Throughput:</a:t>
            </a:r>
            <a:endParaRPr lang="en-US" sz="900" dirty="0"/>
          </a:p>
        </p:txBody>
      </p:sp>
      <p:sp>
        <p:nvSpPr>
          <p:cNvPr id="21" name="Text 19"/>
          <p:cNvSpPr/>
          <p:nvPr/>
        </p:nvSpPr>
        <p:spPr>
          <a:xfrm>
            <a:off x="1536192" y="4105656"/>
            <a:ext cx="1353312" cy="347472"/>
          </a:xfrm>
          <a:prstGeom prst="rect">
            <a:avLst/>
          </a:prstGeom>
          <a:noFill/>
          <a:ln/>
        </p:spPr>
        <p:txBody>
          <a:bodyPr wrap="square" lIns="0" tIns="0" rIns="0" bIns="0" rtlCol="0" anchor="ctr"/>
          <a:lstStyle/>
          <a:p>
            <a:pPr marL="0" indent="0">
              <a:buNone/>
            </a:pPr>
            <a:r>
              <a:rPr lang="en-US" sz="900" b="1" dirty="0">
                <a:solidFill>
                  <a:srgbClr val="1DB87A"/>
                </a:solidFill>
                <a:latin typeface="Calibri" pitchFamily="34" charset="0"/>
                <a:ea typeface="Calibri" pitchFamily="34" charset="-122"/>
                <a:cs typeface="Calibri" pitchFamily="34" charset="-120"/>
              </a:rPr>
              <a:t>3,000+ TPS capability</a:t>
            </a:r>
            <a:endParaRPr lang="en-US" sz="900" dirty="0"/>
          </a:p>
        </p:txBody>
      </p:sp>
      <p:sp>
        <p:nvSpPr>
          <p:cNvPr id="22" name="Text 20"/>
          <p:cNvSpPr/>
          <p:nvPr/>
        </p:nvSpPr>
        <p:spPr>
          <a:xfrm>
            <a:off x="384048" y="4489704"/>
            <a:ext cx="1115568" cy="347472"/>
          </a:xfrm>
          <a:prstGeom prst="rect">
            <a:avLst/>
          </a:prstGeom>
          <a:noFill/>
          <a:ln/>
        </p:spPr>
        <p:txBody>
          <a:bodyPr wrap="square" lIns="0" tIns="0" rIns="0" bIns="0" rtlCol="0" anchor="ctr"/>
          <a:lstStyle/>
          <a:p>
            <a:pPr marL="0" indent="0">
              <a:buNone/>
            </a:pPr>
            <a:r>
              <a:rPr lang="en-US" sz="900" dirty="0">
                <a:solidFill>
                  <a:srgbClr val="8FA5BF"/>
                </a:solidFill>
                <a:latin typeface="Calibri" pitchFamily="34" charset="0"/>
                <a:ea typeface="Calibri" pitchFamily="34" charset="-122"/>
                <a:cs typeface="Calibri" pitchFamily="34" charset="-120"/>
              </a:rPr>
              <a:t>Query latency:</a:t>
            </a:r>
            <a:endParaRPr lang="en-US" sz="900" dirty="0"/>
          </a:p>
        </p:txBody>
      </p:sp>
      <p:sp>
        <p:nvSpPr>
          <p:cNvPr id="23" name="Text 21"/>
          <p:cNvSpPr/>
          <p:nvPr/>
        </p:nvSpPr>
        <p:spPr>
          <a:xfrm>
            <a:off x="1536192" y="4489704"/>
            <a:ext cx="1353312" cy="347472"/>
          </a:xfrm>
          <a:prstGeom prst="rect">
            <a:avLst/>
          </a:prstGeom>
          <a:noFill/>
          <a:ln/>
        </p:spPr>
        <p:txBody>
          <a:bodyPr wrap="square" lIns="0" tIns="0" rIns="0" bIns="0" rtlCol="0" anchor="ctr"/>
          <a:lstStyle/>
          <a:p>
            <a:pPr marL="0" indent="0">
              <a:buNone/>
            </a:pPr>
            <a:r>
              <a:rPr lang="en-US" sz="900" b="1" dirty="0">
                <a:solidFill>
                  <a:srgbClr val="1DB87A"/>
                </a:solidFill>
                <a:latin typeface="Calibri" pitchFamily="34" charset="0"/>
                <a:ea typeface="Calibri" pitchFamily="34" charset="-122"/>
                <a:cs typeface="Calibri" pitchFamily="34" charset="-120"/>
              </a:rPr>
              <a:t>&lt; 50ms target</a:t>
            </a:r>
            <a:endParaRPr lang="en-US" sz="900" dirty="0"/>
          </a:p>
        </p:txBody>
      </p:sp>
      <p:sp>
        <p:nvSpPr>
          <p:cNvPr id="24" name="Shape 22"/>
          <p:cNvSpPr/>
          <p:nvPr/>
        </p:nvSpPr>
        <p:spPr>
          <a:xfrm>
            <a:off x="3200400" y="960120"/>
            <a:ext cx="2880360" cy="3977640"/>
          </a:xfrm>
          <a:prstGeom prst="roundRect">
            <a:avLst>
              <a:gd name="adj" fmla="val 3175"/>
            </a:avLst>
          </a:prstGeom>
          <a:solidFill>
            <a:srgbClr val="162D52"/>
          </a:solidFill>
          <a:ln w="12700">
            <a:solidFill>
              <a:srgbClr val="E8A020"/>
            </a:solidFill>
            <a:prstDash val="solid"/>
          </a:ln>
          <a:effectLst>
            <a:outerShdw blurRad="101600" dist="38100" dir="2700000" algn="bl" rotWithShape="0">
              <a:srgbClr val="000000">
                <a:alpha val="20000"/>
              </a:srgbClr>
            </a:outerShdw>
          </a:effectLst>
        </p:spPr>
      </p:sp>
      <p:sp>
        <p:nvSpPr>
          <p:cNvPr id="25" name="Text 23"/>
          <p:cNvSpPr/>
          <p:nvPr/>
        </p:nvSpPr>
        <p:spPr>
          <a:xfrm>
            <a:off x="3355848" y="1033272"/>
            <a:ext cx="2578608" cy="292608"/>
          </a:xfrm>
          <a:prstGeom prst="rect">
            <a:avLst/>
          </a:prstGeom>
          <a:noFill/>
          <a:ln/>
        </p:spPr>
        <p:txBody>
          <a:bodyPr wrap="square" lIns="0" tIns="0" rIns="0" bIns="0" rtlCol="0" anchor="ctr"/>
          <a:lstStyle/>
          <a:p>
            <a:pPr marL="0" indent="0">
              <a:buNone/>
            </a:pPr>
            <a:r>
              <a:rPr lang="en-US" sz="950" b="1" kern="0" spc="100" dirty="0">
                <a:solidFill>
                  <a:srgbClr val="E8A020"/>
                </a:solidFill>
                <a:latin typeface="Calibri" pitchFamily="34" charset="0"/>
                <a:ea typeface="Calibri" pitchFamily="34" charset="-122"/>
                <a:cs typeface="Calibri" pitchFamily="34" charset="-120"/>
              </a:rPr>
              <a:t>KEY DESIGN DECISIONS</a:t>
            </a:r>
            <a:endParaRPr lang="en-US" sz="950" dirty="0"/>
          </a:p>
        </p:txBody>
      </p:sp>
      <p:sp>
        <p:nvSpPr>
          <p:cNvPr id="26" name="Shape 24"/>
          <p:cNvSpPr/>
          <p:nvPr/>
        </p:nvSpPr>
        <p:spPr>
          <a:xfrm>
            <a:off x="3337560" y="1417320"/>
            <a:ext cx="2606040" cy="502920"/>
          </a:xfrm>
          <a:prstGeom prst="roundRect">
            <a:avLst>
              <a:gd name="adj" fmla="val 12727"/>
            </a:avLst>
          </a:prstGeom>
          <a:solidFill>
            <a:srgbClr val="0D1F35"/>
          </a:solidFill>
          <a:ln w="12700">
            <a:solidFill>
              <a:srgbClr val="2A3A5A"/>
            </a:solidFill>
            <a:prstDash val="solid"/>
          </a:ln>
        </p:spPr>
      </p:sp>
      <p:sp>
        <p:nvSpPr>
          <p:cNvPr id="27" name="Text 25"/>
          <p:cNvSpPr/>
          <p:nvPr/>
        </p:nvSpPr>
        <p:spPr>
          <a:xfrm>
            <a:off x="3429000" y="1444752"/>
            <a:ext cx="2423160" cy="201168"/>
          </a:xfrm>
          <a:prstGeom prst="rect">
            <a:avLst/>
          </a:prstGeom>
          <a:noFill/>
          <a:ln/>
        </p:spPr>
        <p:txBody>
          <a:bodyPr wrap="square" lIns="0" tIns="0" rIns="0" bIns="0" rtlCol="0" anchor="ctr"/>
          <a:lstStyle/>
          <a:p>
            <a:pPr marL="0" indent="0">
              <a:buNone/>
            </a:pPr>
            <a:r>
              <a:rPr lang="en-US" sz="950" b="1" dirty="0">
                <a:solidFill>
                  <a:srgbClr val="E8A020"/>
                </a:solidFill>
                <a:latin typeface="Calibri" pitchFamily="34" charset="0"/>
                <a:ea typeface="Calibri" pitchFamily="34" charset="-122"/>
                <a:cs typeface="Calibri" pitchFamily="34" charset="-120"/>
              </a:rPr>
              <a:t>Non-invasive:</a:t>
            </a:r>
            <a:endParaRPr lang="en-US" sz="950" dirty="0"/>
          </a:p>
        </p:txBody>
      </p:sp>
      <p:sp>
        <p:nvSpPr>
          <p:cNvPr id="28" name="Text 26"/>
          <p:cNvSpPr/>
          <p:nvPr/>
        </p:nvSpPr>
        <p:spPr>
          <a:xfrm>
            <a:off x="3429000" y="1627632"/>
            <a:ext cx="2423160" cy="256032"/>
          </a:xfrm>
          <a:prstGeom prst="rect">
            <a:avLst/>
          </a:prstGeom>
          <a:noFill/>
          <a:ln/>
        </p:spPr>
        <p:txBody>
          <a:bodyPr wrap="square" lIns="0" tIns="0" rIns="0" bIns="0" rtlCol="0" anchor="ctr"/>
          <a:lstStyle/>
          <a:p>
            <a:pPr marL="0" indent="0">
              <a:buNone/>
            </a:pPr>
            <a:r>
              <a:rPr lang="en-US" sz="850" dirty="0">
                <a:solidFill>
                  <a:srgbClr val="CBD8EA"/>
                </a:solidFill>
                <a:latin typeface="Calibri" pitchFamily="34" charset="0"/>
                <a:ea typeface="Calibri" pitchFamily="34" charset="-122"/>
                <a:cs typeface="Calibri" pitchFamily="34" charset="-120"/>
              </a:rPr>
              <a:t>Blockchain layer sits alongside existing infrastructure — no core banking changes in Phase 1</a:t>
            </a:r>
            <a:endParaRPr lang="en-US" sz="850" dirty="0"/>
          </a:p>
        </p:txBody>
      </p:sp>
      <p:sp>
        <p:nvSpPr>
          <p:cNvPr id="29" name="Shape 27"/>
          <p:cNvSpPr/>
          <p:nvPr/>
        </p:nvSpPr>
        <p:spPr>
          <a:xfrm>
            <a:off x="3337560" y="1984248"/>
            <a:ext cx="2606040" cy="502920"/>
          </a:xfrm>
          <a:prstGeom prst="roundRect">
            <a:avLst>
              <a:gd name="adj" fmla="val 12727"/>
            </a:avLst>
          </a:prstGeom>
          <a:solidFill>
            <a:srgbClr val="0D1F35"/>
          </a:solidFill>
          <a:ln w="12700">
            <a:solidFill>
              <a:srgbClr val="2A3A5A"/>
            </a:solidFill>
            <a:prstDash val="solid"/>
          </a:ln>
        </p:spPr>
      </p:sp>
      <p:sp>
        <p:nvSpPr>
          <p:cNvPr id="30" name="Text 28"/>
          <p:cNvSpPr/>
          <p:nvPr/>
        </p:nvSpPr>
        <p:spPr>
          <a:xfrm>
            <a:off x="3429000" y="2011680"/>
            <a:ext cx="2423160" cy="201168"/>
          </a:xfrm>
          <a:prstGeom prst="rect">
            <a:avLst/>
          </a:prstGeom>
          <a:noFill/>
          <a:ln/>
        </p:spPr>
        <p:txBody>
          <a:bodyPr wrap="square" lIns="0" tIns="0" rIns="0" bIns="0" rtlCol="0" anchor="ctr"/>
          <a:lstStyle/>
          <a:p>
            <a:pPr marL="0" indent="0">
              <a:buNone/>
            </a:pPr>
            <a:r>
              <a:rPr lang="en-US" sz="950" b="1" dirty="0">
                <a:solidFill>
                  <a:srgbClr val="E8A020"/>
                </a:solidFill>
                <a:latin typeface="Calibri" pitchFamily="34" charset="0"/>
                <a:ea typeface="Calibri" pitchFamily="34" charset="-122"/>
                <a:cs typeface="Calibri" pitchFamily="34" charset="-120"/>
              </a:rPr>
              <a:t>Fail-open:</a:t>
            </a:r>
            <a:endParaRPr lang="en-US" sz="950" dirty="0"/>
          </a:p>
        </p:txBody>
      </p:sp>
      <p:sp>
        <p:nvSpPr>
          <p:cNvPr id="31" name="Text 29"/>
          <p:cNvSpPr/>
          <p:nvPr/>
        </p:nvSpPr>
        <p:spPr>
          <a:xfrm>
            <a:off x="3429000" y="2194560"/>
            <a:ext cx="2423160" cy="256032"/>
          </a:xfrm>
          <a:prstGeom prst="rect">
            <a:avLst/>
          </a:prstGeom>
          <a:noFill/>
          <a:ln/>
        </p:spPr>
        <p:txBody>
          <a:bodyPr wrap="square" lIns="0" tIns="0" rIns="0" bIns="0" rtlCol="0" anchor="ctr"/>
          <a:lstStyle/>
          <a:p>
            <a:pPr marL="0" indent="0">
              <a:buNone/>
            </a:pPr>
            <a:r>
              <a:rPr lang="en-US" sz="850" dirty="0">
                <a:solidFill>
                  <a:srgbClr val="CBD8EA"/>
                </a:solidFill>
                <a:latin typeface="Calibri" pitchFamily="34" charset="0"/>
                <a:ea typeface="Calibri" pitchFamily="34" charset="-122"/>
                <a:cs typeface="Calibri" pitchFamily="34" charset="-120"/>
              </a:rPr>
              <a:t>Circuit breaker: if ledger query fails, payment proceeds on existing controls</a:t>
            </a:r>
            <a:endParaRPr lang="en-US" sz="850" dirty="0"/>
          </a:p>
        </p:txBody>
      </p:sp>
      <p:sp>
        <p:nvSpPr>
          <p:cNvPr id="32" name="Shape 30"/>
          <p:cNvSpPr/>
          <p:nvPr/>
        </p:nvSpPr>
        <p:spPr>
          <a:xfrm>
            <a:off x="3337560" y="2551176"/>
            <a:ext cx="2606040" cy="502920"/>
          </a:xfrm>
          <a:prstGeom prst="roundRect">
            <a:avLst>
              <a:gd name="adj" fmla="val 12727"/>
            </a:avLst>
          </a:prstGeom>
          <a:solidFill>
            <a:srgbClr val="0D1F35"/>
          </a:solidFill>
          <a:ln w="12700">
            <a:solidFill>
              <a:srgbClr val="2A3A5A"/>
            </a:solidFill>
            <a:prstDash val="solid"/>
          </a:ln>
        </p:spPr>
      </p:sp>
      <p:sp>
        <p:nvSpPr>
          <p:cNvPr id="33" name="Text 31"/>
          <p:cNvSpPr/>
          <p:nvPr/>
        </p:nvSpPr>
        <p:spPr>
          <a:xfrm>
            <a:off x="3429000" y="2578608"/>
            <a:ext cx="2423160" cy="201168"/>
          </a:xfrm>
          <a:prstGeom prst="rect">
            <a:avLst/>
          </a:prstGeom>
          <a:noFill/>
          <a:ln/>
        </p:spPr>
        <p:txBody>
          <a:bodyPr wrap="square" lIns="0" tIns="0" rIns="0" bIns="0" rtlCol="0" anchor="ctr"/>
          <a:lstStyle/>
          <a:p>
            <a:pPr marL="0" indent="0">
              <a:buNone/>
            </a:pPr>
            <a:r>
              <a:rPr lang="en-US" sz="950" b="1" dirty="0">
                <a:solidFill>
                  <a:srgbClr val="E8A020"/>
                </a:solidFill>
                <a:latin typeface="Calibri" pitchFamily="34" charset="0"/>
                <a:ea typeface="Calibri" pitchFamily="34" charset="-122"/>
                <a:cs typeface="Calibri" pitchFamily="34" charset="-120"/>
              </a:rPr>
              <a:t>Configurable:</a:t>
            </a:r>
            <a:endParaRPr lang="en-US" sz="950" dirty="0"/>
          </a:p>
        </p:txBody>
      </p:sp>
      <p:sp>
        <p:nvSpPr>
          <p:cNvPr id="34" name="Text 32"/>
          <p:cNvSpPr/>
          <p:nvPr/>
        </p:nvSpPr>
        <p:spPr>
          <a:xfrm>
            <a:off x="3429000" y="2761488"/>
            <a:ext cx="2423160" cy="256032"/>
          </a:xfrm>
          <a:prstGeom prst="rect">
            <a:avLst/>
          </a:prstGeom>
          <a:noFill/>
          <a:ln/>
        </p:spPr>
        <p:txBody>
          <a:bodyPr wrap="square" lIns="0" tIns="0" rIns="0" bIns="0" rtlCol="0" anchor="ctr"/>
          <a:lstStyle/>
          <a:p>
            <a:pPr marL="0" indent="0">
              <a:buNone/>
            </a:pPr>
            <a:r>
              <a:rPr lang="en-US" sz="850" dirty="0">
                <a:solidFill>
                  <a:srgbClr val="CBD8EA"/>
                </a:solidFill>
                <a:latin typeface="Calibri" pitchFamily="34" charset="0"/>
                <a:ea typeface="Calibri" pitchFamily="34" charset="-122"/>
                <a:cs typeface="Calibri" pitchFamily="34" charset="-120"/>
              </a:rPr>
              <a:t>All thresholds (£10K, £50K, 0.55, 0.85) are governance parameters, not hard-coded values</a:t>
            </a:r>
            <a:endParaRPr lang="en-US" sz="850" dirty="0"/>
          </a:p>
        </p:txBody>
      </p:sp>
      <p:sp>
        <p:nvSpPr>
          <p:cNvPr id="35" name="Shape 33"/>
          <p:cNvSpPr/>
          <p:nvPr/>
        </p:nvSpPr>
        <p:spPr>
          <a:xfrm>
            <a:off x="3337560" y="3118104"/>
            <a:ext cx="2606040" cy="502920"/>
          </a:xfrm>
          <a:prstGeom prst="roundRect">
            <a:avLst>
              <a:gd name="adj" fmla="val 12727"/>
            </a:avLst>
          </a:prstGeom>
          <a:solidFill>
            <a:srgbClr val="0D1F35"/>
          </a:solidFill>
          <a:ln w="12700">
            <a:solidFill>
              <a:srgbClr val="2A3A5A"/>
            </a:solidFill>
            <a:prstDash val="solid"/>
          </a:ln>
        </p:spPr>
      </p:sp>
      <p:sp>
        <p:nvSpPr>
          <p:cNvPr id="36" name="Text 34"/>
          <p:cNvSpPr/>
          <p:nvPr/>
        </p:nvSpPr>
        <p:spPr>
          <a:xfrm>
            <a:off x="3429000" y="3145536"/>
            <a:ext cx="2423160" cy="201168"/>
          </a:xfrm>
          <a:prstGeom prst="rect">
            <a:avLst/>
          </a:prstGeom>
          <a:noFill/>
          <a:ln/>
        </p:spPr>
        <p:txBody>
          <a:bodyPr wrap="square" lIns="0" tIns="0" rIns="0" bIns="0" rtlCol="0" anchor="ctr"/>
          <a:lstStyle/>
          <a:p>
            <a:pPr marL="0" indent="0">
              <a:buNone/>
            </a:pPr>
            <a:r>
              <a:rPr lang="en-US" sz="950" b="1" dirty="0">
                <a:solidFill>
                  <a:srgbClr val="E8A020"/>
                </a:solidFill>
                <a:latin typeface="Calibri" pitchFamily="34" charset="0"/>
                <a:ea typeface="Calibri" pitchFamily="34" charset="-122"/>
                <a:cs typeface="Calibri" pitchFamily="34" charset="-120"/>
              </a:rPr>
              <a:t>Privacy-first:</a:t>
            </a:r>
            <a:endParaRPr lang="en-US" sz="950" dirty="0"/>
          </a:p>
        </p:txBody>
      </p:sp>
      <p:sp>
        <p:nvSpPr>
          <p:cNvPr id="37" name="Text 35"/>
          <p:cNvSpPr/>
          <p:nvPr/>
        </p:nvSpPr>
        <p:spPr>
          <a:xfrm>
            <a:off x="3429000" y="3328416"/>
            <a:ext cx="2423160" cy="256032"/>
          </a:xfrm>
          <a:prstGeom prst="rect">
            <a:avLst/>
          </a:prstGeom>
          <a:noFill/>
          <a:ln/>
        </p:spPr>
        <p:txBody>
          <a:bodyPr wrap="square" lIns="0" tIns="0" rIns="0" bIns="0" rtlCol="0" anchor="ctr"/>
          <a:lstStyle/>
          <a:p>
            <a:pPr marL="0" indent="0">
              <a:buNone/>
            </a:pPr>
            <a:r>
              <a:rPr lang="en-US" sz="850" dirty="0">
                <a:solidFill>
                  <a:srgbClr val="CBD8EA"/>
                </a:solidFill>
                <a:latin typeface="Calibri" pitchFamily="34" charset="0"/>
                <a:ea typeface="Calibri" pitchFamily="34" charset="-122"/>
                <a:cs typeface="Calibri" pitchFamily="34" charset="-120"/>
              </a:rPr>
              <a:t>Only hashed identifiers on shared channels — ZK proofs for richer signals. GDPR by design</a:t>
            </a:r>
            <a:endParaRPr lang="en-US" sz="850" dirty="0"/>
          </a:p>
        </p:txBody>
      </p:sp>
      <p:sp>
        <p:nvSpPr>
          <p:cNvPr id="38" name="Shape 36"/>
          <p:cNvSpPr/>
          <p:nvPr/>
        </p:nvSpPr>
        <p:spPr>
          <a:xfrm>
            <a:off x="3337560" y="3685032"/>
            <a:ext cx="2606040" cy="502920"/>
          </a:xfrm>
          <a:prstGeom prst="roundRect">
            <a:avLst>
              <a:gd name="adj" fmla="val 12727"/>
            </a:avLst>
          </a:prstGeom>
          <a:solidFill>
            <a:srgbClr val="0D1F35"/>
          </a:solidFill>
          <a:ln w="12700">
            <a:solidFill>
              <a:srgbClr val="2A3A5A"/>
            </a:solidFill>
            <a:prstDash val="solid"/>
          </a:ln>
        </p:spPr>
      </p:sp>
      <p:sp>
        <p:nvSpPr>
          <p:cNvPr id="39" name="Text 37"/>
          <p:cNvSpPr/>
          <p:nvPr/>
        </p:nvSpPr>
        <p:spPr>
          <a:xfrm>
            <a:off x="3429000" y="3712464"/>
            <a:ext cx="2423160" cy="201168"/>
          </a:xfrm>
          <a:prstGeom prst="rect">
            <a:avLst/>
          </a:prstGeom>
          <a:noFill/>
          <a:ln/>
        </p:spPr>
        <p:txBody>
          <a:bodyPr wrap="square" lIns="0" tIns="0" rIns="0" bIns="0" rtlCol="0" anchor="ctr"/>
          <a:lstStyle/>
          <a:p>
            <a:pPr marL="0" indent="0">
              <a:buNone/>
            </a:pPr>
            <a:r>
              <a:rPr lang="en-US" sz="950" b="1" dirty="0">
                <a:solidFill>
                  <a:srgbClr val="E8A020"/>
                </a:solidFill>
                <a:latin typeface="Calibri" pitchFamily="34" charset="0"/>
                <a:ea typeface="Calibri" pitchFamily="34" charset="-122"/>
                <a:cs typeface="Calibri" pitchFamily="34" charset="-120"/>
              </a:rPr>
              <a:t>Consortium-led:</a:t>
            </a:r>
            <a:endParaRPr lang="en-US" sz="950" dirty="0"/>
          </a:p>
        </p:txBody>
      </p:sp>
      <p:sp>
        <p:nvSpPr>
          <p:cNvPr id="40" name="Text 38"/>
          <p:cNvSpPr/>
          <p:nvPr/>
        </p:nvSpPr>
        <p:spPr>
          <a:xfrm>
            <a:off x="3429000" y="3895344"/>
            <a:ext cx="2423160" cy="256032"/>
          </a:xfrm>
          <a:prstGeom prst="rect">
            <a:avLst/>
          </a:prstGeom>
          <a:noFill/>
          <a:ln/>
        </p:spPr>
        <p:txBody>
          <a:bodyPr wrap="square" lIns="0" tIns="0" rIns="0" bIns="0" rtlCol="0" anchor="ctr"/>
          <a:lstStyle/>
          <a:p>
            <a:pPr marL="0" indent="0">
              <a:buNone/>
            </a:pPr>
            <a:r>
              <a:rPr lang="en-US" sz="850" dirty="0">
                <a:solidFill>
                  <a:srgbClr val="CBD8EA"/>
                </a:solidFill>
                <a:latin typeface="Calibri" pitchFamily="34" charset="0"/>
                <a:ea typeface="Calibri" pitchFamily="34" charset="-122"/>
                <a:cs typeface="Calibri" pitchFamily="34" charset="-120"/>
              </a:rPr>
              <a:t>Lloyds leads; other banks join. Governance modelled on Faster Payments scheme structure</a:t>
            </a:r>
            <a:endParaRPr lang="en-US" sz="850" dirty="0"/>
          </a:p>
        </p:txBody>
      </p:sp>
      <p:sp>
        <p:nvSpPr>
          <p:cNvPr id="41" name="Shape 39"/>
          <p:cNvSpPr/>
          <p:nvPr/>
        </p:nvSpPr>
        <p:spPr>
          <a:xfrm>
            <a:off x="3337560" y="4251960"/>
            <a:ext cx="2606040" cy="502920"/>
          </a:xfrm>
          <a:prstGeom prst="roundRect">
            <a:avLst>
              <a:gd name="adj" fmla="val 12727"/>
            </a:avLst>
          </a:prstGeom>
          <a:solidFill>
            <a:srgbClr val="0D1F35"/>
          </a:solidFill>
          <a:ln w="12700">
            <a:solidFill>
              <a:srgbClr val="2A3A5A"/>
            </a:solidFill>
            <a:prstDash val="solid"/>
          </a:ln>
        </p:spPr>
      </p:sp>
      <p:sp>
        <p:nvSpPr>
          <p:cNvPr id="42" name="Text 40"/>
          <p:cNvSpPr/>
          <p:nvPr/>
        </p:nvSpPr>
        <p:spPr>
          <a:xfrm>
            <a:off x="3429000" y="4279392"/>
            <a:ext cx="2423160" cy="201168"/>
          </a:xfrm>
          <a:prstGeom prst="rect">
            <a:avLst/>
          </a:prstGeom>
          <a:noFill/>
          <a:ln/>
        </p:spPr>
        <p:txBody>
          <a:bodyPr wrap="square" lIns="0" tIns="0" rIns="0" bIns="0" rtlCol="0" anchor="ctr"/>
          <a:lstStyle/>
          <a:p>
            <a:pPr marL="0" indent="0">
              <a:buNone/>
            </a:pPr>
            <a:r>
              <a:rPr lang="en-US" sz="950" b="1" dirty="0">
                <a:solidFill>
                  <a:srgbClr val="E8A020"/>
                </a:solidFill>
                <a:latin typeface="Calibri" pitchFamily="34" charset="0"/>
                <a:ea typeface="Calibri" pitchFamily="34" charset="-122"/>
                <a:cs typeface="Calibri" pitchFamily="34" charset="-120"/>
              </a:rPr>
              <a:t>Regulator access:</a:t>
            </a:r>
            <a:endParaRPr lang="en-US" sz="950" dirty="0"/>
          </a:p>
        </p:txBody>
      </p:sp>
      <p:sp>
        <p:nvSpPr>
          <p:cNvPr id="43" name="Text 41"/>
          <p:cNvSpPr/>
          <p:nvPr/>
        </p:nvSpPr>
        <p:spPr>
          <a:xfrm>
            <a:off x="3429000" y="4462272"/>
            <a:ext cx="2423160" cy="256032"/>
          </a:xfrm>
          <a:prstGeom prst="rect">
            <a:avLst/>
          </a:prstGeom>
          <a:noFill/>
          <a:ln/>
        </p:spPr>
        <p:txBody>
          <a:bodyPr wrap="square" lIns="0" tIns="0" rIns="0" bIns="0" rtlCol="0" anchor="ctr"/>
          <a:lstStyle/>
          <a:p>
            <a:pPr marL="0" indent="0">
              <a:buNone/>
            </a:pPr>
            <a:r>
              <a:rPr lang="en-US" sz="850" dirty="0">
                <a:solidFill>
                  <a:srgbClr val="CBD8EA"/>
                </a:solidFill>
                <a:latin typeface="Calibri" pitchFamily="34" charset="0"/>
                <a:ea typeface="Calibri" pitchFamily="34" charset="-122"/>
                <a:cs typeface="Calibri" pitchFamily="34" charset="-120"/>
              </a:rPr>
              <a:t>FCA/PSR observer node included from Day 1 — not a later addition</a:t>
            </a:r>
            <a:endParaRPr lang="en-US" sz="850" dirty="0"/>
          </a:p>
        </p:txBody>
      </p:sp>
      <p:sp>
        <p:nvSpPr>
          <p:cNvPr id="44" name="Shape 42"/>
          <p:cNvSpPr/>
          <p:nvPr/>
        </p:nvSpPr>
        <p:spPr>
          <a:xfrm>
            <a:off x="6263640" y="960120"/>
            <a:ext cx="2651760" cy="3977640"/>
          </a:xfrm>
          <a:prstGeom prst="roundRect">
            <a:avLst>
              <a:gd name="adj" fmla="val 3448"/>
            </a:avLst>
          </a:prstGeom>
          <a:solidFill>
            <a:srgbClr val="162D52"/>
          </a:solidFill>
          <a:ln w="12700">
            <a:solidFill>
              <a:srgbClr val="1DB87A"/>
            </a:solidFill>
            <a:prstDash val="solid"/>
          </a:ln>
          <a:effectLst>
            <a:outerShdw blurRad="101600" dist="38100" dir="2700000" algn="bl" rotWithShape="0">
              <a:srgbClr val="000000">
                <a:alpha val="20000"/>
              </a:srgbClr>
            </a:outerShdw>
          </a:effectLst>
        </p:spPr>
      </p:sp>
      <p:sp>
        <p:nvSpPr>
          <p:cNvPr id="45" name="Text 43"/>
          <p:cNvSpPr/>
          <p:nvPr/>
        </p:nvSpPr>
        <p:spPr>
          <a:xfrm>
            <a:off x="6400800" y="1033272"/>
            <a:ext cx="2377440" cy="292608"/>
          </a:xfrm>
          <a:prstGeom prst="rect">
            <a:avLst/>
          </a:prstGeom>
          <a:noFill/>
          <a:ln/>
        </p:spPr>
        <p:txBody>
          <a:bodyPr wrap="square" lIns="0" tIns="0" rIns="0" bIns="0" rtlCol="0" anchor="ctr"/>
          <a:lstStyle/>
          <a:p>
            <a:pPr marL="0" indent="0">
              <a:buNone/>
            </a:pPr>
            <a:r>
              <a:rPr lang="en-US" sz="950" b="1" kern="0" spc="100" dirty="0">
                <a:solidFill>
                  <a:srgbClr val="1DB87A"/>
                </a:solidFill>
                <a:latin typeface="Calibri" pitchFamily="34" charset="0"/>
                <a:ea typeface="Calibri" pitchFamily="34" charset="-122"/>
                <a:cs typeface="Calibri" pitchFamily="34" charset="-120"/>
              </a:rPr>
              <a:t>PROJECTED OUTCOMES</a:t>
            </a:r>
            <a:endParaRPr lang="en-US" sz="950" dirty="0"/>
          </a:p>
        </p:txBody>
      </p:sp>
      <p:sp>
        <p:nvSpPr>
          <p:cNvPr id="46" name="Shape 44"/>
          <p:cNvSpPr/>
          <p:nvPr/>
        </p:nvSpPr>
        <p:spPr>
          <a:xfrm>
            <a:off x="6400800" y="1417320"/>
            <a:ext cx="2377440" cy="786384"/>
          </a:xfrm>
          <a:prstGeom prst="roundRect">
            <a:avLst>
              <a:gd name="adj" fmla="val 9302"/>
            </a:avLst>
          </a:prstGeom>
          <a:solidFill>
            <a:srgbClr val="0D1F35"/>
          </a:solidFill>
          <a:ln w="12700">
            <a:solidFill>
              <a:srgbClr val="1DB87A"/>
            </a:solidFill>
            <a:prstDash val="solid"/>
          </a:ln>
        </p:spPr>
      </p:sp>
      <p:sp>
        <p:nvSpPr>
          <p:cNvPr id="47" name="Text 45"/>
          <p:cNvSpPr/>
          <p:nvPr/>
        </p:nvSpPr>
        <p:spPr>
          <a:xfrm>
            <a:off x="6473952" y="1463040"/>
            <a:ext cx="2231136" cy="384048"/>
          </a:xfrm>
          <a:prstGeom prst="rect">
            <a:avLst/>
          </a:prstGeom>
          <a:noFill/>
          <a:ln/>
        </p:spPr>
        <p:txBody>
          <a:bodyPr wrap="square" lIns="0" tIns="0" rIns="0" bIns="0" rtlCol="0" anchor="ctr"/>
          <a:lstStyle/>
          <a:p>
            <a:pPr marL="0" indent="0">
              <a:buNone/>
            </a:pPr>
            <a:r>
              <a:rPr lang="en-US" sz="2000" b="1" dirty="0">
                <a:solidFill>
                  <a:srgbClr val="1DB87A"/>
                </a:solidFill>
                <a:latin typeface="Cambria" pitchFamily="34" charset="0"/>
                <a:ea typeface="Cambria" pitchFamily="34" charset="-122"/>
                <a:cs typeface="Cambria" pitchFamily="34" charset="-120"/>
              </a:rPr>
              <a:t>75–80%</a:t>
            </a:r>
            <a:endParaRPr lang="en-US" sz="2000" dirty="0"/>
          </a:p>
        </p:txBody>
      </p:sp>
      <p:sp>
        <p:nvSpPr>
          <p:cNvPr id="48" name="Text 46"/>
          <p:cNvSpPr/>
          <p:nvPr/>
        </p:nvSpPr>
        <p:spPr>
          <a:xfrm>
            <a:off x="6473952" y="1828800"/>
            <a:ext cx="2231136" cy="329184"/>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APP fraud</a:t>
            </a:r>
            <a:endParaRPr lang="en-US" sz="900" dirty="0"/>
          </a:p>
          <a:p>
            <a:pPr marL="0" indent="0">
              <a:buNone/>
            </a:pPr>
            <a:r>
              <a:rPr lang="en-US" sz="900" b="1" dirty="0">
                <a:solidFill>
                  <a:srgbClr val="FFFFFF"/>
                </a:solidFill>
                <a:latin typeface="Calibri" pitchFamily="34" charset="0"/>
                <a:ea typeface="Calibri" pitchFamily="34" charset="-122"/>
                <a:cs typeface="Calibri" pitchFamily="34" charset="-120"/>
              </a:rPr>
              <a:t>interception rate</a:t>
            </a:r>
            <a:endParaRPr lang="en-US" sz="900" dirty="0"/>
          </a:p>
        </p:txBody>
      </p:sp>
      <p:sp>
        <p:nvSpPr>
          <p:cNvPr id="49" name="Shape 47"/>
          <p:cNvSpPr/>
          <p:nvPr/>
        </p:nvSpPr>
        <p:spPr>
          <a:xfrm>
            <a:off x="6400800" y="2295144"/>
            <a:ext cx="2377440" cy="786384"/>
          </a:xfrm>
          <a:prstGeom prst="roundRect">
            <a:avLst>
              <a:gd name="adj" fmla="val 9302"/>
            </a:avLst>
          </a:prstGeom>
          <a:solidFill>
            <a:srgbClr val="0D1F35"/>
          </a:solidFill>
          <a:ln w="12700">
            <a:solidFill>
              <a:srgbClr val="E8A020"/>
            </a:solidFill>
            <a:prstDash val="solid"/>
          </a:ln>
        </p:spPr>
      </p:sp>
      <p:sp>
        <p:nvSpPr>
          <p:cNvPr id="50" name="Text 48"/>
          <p:cNvSpPr/>
          <p:nvPr/>
        </p:nvSpPr>
        <p:spPr>
          <a:xfrm>
            <a:off x="6473952" y="2340864"/>
            <a:ext cx="2231136" cy="384048"/>
          </a:xfrm>
          <a:prstGeom prst="rect">
            <a:avLst/>
          </a:prstGeom>
          <a:noFill/>
          <a:ln/>
        </p:spPr>
        <p:txBody>
          <a:bodyPr wrap="square" lIns="0" tIns="0" rIns="0" bIns="0" rtlCol="0" anchor="ctr"/>
          <a:lstStyle/>
          <a:p>
            <a:pPr marL="0" indent="0">
              <a:buNone/>
            </a:pPr>
            <a:r>
              <a:rPr lang="en-US" sz="2000" b="1" dirty="0">
                <a:solidFill>
                  <a:srgbClr val="E8A020"/>
                </a:solidFill>
                <a:latin typeface="Cambria" pitchFamily="34" charset="0"/>
                <a:ea typeface="Cambria" pitchFamily="34" charset="-122"/>
                <a:cs typeface="Cambria" pitchFamily="34" charset="-120"/>
              </a:rPr>
              <a:t>£350–400M</a:t>
            </a:r>
            <a:endParaRPr lang="en-US" sz="2000" dirty="0"/>
          </a:p>
        </p:txBody>
      </p:sp>
      <p:sp>
        <p:nvSpPr>
          <p:cNvPr id="51" name="Text 49"/>
          <p:cNvSpPr/>
          <p:nvPr/>
        </p:nvSpPr>
        <p:spPr>
          <a:xfrm>
            <a:off x="6473952" y="2706624"/>
            <a:ext cx="2231136" cy="329184"/>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Annual savings</a:t>
            </a:r>
            <a:endParaRPr lang="en-US" sz="900" dirty="0"/>
          </a:p>
          <a:p>
            <a:pPr marL="0" indent="0">
              <a:buNone/>
            </a:pPr>
            <a:r>
              <a:rPr lang="en-US" sz="900" b="1" dirty="0">
                <a:solidFill>
                  <a:srgbClr val="FFFFFF"/>
                </a:solidFill>
                <a:latin typeface="Calibri" pitchFamily="34" charset="0"/>
                <a:ea typeface="Calibri" pitchFamily="34" charset="-122"/>
                <a:cs typeface="Calibri" pitchFamily="34" charset="-120"/>
              </a:rPr>
              <a:t>across UK banking</a:t>
            </a:r>
            <a:endParaRPr lang="en-US" sz="900" dirty="0"/>
          </a:p>
        </p:txBody>
      </p:sp>
      <p:sp>
        <p:nvSpPr>
          <p:cNvPr id="52" name="Shape 50"/>
          <p:cNvSpPr/>
          <p:nvPr/>
        </p:nvSpPr>
        <p:spPr>
          <a:xfrm>
            <a:off x="6400800" y="3172968"/>
            <a:ext cx="2377440" cy="786384"/>
          </a:xfrm>
          <a:prstGeom prst="roundRect">
            <a:avLst>
              <a:gd name="adj" fmla="val 9302"/>
            </a:avLst>
          </a:prstGeom>
          <a:solidFill>
            <a:srgbClr val="0D1F35"/>
          </a:solidFill>
          <a:ln w="12700">
            <a:solidFill>
              <a:srgbClr val="3AB0FF"/>
            </a:solidFill>
            <a:prstDash val="solid"/>
          </a:ln>
        </p:spPr>
      </p:sp>
      <p:sp>
        <p:nvSpPr>
          <p:cNvPr id="53" name="Text 51"/>
          <p:cNvSpPr/>
          <p:nvPr/>
        </p:nvSpPr>
        <p:spPr>
          <a:xfrm>
            <a:off x="6473952" y="3218688"/>
            <a:ext cx="2231136" cy="384048"/>
          </a:xfrm>
          <a:prstGeom prst="rect">
            <a:avLst/>
          </a:prstGeom>
          <a:noFill/>
          <a:ln/>
        </p:spPr>
        <p:txBody>
          <a:bodyPr wrap="square" lIns="0" tIns="0" rIns="0" bIns="0" rtlCol="0" anchor="ctr"/>
          <a:lstStyle/>
          <a:p>
            <a:pPr marL="0" indent="0">
              <a:buNone/>
            </a:pPr>
            <a:r>
              <a:rPr lang="en-US" sz="2000" b="1" dirty="0">
                <a:solidFill>
                  <a:srgbClr val="3AB0FF"/>
                </a:solidFill>
                <a:latin typeface="Cambria" pitchFamily="34" charset="0"/>
                <a:ea typeface="Cambria" pitchFamily="34" charset="-122"/>
                <a:cs typeface="Cambria" pitchFamily="34" charset="-120"/>
              </a:rPr>
              <a:t>60%</a:t>
            </a:r>
            <a:endParaRPr lang="en-US" sz="2000" dirty="0"/>
          </a:p>
        </p:txBody>
      </p:sp>
      <p:sp>
        <p:nvSpPr>
          <p:cNvPr id="54" name="Text 52"/>
          <p:cNvSpPr/>
          <p:nvPr/>
        </p:nvSpPr>
        <p:spPr>
          <a:xfrm>
            <a:off x="6473952" y="3584448"/>
            <a:ext cx="2231136" cy="329184"/>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Fraud ops cost</a:t>
            </a:r>
            <a:endParaRPr lang="en-US" sz="900" dirty="0"/>
          </a:p>
          <a:p>
            <a:pPr marL="0" indent="0">
              <a:buNone/>
            </a:pPr>
            <a:r>
              <a:rPr lang="en-US" sz="900" b="1" dirty="0">
                <a:solidFill>
                  <a:srgbClr val="FFFFFF"/>
                </a:solidFill>
                <a:latin typeface="Calibri" pitchFamily="34" charset="0"/>
                <a:ea typeface="Calibri" pitchFamily="34" charset="-122"/>
                <a:cs typeface="Calibri" pitchFamily="34" charset="-120"/>
              </a:rPr>
              <a:t>reduction</a:t>
            </a:r>
            <a:endParaRPr lang="en-US" sz="900" dirty="0"/>
          </a:p>
        </p:txBody>
      </p:sp>
      <p:sp>
        <p:nvSpPr>
          <p:cNvPr id="55" name="Shape 53"/>
          <p:cNvSpPr/>
          <p:nvPr/>
        </p:nvSpPr>
        <p:spPr>
          <a:xfrm>
            <a:off x="6400800" y="4050792"/>
            <a:ext cx="2377440" cy="786384"/>
          </a:xfrm>
          <a:prstGeom prst="roundRect">
            <a:avLst>
              <a:gd name="adj" fmla="val 9302"/>
            </a:avLst>
          </a:prstGeom>
          <a:solidFill>
            <a:srgbClr val="0D1F35"/>
          </a:solidFill>
          <a:ln w="12700">
            <a:solidFill>
              <a:srgbClr val="0D9488"/>
            </a:solidFill>
            <a:prstDash val="solid"/>
          </a:ln>
        </p:spPr>
      </p:sp>
      <p:sp>
        <p:nvSpPr>
          <p:cNvPr id="56" name="Text 54"/>
          <p:cNvSpPr/>
          <p:nvPr/>
        </p:nvSpPr>
        <p:spPr>
          <a:xfrm>
            <a:off x="6473952" y="4096512"/>
            <a:ext cx="2231136" cy="384048"/>
          </a:xfrm>
          <a:prstGeom prst="rect">
            <a:avLst/>
          </a:prstGeom>
          <a:noFill/>
          <a:ln/>
        </p:spPr>
        <p:txBody>
          <a:bodyPr wrap="square" lIns="0" tIns="0" rIns="0" bIns="0" rtlCol="0" anchor="ctr"/>
          <a:lstStyle/>
          <a:p>
            <a:pPr marL="0" indent="0">
              <a:buNone/>
            </a:pPr>
            <a:r>
              <a:rPr lang="en-US" sz="2000" b="1" dirty="0">
                <a:solidFill>
                  <a:srgbClr val="0D9488"/>
                </a:solidFill>
                <a:latin typeface="Cambria" pitchFamily="34" charset="0"/>
                <a:ea typeface="Cambria" pitchFamily="34" charset="-122"/>
                <a:cs typeface="Cambria" pitchFamily="34" charset="-120"/>
              </a:rPr>
              <a:t>&lt;50ms</a:t>
            </a:r>
            <a:endParaRPr lang="en-US" sz="2000" dirty="0"/>
          </a:p>
        </p:txBody>
      </p:sp>
      <p:sp>
        <p:nvSpPr>
          <p:cNvPr id="57" name="Text 55"/>
          <p:cNvSpPr/>
          <p:nvPr/>
        </p:nvSpPr>
        <p:spPr>
          <a:xfrm>
            <a:off x="6473952" y="4462272"/>
            <a:ext cx="2231136" cy="329184"/>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Ledger query</a:t>
            </a:r>
            <a:endParaRPr lang="en-US" sz="900" dirty="0"/>
          </a:p>
          <a:p>
            <a:pPr marL="0" indent="0">
              <a:buNone/>
            </a:pPr>
            <a:r>
              <a:rPr lang="en-US" sz="900" b="1" dirty="0">
                <a:solidFill>
                  <a:srgbClr val="FFFFFF"/>
                </a:solidFill>
                <a:latin typeface="Calibri" pitchFamily="34" charset="0"/>
                <a:ea typeface="Calibri" pitchFamily="34" charset="-122"/>
                <a:cs typeface="Calibri" pitchFamily="34" charset="-120"/>
              </a:rPr>
              <a:t>latency</a:t>
            </a:r>
            <a:endParaRPr lang="en-US" sz="900" dirty="0"/>
          </a:p>
        </p:txBody>
      </p:sp>
      <p:sp>
        <p:nvSpPr>
          <p:cNvPr id="58" name="Shape 56"/>
          <p:cNvSpPr/>
          <p:nvPr/>
        </p:nvSpPr>
        <p:spPr>
          <a:xfrm>
            <a:off x="228600" y="4956048"/>
            <a:ext cx="8686800" cy="164592"/>
          </a:xfrm>
          <a:prstGeom prst="roundRect">
            <a:avLst>
              <a:gd name="adj" fmla="val 33333"/>
            </a:avLst>
          </a:prstGeom>
          <a:solidFill>
            <a:srgbClr val="0D9488"/>
          </a:solidFill>
          <a:ln w="12700">
            <a:solidFill>
              <a:srgbClr val="0D9488"/>
            </a:solidFill>
            <a:prstDash val="solid"/>
          </a:ln>
        </p:spPr>
      </p:sp>
      <p:sp>
        <p:nvSpPr>
          <p:cNvPr id="59" name="Text 57"/>
          <p:cNvSpPr/>
          <p:nvPr/>
        </p:nvSpPr>
        <p:spPr>
          <a:xfrm>
            <a:off x="411480" y="4974336"/>
            <a:ext cx="8321040" cy="12801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Ready to build · Phase 1 deliverable in 6 months · No core banking system changes required · FCA sandbox-ready</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4389</Words>
  <Application>Microsoft Office PowerPoint</Application>
  <PresentationFormat>On-screen Show (16:9)</PresentationFormat>
  <Paragraphs>324</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Blockchain Architecture – Fraud Prevention</dc:title>
  <dc:subject>PptxGenJS Presentation</dc:subject>
  <dc:creator>PptxGenJS</dc:creator>
  <cp:lastModifiedBy>ARUN KUMAR MOHAPATRA</cp:lastModifiedBy>
  <cp:revision>1</cp:revision>
  <dcterms:created xsi:type="dcterms:W3CDTF">2026-06-21T17:13:09Z</dcterms:created>
  <dcterms:modified xsi:type="dcterms:W3CDTF">2026-06-21T17:19:46Z</dcterms:modified>
</cp:coreProperties>
</file>