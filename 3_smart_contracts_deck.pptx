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3981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SC-1 — Smart Contract Overview
This deck specifies the five Hyperledger Fabric chaincodes that form the fraud prevention system.
SC-01 FraudSignalRegistry: The cross-bank shared ledger chaincode. Stores and queries hashed mule account flags from all consortium members.
SC-02 TransactionAuditTrail: Writes an immutable, cryptographically hashed record of every payment authorisation event before funds move.
SC-03 CoolingOffController: Enforces programmable payment holds and cooling-off periods for anomalous or high-risk transactions.
SC-04 MultiSigApproval: Manages the dual-signature approval flow for high-value transfers requiring two independent cryptographic sign-offs.
SC-05 AnomalyDecisionEngine: The composite risk evaluator — ingests all signals and returns a PROCEED / HOLD / REJECT decision.
Each contract is a separate Go chaincode deployed on the Hyperledger Fabric network. SC-05 calls SC-01 as part of its evaluation logic. SC-02 is called by every payment flow regardless of outcome.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SC-2 — SC-01 FraudSignalRegistry
This is the most critical shared chaincode. It forms the cross-bank intelligence backbone.
Data structure: Each fraud signal record stores a SHA-256 hash of the account identifier (sort code + account number + a consortium-shared salt — never the raw account details). The FlagType enum has four states: CONFIRMED_FRAUD (highest weight, triggers automatic reject in SC-05), SUSPECTED (triggers hold), MULE (triggers hold + enhanced monitoring), and CLEARED (overrides previous flags). Confidence is a float between 0 and 1 representing how certain the flagging bank is. EvidenceHash links to an off-chain evidence bundle stored in the bank's own systems.
FlagAccount function: Only callable by nodes whose MSP (Membership Service Provider) is in the validated consortium list. This prevents rogue or misconfigured nodes from writing false flags. The reporting bank's identity is hashed before storage — so even within the consortium, individual bank identities are not exposed on the shared ledger.
QueryFlag function: Called by SC-05 (AnomalyDecisionEngine) during every payment evaluation. Returns the full signal record if a flag exists, or nil if the account is clean. This is a read-only operation and does not require multi-peer endorsement — it can be served from a single peer for low latency.
Key design points: Auto-expiry at 90 days prevents stale flags from persisting indefinitely. The 90-day window is a governance parameter that can be adjusted by consortium vote. Flag renewal requires re-submission with current evidence.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SC-3 — SC-02 TransactionAuditTrail
This chaincode is called for every single payment — regardless of whether it proceeds, is held, or is rejected. It is the foundation of the immutable audit trail.
Schema design decisions:
AmountPence as int64: Monetary values are always stored as integers (pence) to avoid floating-point precision errors. This is standard practice in financial systems.
ContextHash: The full authorisation bundle (device, IP, behavioural signals, session metadata) is hashed off-chain and only the hash is stored on-chain. This keeps the ledger lightweight while preserving verifiability — the original bundle is stored in the bank's own secure data store and can be matched against the on-chain hash during dispute resolution.
ContractVersion: Records which version of the chaincode evaluated the transaction. Critical for audit purposes — if threshold parameters change, historical records remain attributable to the rules that were in force at the time.
Idempotency check: The duplicate TxID guard prevents the same payment from being written twice — which could happen if the integration layer retries on a timeout. This is a critical safety mechanism.
Composite key: Using a composite key with 'audit' prefix enables efficient range queries — for example, retrieving all audit records for a given customer (by customerIDHash prefix) for investigation purposes.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SC-4 — SC-03 CoolingOffController
This chaincode implements the most impactful single intervention for APP fraud — a programmable hold that gives customers a window to reconsider before funds leave the bank.
Trigger conditions: Four conditions are evaluated in priority order. The thresholds (£10,000, £50,000, £5,000) are governance parameters stored on-chain as a configuration record, updatable by consortium vote without redeploying the chaincode. The velocity breach threshold (3 transfers per hour) is separately configurable.
Hold duration logic: The calculateHoldDuration function maps trigger conditions to hold periods. A new payee above £50K gets a 24-hour hold — the maximum. This is intentionally long for very high-value transfers because APP fraud victims in house purchase scams consistently say they realised something was wrong within hours but could not stop the payment. The 24-hour hold would have prevented the majority of these cases.
Fabric event emission: The SetEvent calls on PaymentHeld and PaymentConfirmed publish real-time events to any listener registered with the Fabric peer. The integration layer subscribes to these events and triggers customer notifications (push notification, SMS, email) and fraud ops case creation without any polling.
Expiry and auto-cancellation: If the customer does not confirm within the hold period, the payment auto-cancels. This is enforced in the ConfirmPayment function — a confirmation attempt after expiry returns an error. A separate cleanup job (chaincode scheduled task) sweeps expired holds and emits PaymentExpiredCancelled events.
State machine: PENDING_HOLD → HOLD_ACTIVE (after customer notification confirmed) → CONFIRMED or CANCELLED. All state transitions are written to the ledger, providing a complete audit trail of the hold lifecycle.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SC-5 — SC-04 MultiSigApproval
This chaincode implements cryptographic two-factor approval for high-value transfers. It is triggered by SC-05 when amount &gt; £50,000 or when a high-confidence fraud signal warrants extra verification.
Signature scheme: Ed25519 is used for all signatures. It is fast (signature verification in &lt;1ms), produces short signatures (64 bytes), and is resistant to side-channel attacks. This is the same signature scheme used by modern SSH keys and TLS 1.3.
Nonce design: The 32-byte random nonce is generated by the bank's integration layer and included in the on-chain approval request. The customer's device signs this nonce — not the payment details directly. This prevents replay attacks (each approval request has a unique nonce) and means the signature is useless for any other transaction.
Two-factor options for Signature 2:
Option A — Registered secondary device: The customer has enrolled a second device (tablet, backup phone) in the banking app. The app on that device signs the nonce independently.
Option B — Bank fraud analyst token: For very high-value or suspicious transactions, the bank's fraud ops team can provide Signature 2 via a hardware security token after manual review.
Option C — Biometric re-authentication: A fresh biometric challenge on the primary device, producing a new key derivation that acts as Sig2.
Expiry: The 30-minute expiry is intentionally tight. If the customer cannot complete both signatures within 30 minutes, the request expires and must be re-initiated. This prevents stale approval requests from being exploited.
Key registry: Public keys are stored in a separate KeyRegistry chaincode (not shown here). Each customer has up to 3 enrolled public keys. Key rotation is handled by the bank's identity management system.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SC-6 — SC-05 AnomalyDecisionEngine
This is the orchestrating chaincode — the central decision engine that calls all other contracts and returns the final payment outcome.
Evaluation order (priority matters):
Step 1 — FraudSignalRegistry query: The first check. A CONFIRMED_FRAUD flag from the cross-bank registry is the highest-weight signal and triggers immediate rejection regardless of all other signals. This is the most impactful intervention for the mule network use case.
Step 2 — ML hard reject: An ML score above 0.85 triggers rejection with high confidence. This threshold is set deliberately high to minimise false positives on the reject path — holds are preferred over outright rejections for borderline cases.
Step 3 — Multi-sig gate: Any transfer above £50,000 requires dual-signature approval regardless of other signals. This is an absolute rule, not a threshold — no ML score can override it.
Step 4 — Composite hold rule: The OR composition of six signals means any single indicator can trigger a cooling-off hold. This is intentionally broad — false positives result in a hold (mild friction for the customer), not a rejection (blocked payment). The behaviourScore signal (session biometric anomaly) is a new capability enabled by the oracle layer.
Step 5 — Proceed: Only reached if all previous checks pass. The WriteAuditRecord call ensures every clean payment still gets an on-chain record.
Governance config: All numeric thresholds are stored as a Config record on the ledger, updatable by consortium vote. This is critical — it means the risk team can tune the system (e.g. lower the NewPayeeThreshold during a fraud spike) without a software deployment. The config update itself is an on-chain transaction and therefore auditable.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SC-7 — Contract Interaction Map
This slide shows how the five chaincodes connect. The key design principle is that SC-05 is the single entry point — the integration layer never calls SC-01, SC-02, SC-03, or SC-04 directly.
Call graph:
Integration Layer → SC-05: Always. Every payment evaluation goes through SC-05 first.
SC-05 → SC-01: Every payment. SC-05 queries the fraud registry as its first action. This is a read-only call and is optimised for latency.
SC-05 → SC-02: Every payment. SC-05 writes the audit record as its final action, regardless of the decision outcome. This ensures every payment has an on-chain record.
SC-05 → SC-03: Approximately 15% of payments. Triggered when the composite hold rule evaluates to true. This percentage is based on the estimated share of payments that are either first-time payees with high amounts, from new devices, or above the ML soft threshold.
SC-05 → SC-04: Approximately 1% of payments. Only for transfers above £50,000. The multi-sig flow is a separate, asynchronous process — SC-05 initiates the request, and the customer completes the two-signature process in a separate interaction.
Call latency targets:
SC-01 query: &lt;50ms (single-peer read, no endorsement required)
SC-02 write: &lt;80ms (requires endorsement from Lloyds peer set)
SC-03 initiate: &lt;100ms (state change, requires endorsement)
SC-04 initiate: &lt;100ms (state change, async completion)
SC-05 total (PROCEED path): &lt;200ms end-to-end
SC-05 total (HOLD path): &lt;300ms end-to-end (includes SC-03 call)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SC-8 — Deployment, Testing &amp; Governance
Fabric Lifecycle: Hyperledger Fabric 2.x uses a decentralised chaincode lifecycle. No single organisation can deploy or upgrade a contract unilaterally — all changes require multi-organisation approval. This is a governance feature that is built into the protocol, not enforced by policy alone. For Lloyds-led consortium, a supermajority means &gt;50% of participating bank organisations must approve before any logic change takes effect.
Testing strategy: The combination of unit tests (MockStub), integration tests (local Fabric testnet), and BDD scenario tests (Cucumber/Gherkin) ensures that both the technical behaviour and the business behaviour of each contract are verified independently. The Hyperledger Caliper performance test is critical — it must demonstrate that the p99 latency target is achievable under realistic load before any production deployment.
Threshold simulation: The Monte Carlo model is run on 12 months of historical anonymised payment data to calibrate thresholds. The F1 score (harmonic mean of precision and recall) is the optimisation target — maximising fraud catch rate (recall) while minimising false positives (precision). Different threshold configurations are tested to find the optimal balance before going live.
Governance — threshold updates: Threshold changes do not require a chaincode redeployment. The governance parameters are stored as a Config record on the ledger. A risk team member with the appropriate Fabric identity can submit a ConfigUpdate transaction, which takes effect immediately after endorsement. This allows the risk team to respond to fraud spikes within minutes, not weeks.
Flag disputes: The DisputeFlag() function allows any bank to challenge a flag they believe is incorrect. The dispute is submitted to a 3-organisation arbitration panel (rotating membership). The panel reviews off-chain evidence and submits a resolution transaction. If the flag is overturned, it is marked CLEARED on the ledger and the DisputeResolved event is emitted.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4480560" cy="5143500"/>
          </a:xfrm>
          <a:prstGeom prst="rect">
            <a:avLst/>
          </a:prstGeom>
          <a:solidFill>
            <a:srgbClr val="132847"/>
          </a:solidFill>
          <a:ln w="12700">
            <a:solidFill>
              <a:srgbClr val="132847"/>
            </a:solidFill>
            <a:prstDash val="solid"/>
          </a:ln>
        </p:spPr>
      </p:sp>
      <p:sp>
        <p:nvSpPr>
          <p:cNvPr id="3" name="Shape 1"/>
          <p:cNvSpPr/>
          <p:nvPr/>
        </p:nvSpPr>
        <p:spPr>
          <a:xfrm>
            <a:off x="320040" y="1463040"/>
            <a:ext cx="64008" cy="2286000"/>
          </a:xfrm>
          <a:prstGeom prst="roundRect">
            <a:avLst>
              <a:gd name="adj" fmla="val 42857"/>
            </a:avLst>
          </a:prstGeom>
          <a:solidFill>
            <a:srgbClr val="0D9488"/>
          </a:solidFill>
          <a:ln w="12700">
            <a:solidFill>
              <a:srgbClr val="0D9488"/>
            </a:solidFill>
            <a:prstDash val="solid"/>
          </a:ln>
        </p:spPr>
      </p:sp>
      <p:pic>
        <p:nvPicPr>
          <p:cNvPr id="4" name="Image 0" descr="preencoded.png"/>
          <p:cNvPicPr>
            <a:picLocks noChangeAspect="1"/>
          </p:cNvPicPr>
          <p:nvPr/>
        </p:nvPicPr>
        <p:blipFill>
          <a:blip r:embed="rId3"/>
          <a:stretch>
            <a:fillRect/>
          </a:stretch>
        </p:blipFill>
        <p:spPr>
          <a:xfrm>
            <a:off x="502920" y="457200"/>
            <a:ext cx="658368" cy="658368"/>
          </a:xfrm>
          <a:prstGeom prst="rect">
            <a:avLst/>
          </a:prstGeom>
        </p:spPr>
      </p:pic>
      <p:sp>
        <p:nvSpPr>
          <p:cNvPr id="5" name="Text 2"/>
          <p:cNvSpPr/>
          <p:nvPr/>
        </p:nvSpPr>
        <p:spPr>
          <a:xfrm>
            <a:off x="1261872" y="530352"/>
            <a:ext cx="3017520" cy="384048"/>
          </a:xfrm>
          <a:prstGeom prst="rect">
            <a:avLst/>
          </a:prstGeom>
          <a:noFill/>
          <a:ln/>
        </p:spPr>
        <p:txBody>
          <a:bodyPr wrap="square" lIns="0" tIns="0" rIns="0" bIns="0" rtlCol="0" anchor="ctr"/>
          <a:lstStyle/>
          <a:p>
            <a:pPr marL="0" indent="0">
              <a:buNone/>
            </a:pPr>
            <a:r>
              <a:rPr lang="en-US" sz="900" b="1" kern="0" spc="200" dirty="0">
                <a:solidFill>
                  <a:srgbClr val="E8A020"/>
                </a:solidFill>
                <a:latin typeface="Calibri" pitchFamily="34" charset="0"/>
                <a:ea typeface="Calibri" pitchFamily="34" charset="-122"/>
                <a:cs typeface="Calibri" pitchFamily="34" charset="-120"/>
              </a:rPr>
              <a:t>LLOYDS BANK  ·  HACKATHON 2025</a:t>
            </a:r>
            <a:endParaRPr lang="en-US" sz="900" dirty="0"/>
          </a:p>
        </p:txBody>
      </p:sp>
      <p:sp>
        <p:nvSpPr>
          <p:cNvPr id="6" name="Text 3"/>
          <p:cNvSpPr/>
          <p:nvPr/>
        </p:nvSpPr>
        <p:spPr>
          <a:xfrm>
            <a:off x="475488" y="1536192"/>
            <a:ext cx="3840480" cy="658368"/>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Smart Contract</a:t>
            </a:r>
            <a:endParaRPr lang="en-US" sz="3400" dirty="0"/>
          </a:p>
        </p:txBody>
      </p:sp>
      <p:sp>
        <p:nvSpPr>
          <p:cNvPr id="7" name="Text 4"/>
          <p:cNvSpPr/>
          <p:nvPr/>
        </p:nvSpPr>
        <p:spPr>
          <a:xfrm>
            <a:off x="475488" y="2157984"/>
            <a:ext cx="3840480" cy="658368"/>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Design</a:t>
            </a:r>
            <a:endParaRPr lang="en-US" sz="3400" dirty="0"/>
          </a:p>
        </p:txBody>
      </p:sp>
      <p:sp>
        <p:nvSpPr>
          <p:cNvPr id="8" name="Text 5"/>
          <p:cNvSpPr/>
          <p:nvPr/>
        </p:nvSpPr>
        <p:spPr>
          <a:xfrm>
            <a:off x="475488" y="2779776"/>
            <a:ext cx="3840480" cy="658368"/>
          </a:xfrm>
          <a:prstGeom prst="rect">
            <a:avLst/>
          </a:prstGeom>
          <a:noFill/>
          <a:ln/>
        </p:spPr>
        <p:txBody>
          <a:bodyPr wrap="square" lIns="0" tIns="0" rIns="0" bIns="0" rtlCol="0" anchor="ctr"/>
          <a:lstStyle/>
          <a:p>
            <a:pPr marL="0" indent="0">
              <a:buNone/>
            </a:pPr>
            <a:r>
              <a:rPr lang="en-US" sz="3400" b="1" dirty="0">
                <a:solidFill>
                  <a:srgbClr val="0D9488"/>
                </a:solidFill>
                <a:latin typeface="Cambria" pitchFamily="34" charset="0"/>
                <a:ea typeface="Cambria" pitchFamily="34" charset="-122"/>
                <a:cs typeface="Cambria" pitchFamily="34" charset="-120"/>
              </a:rPr>
              <a:t>&amp; Specification</a:t>
            </a:r>
            <a:endParaRPr lang="en-US" sz="3400" dirty="0"/>
          </a:p>
        </p:txBody>
      </p:sp>
      <p:sp>
        <p:nvSpPr>
          <p:cNvPr id="9" name="Text 6"/>
          <p:cNvSpPr/>
          <p:nvPr/>
        </p:nvSpPr>
        <p:spPr>
          <a:xfrm>
            <a:off x="475488" y="3547872"/>
            <a:ext cx="3840480" cy="384048"/>
          </a:xfrm>
          <a:prstGeom prst="rect">
            <a:avLst/>
          </a:prstGeom>
          <a:noFill/>
          <a:ln/>
        </p:spPr>
        <p:txBody>
          <a:bodyPr wrap="square" lIns="0" tIns="0" rIns="0" bIns="0" rtlCol="0" anchor="ctr"/>
          <a:lstStyle/>
          <a:p>
            <a:pPr marL="0" indent="0">
              <a:buNone/>
            </a:pPr>
            <a:r>
              <a:rPr lang="en-US" sz="1100" i="1" dirty="0">
                <a:solidFill>
                  <a:srgbClr val="8FA5BF"/>
                </a:solidFill>
                <a:latin typeface="Calibri" pitchFamily="34" charset="0"/>
                <a:ea typeface="Calibri" pitchFamily="34" charset="-122"/>
                <a:cs typeface="Calibri" pitchFamily="34" charset="-120"/>
              </a:rPr>
              <a:t>Hyperledger Fabric · Go Chaincode · Fraud Prevention</a:t>
            </a:r>
            <a:endParaRPr lang="en-US" sz="1100" dirty="0"/>
          </a:p>
        </p:txBody>
      </p:sp>
      <p:sp>
        <p:nvSpPr>
          <p:cNvPr id="10" name="Shape 7"/>
          <p:cNvSpPr/>
          <p:nvPr/>
        </p:nvSpPr>
        <p:spPr>
          <a:xfrm>
            <a:off x="4709160" y="347472"/>
            <a:ext cx="4187952" cy="804672"/>
          </a:xfrm>
          <a:prstGeom prst="roundRect">
            <a:avLst>
              <a:gd name="adj" fmla="val 11364"/>
            </a:avLst>
          </a:prstGeom>
          <a:solidFill>
            <a:srgbClr val="162D52"/>
          </a:solidFill>
          <a:ln w="12700">
            <a:solidFill>
              <a:srgbClr val="C0392B"/>
            </a:solidFill>
            <a:prstDash val="solid"/>
          </a:ln>
          <a:effectLst>
            <a:outerShdw blurRad="63500" dist="25400" dir="2700000" algn="bl" rotWithShape="0">
              <a:srgbClr val="000000">
                <a:alpha val="13000"/>
              </a:srgbClr>
            </a:outerShdw>
          </a:effectLst>
        </p:spPr>
      </p:sp>
      <p:sp>
        <p:nvSpPr>
          <p:cNvPr id="11" name="Text 8"/>
          <p:cNvSpPr/>
          <p:nvPr/>
        </p:nvSpPr>
        <p:spPr>
          <a:xfrm>
            <a:off x="4846320" y="420624"/>
            <a:ext cx="621792" cy="274320"/>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SC-01</a:t>
            </a:r>
            <a:endParaRPr lang="en-US" sz="900" dirty="0"/>
          </a:p>
        </p:txBody>
      </p:sp>
      <p:sp>
        <p:nvSpPr>
          <p:cNvPr id="12" name="Text 9"/>
          <p:cNvSpPr/>
          <p:nvPr/>
        </p:nvSpPr>
        <p:spPr>
          <a:xfrm>
            <a:off x="5504688" y="402336"/>
            <a:ext cx="3273552" cy="310896"/>
          </a:xfrm>
          <a:prstGeom prst="rect">
            <a:avLst/>
          </a:prstGeom>
          <a:noFill/>
          <a:ln/>
        </p:spPr>
        <p:txBody>
          <a:bodyPr wrap="square" lIns="0" tIns="0" rIns="0" bIns="0" rtlCol="0" anchor="ctr"/>
          <a:lstStyle/>
          <a:p>
            <a:pPr marL="0" indent="0">
              <a:buNone/>
            </a:pPr>
            <a:r>
              <a:rPr lang="en-US" sz="1250" b="1" dirty="0">
                <a:solidFill>
                  <a:srgbClr val="FFFFFF"/>
                </a:solidFill>
                <a:latin typeface="Courier New" pitchFamily="34" charset="0"/>
                <a:ea typeface="Courier New" pitchFamily="34" charset="-122"/>
                <a:cs typeface="Courier New" pitchFamily="34" charset="-120"/>
              </a:rPr>
              <a:t>FraudSignalRegistry</a:t>
            </a:r>
            <a:endParaRPr lang="en-US" sz="1250" dirty="0"/>
          </a:p>
        </p:txBody>
      </p:sp>
      <p:sp>
        <p:nvSpPr>
          <p:cNvPr id="13" name="Text 10"/>
          <p:cNvSpPr/>
          <p:nvPr/>
        </p:nvSpPr>
        <p:spPr>
          <a:xfrm>
            <a:off x="4846320" y="822960"/>
            <a:ext cx="3886200" cy="256032"/>
          </a:xfrm>
          <a:prstGeom prst="rect">
            <a:avLst/>
          </a:prstGeom>
          <a:noFill/>
          <a:ln/>
        </p:spPr>
        <p:txBody>
          <a:bodyPr wrap="square" lIns="0" tIns="0" rIns="0" bIns="0" rtlCol="0" anchor="ctr"/>
          <a:lstStyle/>
          <a:p>
            <a:pPr marL="0" indent="0">
              <a:buNone/>
            </a:pPr>
            <a:r>
              <a:rPr lang="en-US" sz="1000" i="1" dirty="0">
                <a:solidFill>
                  <a:srgbClr val="8FA5BF"/>
                </a:solidFill>
                <a:latin typeface="Calibri" pitchFamily="34" charset="0"/>
                <a:ea typeface="Calibri" pitchFamily="34" charset="-122"/>
                <a:cs typeface="Calibri" pitchFamily="34" charset="-120"/>
              </a:rPr>
              <a:t>Cross-bank mule account flag store</a:t>
            </a:r>
            <a:endParaRPr lang="en-US" sz="1000" dirty="0"/>
          </a:p>
        </p:txBody>
      </p:sp>
      <p:sp>
        <p:nvSpPr>
          <p:cNvPr id="14" name="Shape 11"/>
          <p:cNvSpPr/>
          <p:nvPr/>
        </p:nvSpPr>
        <p:spPr>
          <a:xfrm>
            <a:off x="4709160" y="1261872"/>
            <a:ext cx="4187952" cy="804672"/>
          </a:xfrm>
          <a:prstGeom prst="roundRect">
            <a:avLst>
              <a:gd name="adj" fmla="val 11364"/>
            </a:avLst>
          </a:prstGeom>
          <a:solidFill>
            <a:srgbClr val="162D52"/>
          </a:solidFill>
          <a:ln w="12700">
            <a:solidFill>
              <a:srgbClr val="0D9488"/>
            </a:solidFill>
            <a:prstDash val="solid"/>
          </a:ln>
          <a:effectLst>
            <a:outerShdw blurRad="63500" dist="25400" dir="2700000" algn="bl" rotWithShape="0">
              <a:srgbClr val="000000">
                <a:alpha val="13000"/>
              </a:srgbClr>
            </a:outerShdw>
          </a:effectLst>
        </p:spPr>
      </p:sp>
      <p:sp>
        <p:nvSpPr>
          <p:cNvPr id="15" name="Text 12"/>
          <p:cNvSpPr/>
          <p:nvPr/>
        </p:nvSpPr>
        <p:spPr>
          <a:xfrm>
            <a:off x="4846320" y="1335024"/>
            <a:ext cx="621792" cy="27432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SC-02</a:t>
            </a:r>
            <a:endParaRPr lang="en-US" sz="900" dirty="0"/>
          </a:p>
        </p:txBody>
      </p:sp>
      <p:sp>
        <p:nvSpPr>
          <p:cNvPr id="16" name="Text 13"/>
          <p:cNvSpPr/>
          <p:nvPr/>
        </p:nvSpPr>
        <p:spPr>
          <a:xfrm>
            <a:off x="5504688" y="1316736"/>
            <a:ext cx="3273552" cy="310896"/>
          </a:xfrm>
          <a:prstGeom prst="rect">
            <a:avLst/>
          </a:prstGeom>
          <a:noFill/>
          <a:ln/>
        </p:spPr>
        <p:txBody>
          <a:bodyPr wrap="square" lIns="0" tIns="0" rIns="0" bIns="0" rtlCol="0" anchor="ctr"/>
          <a:lstStyle/>
          <a:p>
            <a:pPr marL="0" indent="0">
              <a:buNone/>
            </a:pPr>
            <a:r>
              <a:rPr lang="en-US" sz="1250" b="1" dirty="0">
                <a:solidFill>
                  <a:srgbClr val="FFFFFF"/>
                </a:solidFill>
                <a:latin typeface="Courier New" pitchFamily="34" charset="0"/>
                <a:ea typeface="Courier New" pitchFamily="34" charset="-122"/>
                <a:cs typeface="Courier New" pitchFamily="34" charset="-120"/>
              </a:rPr>
              <a:t>TransactionAuditTrail</a:t>
            </a:r>
            <a:endParaRPr lang="en-US" sz="1250" dirty="0"/>
          </a:p>
        </p:txBody>
      </p:sp>
      <p:sp>
        <p:nvSpPr>
          <p:cNvPr id="17" name="Text 14"/>
          <p:cNvSpPr/>
          <p:nvPr/>
        </p:nvSpPr>
        <p:spPr>
          <a:xfrm>
            <a:off x="4846320" y="1737360"/>
            <a:ext cx="3886200" cy="256032"/>
          </a:xfrm>
          <a:prstGeom prst="rect">
            <a:avLst/>
          </a:prstGeom>
          <a:noFill/>
          <a:ln/>
        </p:spPr>
        <p:txBody>
          <a:bodyPr wrap="square" lIns="0" tIns="0" rIns="0" bIns="0" rtlCol="0" anchor="ctr"/>
          <a:lstStyle/>
          <a:p>
            <a:pPr marL="0" indent="0">
              <a:buNone/>
            </a:pPr>
            <a:r>
              <a:rPr lang="en-US" sz="1000" i="1" dirty="0">
                <a:solidFill>
                  <a:srgbClr val="8FA5BF"/>
                </a:solidFill>
                <a:latin typeface="Calibri" pitchFamily="34" charset="0"/>
                <a:ea typeface="Calibri" pitchFamily="34" charset="-122"/>
                <a:cs typeface="Calibri" pitchFamily="34" charset="-120"/>
              </a:rPr>
              <a:t>Immutable pre-payment context log</a:t>
            </a:r>
            <a:endParaRPr lang="en-US" sz="1000" dirty="0"/>
          </a:p>
        </p:txBody>
      </p:sp>
      <p:sp>
        <p:nvSpPr>
          <p:cNvPr id="18" name="Shape 15"/>
          <p:cNvSpPr/>
          <p:nvPr/>
        </p:nvSpPr>
        <p:spPr>
          <a:xfrm>
            <a:off x="4709160" y="2176272"/>
            <a:ext cx="4187952" cy="804672"/>
          </a:xfrm>
          <a:prstGeom prst="roundRect">
            <a:avLst>
              <a:gd name="adj" fmla="val 11364"/>
            </a:avLst>
          </a:prstGeom>
          <a:solidFill>
            <a:srgbClr val="162D52"/>
          </a:solidFill>
          <a:ln w="12700">
            <a:solidFill>
              <a:srgbClr val="E8A020"/>
            </a:solidFill>
            <a:prstDash val="solid"/>
          </a:ln>
          <a:effectLst>
            <a:outerShdw blurRad="63500" dist="25400" dir="2700000" algn="bl" rotWithShape="0">
              <a:srgbClr val="000000">
                <a:alpha val="13000"/>
              </a:srgbClr>
            </a:outerShdw>
          </a:effectLst>
        </p:spPr>
      </p:sp>
      <p:sp>
        <p:nvSpPr>
          <p:cNvPr id="19" name="Text 16"/>
          <p:cNvSpPr/>
          <p:nvPr/>
        </p:nvSpPr>
        <p:spPr>
          <a:xfrm>
            <a:off x="4846320" y="2249424"/>
            <a:ext cx="621792" cy="274320"/>
          </a:xfrm>
          <a:prstGeom prst="rect">
            <a:avLst/>
          </a:prstGeom>
          <a:noFill/>
          <a:ln/>
        </p:spPr>
        <p:txBody>
          <a:bodyPr wrap="square" lIns="0" tIns="0" rIns="0" bIns="0" rtlCol="0" anchor="ctr"/>
          <a:lstStyle/>
          <a:p>
            <a:pPr marL="0" indent="0">
              <a:buNone/>
            </a:pPr>
            <a:r>
              <a:rPr lang="en-US" sz="900" b="1" dirty="0">
                <a:solidFill>
                  <a:srgbClr val="E8A020"/>
                </a:solidFill>
                <a:latin typeface="Calibri" pitchFamily="34" charset="0"/>
                <a:ea typeface="Calibri" pitchFamily="34" charset="-122"/>
                <a:cs typeface="Calibri" pitchFamily="34" charset="-120"/>
              </a:rPr>
              <a:t>SC-03</a:t>
            </a:r>
            <a:endParaRPr lang="en-US" sz="900" dirty="0"/>
          </a:p>
        </p:txBody>
      </p:sp>
      <p:sp>
        <p:nvSpPr>
          <p:cNvPr id="20" name="Text 17"/>
          <p:cNvSpPr/>
          <p:nvPr/>
        </p:nvSpPr>
        <p:spPr>
          <a:xfrm>
            <a:off x="5504688" y="2231136"/>
            <a:ext cx="3273552" cy="310896"/>
          </a:xfrm>
          <a:prstGeom prst="rect">
            <a:avLst/>
          </a:prstGeom>
          <a:noFill/>
          <a:ln/>
        </p:spPr>
        <p:txBody>
          <a:bodyPr wrap="square" lIns="0" tIns="0" rIns="0" bIns="0" rtlCol="0" anchor="ctr"/>
          <a:lstStyle/>
          <a:p>
            <a:pPr marL="0" indent="0">
              <a:buNone/>
            </a:pPr>
            <a:r>
              <a:rPr lang="en-US" sz="1250" b="1" dirty="0">
                <a:solidFill>
                  <a:srgbClr val="FFFFFF"/>
                </a:solidFill>
                <a:latin typeface="Courier New" pitchFamily="34" charset="0"/>
                <a:ea typeface="Courier New" pitchFamily="34" charset="-122"/>
                <a:cs typeface="Courier New" pitchFamily="34" charset="-120"/>
              </a:rPr>
              <a:t>CoolingOffController</a:t>
            </a:r>
            <a:endParaRPr lang="en-US" sz="1250" dirty="0"/>
          </a:p>
        </p:txBody>
      </p:sp>
      <p:sp>
        <p:nvSpPr>
          <p:cNvPr id="21" name="Text 18"/>
          <p:cNvSpPr/>
          <p:nvPr/>
        </p:nvSpPr>
        <p:spPr>
          <a:xfrm>
            <a:off x="4846320" y="2651760"/>
            <a:ext cx="3886200" cy="256032"/>
          </a:xfrm>
          <a:prstGeom prst="rect">
            <a:avLst/>
          </a:prstGeom>
          <a:noFill/>
          <a:ln/>
        </p:spPr>
        <p:txBody>
          <a:bodyPr wrap="square" lIns="0" tIns="0" rIns="0" bIns="0" rtlCol="0" anchor="ctr"/>
          <a:lstStyle/>
          <a:p>
            <a:pPr marL="0" indent="0">
              <a:buNone/>
            </a:pPr>
            <a:r>
              <a:rPr lang="en-US" sz="1000" i="1" dirty="0">
                <a:solidFill>
                  <a:srgbClr val="8FA5BF"/>
                </a:solidFill>
                <a:latin typeface="Calibri" pitchFamily="34" charset="0"/>
                <a:ea typeface="Calibri" pitchFamily="34" charset="-122"/>
                <a:cs typeface="Calibri" pitchFamily="34" charset="-120"/>
              </a:rPr>
              <a:t>Holds &amp; cooling-off period enforcer</a:t>
            </a:r>
            <a:endParaRPr lang="en-US" sz="1000" dirty="0"/>
          </a:p>
        </p:txBody>
      </p:sp>
      <p:sp>
        <p:nvSpPr>
          <p:cNvPr id="22" name="Shape 19"/>
          <p:cNvSpPr/>
          <p:nvPr/>
        </p:nvSpPr>
        <p:spPr>
          <a:xfrm>
            <a:off x="4709160" y="3090672"/>
            <a:ext cx="4187952" cy="804672"/>
          </a:xfrm>
          <a:prstGeom prst="roundRect">
            <a:avLst>
              <a:gd name="adj" fmla="val 11364"/>
            </a:avLst>
          </a:prstGeom>
          <a:solidFill>
            <a:srgbClr val="162D52"/>
          </a:solidFill>
          <a:ln w="12700">
            <a:solidFill>
              <a:srgbClr val="7B2FBE"/>
            </a:solidFill>
            <a:prstDash val="solid"/>
          </a:ln>
          <a:effectLst>
            <a:outerShdw blurRad="63500" dist="25400" dir="2700000" algn="bl" rotWithShape="0">
              <a:srgbClr val="000000">
                <a:alpha val="13000"/>
              </a:srgbClr>
            </a:outerShdw>
          </a:effectLst>
        </p:spPr>
      </p:sp>
      <p:sp>
        <p:nvSpPr>
          <p:cNvPr id="23" name="Text 20"/>
          <p:cNvSpPr/>
          <p:nvPr/>
        </p:nvSpPr>
        <p:spPr>
          <a:xfrm>
            <a:off x="4846320" y="3163824"/>
            <a:ext cx="621792" cy="274320"/>
          </a:xfrm>
          <a:prstGeom prst="rect">
            <a:avLst/>
          </a:prstGeom>
          <a:noFill/>
          <a:ln/>
        </p:spPr>
        <p:txBody>
          <a:bodyPr wrap="square" lIns="0" tIns="0" rIns="0" bIns="0" rtlCol="0" anchor="ctr"/>
          <a:lstStyle/>
          <a:p>
            <a:pPr marL="0" indent="0">
              <a:buNone/>
            </a:pPr>
            <a:r>
              <a:rPr lang="en-US" sz="900" b="1" dirty="0">
                <a:solidFill>
                  <a:srgbClr val="7B2FBE"/>
                </a:solidFill>
                <a:latin typeface="Calibri" pitchFamily="34" charset="0"/>
                <a:ea typeface="Calibri" pitchFamily="34" charset="-122"/>
                <a:cs typeface="Calibri" pitchFamily="34" charset="-120"/>
              </a:rPr>
              <a:t>SC-04</a:t>
            </a:r>
            <a:endParaRPr lang="en-US" sz="900" dirty="0"/>
          </a:p>
        </p:txBody>
      </p:sp>
      <p:sp>
        <p:nvSpPr>
          <p:cNvPr id="24" name="Text 21"/>
          <p:cNvSpPr/>
          <p:nvPr/>
        </p:nvSpPr>
        <p:spPr>
          <a:xfrm>
            <a:off x="5504688" y="3145536"/>
            <a:ext cx="3273552" cy="310896"/>
          </a:xfrm>
          <a:prstGeom prst="rect">
            <a:avLst/>
          </a:prstGeom>
          <a:noFill/>
          <a:ln/>
        </p:spPr>
        <p:txBody>
          <a:bodyPr wrap="square" lIns="0" tIns="0" rIns="0" bIns="0" rtlCol="0" anchor="ctr"/>
          <a:lstStyle/>
          <a:p>
            <a:pPr marL="0" indent="0">
              <a:buNone/>
            </a:pPr>
            <a:r>
              <a:rPr lang="en-US" sz="1250" b="1" dirty="0">
                <a:solidFill>
                  <a:srgbClr val="FFFFFF"/>
                </a:solidFill>
                <a:latin typeface="Courier New" pitchFamily="34" charset="0"/>
                <a:ea typeface="Courier New" pitchFamily="34" charset="-122"/>
                <a:cs typeface="Courier New" pitchFamily="34" charset="-120"/>
              </a:rPr>
              <a:t>MultiSigApproval</a:t>
            </a:r>
            <a:endParaRPr lang="en-US" sz="1250" dirty="0"/>
          </a:p>
        </p:txBody>
      </p:sp>
      <p:sp>
        <p:nvSpPr>
          <p:cNvPr id="25" name="Text 22"/>
          <p:cNvSpPr/>
          <p:nvPr/>
        </p:nvSpPr>
        <p:spPr>
          <a:xfrm>
            <a:off x="4846320" y="3566160"/>
            <a:ext cx="3886200" cy="256032"/>
          </a:xfrm>
          <a:prstGeom prst="rect">
            <a:avLst/>
          </a:prstGeom>
          <a:noFill/>
          <a:ln/>
        </p:spPr>
        <p:txBody>
          <a:bodyPr wrap="square" lIns="0" tIns="0" rIns="0" bIns="0" rtlCol="0" anchor="ctr"/>
          <a:lstStyle/>
          <a:p>
            <a:pPr marL="0" indent="0">
              <a:buNone/>
            </a:pPr>
            <a:r>
              <a:rPr lang="en-US" sz="1000" i="1" dirty="0">
                <a:solidFill>
                  <a:srgbClr val="8FA5BF"/>
                </a:solidFill>
                <a:latin typeface="Calibri" pitchFamily="34" charset="0"/>
                <a:ea typeface="Calibri" pitchFamily="34" charset="-122"/>
                <a:cs typeface="Calibri" pitchFamily="34" charset="-120"/>
              </a:rPr>
              <a:t>Dual-signature release gate</a:t>
            </a:r>
            <a:endParaRPr lang="en-US" sz="1000" dirty="0"/>
          </a:p>
        </p:txBody>
      </p:sp>
      <p:sp>
        <p:nvSpPr>
          <p:cNvPr id="26" name="Shape 23"/>
          <p:cNvSpPr/>
          <p:nvPr/>
        </p:nvSpPr>
        <p:spPr>
          <a:xfrm>
            <a:off x="4709160" y="4005072"/>
            <a:ext cx="4187952" cy="804672"/>
          </a:xfrm>
          <a:prstGeom prst="roundRect">
            <a:avLst>
              <a:gd name="adj" fmla="val 11364"/>
            </a:avLst>
          </a:prstGeom>
          <a:solidFill>
            <a:srgbClr val="162D52"/>
          </a:solidFill>
          <a:ln w="12700">
            <a:solidFill>
              <a:srgbClr val="1DB87A"/>
            </a:solidFill>
            <a:prstDash val="solid"/>
          </a:ln>
          <a:effectLst>
            <a:outerShdw blurRad="63500" dist="25400" dir="2700000" algn="bl" rotWithShape="0">
              <a:srgbClr val="000000">
                <a:alpha val="13000"/>
              </a:srgbClr>
            </a:outerShdw>
          </a:effectLst>
        </p:spPr>
      </p:sp>
      <p:sp>
        <p:nvSpPr>
          <p:cNvPr id="27" name="Text 24"/>
          <p:cNvSpPr/>
          <p:nvPr/>
        </p:nvSpPr>
        <p:spPr>
          <a:xfrm>
            <a:off x="4846320" y="4078224"/>
            <a:ext cx="621792" cy="274320"/>
          </a:xfrm>
          <a:prstGeom prst="rect">
            <a:avLst/>
          </a:prstGeom>
          <a:noFill/>
          <a:ln/>
        </p:spPr>
        <p:txBody>
          <a:bodyPr wrap="square" lIns="0" tIns="0" rIns="0" bIns="0" rtlCol="0" anchor="ctr"/>
          <a:lstStyle/>
          <a:p>
            <a:pPr marL="0" indent="0">
              <a:buNone/>
            </a:pPr>
            <a:r>
              <a:rPr lang="en-US" sz="900" b="1" dirty="0">
                <a:solidFill>
                  <a:srgbClr val="1DB87A"/>
                </a:solidFill>
                <a:latin typeface="Calibri" pitchFamily="34" charset="0"/>
                <a:ea typeface="Calibri" pitchFamily="34" charset="-122"/>
                <a:cs typeface="Calibri" pitchFamily="34" charset="-120"/>
              </a:rPr>
              <a:t>SC-05</a:t>
            </a:r>
            <a:endParaRPr lang="en-US" sz="900" dirty="0"/>
          </a:p>
        </p:txBody>
      </p:sp>
      <p:sp>
        <p:nvSpPr>
          <p:cNvPr id="28" name="Text 25"/>
          <p:cNvSpPr/>
          <p:nvPr/>
        </p:nvSpPr>
        <p:spPr>
          <a:xfrm>
            <a:off x="5504688" y="4059936"/>
            <a:ext cx="3273552" cy="310896"/>
          </a:xfrm>
          <a:prstGeom prst="rect">
            <a:avLst/>
          </a:prstGeom>
          <a:noFill/>
          <a:ln/>
        </p:spPr>
        <p:txBody>
          <a:bodyPr wrap="square" lIns="0" tIns="0" rIns="0" bIns="0" rtlCol="0" anchor="ctr"/>
          <a:lstStyle/>
          <a:p>
            <a:pPr marL="0" indent="0">
              <a:buNone/>
            </a:pPr>
            <a:r>
              <a:rPr lang="en-US" sz="1250" b="1" dirty="0">
                <a:solidFill>
                  <a:srgbClr val="FFFFFF"/>
                </a:solidFill>
                <a:latin typeface="Courier New" pitchFamily="34" charset="0"/>
                <a:ea typeface="Courier New" pitchFamily="34" charset="-122"/>
                <a:cs typeface="Courier New" pitchFamily="34" charset="-120"/>
              </a:rPr>
              <a:t>AnomalyDecisionEngine</a:t>
            </a:r>
            <a:endParaRPr lang="en-US" sz="1250" dirty="0"/>
          </a:p>
        </p:txBody>
      </p:sp>
      <p:sp>
        <p:nvSpPr>
          <p:cNvPr id="29" name="Text 26"/>
          <p:cNvSpPr/>
          <p:nvPr/>
        </p:nvSpPr>
        <p:spPr>
          <a:xfrm>
            <a:off x="4846320" y="4480560"/>
            <a:ext cx="3886200" cy="256032"/>
          </a:xfrm>
          <a:prstGeom prst="rect">
            <a:avLst/>
          </a:prstGeom>
          <a:noFill/>
          <a:ln/>
        </p:spPr>
        <p:txBody>
          <a:bodyPr wrap="square" lIns="0" tIns="0" rIns="0" bIns="0" rtlCol="0" anchor="ctr"/>
          <a:lstStyle/>
          <a:p>
            <a:pPr marL="0" indent="0">
              <a:buNone/>
            </a:pPr>
            <a:r>
              <a:rPr lang="en-US" sz="1000" i="1" dirty="0">
                <a:solidFill>
                  <a:srgbClr val="8FA5BF"/>
                </a:solidFill>
                <a:latin typeface="Calibri" pitchFamily="34" charset="0"/>
                <a:ea typeface="Calibri" pitchFamily="34" charset="-122"/>
                <a:cs typeface="Calibri" pitchFamily="34" charset="-120"/>
              </a:rPr>
              <a:t>Composite risk score evaluator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18872"/>
            <a:ext cx="8412480" cy="301752"/>
          </a:xfrm>
          <a:prstGeom prst="rect">
            <a:avLst/>
          </a:prstGeom>
          <a:noFill/>
          <a:ln/>
        </p:spPr>
        <p:txBody>
          <a:bodyPr wrap="square" lIns="0" tIns="0" rIns="0" bIns="0" rtlCol="0" anchor="ctr"/>
          <a:lstStyle/>
          <a:p>
            <a:pPr marL="0" indent="0">
              <a:buNone/>
            </a:pPr>
            <a:r>
              <a:rPr lang="en-US" sz="1000" b="1" kern="0" spc="300" dirty="0">
                <a:solidFill>
                  <a:srgbClr val="C0392B"/>
                </a:solidFill>
                <a:latin typeface="Calibri" pitchFamily="34" charset="0"/>
                <a:ea typeface="Calibri" pitchFamily="34" charset="-122"/>
                <a:cs typeface="Calibri" pitchFamily="34" charset="-120"/>
              </a:rPr>
              <a:t>SC-01  ·  CHAINCODE SPECIFICATION</a:t>
            </a:r>
            <a:endParaRPr lang="en-US" sz="1000" dirty="0"/>
          </a:p>
        </p:txBody>
      </p:sp>
      <p:sp>
        <p:nvSpPr>
          <p:cNvPr id="3" name="Text 1"/>
          <p:cNvSpPr/>
          <p:nvPr/>
        </p:nvSpPr>
        <p:spPr>
          <a:xfrm>
            <a:off x="365760" y="402336"/>
            <a:ext cx="8412480" cy="493776"/>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FraudSignalRegistry</a:t>
            </a:r>
            <a:endParaRPr lang="en-US" sz="2100" dirty="0"/>
          </a:p>
        </p:txBody>
      </p:sp>
      <p:sp>
        <p:nvSpPr>
          <p:cNvPr id="4" name="Text 2"/>
          <p:cNvSpPr/>
          <p:nvPr/>
        </p:nvSpPr>
        <p:spPr>
          <a:xfrm>
            <a:off x="365760" y="868680"/>
            <a:ext cx="8412480" cy="292608"/>
          </a:xfrm>
          <a:prstGeom prst="rect">
            <a:avLst/>
          </a:prstGeom>
          <a:noFill/>
          <a:ln/>
        </p:spPr>
        <p:txBody>
          <a:bodyPr wrap="square" lIns="0" tIns="0" rIns="0" bIns="0" rtlCol="0" anchor="ctr"/>
          <a:lstStyle/>
          <a:p>
            <a:pPr marL="0" indent="0">
              <a:buNone/>
            </a:pPr>
            <a:r>
              <a:rPr lang="en-US" sz="1200" i="1" dirty="0">
                <a:solidFill>
                  <a:srgbClr val="8FA5BF"/>
                </a:solidFill>
                <a:latin typeface="Calibri" pitchFamily="34" charset="0"/>
                <a:ea typeface="Calibri" pitchFamily="34" charset="-122"/>
                <a:cs typeface="Calibri" pitchFamily="34" charset="-120"/>
              </a:rPr>
              <a:t>Cross-bank shared ledger for mule account flags — privacy-preserving, real-time</a:t>
            </a:r>
            <a:endParaRPr lang="en-US" sz="1200" dirty="0"/>
          </a:p>
        </p:txBody>
      </p:sp>
      <p:sp>
        <p:nvSpPr>
          <p:cNvPr id="5" name="Shape 3"/>
          <p:cNvSpPr/>
          <p:nvPr/>
        </p:nvSpPr>
        <p:spPr>
          <a:xfrm>
            <a:off x="228600" y="1188720"/>
            <a:ext cx="2606040" cy="3749040"/>
          </a:xfrm>
          <a:prstGeom prst="roundRect">
            <a:avLst>
              <a:gd name="adj" fmla="val 3509"/>
            </a:avLst>
          </a:prstGeom>
          <a:solidFill>
            <a:srgbClr val="162D52"/>
          </a:solidFill>
          <a:ln w="12700">
            <a:solidFill>
              <a:srgbClr val="C0392B"/>
            </a:solidFill>
            <a:prstDash val="solid"/>
          </a:ln>
          <a:effectLst>
            <a:outerShdw blurRad="101600" dist="38100" dir="2700000" algn="bl" rotWithShape="0">
              <a:srgbClr val="000000">
                <a:alpha val="20000"/>
              </a:srgbClr>
            </a:outerShdw>
          </a:effectLst>
        </p:spPr>
      </p:sp>
      <p:sp>
        <p:nvSpPr>
          <p:cNvPr id="6" name="Text 4"/>
          <p:cNvSpPr/>
          <p:nvPr/>
        </p:nvSpPr>
        <p:spPr>
          <a:xfrm>
            <a:off x="384048" y="1261872"/>
            <a:ext cx="2304288" cy="274320"/>
          </a:xfrm>
          <a:prstGeom prst="rect">
            <a:avLst/>
          </a:prstGeom>
          <a:noFill/>
          <a:ln/>
        </p:spPr>
        <p:txBody>
          <a:bodyPr wrap="square" lIns="0" tIns="0" rIns="0" bIns="0" rtlCol="0" anchor="ctr"/>
          <a:lstStyle/>
          <a:p>
            <a:pPr marL="0" indent="0">
              <a:buNone/>
            </a:pPr>
            <a:r>
              <a:rPr lang="en-US" sz="850" b="1" kern="0" spc="100" dirty="0">
                <a:solidFill>
                  <a:srgbClr val="C0392B"/>
                </a:solidFill>
                <a:latin typeface="Calibri" pitchFamily="34" charset="0"/>
                <a:ea typeface="Calibri" pitchFamily="34" charset="-122"/>
                <a:cs typeface="Calibri" pitchFamily="34" charset="-120"/>
              </a:rPr>
              <a:t>DATA STRUCTURE</a:t>
            </a:r>
            <a:endParaRPr lang="en-US" sz="850" dirty="0"/>
          </a:p>
        </p:txBody>
      </p:sp>
      <p:sp>
        <p:nvSpPr>
          <p:cNvPr id="7" name="Shape 5"/>
          <p:cNvSpPr/>
          <p:nvPr/>
        </p:nvSpPr>
        <p:spPr>
          <a:xfrm>
            <a:off x="347472" y="1609344"/>
            <a:ext cx="2377440" cy="329184"/>
          </a:xfrm>
          <a:prstGeom prst="roundRect">
            <a:avLst>
              <a:gd name="adj" fmla="val 16667"/>
            </a:avLst>
          </a:prstGeom>
          <a:solidFill>
            <a:srgbClr val="0D1628"/>
          </a:solidFill>
          <a:ln w="12700">
            <a:solidFill>
              <a:srgbClr val="2A3A5A"/>
            </a:solidFill>
            <a:prstDash val="solid"/>
          </a:ln>
        </p:spPr>
      </p:sp>
      <p:sp>
        <p:nvSpPr>
          <p:cNvPr id="8" name="Text 6"/>
          <p:cNvSpPr/>
          <p:nvPr/>
        </p:nvSpPr>
        <p:spPr>
          <a:xfrm>
            <a:off x="438912" y="1636776"/>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AccountHash</a:t>
            </a:r>
            <a:endParaRPr lang="en-US" sz="820" dirty="0"/>
          </a:p>
        </p:txBody>
      </p:sp>
      <p:sp>
        <p:nvSpPr>
          <p:cNvPr id="9" name="Text 7"/>
          <p:cNvSpPr/>
          <p:nvPr/>
        </p:nvSpPr>
        <p:spPr>
          <a:xfrm>
            <a:off x="1463040" y="1636776"/>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string</a:t>
            </a:r>
            <a:endParaRPr lang="en-US" sz="780" dirty="0"/>
          </a:p>
        </p:txBody>
      </p:sp>
      <p:sp>
        <p:nvSpPr>
          <p:cNvPr id="10" name="Text 8"/>
          <p:cNvSpPr/>
          <p:nvPr/>
        </p:nvSpPr>
        <p:spPr>
          <a:xfrm>
            <a:off x="438912" y="1792224"/>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SHA-256 of sortCode+accountNumber+salt</a:t>
            </a:r>
            <a:endParaRPr lang="en-US" sz="700" dirty="0"/>
          </a:p>
        </p:txBody>
      </p:sp>
      <p:sp>
        <p:nvSpPr>
          <p:cNvPr id="11" name="Shape 9"/>
          <p:cNvSpPr/>
          <p:nvPr/>
        </p:nvSpPr>
        <p:spPr>
          <a:xfrm>
            <a:off x="347472" y="1993392"/>
            <a:ext cx="2377440" cy="329184"/>
          </a:xfrm>
          <a:prstGeom prst="roundRect">
            <a:avLst>
              <a:gd name="adj" fmla="val 16667"/>
            </a:avLst>
          </a:prstGeom>
          <a:solidFill>
            <a:srgbClr val="0D1628"/>
          </a:solidFill>
          <a:ln w="12700">
            <a:solidFill>
              <a:srgbClr val="2A3A5A"/>
            </a:solidFill>
            <a:prstDash val="solid"/>
          </a:ln>
        </p:spPr>
      </p:sp>
      <p:sp>
        <p:nvSpPr>
          <p:cNvPr id="12" name="Text 10"/>
          <p:cNvSpPr/>
          <p:nvPr/>
        </p:nvSpPr>
        <p:spPr>
          <a:xfrm>
            <a:off x="438912" y="2020824"/>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FlagType</a:t>
            </a:r>
            <a:endParaRPr lang="en-US" sz="820" dirty="0"/>
          </a:p>
        </p:txBody>
      </p:sp>
      <p:sp>
        <p:nvSpPr>
          <p:cNvPr id="13" name="Text 11"/>
          <p:cNvSpPr/>
          <p:nvPr/>
        </p:nvSpPr>
        <p:spPr>
          <a:xfrm>
            <a:off x="1463040" y="2020824"/>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enum</a:t>
            </a:r>
            <a:endParaRPr lang="en-US" sz="780" dirty="0"/>
          </a:p>
        </p:txBody>
      </p:sp>
      <p:sp>
        <p:nvSpPr>
          <p:cNvPr id="14" name="Text 12"/>
          <p:cNvSpPr/>
          <p:nvPr/>
        </p:nvSpPr>
        <p:spPr>
          <a:xfrm>
            <a:off x="438912" y="2176272"/>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CONFIRMED_FRAUD | SUSPECTED | MULE | CLEARED</a:t>
            </a:r>
            <a:endParaRPr lang="en-US" sz="700" dirty="0"/>
          </a:p>
        </p:txBody>
      </p:sp>
      <p:sp>
        <p:nvSpPr>
          <p:cNvPr id="15" name="Shape 13"/>
          <p:cNvSpPr/>
          <p:nvPr/>
        </p:nvSpPr>
        <p:spPr>
          <a:xfrm>
            <a:off x="347472" y="2377440"/>
            <a:ext cx="2377440" cy="329184"/>
          </a:xfrm>
          <a:prstGeom prst="roundRect">
            <a:avLst>
              <a:gd name="adj" fmla="val 16667"/>
            </a:avLst>
          </a:prstGeom>
          <a:solidFill>
            <a:srgbClr val="0D1628"/>
          </a:solidFill>
          <a:ln w="12700">
            <a:solidFill>
              <a:srgbClr val="2A3A5A"/>
            </a:solidFill>
            <a:prstDash val="solid"/>
          </a:ln>
        </p:spPr>
      </p:sp>
      <p:sp>
        <p:nvSpPr>
          <p:cNvPr id="16" name="Text 14"/>
          <p:cNvSpPr/>
          <p:nvPr/>
        </p:nvSpPr>
        <p:spPr>
          <a:xfrm>
            <a:off x="438912" y="2404872"/>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Confidence</a:t>
            </a:r>
            <a:endParaRPr lang="en-US" sz="820" dirty="0"/>
          </a:p>
        </p:txBody>
      </p:sp>
      <p:sp>
        <p:nvSpPr>
          <p:cNvPr id="17" name="Text 15"/>
          <p:cNvSpPr/>
          <p:nvPr/>
        </p:nvSpPr>
        <p:spPr>
          <a:xfrm>
            <a:off x="1463040" y="2404872"/>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float</a:t>
            </a:r>
            <a:endParaRPr lang="en-US" sz="780" dirty="0"/>
          </a:p>
        </p:txBody>
      </p:sp>
      <p:sp>
        <p:nvSpPr>
          <p:cNvPr id="18" name="Text 16"/>
          <p:cNvSpPr/>
          <p:nvPr/>
        </p:nvSpPr>
        <p:spPr>
          <a:xfrm>
            <a:off x="438912" y="2560320"/>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0.0 – 1.0 signal confidence score</a:t>
            </a:r>
            <a:endParaRPr lang="en-US" sz="700" dirty="0"/>
          </a:p>
        </p:txBody>
      </p:sp>
      <p:sp>
        <p:nvSpPr>
          <p:cNvPr id="19" name="Shape 17"/>
          <p:cNvSpPr/>
          <p:nvPr/>
        </p:nvSpPr>
        <p:spPr>
          <a:xfrm>
            <a:off x="347472" y="2761488"/>
            <a:ext cx="2377440" cy="329184"/>
          </a:xfrm>
          <a:prstGeom prst="roundRect">
            <a:avLst>
              <a:gd name="adj" fmla="val 16667"/>
            </a:avLst>
          </a:prstGeom>
          <a:solidFill>
            <a:srgbClr val="0D1628"/>
          </a:solidFill>
          <a:ln w="12700">
            <a:solidFill>
              <a:srgbClr val="2A3A5A"/>
            </a:solidFill>
            <a:prstDash val="solid"/>
          </a:ln>
        </p:spPr>
      </p:sp>
      <p:sp>
        <p:nvSpPr>
          <p:cNvPr id="20" name="Text 18"/>
          <p:cNvSpPr/>
          <p:nvPr/>
        </p:nvSpPr>
        <p:spPr>
          <a:xfrm>
            <a:off x="438912" y="2788920"/>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ReportingBank</a:t>
            </a:r>
            <a:endParaRPr lang="en-US" sz="820" dirty="0"/>
          </a:p>
        </p:txBody>
      </p:sp>
      <p:sp>
        <p:nvSpPr>
          <p:cNvPr id="21" name="Text 19"/>
          <p:cNvSpPr/>
          <p:nvPr/>
        </p:nvSpPr>
        <p:spPr>
          <a:xfrm>
            <a:off x="1463040" y="2788920"/>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string</a:t>
            </a:r>
            <a:endParaRPr lang="en-US" sz="780" dirty="0"/>
          </a:p>
        </p:txBody>
      </p:sp>
      <p:sp>
        <p:nvSpPr>
          <p:cNvPr id="22" name="Text 20"/>
          <p:cNvSpPr/>
          <p:nvPr/>
        </p:nvSpPr>
        <p:spPr>
          <a:xfrm>
            <a:off x="438912" y="2944368"/>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Hashed bank org ID (anonymised)</a:t>
            </a:r>
            <a:endParaRPr lang="en-US" sz="700" dirty="0"/>
          </a:p>
        </p:txBody>
      </p:sp>
      <p:sp>
        <p:nvSpPr>
          <p:cNvPr id="23" name="Shape 21"/>
          <p:cNvSpPr/>
          <p:nvPr/>
        </p:nvSpPr>
        <p:spPr>
          <a:xfrm>
            <a:off x="347472" y="3145536"/>
            <a:ext cx="2377440" cy="329184"/>
          </a:xfrm>
          <a:prstGeom prst="roundRect">
            <a:avLst>
              <a:gd name="adj" fmla="val 16667"/>
            </a:avLst>
          </a:prstGeom>
          <a:solidFill>
            <a:srgbClr val="0D1628"/>
          </a:solidFill>
          <a:ln w="12700">
            <a:solidFill>
              <a:srgbClr val="2A3A5A"/>
            </a:solidFill>
            <a:prstDash val="solid"/>
          </a:ln>
        </p:spPr>
      </p:sp>
      <p:sp>
        <p:nvSpPr>
          <p:cNvPr id="24" name="Text 22"/>
          <p:cNvSpPr/>
          <p:nvPr/>
        </p:nvSpPr>
        <p:spPr>
          <a:xfrm>
            <a:off x="438912" y="3172968"/>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EvidenceHash</a:t>
            </a:r>
            <a:endParaRPr lang="en-US" sz="820" dirty="0"/>
          </a:p>
        </p:txBody>
      </p:sp>
      <p:sp>
        <p:nvSpPr>
          <p:cNvPr id="25" name="Text 23"/>
          <p:cNvSpPr/>
          <p:nvPr/>
        </p:nvSpPr>
        <p:spPr>
          <a:xfrm>
            <a:off x="1463040" y="3172968"/>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string</a:t>
            </a:r>
            <a:endParaRPr lang="en-US" sz="780" dirty="0"/>
          </a:p>
        </p:txBody>
      </p:sp>
      <p:sp>
        <p:nvSpPr>
          <p:cNvPr id="26" name="Text 24"/>
          <p:cNvSpPr/>
          <p:nvPr/>
        </p:nvSpPr>
        <p:spPr>
          <a:xfrm>
            <a:off x="438912" y="3328416"/>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Hash of supporting evidence bundle</a:t>
            </a:r>
            <a:endParaRPr lang="en-US" sz="700" dirty="0"/>
          </a:p>
        </p:txBody>
      </p:sp>
      <p:sp>
        <p:nvSpPr>
          <p:cNvPr id="27" name="Shape 25"/>
          <p:cNvSpPr/>
          <p:nvPr/>
        </p:nvSpPr>
        <p:spPr>
          <a:xfrm>
            <a:off x="347472" y="3529584"/>
            <a:ext cx="2377440" cy="329184"/>
          </a:xfrm>
          <a:prstGeom prst="roundRect">
            <a:avLst>
              <a:gd name="adj" fmla="val 16667"/>
            </a:avLst>
          </a:prstGeom>
          <a:solidFill>
            <a:srgbClr val="0D1628"/>
          </a:solidFill>
          <a:ln w="12700">
            <a:solidFill>
              <a:srgbClr val="2A3A5A"/>
            </a:solidFill>
            <a:prstDash val="solid"/>
          </a:ln>
        </p:spPr>
      </p:sp>
      <p:sp>
        <p:nvSpPr>
          <p:cNvPr id="28" name="Text 26"/>
          <p:cNvSpPr/>
          <p:nvPr/>
        </p:nvSpPr>
        <p:spPr>
          <a:xfrm>
            <a:off x="438912" y="3557016"/>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CreatedAt</a:t>
            </a:r>
            <a:endParaRPr lang="en-US" sz="820" dirty="0"/>
          </a:p>
        </p:txBody>
      </p:sp>
      <p:sp>
        <p:nvSpPr>
          <p:cNvPr id="29" name="Text 27"/>
          <p:cNvSpPr/>
          <p:nvPr/>
        </p:nvSpPr>
        <p:spPr>
          <a:xfrm>
            <a:off x="1463040" y="3557016"/>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int64</a:t>
            </a:r>
            <a:endParaRPr lang="en-US" sz="780" dirty="0"/>
          </a:p>
        </p:txBody>
      </p:sp>
      <p:sp>
        <p:nvSpPr>
          <p:cNvPr id="30" name="Text 28"/>
          <p:cNvSpPr/>
          <p:nvPr/>
        </p:nvSpPr>
        <p:spPr>
          <a:xfrm>
            <a:off x="438912" y="3712464"/>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Unix timestamp of flag creation</a:t>
            </a:r>
            <a:endParaRPr lang="en-US" sz="700" dirty="0"/>
          </a:p>
        </p:txBody>
      </p:sp>
      <p:sp>
        <p:nvSpPr>
          <p:cNvPr id="31" name="Shape 29"/>
          <p:cNvSpPr/>
          <p:nvPr/>
        </p:nvSpPr>
        <p:spPr>
          <a:xfrm>
            <a:off x="347472" y="3913632"/>
            <a:ext cx="2377440" cy="329184"/>
          </a:xfrm>
          <a:prstGeom prst="roundRect">
            <a:avLst>
              <a:gd name="adj" fmla="val 16667"/>
            </a:avLst>
          </a:prstGeom>
          <a:solidFill>
            <a:srgbClr val="0D1628"/>
          </a:solidFill>
          <a:ln w="12700">
            <a:solidFill>
              <a:srgbClr val="2A3A5A"/>
            </a:solidFill>
            <a:prstDash val="solid"/>
          </a:ln>
        </p:spPr>
      </p:sp>
      <p:sp>
        <p:nvSpPr>
          <p:cNvPr id="32" name="Text 30"/>
          <p:cNvSpPr/>
          <p:nvPr/>
        </p:nvSpPr>
        <p:spPr>
          <a:xfrm>
            <a:off x="438912" y="3941064"/>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ExpiresAt</a:t>
            </a:r>
            <a:endParaRPr lang="en-US" sz="820" dirty="0"/>
          </a:p>
        </p:txBody>
      </p:sp>
      <p:sp>
        <p:nvSpPr>
          <p:cNvPr id="33" name="Text 31"/>
          <p:cNvSpPr/>
          <p:nvPr/>
        </p:nvSpPr>
        <p:spPr>
          <a:xfrm>
            <a:off x="1463040" y="3941064"/>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int64</a:t>
            </a:r>
            <a:endParaRPr lang="en-US" sz="780" dirty="0"/>
          </a:p>
        </p:txBody>
      </p:sp>
      <p:sp>
        <p:nvSpPr>
          <p:cNvPr id="34" name="Text 32"/>
          <p:cNvSpPr/>
          <p:nvPr/>
        </p:nvSpPr>
        <p:spPr>
          <a:xfrm>
            <a:off x="438912" y="4096512"/>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Auto-expiry timestamp (default 90d)</a:t>
            </a:r>
            <a:endParaRPr lang="en-US" sz="700" dirty="0"/>
          </a:p>
        </p:txBody>
      </p:sp>
      <p:sp>
        <p:nvSpPr>
          <p:cNvPr id="35" name="Shape 33"/>
          <p:cNvSpPr/>
          <p:nvPr/>
        </p:nvSpPr>
        <p:spPr>
          <a:xfrm>
            <a:off x="347472" y="4297680"/>
            <a:ext cx="2377440" cy="329184"/>
          </a:xfrm>
          <a:prstGeom prst="roundRect">
            <a:avLst>
              <a:gd name="adj" fmla="val 16667"/>
            </a:avLst>
          </a:prstGeom>
          <a:solidFill>
            <a:srgbClr val="0D1628"/>
          </a:solidFill>
          <a:ln w="12700">
            <a:solidFill>
              <a:srgbClr val="2A3A5A"/>
            </a:solidFill>
            <a:prstDash val="solid"/>
          </a:ln>
        </p:spPr>
      </p:sp>
      <p:sp>
        <p:nvSpPr>
          <p:cNvPr id="36" name="Text 34"/>
          <p:cNvSpPr/>
          <p:nvPr/>
        </p:nvSpPr>
        <p:spPr>
          <a:xfrm>
            <a:off x="438912" y="4325112"/>
            <a:ext cx="1005840" cy="256032"/>
          </a:xfrm>
          <a:prstGeom prst="rect">
            <a:avLst/>
          </a:prstGeom>
          <a:noFill/>
          <a:ln/>
        </p:spPr>
        <p:txBody>
          <a:bodyPr wrap="square" lIns="0" tIns="0" rIns="0" bIns="0" rtlCol="0" anchor="ctr"/>
          <a:lstStyle/>
          <a:p>
            <a:pPr marL="0" indent="0">
              <a:buNone/>
            </a:pPr>
            <a:r>
              <a:rPr lang="en-US" sz="820" b="1" dirty="0">
                <a:solidFill>
                  <a:srgbClr val="79C0FF"/>
                </a:solidFill>
                <a:latin typeface="Courier New" pitchFamily="34" charset="0"/>
                <a:ea typeface="Courier New" pitchFamily="34" charset="-122"/>
                <a:cs typeface="Courier New" pitchFamily="34" charset="-120"/>
              </a:rPr>
              <a:t>TxID</a:t>
            </a:r>
            <a:endParaRPr lang="en-US" sz="820" dirty="0"/>
          </a:p>
        </p:txBody>
      </p:sp>
      <p:sp>
        <p:nvSpPr>
          <p:cNvPr id="37" name="Text 35"/>
          <p:cNvSpPr/>
          <p:nvPr/>
        </p:nvSpPr>
        <p:spPr>
          <a:xfrm>
            <a:off x="1463040" y="4325112"/>
            <a:ext cx="548640" cy="256032"/>
          </a:xfrm>
          <a:prstGeom prst="rect">
            <a:avLst/>
          </a:prstGeom>
          <a:noFill/>
          <a:ln/>
        </p:spPr>
        <p:txBody>
          <a:bodyPr wrap="square" lIns="0" tIns="0" rIns="0" bIns="0" rtlCol="0" anchor="ctr"/>
          <a:lstStyle/>
          <a:p>
            <a:pPr marL="0" indent="0">
              <a:buNone/>
            </a:pPr>
            <a:r>
              <a:rPr lang="en-US" sz="780" dirty="0">
                <a:solidFill>
                  <a:srgbClr val="D2A8FF"/>
                </a:solidFill>
                <a:latin typeface="Courier New" pitchFamily="34" charset="0"/>
                <a:ea typeface="Courier New" pitchFamily="34" charset="-122"/>
                <a:cs typeface="Courier New" pitchFamily="34" charset="-120"/>
              </a:rPr>
              <a:t>string</a:t>
            </a:r>
            <a:endParaRPr lang="en-US" sz="780" dirty="0"/>
          </a:p>
        </p:txBody>
      </p:sp>
      <p:sp>
        <p:nvSpPr>
          <p:cNvPr id="38" name="Text 36"/>
          <p:cNvSpPr/>
          <p:nvPr/>
        </p:nvSpPr>
        <p:spPr>
          <a:xfrm>
            <a:off x="438912" y="4480560"/>
            <a:ext cx="2176272" cy="164592"/>
          </a:xfrm>
          <a:prstGeom prst="rect">
            <a:avLst/>
          </a:prstGeom>
          <a:noFill/>
          <a:ln/>
        </p:spPr>
        <p:txBody>
          <a:bodyPr wrap="square" lIns="0" tIns="0" rIns="0" bIns="0" rtlCol="0" anchor="ctr"/>
          <a:lstStyle/>
          <a:p>
            <a:pPr marL="0" indent="0">
              <a:buNone/>
            </a:pPr>
            <a:r>
              <a:rPr lang="en-US" sz="700" dirty="0">
                <a:solidFill>
                  <a:srgbClr val="8FA5BF"/>
                </a:solidFill>
                <a:latin typeface="Calibri" pitchFamily="34" charset="0"/>
                <a:ea typeface="Calibri" pitchFamily="34" charset="-122"/>
                <a:cs typeface="Calibri" pitchFamily="34" charset="-120"/>
              </a:rPr>
              <a:t>Fabric transaction ID of flag write</a:t>
            </a:r>
            <a:endParaRPr lang="en-US" sz="700" dirty="0"/>
          </a:p>
        </p:txBody>
      </p:sp>
      <p:sp>
        <p:nvSpPr>
          <p:cNvPr id="39" name="Shape 37"/>
          <p:cNvSpPr/>
          <p:nvPr/>
        </p:nvSpPr>
        <p:spPr>
          <a:xfrm>
            <a:off x="2999232" y="1188720"/>
            <a:ext cx="5916168" cy="3749040"/>
          </a:xfrm>
          <a:prstGeom prst="roundRect">
            <a:avLst>
              <a:gd name="adj" fmla="val 2439"/>
            </a:avLst>
          </a:prstGeom>
          <a:solidFill>
            <a:srgbClr val="0D1117"/>
          </a:solidFill>
          <a:ln w="12700">
            <a:solidFill>
              <a:srgbClr val="30363D"/>
            </a:solidFill>
            <a:prstDash val="solid"/>
          </a:ln>
        </p:spPr>
      </p:sp>
      <p:sp>
        <p:nvSpPr>
          <p:cNvPr id="40" name="Text 38"/>
          <p:cNvSpPr/>
          <p:nvPr/>
        </p:nvSpPr>
        <p:spPr>
          <a:xfrm>
            <a:off x="3090672" y="1298448"/>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1</a:t>
            </a:r>
            <a:endParaRPr lang="en-US" sz="650" dirty="0"/>
          </a:p>
        </p:txBody>
      </p:sp>
      <p:sp>
        <p:nvSpPr>
          <p:cNvPr id="41" name="Text 39"/>
          <p:cNvSpPr/>
          <p:nvPr/>
        </p:nvSpPr>
        <p:spPr>
          <a:xfrm>
            <a:off x="3383280" y="1298448"/>
            <a:ext cx="5440680" cy="219456"/>
          </a:xfrm>
          <a:prstGeom prst="rect">
            <a:avLst/>
          </a:prstGeom>
          <a:noFill/>
          <a:ln/>
        </p:spPr>
        <p:txBody>
          <a:bodyPr wrap="square" lIns="0" tIns="0" rIns="0" bIns="0" rtlCol="0" anchor="ctr"/>
          <a:lstStyle/>
          <a:p>
            <a:pPr marL="0" indent="0">
              <a:buNone/>
            </a:pPr>
            <a:r>
              <a:rPr lang="en-US" sz="750" dirty="0">
                <a:solidFill>
                  <a:srgbClr val="8B949E"/>
                </a:solidFill>
                <a:latin typeface="Courier New" pitchFamily="34" charset="0"/>
                <a:ea typeface="Courier New" pitchFamily="34" charset="-122"/>
                <a:cs typeface="Courier New" pitchFamily="34" charset="-120"/>
              </a:rPr>
              <a:t>// FlagAccount — called by any consortium bank</a:t>
            </a:r>
            <a:endParaRPr lang="en-US" sz="750" dirty="0"/>
          </a:p>
        </p:txBody>
      </p:sp>
      <p:sp>
        <p:nvSpPr>
          <p:cNvPr id="42" name="Text 40"/>
          <p:cNvSpPr/>
          <p:nvPr/>
        </p:nvSpPr>
        <p:spPr>
          <a:xfrm>
            <a:off x="3090672" y="1536192"/>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2</a:t>
            </a:r>
            <a:endParaRPr lang="en-US" sz="650" dirty="0"/>
          </a:p>
        </p:txBody>
      </p:sp>
      <p:sp>
        <p:nvSpPr>
          <p:cNvPr id="43" name="Text 41"/>
          <p:cNvSpPr/>
          <p:nvPr/>
        </p:nvSpPr>
        <p:spPr>
          <a:xfrm>
            <a:off x="3383280" y="1536192"/>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func (s *FraudRegistry) FlagAccount(</a:t>
            </a:r>
            <a:endParaRPr lang="en-US" sz="750" dirty="0"/>
          </a:p>
        </p:txBody>
      </p:sp>
      <p:sp>
        <p:nvSpPr>
          <p:cNvPr id="44" name="Text 42"/>
          <p:cNvSpPr/>
          <p:nvPr/>
        </p:nvSpPr>
        <p:spPr>
          <a:xfrm>
            <a:off x="3090672" y="1773936"/>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3</a:t>
            </a:r>
            <a:endParaRPr lang="en-US" sz="650" dirty="0"/>
          </a:p>
        </p:txBody>
      </p:sp>
      <p:sp>
        <p:nvSpPr>
          <p:cNvPr id="45" name="Text 43"/>
          <p:cNvSpPr/>
          <p:nvPr/>
        </p:nvSpPr>
        <p:spPr>
          <a:xfrm>
            <a:off x="3383280" y="1773936"/>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ctx contractapi.TransactionContextInterface,</a:t>
            </a:r>
            <a:endParaRPr lang="en-US" sz="750" dirty="0"/>
          </a:p>
        </p:txBody>
      </p:sp>
      <p:sp>
        <p:nvSpPr>
          <p:cNvPr id="46" name="Text 44"/>
          <p:cNvSpPr/>
          <p:nvPr/>
        </p:nvSpPr>
        <p:spPr>
          <a:xfrm>
            <a:off x="3090672" y="2011680"/>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4</a:t>
            </a:r>
            <a:endParaRPr lang="en-US" sz="650" dirty="0"/>
          </a:p>
        </p:txBody>
      </p:sp>
      <p:sp>
        <p:nvSpPr>
          <p:cNvPr id="47" name="Text 45"/>
          <p:cNvSpPr/>
          <p:nvPr/>
        </p:nvSpPr>
        <p:spPr>
          <a:xfrm>
            <a:off x="3383280" y="2011680"/>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accountHash, flagType string,</a:t>
            </a:r>
            <a:endParaRPr lang="en-US" sz="750" dirty="0"/>
          </a:p>
        </p:txBody>
      </p:sp>
      <p:sp>
        <p:nvSpPr>
          <p:cNvPr id="48" name="Text 46"/>
          <p:cNvSpPr/>
          <p:nvPr/>
        </p:nvSpPr>
        <p:spPr>
          <a:xfrm>
            <a:off x="3090672" y="2249424"/>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5</a:t>
            </a:r>
            <a:endParaRPr lang="en-US" sz="650" dirty="0"/>
          </a:p>
        </p:txBody>
      </p:sp>
      <p:sp>
        <p:nvSpPr>
          <p:cNvPr id="49" name="Text 47"/>
          <p:cNvSpPr/>
          <p:nvPr/>
        </p:nvSpPr>
        <p:spPr>
          <a:xfrm>
            <a:off x="3383280" y="2249424"/>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confidence float64, evidenceHash string,</a:t>
            </a:r>
            <a:endParaRPr lang="en-US" sz="750" dirty="0"/>
          </a:p>
        </p:txBody>
      </p:sp>
      <p:sp>
        <p:nvSpPr>
          <p:cNvPr id="50" name="Text 48"/>
          <p:cNvSpPr/>
          <p:nvPr/>
        </p:nvSpPr>
        <p:spPr>
          <a:xfrm>
            <a:off x="3090672" y="2487168"/>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6</a:t>
            </a:r>
            <a:endParaRPr lang="en-US" sz="650" dirty="0"/>
          </a:p>
        </p:txBody>
      </p:sp>
      <p:sp>
        <p:nvSpPr>
          <p:cNvPr id="51" name="Text 49"/>
          <p:cNvSpPr/>
          <p:nvPr/>
        </p:nvSpPr>
        <p:spPr>
          <a:xfrm>
            <a:off x="3383280" y="2487168"/>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error {</a:t>
            </a:r>
            <a:endParaRPr lang="en-US" sz="750" dirty="0"/>
          </a:p>
        </p:txBody>
      </p:sp>
      <p:sp>
        <p:nvSpPr>
          <p:cNvPr id="52" name="Text 50"/>
          <p:cNvSpPr/>
          <p:nvPr/>
        </p:nvSpPr>
        <p:spPr>
          <a:xfrm>
            <a:off x="3090672" y="2724912"/>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7</a:t>
            </a:r>
            <a:endParaRPr lang="en-US" sz="650" dirty="0"/>
          </a:p>
        </p:txBody>
      </p:sp>
      <p:sp>
        <p:nvSpPr>
          <p:cNvPr id="53" name="Text 51"/>
          <p:cNvSpPr/>
          <p:nvPr/>
        </p:nvSpPr>
        <p:spPr>
          <a:xfrm>
            <a:off x="3383280" y="2724912"/>
            <a:ext cx="5440680" cy="219456"/>
          </a:xfrm>
          <a:prstGeom prst="rect">
            <a:avLst/>
          </a:prstGeom>
          <a:noFill/>
          <a:ln/>
        </p:spPr>
        <p:txBody>
          <a:bodyPr wrap="square" lIns="0" tIns="0" rIns="0" bIns="0" rtlCol="0" anchor="ctr"/>
          <a:lstStyle/>
          <a:p>
            <a:pPr marL="0" indent="0">
              <a:buNone/>
            </a:pPr>
            <a:r>
              <a:rPr lang="en-US" sz="750" dirty="0">
                <a:solidFill>
                  <a:srgbClr val="8B949E"/>
                </a:solidFill>
                <a:latin typeface="Courier New" pitchFamily="34" charset="0"/>
                <a:ea typeface="Courier New" pitchFamily="34" charset="-122"/>
                <a:cs typeface="Courier New" pitchFamily="34" charset="-120"/>
              </a:rPr>
              <a:t>    // Validate caller is consortium member</a:t>
            </a:r>
            <a:endParaRPr lang="en-US" sz="750" dirty="0"/>
          </a:p>
        </p:txBody>
      </p:sp>
      <p:sp>
        <p:nvSpPr>
          <p:cNvPr id="54" name="Text 52"/>
          <p:cNvSpPr/>
          <p:nvPr/>
        </p:nvSpPr>
        <p:spPr>
          <a:xfrm>
            <a:off x="3090672" y="2962656"/>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8</a:t>
            </a:r>
            <a:endParaRPr lang="en-US" sz="650" dirty="0"/>
          </a:p>
        </p:txBody>
      </p:sp>
      <p:sp>
        <p:nvSpPr>
          <p:cNvPr id="55" name="Text 53"/>
          <p:cNvSpPr/>
          <p:nvPr/>
        </p:nvSpPr>
        <p:spPr>
          <a:xfrm>
            <a:off x="3383280" y="2962656"/>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if err := s.validateOrg(ctx); err != nil {</a:t>
            </a:r>
            <a:endParaRPr lang="en-US" sz="750" dirty="0"/>
          </a:p>
        </p:txBody>
      </p:sp>
      <p:sp>
        <p:nvSpPr>
          <p:cNvPr id="56" name="Text 54"/>
          <p:cNvSpPr/>
          <p:nvPr/>
        </p:nvSpPr>
        <p:spPr>
          <a:xfrm>
            <a:off x="3090672" y="3200400"/>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9</a:t>
            </a:r>
            <a:endParaRPr lang="en-US" sz="650" dirty="0"/>
          </a:p>
        </p:txBody>
      </p:sp>
      <p:sp>
        <p:nvSpPr>
          <p:cNvPr id="57" name="Text 55"/>
          <p:cNvSpPr/>
          <p:nvPr/>
        </p:nvSpPr>
        <p:spPr>
          <a:xfrm>
            <a:off x="3383280" y="3200400"/>
            <a:ext cx="5440680" cy="219456"/>
          </a:xfrm>
          <a:prstGeom prst="rect">
            <a:avLst/>
          </a:prstGeom>
          <a:noFill/>
          <a:ln/>
        </p:spPr>
        <p:txBody>
          <a:bodyPr wrap="square" lIns="0" tIns="0" rIns="0" bIns="0" rtlCol="0" anchor="ctr"/>
          <a:lstStyle/>
          <a:p>
            <a:pPr marL="0" indent="0">
              <a:buNone/>
            </a:pPr>
            <a:r>
              <a:rPr lang="en-US" sz="750" dirty="0">
                <a:solidFill>
                  <a:srgbClr val="FF7B72"/>
                </a:solidFill>
                <a:latin typeface="Courier New" pitchFamily="34" charset="0"/>
                <a:ea typeface="Courier New" pitchFamily="34" charset="-122"/>
                <a:cs typeface="Courier New" pitchFamily="34" charset="-120"/>
              </a:rPr>
              <a:t>        return err</a:t>
            </a:r>
            <a:endParaRPr lang="en-US" sz="750" dirty="0"/>
          </a:p>
        </p:txBody>
      </p:sp>
      <p:sp>
        <p:nvSpPr>
          <p:cNvPr id="58" name="Text 56"/>
          <p:cNvSpPr/>
          <p:nvPr/>
        </p:nvSpPr>
        <p:spPr>
          <a:xfrm>
            <a:off x="3090672" y="3438144"/>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10</a:t>
            </a:r>
            <a:endParaRPr lang="en-US" sz="650" dirty="0"/>
          </a:p>
        </p:txBody>
      </p:sp>
      <p:sp>
        <p:nvSpPr>
          <p:cNvPr id="59" name="Text 57"/>
          <p:cNvSpPr/>
          <p:nvPr/>
        </p:nvSpPr>
        <p:spPr>
          <a:xfrm>
            <a:off x="3383280" y="3438144"/>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a:t>
            </a:r>
            <a:endParaRPr lang="en-US" sz="750" dirty="0"/>
          </a:p>
        </p:txBody>
      </p:sp>
      <p:sp>
        <p:nvSpPr>
          <p:cNvPr id="60" name="Text 58"/>
          <p:cNvSpPr/>
          <p:nvPr/>
        </p:nvSpPr>
        <p:spPr>
          <a:xfrm>
            <a:off x="3090672" y="3675888"/>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11</a:t>
            </a:r>
            <a:endParaRPr lang="en-US" sz="650" dirty="0"/>
          </a:p>
        </p:txBody>
      </p:sp>
      <p:sp>
        <p:nvSpPr>
          <p:cNvPr id="61" name="Text 59"/>
          <p:cNvSpPr/>
          <p:nvPr/>
        </p:nvSpPr>
        <p:spPr>
          <a:xfrm>
            <a:off x="3383280" y="3675888"/>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signal := FraudSignal{</a:t>
            </a:r>
            <a:endParaRPr lang="en-US" sz="750" dirty="0"/>
          </a:p>
        </p:txBody>
      </p:sp>
      <p:sp>
        <p:nvSpPr>
          <p:cNvPr id="62" name="Text 60"/>
          <p:cNvSpPr/>
          <p:nvPr/>
        </p:nvSpPr>
        <p:spPr>
          <a:xfrm>
            <a:off x="3090672" y="3913632"/>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12</a:t>
            </a:r>
            <a:endParaRPr lang="en-US" sz="650" dirty="0"/>
          </a:p>
        </p:txBody>
      </p:sp>
      <p:sp>
        <p:nvSpPr>
          <p:cNvPr id="63" name="Text 61"/>
          <p:cNvSpPr/>
          <p:nvPr/>
        </p:nvSpPr>
        <p:spPr>
          <a:xfrm>
            <a:off x="3383280" y="3913632"/>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AccountHash:   accountHash,</a:t>
            </a:r>
            <a:endParaRPr lang="en-US" sz="750" dirty="0"/>
          </a:p>
        </p:txBody>
      </p:sp>
      <p:sp>
        <p:nvSpPr>
          <p:cNvPr id="64" name="Text 62"/>
          <p:cNvSpPr/>
          <p:nvPr/>
        </p:nvSpPr>
        <p:spPr>
          <a:xfrm>
            <a:off x="3090672" y="4151376"/>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13</a:t>
            </a:r>
            <a:endParaRPr lang="en-US" sz="650" dirty="0"/>
          </a:p>
        </p:txBody>
      </p:sp>
      <p:sp>
        <p:nvSpPr>
          <p:cNvPr id="65" name="Text 63"/>
          <p:cNvSpPr/>
          <p:nvPr/>
        </p:nvSpPr>
        <p:spPr>
          <a:xfrm>
            <a:off x="3383280" y="4151376"/>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FlagType:      FlagType(flagType),</a:t>
            </a:r>
            <a:endParaRPr lang="en-US" sz="750" dirty="0"/>
          </a:p>
        </p:txBody>
      </p:sp>
      <p:sp>
        <p:nvSpPr>
          <p:cNvPr id="66" name="Text 64"/>
          <p:cNvSpPr/>
          <p:nvPr/>
        </p:nvSpPr>
        <p:spPr>
          <a:xfrm>
            <a:off x="3090672" y="4389120"/>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14</a:t>
            </a:r>
            <a:endParaRPr lang="en-US" sz="650" dirty="0"/>
          </a:p>
        </p:txBody>
      </p:sp>
      <p:sp>
        <p:nvSpPr>
          <p:cNvPr id="67" name="Text 65"/>
          <p:cNvSpPr/>
          <p:nvPr/>
        </p:nvSpPr>
        <p:spPr>
          <a:xfrm>
            <a:off x="3383280" y="4389120"/>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Confidence:    confidence,</a:t>
            </a:r>
            <a:endParaRPr lang="en-US" sz="750" dirty="0"/>
          </a:p>
        </p:txBody>
      </p:sp>
      <p:sp>
        <p:nvSpPr>
          <p:cNvPr id="68" name="Text 66"/>
          <p:cNvSpPr/>
          <p:nvPr/>
        </p:nvSpPr>
        <p:spPr>
          <a:xfrm>
            <a:off x="3090672" y="4626864"/>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15</a:t>
            </a:r>
            <a:endParaRPr lang="en-US" sz="650" dirty="0"/>
          </a:p>
        </p:txBody>
      </p:sp>
      <p:sp>
        <p:nvSpPr>
          <p:cNvPr id="69" name="Text 67"/>
          <p:cNvSpPr/>
          <p:nvPr/>
        </p:nvSpPr>
        <p:spPr>
          <a:xfrm>
            <a:off x="3383280" y="4626864"/>
            <a:ext cx="544068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ReportingBank: hashOrgID(ctx.GetClientIdentity()),</a:t>
            </a:r>
            <a:endParaRPr lang="en-US" sz="750" dirty="0"/>
          </a:p>
        </p:txBody>
      </p:sp>
      <p:sp>
        <p:nvSpPr>
          <p:cNvPr id="70" name="Text 68"/>
          <p:cNvSpPr/>
          <p:nvPr/>
        </p:nvSpPr>
        <p:spPr>
          <a:xfrm>
            <a:off x="274320" y="4992624"/>
            <a:ext cx="2834640" cy="146304"/>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  Only validated org MSPs can write flags</a:t>
            </a:r>
            <a:endParaRPr lang="en-US" sz="800" dirty="0"/>
          </a:p>
        </p:txBody>
      </p:sp>
      <p:sp>
        <p:nvSpPr>
          <p:cNvPr id="71" name="Text 69"/>
          <p:cNvSpPr/>
          <p:nvPr/>
        </p:nvSpPr>
        <p:spPr>
          <a:xfrm>
            <a:off x="3246120" y="4992624"/>
            <a:ext cx="2834640" cy="146304"/>
          </a:xfrm>
          <a:prstGeom prst="rect">
            <a:avLst/>
          </a:prstGeom>
          <a:noFill/>
          <a:ln/>
        </p:spPr>
        <p:txBody>
          <a:bodyPr wrap="square" lIns="0" tIns="0" rIns="0" bIns="0" rtlCol="0" anchor="ctr"/>
          <a:lstStyle/>
          <a:p>
            <a:pPr marL="0" indent="0">
              <a:buNone/>
            </a:pPr>
            <a:r>
              <a:rPr lang="en-US" sz="800" b="1" dirty="0">
                <a:solidFill>
                  <a:srgbClr val="E8A020"/>
                </a:solidFill>
                <a:latin typeface="Calibri" pitchFamily="34" charset="0"/>
                <a:ea typeface="Calibri" pitchFamily="34" charset="-122"/>
                <a:cs typeface="Calibri" pitchFamily="34" charset="-120"/>
              </a:rPr>
              <a:t>▸  Flags auto-expire after 90 days unless renewed</a:t>
            </a:r>
            <a:endParaRPr lang="en-US" sz="800" dirty="0"/>
          </a:p>
        </p:txBody>
      </p:sp>
      <p:sp>
        <p:nvSpPr>
          <p:cNvPr id="72" name="Text 70"/>
          <p:cNvSpPr/>
          <p:nvPr/>
        </p:nvSpPr>
        <p:spPr>
          <a:xfrm>
            <a:off x="6217920" y="4992624"/>
            <a:ext cx="2834640" cy="146304"/>
          </a:xfrm>
          <a:prstGeom prst="rect">
            <a:avLst/>
          </a:prstGeom>
          <a:noFill/>
          <a:ln/>
        </p:spPr>
        <p:txBody>
          <a:bodyPr wrap="square" lIns="0" tIns="0" rIns="0" bIns="0" rtlCol="0" anchor="ctr"/>
          <a:lstStyle/>
          <a:p>
            <a:pPr marL="0" indent="0">
              <a:buNone/>
            </a:pPr>
            <a:r>
              <a:rPr lang="en-US" sz="800" b="1" dirty="0">
                <a:solidFill>
                  <a:srgbClr val="0D9488"/>
                </a:solidFill>
                <a:latin typeface="Calibri" pitchFamily="34" charset="0"/>
                <a:ea typeface="Calibri" pitchFamily="34" charset="-122"/>
                <a:cs typeface="Calibri" pitchFamily="34" charset="-120"/>
              </a:rPr>
              <a:t>▸  Queried by SC-05 within &lt;50ms via Fabric peer endorsement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D3A"/>
          </a:solidFill>
          <a:ln w="12700">
            <a:solidFill>
              <a:srgbClr val="0B1D3A"/>
            </a:solidFill>
            <a:prstDash val="solid"/>
          </a:ln>
        </p:spPr>
      </p:sp>
      <p:sp>
        <p:nvSpPr>
          <p:cNvPr id="3" name="Text 1"/>
          <p:cNvSpPr/>
          <p:nvPr/>
        </p:nvSpPr>
        <p:spPr>
          <a:xfrm>
            <a:off x="365760" y="91440"/>
            <a:ext cx="841248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SC-02  ·  CHAINCODE SPECIFICATION</a:t>
            </a:r>
            <a:endParaRPr lang="en-US" sz="1000" dirty="0"/>
          </a:p>
        </p:txBody>
      </p:sp>
      <p:sp>
        <p:nvSpPr>
          <p:cNvPr id="4" name="Text 2"/>
          <p:cNvSpPr/>
          <p:nvPr/>
        </p:nvSpPr>
        <p:spPr>
          <a:xfrm>
            <a:off x="365760" y="438912"/>
            <a:ext cx="8412480" cy="402336"/>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TransactionAuditTrail — Immutable Pre-Payment Evidence Record</a:t>
            </a:r>
            <a:endParaRPr lang="en-US" sz="1700" dirty="0"/>
          </a:p>
        </p:txBody>
      </p:sp>
      <p:sp>
        <p:nvSpPr>
          <p:cNvPr id="5" name="Shape 3"/>
          <p:cNvSpPr/>
          <p:nvPr/>
        </p:nvSpPr>
        <p:spPr>
          <a:xfrm>
            <a:off x="228600" y="1024128"/>
            <a:ext cx="2788920" cy="3931920"/>
          </a:xfrm>
          <a:prstGeom prst="roundRect">
            <a:avLst>
              <a:gd name="adj" fmla="val 3279"/>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6" name="Text 4"/>
          <p:cNvSpPr/>
          <p:nvPr/>
        </p:nvSpPr>
        <p:spPr>
          <a:xfrm>
            <a:off x="384048" y="1097280"/>
            <a:ext cx="2487168" cy="274320"/>
          </a:xfrm>
          <a:prstGeom prst="rect">
            <a:avLst/>
          </a:prstGeom>
          <a:noFill/>
          <a:ln/>
        </p:spPr>
        <p:txBody>
          <a:bodyPr wrap="square" lIns="0" tIns="0" rIns="0" bIns="0" rtlCol="0" anchor="ctr"/>
          <a:lstStyle/>
          <a:p>
            <a:pPr marL="0" indent="0">
              <a:buNone/>
            </a:pPr>
            <a:r>
              <a:rPr lang="en-US" sz="850" b="1" kern="0" spc="100" dirty="0">
                <a:solidFill>
                  <a:srgbClr val="0D9488"/>
                </a:solidFill>
                <a:latin typeface="Calibri" pitchFamily="34" charset="0"/>
                <a:ea typeface="Calibri" pitchFamily="34" charset="-122"/>
                <a:cs typeface="Calibri" pitchFamily="34" charset="-120"/>
              </a:rPr>
              <a:t>AUDIT RECORD SCHEMA</a:t>
            </a:r>
            <a:endParaRPr lang="en-US" sz="850" dirty="0"/>
          </a:p>
        </p:txBody>
      </p:sp>
      <p:sp>
        <p:nvSpPr>
          <p:cNvPr id="7" name="Text 5"/>
          <p:cNvSpPr/>
          <p:nvPr/>
        </p:nvSpPr>
        <p:spPr>
          <a:xfrm>
            <a:off x="347472" y="1444752"/>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TxID              </a:t>
            </a:r>
            <a:r>
              <a:rPr lang="en-US" sz="800" dirty="0">
                <a:solidFill>
                  <a:srgbClr val="7B2FBE"/>
                </a:solidFill>
                <a:latin typeface="Courier New" pitchFamily="34" charset="0"/>
                <a:ea typeface="Courier New" pitchFamily="34" charset="-122"/>
                <a:cs typeface="Courier New" pitchFamily="34" charset="-120"/>
              </a:rPr>
              <a:t>string  </a:t>
            </a:r>
            <a:r>
              <a:rPr lang="en-US" sz="750" dirty="0">
                <a:solidFill>
                  <a:srgbClr val="4A5568"/>
                </a:solidFill>
                <a:latin typeface="Calibri" pitchFamily="34" charset="0"/>
                <a:ea typeface="Calibri" pitchFamily="34" charset="-122"/>
                <a:cs typeface="Calibri" pitchFamily="34" charset="-120"/>
              </a:rPr>
              <a:t>Unique payment reference (UUID v4)</a:t>
            </a:r>
            <a:endParaRPr lang="en-US" sz="800" dirty="0"/>
          </a:p>
        </p:txBody>
      </p:sp>
      <p:sp>
        <p:nvSpPr>
          <p:cNvPr id="8" name="Text 6"/>
          <p:cNvSpPr/>
          <p:nvPr/>
        </p:nvSpPr>
        <p:spPr>
          <a:xfrm>
            <a:off x="347472" y="1737360"/>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ContextHash       </a:t>
            </a:r>
            <a:r>
              <a:rPr lang="en-US" sz="800" dirty="0">
                <a:solidFill>
                  <a:srgbClr val="7B2FBE"/>
                </a:solidFill>
                <a:latin typeface="Courier New" pitchFamily="34" charset="0"/>
                <a:ea typeface="Courier New" pitchFamily="34" charset="-122"/>
                <a:cs typeface="Courier New" pitchFamily="34" charset="-120"/>
              </a:rPr>
              <a:t>string  </a:t>
            </a:r>
            <a:r>
              <a:rPr lang="en-US" sz="750" dirty="0">
                <a:solidFill>
                  <a:srgbClr val="4A5568"/>
                </a:solidFill>
                <a:latin typeface="Calibri" pitchFamily="34" charset="0"/>
                <a:ea typeface="Calibri" pitchFamily="34" charset="-122"/>
                <a:cs typeface="Calibri" pitchFamily="34" charset="-120"/>
              </a:rPr>
              <a:t>SHA-256 of full authorisation bundle</a:t>
            </a:r>
            <a:endParaRPr lang="en-US" sz="800" dirty="0"/>
          </a:p>
        </p:txBody>
      </p:sp>
      <p:sp>
        <p:nvSpPr>
          <p:cNvPr id="9" name="Text 7"/>
          <p:cNvSpPr/>
          <p:nvPr/>
        </p:nvSpPr>
        <p:spPr>
          <a:xfrm>
            <a:off x="347472" y="2029968"/>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CustomerIDHash    </a:t>
            </a:r>
            <a:r>
              <a:rPr lang="en-US" sz="800" dirty="0">
                <a:solidFill>
                  <a:srgbClr val="7B2FBE"/>
                </a:solidFill>
                <a:latin typeface="Courier New" pitchFamily="34" charset="0"/>
                <a:ea typeface="Courier New" pitchFamily="34" charset="-122"/>
                <a:cs typeface="Courier New" pitchFamily="34" charset="-120"/>
              </a:rPr>
              <a:t>string  </a:t>
            </a:r>
            <a:r>
              <a:rPr lang="en-US" sz="750" dirty="0">
                <a:solidFill>
                  <a:srgbClr val="4A5568"/>
                </a:solidFill>
                <a:latin typeface="Calibri" pitchFamily="34" charset="0"/>
                <a:ea typeface="Calibri" pitchFamily="34" charset="-122"/>
                <a:cs typeface="Calibri" pitchFamily="34" charset="-120"/>
              </a:rPr>
              <a:t>Hashed customer identifier</a:t>
            </a:r>
            <a:endParaRPr lang="en-US" sz="800" dirty="0"/>
          </a:p>
        </p:txBody>
      </p:sp>
      <p:sp>
        <p:nvSpPr>
          <p:cNvPr id="10" name="Text 8"/>
          <p:cNvSpPr/>
          <p:nvPr/>
        </p:nvSpPr>
        <p:spPr>
          <a:xfrm>
            <a:off x="347472" y="2322576"/>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PayeeHash         </a:t>
            </a:r>
            <a:r>
              <a:rPr lang="en-US" sz="800" dirty="0">
                <a:solidFill>
                  <a:srgbClr val="7B2FBE"/>
                </a:solidFill>
                <a:latin typeface="Courier New" pitchFamily="34" charset="0"/>
                <a:ea typeface="Courier New" pitchFamily="34" charset="-122"/>
                <a:cs typeface="Courier New" pitchFamily="34" charset="-120"/>
              </a:rPr>
              <a:t>string  </a:t>
            </a:r>
            <a:r>
              <a:rPr lang="en-US" sz="750" dirty="0">
                <a:solidFill>
                  <a:srgbClr val="4A5568"/>
                </a:solidFill>
                <a:latin typeface="Calibri" pitchFamily="34" charset="0"/>
                <a:ea typeface="Calibri" pitchFamily="34" charset="-122"/>
                <a:cs typeface="Calibri" pitchFamily="34" charset="-120"/>
              </a:rPr>
              <a:t>Hashed destination account</a:t>
            </a:r>
            <a:endParaRPr lang="en-US" sz="800" dirty="0"/>
          </a:p>
        </p:txBody>
      </p:sp>
      <p:sp>
        <p:nvSpPr>
          <p:cNvPr id="11" name="Text 9"/>
          <p:cNvSpPr/>
          <p:nvPr/>
        </p:nvSpPr>
        <p:spPr>
          <a:xfrm>
            <a:off x="347472" y="2615184"/>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AmountPence       </a:t>
            </a:r>
            <a:r>
              <a:rPr lang="en-US" sz="800" dirty="0">
                <a:solidFill>
                  <a:srgbClr val="7B2FBE"/>
                </a:solidFill>
                <a:latin typeface="Courier New" pitchFamily="34" charset="0"/>
                <a:ea typeface="Courier New" pitchFamily="34" charset="-122"/>
                <a:cs typeface="Courier New" pitchFamily="34" charset="-120"/>
              </a:rPr>
              <a:t>int64   </a:t>
            </a:r>
            <a:r>
              <a:rPr lang="en-US" sz="750" dirty="0">
                <a:solidFill>
                  <a:srgbClr val="4A5568"/>
                </a:solidFill>
                <a:latin typeface="Calibri" pitchFamily="34" charset="0"/>
                <a:ea typeface="Calibri" pitchFamily="34" charset="-122"/>
                <a:cs typeface="Calibri" pitchFamily="34" charset="-120"/>
              </a:rPr>
              <a:t>Payment amount in pence (no floats)</a:t>
            </a:r>
            <a:endParaRPr lang="en-US" sz="800" dirty="0"/>
          </a:p>
        </p:txBody>
      </p:sp>
      <p:sp>
        <p:nvSpPr>
          <p:cNvPr id="12" name="Text 10"/>
          <p:cNvSpPr/>
          <p:nvPr/>
        </p:nvSpPr>
        <p:spPr>
          <a:xfrm>
            <a:off x="347472" y="2907792"/>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DeviceFingerprint </a:t>
            </a:r>
            <a:r>
              <a:rPr lang="en-US" sz="800" dirty="0">
                <a:solidFill>
                  <a:srgbClr val="7B2FBE"/>
                </a:solidFill>
                <a:latin typeface="Courier New" pitchFamily="34" charset="0"/>
                <a:ea typeface="Courier New" pitchFamily="34" charset="-122"/>
                <a:cs typeface="Courier New" pitchFamily="34" charset="-120"/>
              </a:rPr>
              <a:t>string  </a:t>
            </a:r>
            <a:r>
              <a:rPr lang="en-US" sz="750" dirty="0">
                <a:solidFill>
                  <a:srgbClr val="4A5568"/>
                </a:solidFill>
                <a:latin typeface="Calibri" pitchFamily="34" charset="0"/>
                <a:ea typeface="Calibri" pitchFamily="34" charset="-122"/>
                <a:cs typeface="Calibri" pitchFamily="34" charset="-120"/>
              </a:rPr>
              <a:t>Hashed device identifier</a:t>
            </a:r>
            <a:endParaRPr lang="en-US" sz="800" dirty="0"/>
          </a:p>
        </p:txBody>
      </p:sp>
      <p:sp>
        <p:nvSpPr>
          <p:cNvPr id="13" name="Text 11"/>
          <p:cNvSpPr/>
          <p:nvPr/>
        </p:nvSpPr>
        <p:spPr>
          <a:xfrm>
            <a:off x="347472" y="3200400"/>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BehaviourScore    </a:t>
            </a:r>
            <a:r>
              <a:rPr lang="en-US" sz="800" dirty="0">
                <a:solidFill>
                  <a:srgbClr val="7B2FBE"/>
                </a:solidFill>
                <a:latin typeface="Courier New" pitchFamily="34" charset="0"/>
                <a:ea typeface="Courier New" pitchFamily="34" charset="-122"/>
                <a:cs typeface="Courier New" pitchFamily="34" charset="-120"/>
              </a:rPr>
              <a:t>float   </a:t>
            </a:r>
            <a:r>
              <a:rPr lang="en-US" sz="750" dirty="0">
                <a:solidFill>
                  <a:srgbClr val="4A5568"/>
                </a:solidFill>
                <a:latin typeface="Calibri" pitchFamily="34" charset="0"/>
                <a:ea typeface="Calibri" pitchFamily="34" charset="-122"/>
                <a:cs typeface="Calibri" pitchFamily="34" charset="-120"/>
              </a:rPr>
              <a:t>Session biometric risk score 0–1</a:t>
            </a:r>
            <a:endParaRPr lang="en-US" sz="800" dirty="0"/>
          </a:p>
        </p:txBody>
      </p:sp>
      <p:sp>
        <p:nvSpPr>
          <p:cNvPr id="14" name="Text 12"/>
          <p:cNvSpPr/>
          <p:nvPr/>
        </p:nvSpPr>
        <p:spPr>
          <a:xfrm>
            <a:off x="347472" y="3493008"/>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MLScore           </a:t>
            </a:r>
            <a:r>
              <a:rPr lang="en-US" sz="800" dirty="0">
                <a:solidFill>
                  <a:srgbClr val="7B2FBE"/>
                </a:solidFill>
                <a:latin typeface="Courier New" pitchFamily="34" charset="0"/>
                <a:ea typeface="Courier New" pitchFamily="34" charset="-122"/>
                <a:cs typeface="Courier New" pitchFamily="34" charset="-120"/>
              </a:rPr>
              <a:t>float   </a:t>
            </a:r>
            <a:r>
              <a:rPr lang="en-US" sz="750" dirty="0">
                <a:solidFill>
                  <a:srgbClr val="4A5568"/>
                </a:solidFill>
                <a:latin typeface="Calibri" pitchFamily="34" charset="0"/>
                <a:ea typeface="Calibri" pitchFamily="34" charset="-122"/>
                <a:cs typeface="Calibri" pitchFamily="34" charset="-120"/>
              </a:rPr>
              <a:t>ML model fraud score at time of tx</a:t>
            </a:r>
            <a:endParaRPr lang="en-US" sz="800" dirty="0"/>
          </a:p>
        </p:txBody>
      </p:sp>
      <p:sp>
        <p:nvSpPr>
          <p:cNvPr id="15" name="Text 13"/>
          <p:cNvSpPr/>
          <p:nvPr/>
        </p:nvSpPr>
        <p:spPr>
          <a:xfrm>
            <a:off x="347472" y="3785616"/>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PayeeKnown        </a:t>
            </a:r>
            <a:r>
              <a:rPr lang="en-US" sz="800" dirty="0">
                <a:solidFill>
                  <a:srgbClr val="7B2FBE"/>
                </a:solidFill>
                <a:latin typeface="Courier New" pitchFamily="34" charset="0"/>
                <a:ea typeface="Courier New" pitchFamily="34" charset="-122"/>
                <a:cs typeface="Courier New" pitchFamily="34" charset="-120"/>
              </a:rPr>
              <a:t>bool    </a:t>
            </a:r>
            <a:r>
              <a:rPr lang="en-US" sz="750" dirty="0">
                <a:solidFill>
                  <a:srgbClr val="4A5568"/>
                </a:solidFill>
                <a:latin typeface="Calibri" pitchFamily="34" charset="0"/>
                <a:ea typeface="Calibri" pitchFamily="34" charset="-122"/>
                <a:cs typeface="Calibri" pitchFamily="34" charset="-120"/>
              </a:rPr>
              <a:t>True if payee in customer history</a:t>
            </a:r>
            <a:endParaRPr lang="en-US" sz="800" dirty="0"/>
          </a:p>
        </p:txBody>
      </p:sp>
      <p:sp>
        <p:nvSpPr>
          <p:cNvPr id="16" name="Text 14"/>
          <p:cNvSpPr/>
          <p:nvPr/>
        </p:nvSpPr>
        <p:spPr>
          <a:xfrm>
            <a:off x="347472" y="4078224"/>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DecisionOutcome   </a:t>
            </a:r>
            <a:r>
              <a:rPr lang="en-US" sz="800" dirty="0">
                <a:solidFill>
                  <a:srgbClr val="7B2FBE"/>
                </a:solidFill>
                <a:latin typeface="Courier New" pitchFamily="34" charset="0"/>
                <a:ea typeface="Courier New" pitchFamily="34" charset="-122"/>
                <a:cs typeface="Courier New" pitchFamily="34" charset="-120"/>
              </a:rPr>
              <a:t>enum    </a:t>
            </a:r>
            <a:r>
              <a:rPr lang="en-US" sz="750" dirty="0">
                <a:solidFill>
                  <a:srgbClr val="4A5568"/>
                </a:solidFill>
                <a:latin typeface="Calibri" pitchFamily="34" charset="0"/>
                <a:ea typeface="Calibri" pitchFamily="34" charset="-122"/>
                <a:cs typeface="Calibri" pitchFamily="34" charset="-120"/>
              </a:rPr>
              <a:t>PROCEED | HOLD | REJECT</a:t>
            </a:r>
            <a:endParaRPr lang="en-US" sz="800" dirty="0"/>
          </a:p>
        </p:txBody>
      </p:sp>
      <p:sp>
        <p:nvSpPr>
          <p:cNvPr id="17" name="Text 15"/>
          <p:cNvSpPr/>
          <p:nvPr/>
        </p:nvSpPr>
        <p:spPr>
          <a:xfrm>
            <a:off x="347472" y="4370832"/>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ContractVersion   </a:t>
            </a:r>
            <a:r>
              <a:rPr lang="en-US" sz="800" dirty="0">
                <a:solidFill>
                  <a:srgbClr val="7B2FBE"/>
                </a:solidFill>
                <a:latin typeface="Courier New" pitchFamily="34" charset="0"/>
                <a:ea typeface="Courier New" pitchFamily="34" charset="-122"/>
                <a:cs typeface="Courier New" pitchFamily="34" charset="-120"/>
              </a:rPr>
              <a:t>string  </a:t>
            </a:r>
            <a:r>
              <a:rPr lang="en-US" sz="750" dirty="0">
                <a:solidFill>
                  <a:srgbClr val="4A5568"/>
                </a:solidFill>
                <a:latin typeface="Calibri" pitchFamily="34" charset="0"/>
                <a:ea typeface="Calibri" pitchFamily="34" charset="-122"/>
                <a:cs typeface="Calibri" pitchFamily="34" charset="-120"/>
              </a:rPr>
              <a:t>Chaincode version that evaluated tx</a:t>
            </a:r>
            <a:endParaRPr lang="en-US" sz="800" dirty="0"/>
          </a:p>
        </p:txBody>
      </p:sp>
      <p:sp>
        <p:nvSpPr>
          <p:cNvPr id="18" name="Text 16"/>
          <p:cNvSpPr/>
          <p:nvPr/>
        </p:nvSpPr>
        <p:spPr>
          <a:xfrm>
            <a:off x="347472" y="4663440"/>
            <a:ext cx="2578608" cy="274320"/>
          </a:xfrm>
          <a:prstGeom prst="rect">
            <a:avLst/>
          </a:prstGeom>
          <a:noFill/>
          <a:ln/>
        </p:spPr>
        <p:txBody>
          <a:bodyPr wrap="square" lIns="0" tIns="0" rIns="0" bIns="0" rtlCol="0" anchor="ctr"/>
          <a:lstStyle/>
          <a:p>
            <a:pPr marL="0" indent="0">
              <a:buNone/>
            </a:pPr>
            <a:r>
              <a:rPr lang="en-US" sz="800" b="1" dirty="0">
                <a:solidFill>
                  <a:srgbClr val="2980B9"/>
                </a:solidFill>
                <a:latin typeface="Courier New" pitchFamily="34" charset="0"/>
                <a:ea typeface="Courier New" pitchFamily="34" charset="-122"/>
                <a:cs typeface="Courier New" pitchFamily="34" charset="-120"/>
              </a:rPr>
              <a:t>Timestamp         </a:t>
            </a:r>
            <a:r>
              <a:rPr lang="en-US" sz="800" dirty="0">
                <a:solidFill>
                  <a:srgbClr val="7B2FBE"/>
                </a:solidFill>
                <a:latin typeface="Courier New" pitchFamily="34" charset="0"/>
                <a:ea typeface="Courier New" pitchFamily="34" charset="-122"/>
                <a:cs typeface="Courier New" pitchFamily="34" charset="-120"/>
              </a:rPr>
              <a:t>int64   </a:t>
            </a:r>
            <a:r>
              <a:rPr lang="en-US" sz="750" dirty="0">
                <a:solidFill>
                  <a:srgbClr val="4A5568"/>
                </a:solidFill>
                <a:latin typeface="Calibri" pitchFamily="34" charset="0"/>
                <a:ea typeface="Calibri" pitchFamily="34" charset="-122"/>
                <a:cs typeface="Calibri" pitchFamily="34" charset="-120"/>
              </a:rPr>
              <a:t>Nanosecond Unix timestamp</a:t>
            </a:r>
            <a:endParaRPr lang="en-US" sz="800" dirty="0"/>
          </a:p>
        </p:txBody>
      </p:sp>
      <p:sp>
        <p:nvSpPr>
          <p:cNvPr id="19" name="Shape 17"/>
          <p:cNvSpPr/>
          <p:nvPr/>
        </p:nvSpPr>
        <p:spPr>
          <a:xfrm>
            <a:off x="3154680" y="1024128"/>
            <a:ext cx="5760720" cy="3931920"/>
          </a:xfrm>
          <a:prstGeom prst="roundRect">
            <a:avLst>
              <a:gd name="adj" fmla="val 2326"/>
            </a:avLst>
          </a:prstGeom>
          <a:solidFill>
            <a:srgbClr val="0D1117"/>
          </a:solidFill>
          <a:ln w="12700">
            <a:solidFill>
              <a:srgbClr val="30363D"/>
            </a:solidFill>
            <a:prstDash val="solid"/>
          </a:ln>
        </p:spPr>
      </p:sp>
      <p:sp>
        <p:nvSpPr>
          <p:cNvPr id="20" name="Text 18"/>
          <p:cNvSpPr/>
          <p:nvPr/>
        </p:nvSpPr>
        <p:spPr>
          <a:xfrm>
            <a:off x="3246120" y="1133856"/>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1</a:t>
            </a:r>
            <a:endParaRPr lang="en-US" sz="640" dirty="0"/>
          </a:p>
        </p:txBody>
      </p:sp>
      <p:sp>
        <p:nvSpPr>
          <p:cNvPr id="21" name="Text 19"/>
          <p:cNvSpPr/>
          <p:nvPr/>
        </p:nvSpPr>
        <p:spPr>
          <a:xfrm>
            <a:off x="3538728" y="1133856"/>
            <a:ext cx="5285232" cy="219456"/>
          </a:xfrm>
          <a:prstGeom prst="rect">
            <a:avLst/>
          </a:prstGeom>
          <a:noFill/>
          <a:ln/>
        </p:spPr>
        <p:txBody>
          <a:bodyPr wrap="square" lIns="0" tIns="0" rIns="0" bIns="0" rtlCol="0" anchor="ctr"/>
          <a:lstStyle/>
          <a:p>
            <a:pPr marL="0" indent="0">
              <a:buNone/>
            </a:pPr>
            <a:r>
              <a:rPr lang="en-US" sz="740" dirty="0">
                <a:solidFill>
                  <a:srgbClr val="8B949E"/>
                </a:solidFill>
                <a:latin typeface="Courier New" pitchFamily="34" charset="0"/>
                <a:ea typeface="Courier New" pitchFamily="34" charset="-122"/>
                <a:cs typeface="Courier New" pitchFamily="34" charset="-120"/>
              </a:rPr>
              <a:t>// WriteAuditRecord — called BEFORE Faster Payments</a:t>
            </a:r>
            <a:endParaRPr lang="en-US" sz="740" dirty="0"/>
          </a:p>
        </p:txBody>
      </p:sp>
      <p:sp>
        <p:nvSpPr>
          <p:cNvPr id="22" name="Text 20"/>
          <p:cNvSpPr/>
          <p:nvPr/>
        </p:nvSpPr>
        <p:spPr>
          <a:xfrm>
            <a:off x="3246120" y="1371600"/>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2</a:t>
            </a:r>
            <a:endParaRPr lang="en-US" sz="640" dirty="0"/>
          </a:p>
        </p:txBody>
      </p:sp>
      <p:sp>
        <p:nvSpPr>
          <p:cNvPr id="23" name="Text 21"/>
          <p:cNvSpPr/>
          <p:nvPr/>
        </p:nvSpPr>
        <p:spPr>
          <a:xfrm>
            <a:off x="3538728" y="1371600"/>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func (t *AuditTrail) WriteAuditRecord(</a:t>
            </a:r>
            <a:endParaRPr lang="en-US" sz="740" dirty="0"/>
          </a:p>
        </p:txBody>
      </p:sp>
      <p:sp>
        <p:nvSpPr>
          <p:cNvPr id="24" name="Text 22"/>
          <p:cNvSpPr/>
          <p:nvPr/>
        </p:nvSpPr>
        <p:spPr>
          <a:xfrm>
            <a:off x="3246120" y="1609344"/>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3</a:t>
            </a:r>
            <a:endParaRPr lang="en-US" sz="640" dirty="0"/>
          </a:p>
        </p:txBody>
      </p:sp>
      <p:sp>
        <p:nvSpPr>
          <p:cNvPr id="25" name="Text 23"/>
          <p:cNvSpPr/>
          <p:nvPr/>
        </p:nvSpPr>
        <p:spPr>
          <a:xfrm>
            <a:off x="3538728" y="1609344"/>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ctx contractapi.TransactionContextInterface,</a:t>
            </a:r>
            <a:endParaRPr lang="en-US" sz="740" dirty="0"/>
          </a:p>
        </p:txBody>
      </p:sp>
      <p:sp>
        <p:nvSpPr>
          <p:cNvPr id="26" name="Text 24"/>
          <p:cNvSpPr/>
          <p:nvPr/>
        </p:nvSpPr>
        <p:spPr>
          <a:xfrm>
            <a:off x="3246120" y="1847088"/>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4</a:t>
            </a:r>
            <a:endParaRPr lang="en-US" sz="640" dirty="0"/>
          </a:p>
        </p:txBody>
      </p:sp>
      <p:sp>
        <p:nvSpPr>
          <p:cNvPr id="27" name="Text 25"/>
          <p:cNvSpPr/>
          <p:nvPr/>
        </p:nvSpPr>
        <p:spPr>
          <a:xfrm>
            <a:off x="3538728" y="1847088"/>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txID, contextHash, customerIDHash,</a:t>
            </a:r>
            <a:endParaRPr lang="en-US" sz="740" dirty="0"/>
          </a:p>
        </p:txBody>
      </p:sp>
      <p:sp>
        <p:nvSpPr>
          <p:cNvPr id="28" name="Text 26"/>
          <p:cNvSpPr/>
          <p:nvPr/>
        </p:nvSpPr>
        <p:spPr>
          <a:xfrm>
            <a:off x="3246120" y="2084832"/>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5</a:t>
            </a:r>
            <a:endParaRPr lang="en-US" sz="640" dirty="0"/>
          </a:p>
        </p:txBody>
      </p:sp>
      <p:sp>
        <p:nvSpPr>
          <p:cNvPr id="29" name="Text 27"/>
          <p:cNvSpPr/>
          <p:nvPr/>
        </p:nvSpPr>
        <p:spPr>
          <a:xfrm>
            <a:off x="3538728" y="2084832"/>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payeeHash string, amountPence int64,</a:t>
            </a:r>
            <a:endParaRPr lang="en-US" sz="740" dirty="0"/>
          </a:p>
        </p:txBody>
      </p:sp>
      <p:sp>
        <p:nvSpPr>
          <p:cNvPr id="30" name="Text 28"/>
          <p:cNvSpPr/>
          <p:nvPr/>
        </p:nvSpPr>
        <p:spPr>
          <a:xfrm>
            <a:off x="3246120" y="2322576"/>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6</a:t>
            </a:r>
            <a:endParaRPr lang="en-US" sz="640" dirty="0"/>
          </a:p>
        </p:txBody>
      </p:sp>
      <p:sp>
        <p:nvSpPr>
          <p:cNvPr id="31" name="Text 29"/>
          <p:cNvSpPr/>
          <p:nvPr/>
        </p:nvSpPr>
        <p:spPr>
          <a:xfrm>
            <a:off x="3538728" y="2322576"/>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deviceFingerprint string, behaviourScore,</a:t>
            </a:r>
            <a:endParaRPr lang="en-US" sz="740" dirty="0"/>
          </a:p>
        </p:txBody>
      </p:sp>
      <p:sp>
        <p:nvSpPr>
          <p:cNvPr id="32" name="Text 30"/>
          <p:cNvSpPr/>
          <p:nvPr/>
        </p:nvSpPr>
        <p:spPr>
          <a:xfrm>
            <a:off x="3246120" y="2560320"/>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7</a:t>
            </a:r>
            <a:endParaRPr lang="en-US" sz="640" dirty="0"/>
          </a:p>
        </p:txBody>
      </p:sp>
      <p:sp>
        <p:nvSpPr>
          <p:cNvPr id="33" name="Text 31"/>
          <p:cNvSpPr/>
          <p:nvPr/>
        </p:nvSpPr>
        <p:spPr>
          <a:xfrm>
            <a:off x="3538728" y="2560320"/>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mlScore float64, payeeKnown bool,</a:t>
            </a:r>
            <a:endParaRPr lang="en-US" sz="740" dirty="0"/>
          </a:p>
        </p:txBody>
      </p:sp>
      <p:sp>
        <p:nvSpPr>
          <p:cNvPr id="34" name="Text 32"/>
          <p:cNvSpPr/>
          <p:nvPr/>
        </p:nvSpPr>
        <p:spPr>
          <a:xfrm>
            <a:off x="3246120" y="2798064"/>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8</a:t>
            </a:r>
            <a:endParaRPr lang="en-US" sz="640" dirty="0"/>
          </a:p>
        </p:txBody>
      </p:sp>
      <p:sp>
        <p:nvSpPr>
          <p:cNvPr id="35" name="Text 33"/>
          <p:cNvSpPr/>
          <p:nvPr/>
        </p:nvSpPr>
        <p:spPr>
          <a:xfrm>
            <a:off x="3538728" y="2798064"/>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decision string,</a:t>
            </a:r>
            <a:endParaRPr lang="en-US" sz="740" dirty="0"/>
          </a:p>
        </p:txBody>
      </p:sp>
      <p:sp>
        <p:nvSpPr>
          <p:cNvPr id="36" name="Text 34"/>
          <p:cNvSpPr/>
          <p:nvPr/>
        </p:nvSpPr>
        <p:spPr>
          <a:xfrm>
            <a:off x="3246120" y="3035808"/>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 9</a:t>
            </a:r>
            <a:endParaRPr lang="en-US" sz="640" dirty="0"/>
          </a:p>
        </p:txBody>
      </p:sp>
      <p:sp>
        <p:nvSpPr>
          <p:cNvPr id="37" name="Text 35"/>
          <p:cNvSpPr/>
          <p:nvPr/>
        </p:nvSpPr>
        <p:spPr>
          <a:xfrm>
            <a:off x="3538728" y="3035808"/>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error {</a:t>
            </a:r>
            <a:endParaRPr lang="en-US" sz="740" dirty="0"/>
          </a:p>
        </p:txBody>
      </p:sp>
      <p:sp>
        <p:nvSpPr>
          <p:cNvPr id="38" name="Text 36"/>
          <p:cNvSpPr/>
          <p:nvPr/>
        </p:nvSpPr>
        <p:spPr>
          <a:xfrm>
            <a:off x="3246120" y="3273552"/>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10</a:t>
            </a:r>
            <a:endParaRPr lang="en-US" sz="640" dirty="0"/>
          </a:p>
        </p:txBody>
      </p:sp>
      <p:sp>
        <p:nvSpPr>
          <p:cNvPr id="39" name="Text 37"/>
          <p:cNvSpPr/>
          <p:nvPr/>
        </p:nvSpPr>
        <p:spPr>
          <a:xfrm>
            <a:off x="3538728" y="3273552"/>
            <a:ext cx="5285232" cy="219456"/>
          </a:xfrm>
          <a:prstGeom prst="rect">
            <a:avLst/>
          </a:prstGeom>
          <a:noFill/>
          <a:ln/>
        </p:spPr>
        <p:txBody>
          <a:bodyPr wrap="square" lIns="0" tIns="0" rIns="0" bIns="0" rtlCol="0" anchor="ctr"/>
          <a:lstStyle/>
          <a:p>
            <a:pPr marL="0" indent="0">
              <a:buNone/>
            </a:pPr>
            <a:r>
              <a:rPr lang="en-US" sz="740" dirty="0">
                <a:solidFill>
                  <a:srgbClr val="8B949E"/>
                </a:solidFill>
                <a:latin typeface="Courier New" pitchFamily="34" charset="0"/>
                <a:ea typeface="Courier New" pitchFamily="34" charset="-122"/>
                <a:cs typeface="Courier New" pitchFamily="34" charset="-120"/>
              </a:rPr>
              <a:t>    // Idempotency: reject duplicate TxIDs</a:t>
            </a:r>
            <a:endParaRPr lang="en-US" sz="740" dirty="0"/>
          </a:p>
        </p:txBody>
      </p:sp>
      <p:sp>
        <p:nvSpPr>
          <p:cNvPr id="40" name="Text 38"/>
          <p:cNvSpPr/>
          <p:nvPr/>
        </p:nvSpPr>
        <p:spPr>
          <a:xfrm>
            <a:off x="3246120" y="3511296"/>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11</a:t>
            </a:r>
            <a:endParaRPr lang="en-US" sz="640" dirty="0"/>
          </a:p>
        </p:txBody>
      </p:sp>
      <p:sp>
        <p:nvSpPr>
          <p:cNvPr id="41" name="Text 39"/>
          <p:cNvSpPr/>
          <p:nvPr/>
        </p:nvSpPr>
        <p:spPr>
          <a:xfrm>
            <a:off x="3538728" y="3511296"/>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existing, _ := ctx.GetStub().GetState(txID)</a:t>
            </a:r>
            <a:endParaRPr lang="en-US" sz="740" dirty="0"/>
          </a:p>
        </p:txBody>
      </p:sp>
      <p:sp>
        <p:nvSpPr>
          <p:cNvPr id="42" name="Text 40"/>
          <p:cNvSpPr/>
          <p:nvPr/>
        </p:nvSpPr>
        <p:spPr>
          <a:xfrm>
            <a:off x="3246120" y="3749040"/>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12</a:t>
            </a:r>
            <a:endParaRPr lang="en-US" sz="640" dirty="0"/>
          </a:p>
        </p:txBody>
      </p:sp>
      <p:sp>
        <p:nvSpPr>
          <p:cNvPr id="43" name="Text 41"/>
          <p:cNvSpPr/>
          <p:nvPr/>
        </p:nvSpPr>
        <p:spPr>
          <a:xfrm>
            <a:off x="3538728" y="3749040"/>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if existing != nil {</a:t>
            </a:r>
            <a:endParaRPr lang="en-US" sz="740" dirty="0"/>
          </a:p>
        </p:txBody>
      </p:sp>
      <p:sp>
        <p:nvSpPr>
          <p:cNvPr id="44" name="Text 42"/>
          <p:cNvSpPr/>
          <p:nvPr/>
        </p:nvSpPr>
        <p:spPr>
          <a:xfrm>
            <a:off x="3246120" y="3986784"/>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13</a:t>
            </a:r>
            <a:endParaRPr lang="en-US" sz="640" dirty="0"/>
          </a:p>
        </p:txBody>
      </p:sp>
      <p:sp>
        <p:nvSpPr>
          <p:cNvPr id="45" name="Text 43"/>
          <p:cNvSpPr/>
          <p:nvPr/>
        </p:nvSpPr>
        <p:spPr>
          <a:xfrm>
            <a:off x="3538728" y="3986784"/>
            <a:ext cx="5285232" cy="219456"/>
          </a:xfrm>
          <a:prstGeom prst="rect">
            <a:avLst/>
          </a:prstGeom>
          <a:noFill/>
          <a:ln/>
        </p:spPr>
        <p:txBody>
          <a:bodyPr wrap="square" lIns="0" tIns="0" rIns="0" bIns="0" rtlCol="0" anchor="ctr"/>
          <a:lstStyle/>
          <a:p>
            <a:pPr marL="0" indent="0">
              <a:buNone/>
            </a:pPr>
            <a:r>
              <a:rPr lang="en-US" sz="740" dirty="0">
                <a:solidFill>
                  <a:srgbClr val="FF7B72"/>
                </a:solidFill>
                <a:latin typeface="Courier New" pitchFamily="34" charset="0"/>
                <a:ea typeface="Courier New" pitchFamily="34" charset="-122"/>
                <a:cs typeface="Courier New" pitchFamily="34" charset="-120"/>
              </a:rPr>
              <a:t>        return fmt.Errorf("duplicate TxID: %s", txID)</a:t>
            </a:r>
            <a:endParaRPr lang="en-US" sz="740" dirty="0"/>
          </a:p>
        </p:txBody>
      </p:sp>
      <p:sp>
        <p:nvSpPr>
          <p:cNvPr id="46" name="Text 44"/>
          <p:cNvSpPr/>
          <p:nvPr/>
        </p:nvSpPr>
        <p:spPr>
          <a:xfrm>
            <a:off x="3246120" y="4224528"/>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14</a:t>
            </a:r>
            <a:endParaRPr lang="en-US" sz="640" dirty="0"/>
          </a:p>
        </p:txBody>
      </p:sp>
      <p:sp>
        <p:nvSpPr>
          <p:cNvPr id="47" name="Text 45"/>
          <p:cNvSpPr/>
          <p:nvPr/>
        </p:nvSpPr>
        <p:spPr>
          <a:xfrm>
            <a:off x="3538728" y="4224528"/>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a:t>
            </a:r>
            <a:endParaRPr lang="en-US" sz="740" dirty="0"/>
          </a:p>
        </p:txBody>
      </p:sp>
      <p:sp>
        <p:nvSpPr>
          <p:cNvPr id="48" name="Text 46"/>
          <p:cNvSpPr/>
          <p:nvPr/>
        </p:nvSpPr>
        <p:spPr>
          <a:xfrm>
            <a:off x="3246120" y="4462272"/>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15</a:t>
            </a:r>
            <a:endParaRPr lang="en-US" sz="640" dirty="0"/>
          </a:p>
        </p:txBody>
      </p:sp>
      <p:sp>
        <p:nvSpPr>
          <p:cNvPr id="49" name="Text 47"/>
          <p:cNvSpPr/>
          <p:nvPr/>
        </p:nvSpPr>
        <p:spPr>
          <a:xfrm>
            <a:off x="3538728" y="4462272"/>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record := AuditRecord{</a:t>
            </a:r>
            <a:endParaRPr lang="en-US" sz="740" dirty="0"/>
          </a:p>
        </p:txBody>
      </p:sp>
      <p:sp>
        <p:nvSpPr>
          <p:cNvPr id="50" name="Text 48"/>
          <p:cNvSpPr/>
          <p:nvPr/>
        </p:nvSpPr>
        <p:spPr>
          <a:xfrm>
            <a:off x="3246120" y="4700016"/>
            <a:ext cx="256032" cy="219456"/>
          </a:xfrm>
          <a:prstGeom prst="rect">
            <a:avLst/>
          </a:prstGeom>
          <a:noFill/>
          <a:ln/>
        </p:spPr>
        <p:txBody>
          <a:bodyPr wrap="square" lIns="0" tIns="0" rIns="0" bIns="0" rtlCol="0" anchor="ctr"/>
          <a:lstStyle/>
          <a:p>
            <a:pPr marL="0" indent="0">
              <a:buNone/>
            </a:pPr>
            <a:r>
              <a:rPr lang="en-US" sz="640" dirty="0">
                <a:solidFill>
                  <a:srgbClr val="8B949E"/>
                </a:solidFill>
                <a:latin typeface="Courier New" pitchFamily="34" charset="0"/>
                <a:ea typeface="Courier New" pitchFamily="34" charset="-122"/>
                <a:cs typeface="Courier New" pitchFamily="34" charset="-120"/>
              </a:rPr>
              <a:t>16</a:t>
            </a:r>
            <a:endParaRPr lang="en-US" sz="640" dirty="0"/>
          </a:p>
        </p:txBody>
      </p:sp>
      <p:sp>
        <p:nvSpPr>
          <p:cNvPr id="51" name="Text 49"/>
          <p:cNvSpPr/>
          <p:nvPr/>
        </p:nvSpPr>
        <p:spPr>
          <a:xfrm>
            <a:off x="3538728" y="4700016"/>
            <a:ext cx="5285232" cy="219456"/>
          </a:xfrm>
          <a:prstGeom prst="rect">
            <a:avLst/>
          </a:prstGeom>
          <a:noFill/>
          <a:ln/>
        </p:spPr>
        <p:txBody>
          <a:bodyPr wrap="square" lIns="0" tIns="0" rIns="0" bIns="0" rtlCol="0" anchor="ctr"/>
          <a:lstStyle/>
          <a:p>
            <a:pPr marL="0" indent="0">
              <a:buNone/>
            </a:pPr>
            <a:r>
              <a:rPr lang="en-US" sz="740" dirty="0">
                <a:solidFill>
                  <a:srgbClr val="E6EDF3"/>
                </a:solidFill>
                <a:latin typeface="Courier New" pitchFamily="34" charset="0"/>
                <a:ea typeface="Courier New" pitchFamily="34" charset="-122"/>
                <a:cs typeface="Courier New" pitchFamily="34" charset="-120"/>
              </a:rPr>
              <a:t>        TxID:             txID,</a:t>
            </a:r>
            <a:endParaRPr lang="en-US" sz="7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18872"/>
            <a:ext cx="8412480" cy="30175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SC-03  ·  CHAINCODE SPECIFICATION</a:t>
            </a:r>
            <a:endParaRPr lang="en-US" sz="1000" dirty="0"/>
          </a:p>
        </p:txBody>
      </p:sp>
      <p:sp>
        <p:nvSpPr>
          <p:cNvPr id="3" name="Text 1"/>
          <p:cNvSpPr/>
          <p:nvPr/>
        </p:nvSpPr>
        <p:spPr>
          <a:xfrm>
            <a:off x="365760" y="402336"/>
            <a:ext cx="8412480" cy="493776"/>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CoolingOffController</a:t>
            </a:r>
            <a:endParaRPr lang="en-US" sz="2100" dirty="0"/>
          </a:p>
        </p:txBody>
      </p:sp>
      <p:sp>
        <p:nvSpPr>
          <p:cNvPr id="4" name="Text 2"/>
          <p:cNvSpPr/>
          <p:nvPr/>
        </p:nvSpPr>
        <p:spPr>
          <a:xfrm>
            <a:off x="365760" y="868680"/>
            <a:ext cx="8412480" cy="292608"/>
          </a:xfrm>
          <a:prstGeom prst="rect">
            <a:avLst/>
          </a:prstGeom>
          <a:noFill/>
          <a:ln/>
        </p:spPr>
        <p:txBody>
          <a:bodyPr wrap="square" lIns="0" tIns="0" rIns="0" bIns="0" rtlCol="0" anchor="ctr"/>
          <a:lstStyle/>
          <a:p>
            <a:pPr marL="0" indent="0">
              <a:buNone/>
            </a:pPr>
            <a:r>
              <a:rPr lang="en-US" sz="1200" i="1" dirty="0">
                <a:solidFill>
                  <a:srgbClr val="8FA5BF"/>
                </a:solidFill>
                <a:latin typeface="Calibri" pitchFamily="34" charset="0"/>
                <a:ea typeface="Calibri" pitchFamily="34" charset="-122"/>
                <a:cs typeface="Calibri" pitchFamily="34" charset="-120"/>
              </a:rPr>
              <a:t>Programmable payment holds — enforced on-chain before Faster Payments is called</a:t>
            </a:r>
            <a:endParaRPr lang="en-US" sz="1200" dirty="0"/>
          </a:p>
        </p:txBody>
      </p:sp>
      <p:sp>
        <p:nvSpPr>
          <p:cNvPr id="5" name="Shape 3"/>
          <p:cNvSpPr/>
          <p:nvPr/>
        </p:nvSpPr>
        <p:spPr>
          <a:xfrm>
            <a:off x="228600" y="1170432"/>
            <a:ext cx="8686800" cy="749808"/>
          </a:xfrm>
          <a:prstGeom prst="roundRect">
            <a:avLst>
              <a:gd name="adj" fmla="val 12195"/>
            </a:avLst>
          </a:prstGeom>
          <a:solidFill>
            <a:srgbClr val="162D52"/>
          </a:solidFill>
          <a:ln w="12700">
            <a:solidFill>
              <a:srgbClr val="E8A020"/>
            </a:solidFill>
            <a:prstDash val="solid"/>
          </a:ln>
        </p:spPr>
      </p:sp>
      <p:sp>
        <p:nvSpPr>
          <p:cNvPr id="6" name="Text 4"/>
          <p:cNvSpPr/>
          <p:nvPr/>
        </p:nvSpPr>
        <p:spPr>
          <a:xfrm>
            <a:off x="411480" y="1234440"/>
            <a:ext cx="4572000" cy="256032"/>
          </a:xfrm>
          <a:prstGeom prst="rect">
            <a:avLst/>
          </a:prstGeom>
          <a:noFill/>
          <a:ln/>
        </p:spPr>
        <p:txBody>
          <a:bodyPr wrap="square" lIns="0" tIns="0" rIns="0" bIns="0" rtlCol="0" anchor="ctr"/>
          <a:lstStyle/>
          <a:p>
            <a:pPr marL="0" indent="0">
              <a:buNone/>
            </a:pPr>
            <a:r>
              <a:rPr lang="en-US" sz="850" b="1" kern="0" spc="100" dirty="0">
                <a:solidFill>
                  <a:srgbClr val="E8A020"/>
                </a:solidFill>
                <a:latin typeface="Calibri" pitchFamily="34" charset="0"/>
                <a:ea typeface="Calibri" pitchFamily="34" charset="-122"/>
                <a:cs typeface="Calibri" pitchFamily="34" charset="-120"/>
              </a:rPr>
              <a:t>TRIGGER CONDITIONS  (evaluated in order — first match wins)</a:t>
            </a:r>
            <a:endParaRPr lang="en-US" sz="850" dirty="0"/>
          </a:p>
        </p:txBody>
      </p:sp>
      <p:sp>
        <p:nvSpPr>
          <p:cNvPr id="7" name="Shape 5"/>
          <p:cNvSpPr/>
          <p:nvPr/>
        </p:nvSpPr>
        <p:spPr>
          <a:xfrm>
            <a:off x="347472" y="1508760"/>
            <a:ext cx="2029968" cy="347472"/>
          </a:xfrm>
          <a:prstGeom prst="roundRect">
            <a:avLst>
              <a:gd name="adj" fmla="val 15789"/>
            </a:avLst>
          </a:prstGeom>
          <a:solidFill>
            <a:srgbClr val="0D1628"/>
          </a:solidFill>
          <a:ln w="12700">
            <a:solidFill>
              <a:srgbClr val="E8A020"/>
            </a:solidFill>
            <a:prstDash val="solid"/>
          </a:ln>
        </p:spPr>
      </p:sp>
      <p:sp>
        <p:nvSpPr>
          <p:cNvPr id="8" name="Text 6"/>
          <p:cNvSpPr/>
          <p:nvPr/>
        </p:nvSpPr>
        <p:spPr>
          <a:xfrm>
            <a:off x="438912" y="1536192"/>
            <a:ext cx="1371600" cy="25603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New payee  +  amount &gt; £10,000</a:t>
            </a:r>
            <a:endParaRPr lang="en-US" sz="820" dirty="0"/>
          </a:p>
        </p:txBody>
      </p:sp>
      <p:sp>
        <p:nvSpPr>
          <p:cNvPr id="9" name="Text 7"/>
          <p:cNvSpPr/>
          <p:nvPr/>
        </p:nvSpPr>
        <p:spPr>
          <a:xfrm>
            <a:off x="1828800" y="1536192"/>
            <a:ext cx="475488" cy="256032"/>
          </a:xfrm>
          <a:prstGeom prst="rect">
            <a:avLst/>
          </a:prstGeom>
          <a:noFill/>
          <a:ln/>
        </p:spPr>
        <p:txBody>
          <a:bodyPr wrap="square" lIns="0" tIns="0" rIns="0" bIns="0" rtlCol="0" anchor="ctr"/>
          <a:lstStyle/>
          <a:p>
            <a:pPr marL="0" indent="0">
              <a:buNone/>
            </a:pPr>
            <a:r>
              <a:rPr lang="en-US" sz="800" b="1" dirty="0">
                <a:solidFill>
                  <a:srgbClr val="E8A020"/>
                </a:solidFill>
                <a:latin typeface="Calibri" pitchFamily="34" charset="0"/>
                <a:ea typeface="Calibri" pitchFamily="34" charset="-122"/>
                <a:cs typeface="Calibri" pitchFamily="34" charset="-120"/>
              </a:rPr>
              <a:t>→ 4-hour hold</a:t>
            </a:r>
            <a:endParaRPr lang="en-US" sz="800" dirty="0"/>
          </a:p>
        </p:txBody>
      </p:sp>
      <p:sp>
        <p:nvSpPr>
          <p:cNvPr id="10" name="Shape 8"/>
          <p:cNvSpPr/>
          <p:nvPr/>
        </p:nvSpPr>
        <p:spPr>
          <a:xfrm>
            <a:off x="2496312" y="1508760"/>
            <a:ext cx="2029968" cy="347472"/>
          </a:xfrm>
          <a:prstGeom prst="roundRect">
            <a:avLst>
              <a:gd name="adj" fmla="val 15789"/>
            </a:avLst>
          </a:prstGeom>
          <a:solidFill>
            <a:srgbClr val="0D1628"/>
          </a:solidFill>
          <a:ln w="12700">
            <a:solidFill>
              <a:srgbClr val="C0392B"/>
            </a:solidFill>
            <a:prstDash val="solid"/>
          </a:ln>
        </p:spPr>
      </p:sp>
      <p:sp>
        <p:nvSpPr>
          <p:cNvPr id="11" name="Text 9"/>
          <p:cNvSpPr/>
          <p:nvPr/>
        </p:nvSpPr>
        <p:spPr>
          <a:xfrm>
            <a:off x="2587752" y="1536192"/>
            <a:ext cx="1371600" cy="25603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New payee  +  amount &gt; £50,000</a:t>
            </a:r>
            <a:endParaRPr lang="en-US" sz="820" dirty="0"/>
          </a:p>
        </p:txBody>
      </p:sp>
      <p:sp>
        <p:nvSpPr>
          <p:cNvPr id="12" name="Text 10"/>
          <p:cNvSpPr/>
          <p:nvPr/>
        </p:nvSpPr>
        <p:spPr>
          <a:xfrm>
            <a:off x="3977640" y="1536192"/>
            <a:ext cx="475488" cy="256032"/>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 24-hour hold</a:t>
            </a:r>
            <a:endParaRPr lang="en-US" sz="800" dirty="0"/>
          </a:p>
        </p:txBody>
      </p:sp>
      <p:sp>
        <p:nvSpPr>
          <p:cNvPr id="13" name="Shape 11"/>
          <p:cNvSpPr/>
          <p:nvPr/>
        </p:nvSpPr>
        <p:spPr>
          <a:xfrm>
            <a:off x="4645152" y="1508760"/>
            <a:ext cx="2029968" cy="347472"/>
          </a:xfrm>
          <a:prstGeom prst="roundRect">
            <a:avLst>
              <a:gd name="adj" fmla="val 15789"/>
            </a:avLst>
          </a:prstGeom>
          <a:solidFill>
            <a:srgbClr val="0D1628"/>
          </a:solidFill>
          <a:ln w="12700">
            <a:solidFill>
              <a:srgbClr val="E8A020"/>
            </a:solidFill>
            <a:prstDash val="solid"/>
          </a:ln>
        </p:spPr>
      </p:sp>
      <p:sp>
        <p:nvSpPr>
          <p:cNvPr id="14" name="Text 12"/>
          <p:cNvSpPr/>
          <p:nvPr/>
        </p:nvSpPr>
        <p:spPr>
          <a:xfrm>
            <a:off x="4736592" y="1536192"/>
            <a:ext cx="1371600" cy="25603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New device  +  amount &gt; £5,000</a:t>
            </a:r>
            <a:endParaRPr lang="en-US" sz="820" dirty="0"/>
          </a:p>
        </p:txBody>
      </p:sp>
      <p:sp>
        <p:nvSpPr>
          <p:cNvPr id="15" name="Text 13"/>
          <p:cNvSpPr/>
          <p:nvPr/>
        </p:nvSpPr>
        <p:spPr>
          <a:xfrm>
            <a:off x="6126480" y="1536192"/>
            <a:ext cx="475488" cy="256032"/>
          </a:xfrm>
          <a:prstGeom prst="rect">
            <a:avLst/>
          </a:prstGeom>
          <a:noFill/>
          <a:ln/>
        </p:spPr>
        <p:txBody>
          <a:bodyPr wrap="square" lIns="0" tIns="0" rIns="0" bIns="0" rtlCol="0" anchor="ctr"/>
          <a:lstStyle/>
          <a:p>
            <a:pPr marL="0" indent="0">
              <a:buNone/>
            </a:pPr>
            <a:r>
              <a:rPr lang="en-US" sz="800" b="1" dirty="0">
                <a:solidFill>
                  <a:srgbClr val="E8A020"/>
                </a:solidFill>
                <a:latin typeface="Calibri" pitchFamily="34" charset="0"/>
                <a:ea typeface="Calibri" pitchFamily="34" charset="-122"/>
                <a:cs typeface="Calibri" pitchFamily="34" charset="-120"/>
              </a:rPr>
              <a:t>→ 4-hour hold</a:t>
            </a:r>
            <a:endParaRPr lang="en-US" sz="800" dirty="0"/>
          </a:p>
        </p:txBody>
      </p:sp>
      <p:sp>
        <p:nvSpPr>
          <p:cNvPr id="16" name="Shape 14"/>
          <p:cNvSpPr/>
          <p:nvPr/>
        </p:nvSpPr>
        <p:spPr>
          <a:xfrm>
            <a:off x="6793992" y="1508760"/>
            <a:ext cx="2029968" cy="347472"/>
          </a:xfrm>
          <a:prstGeom prst="roundRect">
            <a:avLst>
              <a:gd name="adj" fmla="val 15789"/>
            </a:avLst>
          </a:prstGeom>
          <a:solidFill>
            <a:srgbClr val="0D1628"/>
          </a:solidFill>
          <a:ln w="12700">
            <a:solidFill>
              <a:srgbClr val="C0392B"/>
            </a:solidFill>
            <a:prstDash val="solid"/>
          </a:ln>
        </p:spPr>
      </p:sp>
      <p:sp>
        <p:nvSpPr>
          <p:cNvPr id="17" name="Text 15"/>
          <p:cNvSpPr/>
          <p:nvPr/>
        </p:nvSpPr>
        <p:spPr>
          <a:xfrm>
            <a:off x="6885432" y="1536192"/>
            <a:ext cx="1371600" cy="25603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Velocity breach (&gt;3 transfers / hour)</a:t>
            </a:r>
            <a:endParaRPr lang="en-US" sz="820" dirty="0"/>
          </a:p>
        </p:txBody>
      </p:sp>
      <p:sp>
        <p:nvSpPr>
          <p:cNvPr id="18" name="Text 16"/>
          <p:cNvSpPr/>
          <p:nvPr/>
        </p:nvSpPr>
        <p:spPr>
          <a:xfrm>
            <a:off x="8275320" y="1536192"/>
            <a:ext cx="475488" cy="256032"/>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 1-hour hold</a:t>
            </a:r>
            <a:endParaRPr lang="en-US" sz="800" dirty="0"/>
          </a:p>
        </p:txBody>
      </p:sp>
      <p:sp>
        <p:nvSpPr>
          <p:cNvPr id="19" name="Shape 17"/>
          <p:cNvSpPr/>
          <p:nvPr/>
        </p:nvSpPr>
        <p:spPr>
          <a:xfrm>
            <a:off x="228600" y="2359152"/>
            <a:ext cx="2926080" cy="2578608"/>
          </a:xfrm>
          <a:prstGeom prst="roundRect">
            <a:avLst>
              <a:gd name="adj" fmla="val 3546"/>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20" name="Text 18"/>
          <p:cNvSpPr/>
          <p:nvPr/>
        </p:nvSpPr>
        <p:spPr>
          <a:xfrm>
            <a:off x="384048" y="2432304"/>
            <a:ext cx="2633472" cy="274320"/>
          </a:xfrm>
          <a:prstGeom prst="rect">
            <a:avLst/>
          </a:prstGeom>
          <a:noFill/>
          <a:ln/>
        </p:spPr>
        <p:txBody>
          <a:bodyPr wrap="square" lIns="0" tIns="0" rIns="0" bIns="0" rtlCol="0" anchor="ctr"/>
          <a:lstStyle/>
          <a:p>
            <a:pPr marL="0" indent="0">
              <a:buNone/>
            </a:pPr>
            <a:r>
              <a:rPr lang="en-US" sz="850" b="1" kern="0" spc="100" dirty="0">
                <a:solidFill>
                  <a:srgbClr val="E8A020"/>
                </a:solidFill>
                <a:latin typeface="Calibri" pitchFamily="34" charset="0"/>
                <a:ea typeface="Calibri" pitchFamily="34" charset="-122"/>
                <a:cs typeface="Calibri" pitchFamily="34" charset="-120"/>
              </a:rPr>
              <a:t>HOLD STATE MACHINE</a:t>
            </a:r>
            <a:endParaRPr lang="en-US" sz="850" dirty="0"/>
          </a:p>
        </p:txBody>
      </p:sp>
      <p:sp>
        <p:nvSpPr>
          <p:cNvPr id="21" name="Shape 19"/>
          <p:cNvSpPr/>
          <p:nvPr/>
        </p:nvSpPr>
        <p:spPr>
          <a:xfrm>
            <a:off x="548640" y="2788920"/>
            <a:ext cx="2377440" cy="384048"/>
          </a:xfrm>
          <a:prstGeom prst="roundRect">
            <a:avLst>
              <a:gd name="adj" fmla="val 19048"/>
            </a:avLst>
          </a:prstGeom>
          <a:solidFill>
            <a:srgbClr val="0D1628"/>
          </a:solidFill>
          <a:ln w="12700">
            <a:solidFill>
              <a:srgbClr val="E8A020"/>
            </a:solidFill>
            <a:prstDash val="solid"/>
          </a:ln>
        </p:spPr>
      </p:sp>
      <p:sp>
        <p:nvSpPr>
          <p:cNvPr id="22" name="Text 20"/>
          <p:cNvSpPr/>
          <p:nvPr/>
        </p:nvSpPr>
        <p:spPr>
          <a:xfrm>
            <a:off x="548640" y="2788920"/>
            <a:ext cx="2377440" cy="384048"/>
          </a:xfrm>
          <a:prstGeom prst="rect">
            <a:avLst/>
          </a:prstGeom>
          <a:noFill/>
          <a:ln/>
        </p:spPr>
        <p:txBody>
          <a:bodyPr wrap="square" lIns="0" tIns="0" rIns="0" bIns="0" rtlCol="0" anchor="ctr"/>
          <a:lstStyle/>
          <a:p>
            <a:pPr marL="0" indent="0" algn="ctr">
              <a:buNone/>
            </a:pPr>
            <a:r>
              <a:rPr lang="en-US" sz="950" b="1" dirty="0">
                <a:solidFill>
                  <a:srgbClr val="E8A020"/>
                </a:solidFill>
                <a:latin typeface="Courier New" pitchFamily="34" charset="0"/>
                <a:ea typeface="Courier New" pitchFamily="34" charset="-122"/>
                <a:cs typeface="Courier New" pitchFamily="34" charset="-120"/>
              </a:rPr>
              <a:t>PENDING_HOLD</a:t>
            </a:r>
            <a:endParaRPr lang="en-US" sz="950" dirty="0"/>
          </a:p>
        </p:txBody>
      </p:sp>
      <p:sp>
        <p:nvSpPr>
          <p:cNvPr id="23" name="Shape 21"/>
          <p:cNvSpPr/>
          <p:nvPr/>
        </p:nvSpPr>
        <p:spPr>
          <a:xfrm>
            <a:off x="548640" y="3310128"/>
            <a:ext cx="2377440" cy="384048"/>
          </a:xfrm>
          <a:prstGeom prst="roundRect">
            <a:avLst>
              <a:gd name="adj" fmla="val 19048"/>
            </a:avLst>
          </a:prstGeom>
          <a:solidFill>
            <a:srgbClr val="0D1628"/>
          </a:solidFill>
          <a:ln w="12700">
            <a:solidFill>
              <a:srgbClr val="2980B9"/>
            </a:solidFill>
            <a:prstDash val="solid"/>
          </a:ln>
        </p:spPr>
      </p:sp>
      <p:sp>
        <p:nvSpPr>
          <p:cNvPr id="24" name="Text 22"/>
          <p:cNvSpPr/>
          <p:nvPr/>
        </p:nvSpPr>
        <p:spPr>
          <a:xfrm>
            <a:off x="548640" y="3310128"/>
            <a:ext cx="2377440" cy="384048"/>
          </a:xfrm>
          <a:prstGeom prst="rect">
            <a:avLst/>
          </a:prstGeom>
          <a:noFill/>
          <a:ln/>
        </p:spPr>
        <p:txBody>
          <a:bodyPr wrap="square" lIns="0" tIns="0" rIns="0" bIns="0" rtlCol="0" anchor="ctr"/>
          <a:lstStyle/>
          <a:p>
            <a:pPr marL="0" indent="0" algn="ctr">
              <a:buNone/>
            </a:pPr>
            <a:r>
              <a:rPr lang="en-US" sz="950" b="1" dirty="0">
                <a:solidFill>
                  <a:srgbClr val="2980B9"/>
                </a:solidFill>
                <a:latin typeface="Courier New" pitchFamily="34" charset="0"/>
                <a:ea typeface="Courier New" pitchFamily="34" charset="-122"/>
                <a:cs typeface="Courier New" pitchFamily="34" charset="-120"/>
              </a:rPr>
              <a:t>HOLD_ACTIVE</a:t>
            </a:r>
            <a:endParaRPr lang="en-US" sz="950" dirty="0"/>
          </a:p>
        </p:txBody>
      </p:sp>
      <p:sp>
        <p:nvSpPr>
          <p:cNvPr id="25" name="Shape 23"/>
          <p:cNvSpPr/>
          <p:nvPr/>
        </p:nvSpPr>
        <p:spPr>
          <a:xfrm>
            <a:off x="548640" y="3831336"/>
            <a:ext cx="2377440" cy="384048"/>
          </a:xfrm>
          <a:prstGeom prst="roundRect">
            <a:avLst>
              <a:gd name="adj" fmla="val 19048"/>
            </a:avLst>
          </a:prstGeom>
          <a:solidFill>
            <a:srgbClr val="0D1628"/>
          </a:solidFill>
          <a:ln w="12700">
            <a:solidFill>
              <a:srgbClr val="1DB87A"/>
            </a:solidFill>
            <a:prstDash val="solid"/>
          </a:ln>
        </p:spPr>
      </p:sp>
      <p:sp>
        <p:nvSpPr>
          <p:cNvPr id="26" name="Text 24"/>
          <p:cNvSpPr/>
          <p:nvPr/>
        </p:nvSpPr>
        <p:spPr>
          <a:xfrm>
            <a:off x="548640" y="3831336"/>
            <a:ext cx="2377440" cy="384048"/>
          </a:xfrm>
          <a:prstGeom prst="rect">
            <a:avLst/>
          </a:prstGeom>
          <a:noFill/>
          <a:ln/>
        </p:spPr>
        <p:txBody>
          <a:bodyPr wrap="square" lIns="0" tIns="0" rIns="0" bIns="0" rtlCol="0" anchor="ctr"/>
          <a:lstStyle/>
          <a:p>
            <a:pPr marL="0" indent="0" algn="ctr">
              <a:buNone/>
            </a:pPr>
            <a:r>
              <a:rPr lang="en-US" sz="950" b="1" dirty="0">
                <a:solidFill>
                  <a:srgbClr val="1DB87A"/>
                </a:solidFill>
                <a:latin typeface="Courier New" pitchFamily="34" charset="0"/>
                <a:ea typeface="Courier New" pitchFamily="34" charset="-122"/>
                <a:cs typeface="Courier New" pitchFamily="34" charset="-120"/>
              </a:rPr>
              <a:t>CONFIRMED</a:t>
            </a:r>
            <a:endParaRPr lang="en-US" sz="950" dirty="0"/>
          </a:p>
        </p:txBody>
      </p:sp>
      <p:sp>
        <p:nvSpPr>
          <p:cNvPr id="27" name="Shape 25"/>
          <p:cNvSpPr/>
          <p:nvPr/>
        </p:nvSpPr>
        <p:spPr>
          <a:xfrm>
            <a:off x="548640" y="3831336"/>
            <a:ext cx="1115568" cy="384048"/>
          </a:xfrm>
          <a:prstGeom prst="roundRect">
            <a:avLst>
              <a:gd name="adj" fmla="val 19048"/>
            </a:avLst>
          </a:prstGeom>
          <a:solidFill>
            <a:srgbClr val="0D1628"/>
          </a:solidFill>
          <a:ln w="12700">
            <a:solidFill>
              <a:srgbClr val="1DB87A"/>
            </a:solidFill>
            <a:prstDash val="solid"/>
          </a:ln>
        </p:spPr>
      </p:sp>
      <p:sp>
        <p:nvSpPr>
          <p:cNvPr id="28" name="Text 26"/>
          <p:cNvSpPr/>
          <p:nvPr/>
        </p:nvSpPr>
        <p:spPr>
          <a:xfrm>
            <a:off x="548640" y="3831336"/>
            <a:ext cx="1115568" cy="384048"/>
          </a:xfrm>
          <a:prstGeom prst="rect">
            <a:avLst/>
          </a:prstGeom>
          <a:noFill/>
          <a:ln/>
        </p:spPr>
        <p:txBody>
          <a:bodyPr wrap="square" lIns="0" tIns="0" rIns="0" bIns="0" rtlCol="0" anchor="ctr"/>
          <a:lstStyle/>
          <a:p>
            <a:pPr marL="0" indent="0" algn="ctr">
              <a:buNone/>
            </a:pPr>
            <a:r>
              <a:rPr lang="en-US" sz="850" b="1" dirty="0">
                <a:solidFill>
                  <a:srgbClr val="1DB87A"/>
                </a:solidFill>
                <a:latin typeface="Courier New" pitchFamily="34" charset="0"/>
                <a:ea typeface="Courier New" pitchFamily="34" charset="-122"/>
                <a:cs typeface="Courier New" pitchFamily="34" charset="-120"/>
              </a:rPr>
              <a:t>CONFIRMED</a:t>
            </a:r>
            <a:endParaRPr lang="en-US" sz="850" dirty="0"/>
          </a:p>
        </p:txBody>
      </p:sp>
      <p:sp>
        <p:nvSpPr>
          <p:cNvPr id="29" name="Shape 27"/>
          <p:cNvSpPr/>
          <p:nvPr/>
        </p:nvSpPr>
        <p:spPr>
          <a:xfrm>
            <a:off x="1810512" y="3831336"/>
            <a:ext cx="1115568" cy="384048"/>
          </a:xfrm>
          <a:prstGeom prst="roundRect">
            <a:avLst>
              <a:gd name="adj" fmla="val 19048"/>
            </a:avLst>
          </a:prstGeom>
          <a:solidFill>
            <a:srgbClr val="0D1628"/>
          </a:solidFill>
          <a:ln w="12700">
            <a:solidFill>
              <a:srgbClr val="C0392B"/>
            </a:solidFill>
            <a:prstDash val="solid"/>
          </a:ln>
        </p:spPr>
      </p:sp>
      <p:sp>
        <p:nvSpPr>
          <p:cNvPr id="30" name="Text 28"/>
          <p:cNvSpPr/>
          <p:nvPr/>
        </p:nvSpPr>
        <p:spPr>
          <a:xfrm>
            <a:off x="1810512" y="3831336"/>
            <a:ext cx="1115568" cy="384048"/>
          </a:xfrm>
          <a:prstGeom prst="rect">
            <a:avLst/>
          </a:prstGeom>
          <a:noFill/>
          <a:ln/>
        </p:spPr>
        <p:txBody>
          <a:bodyPr wrap="square" lIns="0" tIns="0" rIns="0" bIns="0" rtlCol="0" anchor="ctr"/>
          <a:lstStyle/>
          <a:p>
            <a:pPr marL="0" indent="0" algn="ctr">
              <a:buNone/>
            </a:pPr>
            <a:r>
              <a:rPr lang="en-US" sz="850" b="1" dirty="0">
                <a:solidFill>
                  <a:srgbClr val="C0392B"/>
                </a:solidFill>
                <a:latin typeface="Courier New" pitchFamily="34" charset="0"/>
                <a:ea typeface="Courier New" pitchFamily="34" charset="-122"/>
                <a:cs typeface="Courier New" pitchFamily="34" charset="-120"/>
              </a:rPr>
              <a:t>CANCELLED</a:t>
            </a:r>
            <a:endParaRPr lang="en-US" sz="850" dirty="0"/>
          </a:p>
        </p:txBody>
      </p:sp>
      <p:sp>
        <p:nvSpPr>
          <p:cNvPr id="31" name="Text 29"/>
          <p:cNvSpPr/>
          <p:nvPr/>
        </p:nvSpPr>
        <p:spPr>
          <a:xfrm>
            <a:off x="594360" y="3191256"/>
            <a:ext cx="2286000" cy="182880"/>
          </a:xfrm>
          <a:prstGeom prst="rect">
            <a:avLst/>
          </a:prstGeom>
          <a:noFill/>
          <a:ln/>
        </p:spPr>
        <p:txBody>
          <a:bodyPr wrap="square" lIns="0" tIns="0" rIns="0" bIns="0" rtlCol="0" anchor="ctr"/>
          <a:lstStyle/>
          <a:p>
            <a:pPr marL="0" indent="0">
              <a:buNone/>
            </a:pPr>
            <a:r>
              <a:rPr lang="en-US" sz="780" dirty="0">
                <a:solidFill>
                  <a:srgbClr val="8FA5BF"/>
                </a:solidFill>
                <a:latin typeface="Calibri" pitchFamily="34" charset="0"/>
                <a:ea typeface="Calibri" pitchFamily="34" charset="-122"/>
                <a:cs typeface="Calibri" pitchFamily="34" charset="-120"/>
              </a:rPr>
              <a:t>↓ trigger fires</a:t>
            </a:r>
            <a:endParaRPr lang="en-US" sz="780" dirty="0"/>
          </a:p>
        </p:txBody>
      </p:sp>
      <p:sp>
        <p:nvSpPr>
          <p:cNvPr id="32" name="Text 30"/>
          <p:cNvSpPr/>
          <p:nvPr/>
        </p:nvSpPr>
        <p:spPr>
          <a:xfrm>
            <a:off x="594360" y="3712464"/>
            <a:ext cx="2286000" cy="182880"/>
          </a:xfrm>
          <a:prstGeom prst="rect">
            <a:avLst/>
          </a:prstGeom>
          <a:noFill/>
          <a:ln/>
        </p:spPr>
        <p:txBody>
          <a:bodyPr wrap="square" lIns="0" tIns="0" rIns="0" bIns="0" rtlCol="0" anchor="ctr"/>
          <a:lstStyle/>
          <a:p>
            <a:pPr marL="0" indent="0">
              <a:buNone/>
            </a:pPr>
            <a:r>
              <a:rPr lang="en-US" sz="780" dirty="0">
                <a:solidFill>
                  <a:srgbClr val="8FA5BF"/>
                </a:solidFill>
                <a:latin typeface="Calibri" pitchFamily="34" charset="0"/>
                <a:ea typeface="Calibri" pitchFamily="34" charset="-122"/>
                <a:cs typeface="Calibri" pitchFamily="34" charset="-120"/>
              </a:rPr>
              <a:t>↓ customer notified</a:t>
            </a:r>
            <a:endParaRPr lang="en-US" sz="780" dirty="0"/>
          </a:p>
        </p:txBody>
      </p:sp>
      <p:sp>
        <p:nvSpPr>
          <p:cNvPr id="33" name="Text 31"/>
          <p:cNvSpPr/>
          <p:nvPr/>
        </p:nvSpPr>
        <p:spPr>
          <a:xfrm>
            <a:off x="594360" y="4224528"/>
            <a:ext cx="2286000" cy="182880"/>
          </a:xfrm>
          <a:prstGeom prst="rect">
            <a:avLst/>
          </a:prstGeom>
          <a:noFill/>
          <a:ln/>
        </p:spPr>
        <p:txBody>
          <a:bodyPr wrap="square" lIns="0" tIns="0" rIns="0" bIns="0" rtlCol="0" anchor="ctr"/>
          <a:lstStyle/>
          <a:p>
            <a:pPr marL="0" indent="0">
              <a:buNone/>
            </a:pPr>
            <a:r>
              <a:rPr lang="en-US" sz="720" dirty="0">
                <a:solidFill>
                  <a:srgbClr val="8FA5BF"/>
                </a:solidFill>
                <a:latin typeface="Calibri" pitchFamily="34" charset="0"/>
                <a:ea typeface="Calibri" pitchFamily="34" charset="-122"/>
                <a:cs typeface="Calibri" pitchFamily="34" charset="-120"/>
              </a:rPr>
              <a:t>confirm ↓   ↓ cancel</a:t>
            </a:r>
            <a:endParaRPr lang="en-US" sz="720" dirty="0"/>
          </a:p>
        </p:txBody>
      </p:sp>
      <p:sp>
        <p:nvSpPr>
          <p:cNvPr id="34" name="Shape 32"/>
          <p:cNvSpPr/>
          <p:nvPr/>
        </p:nvSpPr>
        <p:spPr>
          <a:xfrm>
            <a:off x="3291840" y="2359152"/>
            <a:ext cx="5623560" cy="2578608"/>
          </a:xfrm>
          <a:prstGeom prst="roundRect">
            <a:avLst>
              <a:gd name="adj" fmla="val 3546"/>
            </a:avLst>
          </a:prstGeom>
          <a:solidFill>
            <a:srgbClr val="0D1117"/>
          </a:solidFill>
          <a:ln w="12700">
            <a:solidFill>
              <a:srgbClr val="30363D"/>
            </a:solidFill>
            <a:prstDash val="solid"/>
          </a:ln>
        </p:spPr>
      </p:sp>
      <p:sp>
        <p:nvSpPr>
          <p:cNvPr id="35" name="Text 33"/>
          <p:cNvSpPr/>
          <p:nvPr/>
        </p:nvSpPr>
        <p:spPr>
          <a:xfrm>
            <a:off x="3383280" y="2468880"/>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1</a:t>
            </a:r>
            <a:endParaRPr lang="en-US" sz="630" dirty="0"/>
          </a:p>
        </p:txBody>
      </p:sp>
      <p:sp>
        <p:nvSpPr>
          <p:cNvPr id="36" name="Text 34"/>
          <p:cNvSpPr/>
          <p:nvPr/>
        </p:nvSpPr>
        <p:spPr>
          <a:xfrm>
            <a:off x="3675888" y="2468880"/>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func (c *CoolingOff) InitiateHold(</a:t>
            </a:r>
            <a:endParaRPr lang="en-US" sz="730" dirty="0"/>
          </a:p>
        </p:txBody>
      </p:sp>
      <p:sp>
        <p:nvSpPr>
          <p:cNvPr id="37" name="Text 35"/>
          <p:cNvSpPr/>
          <p:nvPr/>
        </p:nvSpPr>
        <p:spPr>
          <a:xfrm>
            <a:off x="3383280" y="2706624"/>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2</a:t>
            </a:r>
            <a:endParaRPr lang="en-US" sz="630" dirty="0"/>
          </a:p>
        </p:txBody>
      </p:sp>
      <p:sp>
        <p:nvSpPr>
          <p:cNvPr id="38" name="Text 36"/>
          <p:cNvSpPr/>
          <p:nvPr/>
        </p:nvSpPr>
        <p:spPr>
          <a:xfrm>
            <a:off x="3675888" y="2706624"/>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ctx contractapi.TransactionContextInterface,</a:t>
            </a:r>
            <a:endParaRPr lang="en-US" sz="730" dirty="0"/>
          </a:p>
        </p:txBody>
      </p:sp>
      <p:sp>
        <p:nvSpPr>
          <p:cNvPr id="39" name="Text 37"/>
          <p:cNvSpPr/>
          <p:nvPr/>
        </p:nvSpPr>
        <p:spPr>
          <a:xfrm>
            <a:off x="3383280" y="2944368"/>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3</a:t>
            </a:r>
            <a:endParaRPr lang="en-US" sz="630" dirty="0"/>
          </a:p>
        </p:txBody>
      </p:sp>
      <p:sp>
        <p:nvSpPr>
          <p:cNvPr id="40" name="Text 38"/>
          <p:cNvSpPr/>
          <p:nvPr/>
        </p:nvSpPr>
        <p:spPr>
          <a:xfrm>
            <a:off x="3675888" y="2944368"/>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txID, customerHash, payeeHash string,</a:t>
            </a:r>
            <a:endParaRPr lang="en-US" sz="730" dirty="0"/>
          </a:p>
        </p:txBody>
      </p:sp>
      <p:sp>
        <p:nvSpPr>
          <p:cNvPr id="41" name="Text 39"/>
          <p:cNvSpPr/>
          <p:nvPr/>
        </p:nvSpPr>
        <p:spPr>
          <a:xfrm>
            <a:off x="3383280" y="3182112"/>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4</a:t>
            </a:r>
            <a:endParaRPr lang="en-US" sz="630" dirty="0"/>
          </a:p>
        </p:txBody>
      </p:sp>
      <p:sp>
        <p:nvSpPr>
          <p:cNvPr id="42" name="Text 40"/>
          <p:cNvSpPr/>
          <p:nvPr/>
        </p:nvSpPr>
        <p:spPr>
          <a:xfrm>
            <a:off x="3675888" y="3182112"/>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amountPence int64, newPayee, newDevice bool,</a:t>
            </a:r>
            <a:endParaRPr lang="en-US" sz="730" dirty="0"/>
          </a:p>
        </p:txBody>
      </p:sp>
      <p:sp>
        <p:nvSpPr>
          <p:cNvPr id="43" name="Text 41"/>
          <p:cNvSpPr/>
          <p:nvPr/>
        </p:nvSpPr>
        <p:spPr>
          <a:xfrm>
            <a:off x="3383280" y="3419856"/>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5</a:t>
            </a:r>
            <a:endParaRPr lang="en-US" sz="630" dirty="0"/>
          </a:p>
        </p:txBody>
      </p:sp>
      <p:sp>
        <p:nvSpPr>
          <p:cNvPr id="44" name="Text 42"/>
          <p:cNvSpPr/>
          <p:nvPr/>
        </p:nvSpPr>
        <p:spPr>
          <a:xfrm>
            <a:off x="3675888" y="3419856"/>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velocityBreach bool,</a:t>
            </a:r>
            <a:endParaRPr lang="en-US" sz="730" dirty="0"/>
          </a:p>
        </p:txBody>
      </p:sp>
      <p:sp>
        <p:nvSpPr>
          <p:cNvPr id="45" name="Text 43"/>
          <p:cNvSpPr/>
          <p:nvPr/>
        </p:nvSpPr>
        <p:spPr>
          <a:xfrm>
            <a:off x="3383280" y="3657600"/>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6</a:t>
            </a:r>
            <a:endParaRPr lang="en-US" sz="630" dirty="0"/>
          </a:p>
        </p:txBody>
      </p:sp>
      <p:sp>
        <p:nvSpPr>
          <p:cNvPr id="46" name="Text 44"/>
          <p:cNvSpPr/>
          <p:nvPr/>
        </p:nvSpPr>
        <p:spPr>
          <a:xfrm>
            <a:off x="3675888" y="3657600"/>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(*HoldRecord, error) {</a:t>
            </a:r>
            <a:endParaRPr lang="en-US" sz="730" dirty="0"/>
          </a:p>
        </p:txBody>
      </p:sp>
      <p:sp>
        <p:nvSpPr>
          <p:cNvPr id="47" name="Text 45"/>
          <p:cNvSpPr/>
          <p:nvPr/>
        </p:nvSpPr>
        <p:spPr>
          <a:xfrm>
            <a:off x="3383280" y="3895344"/>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7</a:t>
            </a:r>
            <a:endParaRPr lang="en-US" sz="630" dirty="0"/>
          </a:p>
        </p:txBody>
      </p:sp>
      <p:sp>
        <p:nvSpPr>
          <p:cNvPr id="48" name="Text 46"/>
          <p:cNvSpPr/>
          <p:nvPr/>
        </p:nvSpPr>
        <p:spPr>
          <a:xfrm>
            <a:off x="3675888" y="3895344"/>
            <a:ext cx="5148072" cy="219456"/>
          </a:xfrm>
          <a:prstGeom prst="rect">
            <a:avLst/>
          </a:prstGeom>
          <a:noFill/>
          <a:ln/>
        </p:spPr>
        <p:txBody>
          <a:bodyPr wrap="square" lIns="0" tIns="0" rIns="0" bIns="0" rtlCol="0" anchor="ctr"/>
          <a:lstStyle/>
          <a:p>
            <a:pPr marL="0" indent="0">
              <a:buNone/>
            </a:pPr>
            <a:endParaRPr lang="en-US" sz="730" dirty="0"/>
          </a:p>
        </p:txBody>
      </p:sp>
      <p:sp>
        <p:nvSpPr>
          <p:cNvPr id="49" name="Text 47"/>
          <p:cNvSpPr/>
          <p:nvPr/>
        </p:nvSpPr>
        <p:spPr>
          <a:xfrm>
            <a:off x="3383280" y="4133088"/>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8</a:t>
            </a:r>
            <a:endParaRPr lang="en-US" sz="630" dirty="0"/>
          </a:p>
        </p:txBody>
      </p:sp>
      <p:sp>
        <p:nvSpPr>
          <p:cNvPr id="50" name="Text 48"/>
          <p:cNvSpPr/>
          <p:nvPr/>
        </p:nvSpPr>
        <p:spPr>
          <a:xfrm>
            <a:off x="3675888" y="4133088"/>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holdDuration := c.calculateHoldDuration(</a:t>
            </a:r>
            <a:endParaRPr lang="en-US" sz="730" dirty="0"/>
          </a:p>
        </p:txBody>
      </p:sp>
      <p:sp>
        <p:nvSpPr>
          <p:cNvPr id="51" name="Text 49"/>
          <p:cNvSpPr/>
          <p:nvPr/>
        </p:nvSpPr>
        <p:spPr>
          <a:xfrm>
            <a:off x="3383280" y="4370832"/>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9</a:t>
            </a:r>
            <a:endParaRPr lang="en-US" sz="630" dirty="0"/>
          </a:p>
        </p:txBody>
      </p:sp>
      <p:sp>
        <p:nvSpPr>
          <p:cNvPr id="52" name="Text 50"/>
          <p:cNvSpPr/>
          <p:nvPr/>
        </p:nvSpPr>
        <p:spPr>
          <a:xfrm>
            <a:off x="3675888" y="4370832"/>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amountPence, newPayee, newDevice, velocityBreach)</a:t>
            </a:r>
            <a:endParaRPr lang="en-US" sz="730" dirty="0"/>
          </a:p>
        </p:txBody>
      </p:sp>
      <p:sp>
        <p:nvSpPr>
          <p:cNvPr id="53" name="Text 51"/>
          <p:cNvSpPr/>
          <p:nvPr/>
        </p:nvSpPr>
        <p:spPr>
          <a:xfrm>
            <a:off x="3383280" y="4608576"/>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10</a:t>
            </a:r>
            <a:endParaRPr lang="en-US" sz="630" dirty="0"/>
          </a:p>
        </p:txBody>
      </p:sp>
      <p:sp>
        <p:nvSpPr>
          <p:cNvPr id="54" name="Text 52"/>
          <p:cNvSpPr/>
          <p:nvPr/>
        </p:nvSpPr>
        <p:spPr>
          <a:xfrm>
            <a:off x="3675888" y="4608576"/>
            <a:ext cx="514807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if holdDuration == 0 {</a:t>
            </a:r>
            <a:endParaRPr lang="en-US" sz="7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D3A"/>
          </a:solidFill>
          <a:ln w="12700">
            <a:solidFill>
              <a:srgbClr val="0B1D3A"/>
            </a:solidFill>
            <a:prstDash val="solid"/>
          </a:ln>
        </p:spPr>
      </p:sp>
      <p:sp>
        <p:nvSpPr>
          <p:cNvPr id="3" name="Text 1"/>
          <p:cNvSpPr/>
          <p:nvPr/>
        </p:nvSpPr>
        <p:spPr>
          <a:xfrm>
            <a:off x="365760" y="91440"/>
            <a:ext cx="841248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SC-04  ·  CHAINCODE SPECIFICATION</a:t>
            </a:r>
            <a:endParaRPr lang="en-US" sz="1000" dirty="0"/>
          </a:p>
        </p:txBody>
      </p:sp>
      <p:sp>
        <p:nvSpPr>
          <p:cNvPr id="4" name="Text 2"/>
          <p:cNvSpPr/>
          <p:nvPr/>
        </p:nvSpPr>
        <p:spPr>
          <a:xfrm>
            <a:off x="365760" y="438912"/>
            <a:ext cx="8412480" cy="402336"/>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MultiSigApproval — Dual-Signature Gate for High-Value Transfers</a:t>
            </a:r>
            <a:endParaRPr lang="en-US" sz="1700" dirty="0"/>
          </a:p>
        </p:txBody>
      </p:sp>
      <p:sp>
        <p:nvSpPr>
          <p:cNvPr id="5" name="Shape 3"/>
          <p:cNvSpPr/>
          <p:nvPr/>
        </p:nvSpPr>
        <p:spPr>
          <a:xfrm>
            <a:off x="228600" y="1024128"/>
            <a:ext cx="8686800" cy="749808"/>
          </a:xfrm>
          <a:prstGeom prst="roundRect">
            <a:avLst>
              <a:gd name="adj" fmla="val 12195"/>
            </a:avLst>
          </a:prstGeom>
          <a:solidFill>
            <a:srgbClr val="EEF4FF"/>
          </a:solidFill>
          <a:ln w="12700">
            <a:solidFill>
              <a:srgbClr val="7B2FBE"/>
            </a:solidFill>
            <a:prstDash val="solid"/>
          </a:ln>
        </p:spPr>
      </p:sp>
      <p:sp>
        <p:nvSpPr>
          <p:cNvPr id="6" name="Text 4"/>
          <p:cNvSpPr/>
          <p:nvPr/>
        </p:nvSpPr>
        <p:spPr>
          <a:xfrm>
            <a:off x="411480" y="1078992"/>
            <a:ext cx="1828800" cy="256032"/>
          </a:xfrm>
          <a:prstGeom prst="rect">
            <a:avLst/>
          </a:prstGeom>
          <a:noFill/>
          <a:ln/>
        </p:spPr>
        <p:txBody>
          <a:bodyPr wrap="square" lIns="0" tIns="0" rIns="0" bIns="0" rtlCol="0" anchor="ctr"/>
          <a:lstStyle/>
          <a:p>
            <a:pPr marL="0" indent="0">
              <a:buNone/>
            </a:pPr>
            <a:r>
              <a:rPr lang="en-US" sz="850" b="1" kern="0" spc="100" dirty="0">
                <a:solidFill>
                  <a:srgbClr val="7B2FBE"/>
                </a:solidFill>
                <a:latin typeface="Calibri" pitchFamily="34" charset="0"/>
                <a:ea typeface="Calibri" pitchFamily="34" charset="-122"/>
                <a:cs typeface="Calibri" pitchFamily="34" charset="-120"/>
              </a:rPr>
              <a:t>HOW IT WORKS</a:t>
            </a:r>
            <a:endParaRPr lang="en-US" sz="850" dirty="0"/>
          </a:p>
        </p:txBody>
      </p:sp>
      <p:sp>
        <p:nvSpPr>
          <p:cNvPr id="7" name="Text 5"/>
          <p:cNvSpPr/>
          <p:nvPr/>
        </p:nvSpPr>
        <p:spPr>
          <a:xfrm>
            <a:off x="384048" y="1353312"/>
            <a:ext cx="1365504" cy="347472"/>
          </a:xfrm>
          <a:prstGeom prst="rect">
            <a:avLst/>
          </a:prstGeom>
          <a:noFill/>
          <a:ln/>
        </p:spPr>
        <p:txBody>
          <a:bodyPr wrap="square" lIns="0" tIns="0" rIns="0" bIns="0" rtlCol="0" anchor="ctr"/>
          <a:lstStyle/>
          <a:p>
            <a:pPr marL="0" indent="0" algn="ctr">
              <a:buNone/>
            </a:pPr>
            <a:r>
              <a:rPr lang="en-US" sz="800" dirty="0">
                <a:solidFill>
                  <a:srgbClr val="2D3A5A"/>
                </a:solidFill>
                <a:latin typeface="Calibri" pitchFamily="34" charset="0"/>
                <a:ea typeface="Calibri" pitchFamily="34" charset="-122"/>
                <a:cs typeface="Calibri" pitchFamily="34" charset="-120"/>
              </a:rPr>
              <a:t>① SC-05 triggers multi-sig for amount &gt; £50,000</a:t>
            </a:r>
            <a:endParaRPr lang="en-US" sz="800" dirty="0"/>
          </a:p>
        </p:txBody>
      </p:sp>
      <p:sp>
        <p:nvSpPr>
          <p:cNvPr id="8" name="Text 6"/>
          <p:cNvSpPr/>
          <p:nvPr/>
        </p:nvSpPr>
        <p:spPr>
          <a:xfrm>
            <a:off x="1795272" y="1353312"/>
            <a:ext cx="1365504" cy="347472"/>
          </a:xfrm>
          <a:prstGeom prst="rect">
            <a:avLst/>
          </a:prstGeom>
          <a:noFill/>
          <a:ln/>
        </p:spPr>
        <p:txBody>
          <a:bodyPr wrap="square" lIns="0" tIns="0" rIns="0" bIns="0" rtlCol="0" anchor="ctr"/>
          <a:lstStyle/>
          <a:p>
            <a:pPr marL="0" indent="0" algn="ctr">
              <a:buNone/>
            </a:pPr>
            <a:r>
              <a:rPr lang="en-US" sz="800" dirty="0">
                <a:solidFill>
                  <a:srgbClr val="2D3A5A"/>
                </a:solidFill>
                <a:latin typeface="Calibri" pitchFamily="34" charset="0"/>
                <a:ea typeface="Calibri" pitchFamily="34" charset="-122"/>
                <a:cs typeface="Calibri" pitchFamily="34" charset="-120"/>
              </a:rPr>
              <a:t>② Bank generates approval request + nonce, writes to ledger</a:t>
            </a:r>
            <a:endParaRPr lang="en-US" sz="800" dirty="0"/>
          </a:p>
        </p:txBody>
      </p:sp>
      <p:sp>
        <p:nvSpPr>
          <p:cNvPr id="9" name="Text 7"/>
          <p:cNvSpPr/>
          <p:nvPr/>
        </p:nvSpPr>
        <p:spPr>
          <a:xfrm>
            <a:off x="3206496" y="1353312"/>
            <a:ext cx="1365504" cy="347472"/>
          </a:xfrm>
          <a:prstGeom prst="rect">
            <a:avLst/>
          </a:prstGeom>
          <a:noFill/>
          <a:ln/>
        </p:spPr>
        <p:txBody>
          <a:bodyPr wrap="square" lIns="0" tIns="0" rIns="0" bIns="0" rtlCol="0" anchor="ctr"/>
          <a:lstStyle/>
          <a:p>
            <a:pPr marL="0" indent="0" algn="ctr">
              <a:buNone/>
            </a:pPr>
            <a:r>
              <a:rPr lang="en-US" sz="800" dirty="0">
                <a:solidFill>
                  <a:srgbClr val="2D3A5A"/>
                </a:solidFill>
                <a:latin typeface="Calibri" pitchFamily="34" charset="0"/>
                <a:ea typeface="Calibri" pitchFamily="34" charset="-122"/>
                <a:cs typeface="Calibri" pitchFamily="34" charset="-120"/>
              </a:rPr>
              <a:t>③ Customer signs nonce with Signature 1 (primary device Secure Enclave / Android Keystore)</a:t>
            </a:r>
            <a:endParaRPr lang="en-US" sz="800" dirty="0"/>
          </a:p>
        </p:txBody>
      </p:sp>
      <p:sp>
        <p:nvSpPr>
          <p:cNvPr id="10" name="Text 8"/>
          <p:cNvSpPr/>
          <p:nvPr/>
        </p:nvSpPr>
        <p:spPr>
          <a:xfrm>
            <a:off x="4617720" y="1353312"/>
            <a:ext cx="1365504" cy="347472"/>
          </a:xfrm>
          <a:prstGeom prst="rect">
            <a:avLst/>
          </a:prstGeom>
          <a:noFill/>
          <a:ln/>
        </p:spPr>
        <p:txBody>
          <a:bodyPr wrap="square" lIns="0" tIns="0" rIns="0" bIns="0" rtlCol="0" anchor="ctr"/>
          <a:lstStyle/>
          <a:p>
            <a:pPr marL="0" indent="0" algn="ctr">
              <a:buNone/>
            </a:pPr>
            <a:r>
              <a:rPr lang="en-US" sz="800" dirty="0">
                <a:solidFill>
                  <a:srgbClr val="2D3A5A"/>
                </a:solidFill>
                <a:latin typeface="Calibri" pitchFamily="34" charset="0"/>
                <a:ea typeface="Calibri" pitchFamily="34" charset="-122"/>
                <a:cs typeface="Calibri" pitchFamily="34" charset="-120"/>
              </a:rPr>
              <a:t>④ Second factor signs: registered secondary device OR bank fraud analyst token</a:t>
            </a:r>
            <a:endParaRPr lang="en-US" sz="800" dirty="0"/>
          </a:p>
        </p:txBody>
      </p:sp>
      <p:sp>
        <p:nvSpPr>
          <p:cNvPr id="11" name="Text 9"/>
          <p:cNvSpPr/>
          <p:nvPr/>
        </p:nvSpPr>
        <p:spPr>
          <a:xfrm>
            <a:off x="6028944" y="1353312"/>
            <a:ext cx="1365504" cy="347472"/>
          </a:xfrm>
          <a:prstGeom prst="rect">
            <a:avLst/>
          </a:prstGeom>
          <a:noFill/>
          <a:ln/>
        </p:spPr>
        <p:txBody>
          <a:bodyPr wrap="square" lIns="0" tIns="0" rIns="0" bIns="0" rtlCol="0" anchor="ctr"/>
          <a:lstStyle/>
          <a:p>
            <a:pPr marL="0" indent="0" algn="ctr">
              <a:buNone/>
            </a:pPr>
            <a:r>
              <a:rPr lang="en-US" sz="800" dirty="0">
                <a:solidFill>
                  <a:srgbClr val="2D3A5A"/>
                </a:solidFill>
                <a:latin typeface="Calibri" pitchFamily="34" charset="0"/>
                <a:ea typeface="Calibri" pitchFamily="34" charset="-122"/>
                <a:cs typeface="Calibri" pitchFamily="34" charset="-120"/>
              </a:rPr>
              <a:t>⑤ Both signatures verified on-chain against customer's enrolled public keys</a:t>
            </a:r>
            <a:endParaRPr lang="en-US" sz="800" dirty="0"/>
          </a:p>
        </p:txBody>
      </p:sp>
      <p:sp>
        <p:nvSpPr>
          <p:cNvPr id="12" name="Text 10"/>
          <p:cNvSpPr/>
          <p:nvPr/>
        </p:nvSpPr>
        <p:spPr>
          <a:xfrm>
            <a:off x="7440168" y="1353312"/>
            <a:ext cx="1365504" cy="347472"/>
          </a:xfrm>
          <a:prstGeom prst="rect">
            <a:avLst/>
          </a:prstGeom>
          <a:noFill/>
          <a:ln/>
        </p:spPr>
        <p:txBody>
          <a:bodyPr wrap="square" lIns="0" tIns="0" rIns="0" bIns="0" rtlCol="0" anchor="ctr"/>
          <a:lstStyle/>
          <a:p>
            <a:pPr marL="0" indent="0" algn="ctr">
              <a:buNone/>
            </a:pPr>
            <a:r>
              <a:rPr lang="en-US" sz="800" dirty="0">
                <a:solidFill>
                  <a:srgbClr val="2D3A5A"/>
                </a:solidFill>
                <a:latin typeface="Calibri" pitchFamily="34" charset="0"/>
                <a:ea typeface="Calibri" pitchFamily="34" charset="-122"/>
                <a:cs typeface="Calibri" pitchFamily="34" charset="-120"/>
              </a:rPr>
              <a:t>⑥ If both valid → CONFIRMED state. Payment released to Faster Payments</a:t>
            </a:r>
            <a:endParaRPr lang="en-US" sz="800" dirty="0"/>
          </a:p>
        </p:txBody>
      </p:sp>
      <p:sp>
        <p:nvSpPr>
          <p:cNvPr id="13" name="Shape 11"/>
          <p:cNvSpPr/>
          <p:nvPr/>
        </p:nvSpPr>
        <p:spPr>
          <a:xfrm>
            <a:off x="228600" y="1874520"/>
            <a:ext cx="2834640" cy="3108960"/>
          </a:xfrm>
          <a:prstGeom prst="roundRect">
            <a:avLst>
              <a:gd name="adj" fmla="val 3226"/>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14" name="Text 12"/>
          <p:cNvSpPr/>
          <p:nvPr/>
        </p:nvSpPr>
        <p:spPr>
          <a:xfrm>
            <a:off x="384048" y="1947672"/>
            <a:ext cx="2542032" cy="274320"/>
          </a:xfrm>
          <a:prstGeom prst="rect">
            <a:avLst/>
          </a:prstGeom>
          <a:noFill/>
          <a:ln/>
        </p:spPr>
        <p:txBody>
          <a:bodyPr wrap="square" lIns="0" tIns="0" rIns="0" bIns="0" rtlCol="0" anchor="ctr"/>
          <a:lstStyle/>
          <a:p>
            <a:pPr marL="0" indent="0">
              <a:buNone/>
            </a:pPr>
            <a:r>
              <a:rPr lang="en-US" sz="850" b="1" kern="0" spc="100" dirty="0">
                <a:solidFill>
                  <a:srgbClr val="7B2FBE"/>
                </a:solidFill>
                <a:latin typeface="Calibri" pitchFamily="34" charset="0"/>
                <a:ea typeface="Calibri" pitchFamily="34" charset="-122"/>
                <a:cs typeface="Calibri" pitchFamily="34" charset="-120"/>
              </a:rPr>
              <a:t>APPROVAL RECORD SCHEMA</a:t>
            </a:r>
            <a:endParaRPr lang="en-US" sz="850" dirty="0"/>
          </a:p>
        </p:txBody>
      </p:sp>
      <p:sp>
        <p:nvSpPr>
          <p:cNvPr id="15" name="Text 13"/>
          <p:cNvSpPr/>
          <p:nvPr/>
        </p:nvSpPr>
        <p:spPr>
          <a:xfrm>
            <a:off x="347472" y="2286000"/>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RequestID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UUID of approval request</a:t>
            </a:r>
            <a:endParaRPr lang="en-US" sz="780" dirty="0"/>
          </a:p>
        </p:txBody>
      </p:sp>
      <p:sp>
        <p:nvSpPr>
          <p:cNvPr id="16" name="Text 14"/>
          <p:cNvSpPr/>
          <p:nvPr/>
        </p:nvSpPr>
        <p:spPr>
          <a:xfrm>
            <a:off x="347472" y="2523744"/>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TxID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Payment transaction reference</a:t>
            </a:r>
            <a:endParaRPr lang="en-US" sz="780" dirty="0"/>
          </a:p>
        </p:txBody>
      </p:sp>
      <p:sp>
        <p:nvSpPr>
          <p:cNvPr id="17" name="Text 15"/>
          <p:cNvSpPr/>
          <p:nvPr/>
        </p:nvSpPr>
        <p:spPr>
          <a:xfrm>
            <a:off x="347472" y="2761488"/>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CustomerHash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Hashed customer identifier</a:t>
            </a:r>
            <a:endParaRPr lang="en-US" sz="780" dirty="0"/>
          </a:p>
        </p:txBody>
      </p:sp>
      <p:sp>
        <p:nvSpPr>
          <p:cNvPr id="18" name="Text 16"/>
          <p:cNvSpPr/>
          <p:nvPr/>
        </p:nvSpPr>
        <p:spPr>
          <a:xfrm>
            <a:off x="347472" y="2999232"/>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AmountPence   </a:t>
            </a:r>
            <a:r>
              <a:rPr lang="en-US" sz="750" dirty="0">
                <a:solidFill>
                  <a:srgbClr val="2980B9"/>
                </a:solidFill>
                <a:latin typeface="Courier New" pitchFamily="34" charset="0"/>
                <a:ea typeface="Courier New" pitchFamily="34" charset="-122"/>
                <a:cs typeface="Courier New" pitchFamily="34" charset="-120"/>
              </a:rPr>
              <a:t>int64  </a:t>
            </a:r>
            <a:r>
              <a:rPr lang="en-US" sz="720" dirty="0">
                <a:solidFill>
                  <a:srgbClr val="4A5568"/>
                </a:solidFill>
                <a:latin typeface="Calibri" pitchFamily="34" charset="0"/>
                <a:ea typeface="Calibri" pitchFamily="34" charset="-122"/>
                <a:cs typeface="Calibri" pitchFamily="34" charset="-120"/>
              </a:rPr>
              <a:t>Transfer amount in pence</a:t>
            </a:r>
            <a:endParaRPr lang="en-US" sz="780" dirty="0"/>
          </a:p>
        </p:txBody>
      </p:sp>
      <p:sp>
        <p:nvSpPr>
          <p:cNvPr id="19" name="Text 17"/>
          <p:cNvSpPr/>
          <p:nvPr/>
        </p:nvSpPr>
        <p:spPr>
          <a:xfrm>
            <a:off x="347472" y="3236976"/>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Nonce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32-byte random challenge value</a:t>
            </a:r>
            <a:endParaRPr lang="en-US" sz="780" dirty="0"/>
          </a:p>
        </p:txBody>
      </p:sp>
      <p:sp>
        <p:nvSpPr>
          <p:cNvPr id="20" name="Text 18"/>
          <p:cNvSpPr/>
          <p:nvPr/>
        </p:nvSpPr>
        <p:spPr>
          <a:xfrm>
            <a:off x="347472" y="3474720"/>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PubKey1Hash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Hash of primary device public key</a:t>
            </a:r>
            <a:endParaRPr lang="en-US" sz="780" dirty="0"/>
          </a:p>
        </p:txBody>
      </p:sp>
      <p:sp>
        <p:nvSpPr>
          <p:cNvPr id="21" name="Text 19"/>
          <p:cNvSpPr/>
          <p:nvPr/>
        </p:nvSpPr>
        <p:spPr>
          <a:xfrm>
            <a:off x="347472" y="3712464"/>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Sig1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Ed25519 signature from primary device</a:t>
            </a:r>
            <a:endParaRPr lang="en-US" sz="780" dirty="0"/>
          </a:p>
        </p:txBody>
      </p:sp>
      <p:sp>
        <p:nvSpPr>
          <p:cNvPr id="22" name="Text 20"/>
          <p:cNvSpPr/>
          <p:nvPr/>
        </p:nvSpPr>
        <p:spPr>
          <a:xfrm>
            <a:off x="347472" y="3950208"/>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PubKey2Hash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Hash of second-factor public key</a:t>
            </a:r>
            <a:endParaRPr lang="en-US" sz="780" dirty="0"/>
          </a:p>
        </p:txBody>
      </p:sp>
      <p:sp>
        <p:nvSpPr>
          <p:cNvPr id="23" name="Text 21"/>
          <p:cNvSpPr/>
          <p:nvPr/>
        </p:nvSpPr>
        <p:spPr>
          <a:xfrm>
            <a:off x="347472" y="4187952"/>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Sig2          </a:t>
            </a:r>
            <a:r>
              <a:rPr lang="en-US" sz="750" dirty="0">
                <a:solidFill>
                  <a:srgbClr val="2980B9"/>
                </a:solidFill>
                <a:latin typeface="Courier New" pitchFamily="34" charset="0"/>
                <a:ea typeface="Courier New" pitchFamily="34" charset="-122"/>
                <a:cs typeface="Courier New" pitchFamily="34" charset="-120"/>
              </a:rPr>
              <a:t>string </a:t>
            </a:r>
            <a:r>
              <a:rPr lang="en-US" sz="720" dirty="0">
                <a:solidFill>
                  <a:srgbClr val="4A5568"/>
                </a:solidFill>
                <a:latin typeface="Calibri" pitchFamily="34" charset="0"/>
                <a:ea typeface="Calibri" pitchFamily="34" charset="-122"/>
                <a:cs typeface="Calibri" pitchFamily="34" charset="-120"/>
              </a:rPr>
              <a:t>Ed25519 signature from second factor</a:t>
            </a:r>
            <a:endParaRPr lang="en-US" sz="780" dirty="0"/>
          </a:p>
        </p:txBody>
      </p:sp>
      <p:sp>
        <p:nvSpPr>
          <p:cNvPr id="24" name="Text 22"/>
          <p:cNvSpPr/>
          <p:nvPr/>
        </p:nvSpPr>
        <p:spPr>
          <a:xfrm>
            <a:off x="347472" y="4425696"/>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State         </a:t>
            </a:r>
            <a:r>
              <a:rPr lang="en-US" sz="750" dirty="0">
                <a:solidFill>
                  <a:srgbClr val="2980B9"/>
                </a:solidFill>
                <a:latin typeface="Courier New" pitchFamily="34" charset="0"/>
                <a:ea typeface="Courier New" pitchFamily="34" charset="-122"/>
                <a:cs typeface="Courier New" pitchFamily="34" charset="-120"/>
              </a:rPr>
              <a:t>enum   </a:t>
            </a:r>
            <a:r>
              <a:rPr lang="en-US" sz="720" dirty="0">
                <a:solidFill>
                  <a:srgbClr val="4A5568"/>
                </a:solidFill>
                <a:latin typeface="Calibri" pitchFamily="34" charset="0"/>
                <a:ea typeface="Calibri" pitchFamily="34" charset="-122"/>
                <a:cs typeface="Calibri" pitchFamily="34" charset="-120"/>
              </a:rPr>
              <a:t>AWAITING_SIG1 | AWAITING_SIG2 | APPROVED | REJECTED</a:t>
            </a:r>
            <a:endParaRPr lang="en-US" sz="780" dirty="0"/>
          </a:p>
        </p:txBody>
      </p:sp>
      <p:sp>
        <p:nvSpPr>
          <p:cNvPr id="25" name="Text 23"/>
          <p:cNvSpPr/>
          <p:nvPr/>
        </p:nvSpPr>
        <p:spPr>
          <a:xfrm>
            <a:off x="347472" y="4663440"/>
            <a:ext cx="2651760" cy="228600"/>
          </a:xfrm>
          <a:prstGeom prst="rect">
            <a:avLst/>
          </a:prstGeom>
          <a:noFill/>
          <a:ln/>
        </p:spPr>
        <p:txBody>
          <a:bodyPr wrap="square" lIns="0" tIns="0" rIns="0" bIns="0" rtlCol="0" anchor="ctr"/>
          <a:lstStyle/>
          <a:p>
            <a:pPr marL="0" indent="0">
              <a:buNone/>
            </a:pPr>
            <a:r>
              <a:rPr lang="en-US" sz="780" b="1" dirty="0">
                <a:solidFill>
                  <a:srgbClr val="7B2FBE"/>
                </a:solidFill>
                <a:latin typeface="Courier New" pitchFamily="34" charset="0"/>
                <a:ea typeface="Courier New" pitchFamily="34" charset="-122"/>
                <a:cs typeface="Courier New" pitchFamily="34" charset="-120"/>
              </a:rPr>
              <a:t>ExpiresAt     </a:t>
            </a:r>
            <a:r>
              <a:rPr lang="en-US" sz="750" dirty="0">
                <a:solidFill>
                  <a:srgbClr val="2980B9"/>
                </a:solidFill>
                <a:latin typeface="Courier New" pitchFamily="34" charset="0"/>
                <a:ea typeface="Courier New" pitchFamily="34" charset="-122"/>
                <a:cs typeface="Courier New" pitchFamily="34" charset="-120"/>
              </a:rPr>
              <a:t>int64  </a:t>
            </a:r>
            <a:r>
              <a:rPr lang="en-US" sz="720" dirty="0">
                <a:solidFill>
                  <a:srgbClr val="4A5568"/>
                </a:solidFill>
                <a:latin typeface="Calibri" pitchFamily="34" charset="0"/>
                <a:ea typeface="Calibri" pitchFamily="34" charset="-122"/>
                <a:cs typeface="Calibri" pitchFamily="34" charset="-120"/>
              </a:rPr>
              <a:t>Hard expiry (default 30 min)</a:t>
            </a:r>
            <a:endParaRPr lang="en-US" sz="780" dirty="0"/>
          </a:p>
        </p:txBody>
      </p:sp>
      <p:sp>
        <p:nvSpPr>
          <p:cNvPr id="26" name="Shape 24"/>
          <p:cNvSpPr/>
          <p:nvPr/>
        </p:nvSpPr>
        <p:spPr>
          <a:xfrm>
            <a:off x="3200400" y="1874520"/>
            <a:ext cx="5715000" cy="3108960"/>
          </a:xfrm>
          <a:prstGeom prst="roundRect">
            <a:avLst>
              <a:gd name="adj" fmla="val 2941"/>
            </a:avLst>
          </a:prstGeom>
          <a:solidFill>
            <a:srgbClr val="0D1117"/>
          </a:solidFill>
          <a:ln w="12700">
            <a:solidFill>
              <a:srgbClr val="30363D"/>
            </a:solidFill>
            <a:prstDash val="solid"/>
          </a:ln>
        </p:spPr>
      </p:sp>
      <p:sp>
        <p:nvSpPr>
          <p:cNvPr id="27" name="Text 25"/>
          <p:cNvSpPr/>
          <p:nvPr/>
        </p:nvSpPr>
        <p:spPr>
          <a:xfrm>
            <a:off x="3291840" y="1984248"/>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1</a:t>
            </a:r>
            <a:endParaRPr lang="en-US" sz="630" dirty="0"/>
          </a:p>
        </p:txBody>
      </p:sp>
      <p:sp>
        <p:nvSpPr>
          <p:cNvPr id="28" name="Text 26"/>
          <p:cNvSpPr/>
          <p:nvPr/>
        </p:nvSpPr>
        <p:spPr>
          <a:xfrm>
            <a:off x="3584448" y="1984248"/>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func (m *MultiSig) SubmitSignature(</a:t>
            </a:r>
            <a:endParaRPr lang="en-US" sz="730" dirty="0"/>
          </a:p>
        </p:txBody>
      </p:sp>
      <p:sp>
        <p:nvSpPr>
          <p:cNvPr id="29" name="Text 27"/>
          <p:cNvSpPr/>
          <p:nvPr/>
        </p:nvSpPr>
        <p:spPr>
          <a:xfrm>
            <a:off x="3291840" y="2221992"/>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2</a:t>
            </a:r>
            <a:endParaRPr lang="en-US" sz="630" dirty="0"/>
          </a:p>
        </p:txBody>
      </p:sp>
      <p:sp>
        <p:nvSpPr>
          <p:cNvPr id="30" name="Text 28"/>
          <p:cNvSpPr/>
          <p:nvPr/>
        </p:nvSpPr>
        <p:spPr>
          <a:xfrm>
            <a:off x="3584448" y="2221992"/>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ctx contractapi.TransactionContextInterface,</a:t>
            </a:r>
            <a:endParaRPr lang="en-US" sz="730" dirty="0"/>
          </a:p>
        </p:txBody>
      </p:sp>
      <p:sp>
        <p:nvSpPr>
          <p:cNvPr id="31" name="Text 29"/>
          <p:cNvSpPr/>
          <p:nvPr/>
        </p:nvSpPr>
        <p:spPr>
          <a:xfrm>
            <a:off x="3291840" y="2459736"/>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3</a:t>
            </a:r>
            <a:endParaRPr lang="en-US" sz="630" dirty="0"/>
          </a:p>
        </p:txBody>
      </p:sp>
      <p:sp>
        <p:nvSpPr>
          <p:cNvPr id="32" name="Text 30"/>
          <p:cNvSpPr/>
          <p:nvPr/>
        </p:nvSpPr>
        <p:spPr>
          <a:xfrm>
            <a:off x="3584448" y="2459736"/>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requestID, signerType, signature string,</a:t>
            </a:r>
            <a:endParaRPr lang="en-US" sz="730" dirty="0"/>
          </a:p>
        </p:txBody>
      </p:sp>
      <p:sp>
        <p:nvSpPr>
          <p:cNvPr id="33" name="Text 31"/>
          <p:cNvSpPr/>
          <p:nvPr/>
        </p:nvSpPr>
        <p:spPr>
          <a:xfrm>
            <a:off x="3291840" y="2697480"/>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4</a:t>
            </a:r>
            <a:endParaRPr lang="en-US" sz="630" dirty="0"/>
          </a:p>
        </p:txBody>
      </p:sp>
      <p:sp>
        <p:nvSpPr>
          <p:cNvPr id="34" name="Text 32"/>
          <p:cNvSpPr/>
          <p:nvPr/>
        </p:nvSpPr>
        <p:spPr>
          <a:xfrm>
            <a:off x="3584448" y="2697480"/>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error {</a:t>
            </a:r>
            <a:endParaRPr lang="en-US" sz="730" dirty="0"/>
          </a:p>
        </p:txBody>
      </p:sp>
      <p:sp>
        <p:nvSpPr>
          <p:cNvPr id="35" name="Text 33"/>
          <p:cNvSpPr/>
          <p:nvPr/>
        </p:nvSpPr>
        <p:spPr>
          <a:xfrm>
            <a:off x="3291840" y="2935224"/>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5</a:t>
            </a:r>
            <a:endParaRPr lang="en-US" sz="630" dirty="0"/>
          </a:p>
        </p:txBody>
      </p:sp>
      <p:sp>
        <p:nvSpPr>
          <p:cNvPr id="36" name="Text 34"/>
          <p:cNvSpPr/>
          <p:nvPr/>
        </p:nvSpPr>
        <p:spPr>
          <a:xfrm>
            <a:off x="3584448" y="2935224"/>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req := m.getRequest(ctx, requestID)</a:t>
            </a:r>
            <a:endParaRPr lang="en-US" sz="730" dirty="0"/>
          </a:p>
        </p:txBody>
      </p:sp>
      <p:sp>
        <p:nvSpPr>
          <p:cNvPr id="37" name="Text 35"/>
          <p:cNvSpPr/>
          <p:nvPr/>
        </p:nvSpPr>
        <p:spPr>
          <a:xfrm>
            <a:off x="3291840" y="3172968"/>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6</a:t>
            </a:r>
            <a:endParaRPr lang="en-US" sz="630" dirty="0"/>
          </a:p>
        </p:txBody>
      </p:sp>
      <p:sp>
        <p:nvSpPr>
          <p:cNvPr id="38" name="Text 36"/>
          <p:cNvSpPr/>
          <p:nvPr/>
        </p:nvSpPr>
        <p:spPr>
          <a:xfrm>
            <a:off x="3584448" y="3172968"/>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if req == nil || req.ExpiresAt &lt; time.Now().Unix() {</a:t>
            </a:r>
            <a:endParaRPr lang="en-US" sz="730" dirty="0"/>
          </a:p>
        </p:txBody>
      </p:sp>
      <p:sp>
        <p:nvSpPr>
          <p:cNvPr id="39" name="Text 37"/>
          <p:cNvSpPr/>
          <p:nvPr/>
        </p:nvSpPr>
        <p:spPr>
          <a:xfrm>
            <a:off x="3291840" y="3410712"/>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7</a:t>
            </a:r>
            <a:endParaRPr lang="en-US" sz="630" dirty="0"/>
          </a:p>
        </p:txBody>
      </p:sp>
      <p:sp>
        <p:nvSpPr>
          <p:cNvPr id="40" name="Text 38"/>
          <p:cNvSpPr/>
          <p:nvPr/>
        </p:nvSpPr>
        <p:spPr>
          <a:xfrm>
            <a:off x="3584448" y="3410712"/>
            <a:ext cx="5239512" cy="219456"/>
          </a:xfrm>
          <a:prstGeom prst="rect">
            <a:avLst/>
          </a:prstGeom>
          <a:noFill/>
          <a:ln/>
        </p:spPr>
        <p:txBody>
          <a:bodyPr wrap="square" lIns="0" tIns="0" rIns="0" bIns="0" rtlCol="0" anchor="ctr"/>
          <a:lstStyle/>
          <a:p>
            <a:pPr marL="0" indent="0">
              <a:buNone/>
            </a:pPr>
            <a:r>
              <a:rPr lang="en-US" sz="730" dirty="0">
                <a:solidFill>
                  <a:srgbClr val="FF7B72"/>
                </a:solidFill>
                <a:latin typeface="Courier New" pitchFamily="34" charset="0"/>
                <a:ea typeface="Courier New" pitchFamily="34" charset="-122"/>
                <a:cs typeface="Courier New" pitchFamily="34" charset="-120"/>
              </a:rPr>
              <a:t>        return fmt.Errorf("request not found or expired")</a:t>
            </a:r>
            <a:endParaRPr lang="en-US" sz="730" dirty="0"/>
          </a:p>
        </p:txBody>
      </p:sp>
      <p:sp>
        <p:nvSpPr>
          <p:cNvPr id="41" name="Text 39"/>
          <p:cNvSpPr/>
          <p:nvPr/>
        </p:nvSpPr>
        <p:spPr>
          <a:xfrm>
            <a:off x="3291840" y="3648456"/>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8</a:t>
            </a:r>
            <a:endParaRPr lang="en-US" sz="630" dirty="0"/>
          </a:p>
        </p:txBody>
      </p:sp>
      <p:sp>
        <p:nvSpPr>
          <p:cNvPr id="42" name="Text 40"/>
          <p:cNvSpPr/>
          <p:nvPr/>
        </p:nvSpPr>
        <p:spPr>
          <a:xfrm>
            <a:off x="3584448" y="3648456"/>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a:t>
            </a:r>
            <a:endParaRPr lang="en-US" sz="730" dirty="0"/>
          </a:p>
        </p:txBody>
      </p:sp>
      <p:sp>
        <p:nvSpPr>
          <p:cNvPr id="43" name="Text 41"/>
          <p:cNvSpPr/>
          <p:nvPr/>
        </p:nvSpPr>
        <p:spPr>
          <a:xfrm>
            <a:off x="3291840" y="3886200"/>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 9</a:t>
            </a:r>
            <a:endParaRPr lang="en-US" sz="630" dirty="0"/>
          </a:p>
        </p:txBody>
      </p:sp>
      <p:sp>
        <p:nvSpPr>
          <p:cNvPr id="44" name="Text 42"/>
          <p:cNvSpPr/>
          <p:nvPr/>
        </p:nvSpPr>
        <p:spPr>
          <a:xfrm>
            <a:off x="3584448" y="3886200"/>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switch signerType {</a:t>
            </a:r>
            <a:endParaRPr lang="en-US" sz="730" dirty="0"/>
          </a:p>
        </p:txBody>
      </p:sp>
      <p:sp>
        <p:nvSpPr>
          <p:cNvPr id="45" name="Text 43"/>
          <p:cNvSpPr/>
          <p:nvPr/>
        </p:nvSpPr>
        <p:spPr>
          <a:xfrm>
            <a:off x="3291840" y="4123944"/>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10</a:t>
            </a:r>
            <a:endParaRPr lang="en-US" sz="630" dirty="0"/>
          </a:p>
        </p:txBody>
      </p:sp>
      <p:sp>
        <p:nvSpPr>
          <p:cNvPr id="46" name="Text 44"/>
          <p:cNvSpPr/>
          <p:nvPr/>
        </p:nvSpPr>
        <p:spPr>
          <a:xfrm>
            <a:off x="3584448" y="4123944"/>
            <a:ext cx="5239512" cy="219456"/>
          </a:xfrm>
          <a:prstGeom prst="rect">
            <a:avLst/>
          </a:prstGeom>
          <a:noFill/>
          <a:ln/>
        </p:spPr>
        <p:txBody>
          <a:bodyPr wrap="square" lIns="0" tIns="0" rIns="0" bIns="0" rtlCol="0" anchor="ctr"/>
          <a:lstStyle/>
          <a:p>
            <a:pPr marL="0" indent="0">
              <a:buNone/>
            </a:pPr>
            <a:r>
              <a:rPr lang="en-US" sz="730" dirty="0">
                <a:solidFill>
                  <a:srgbClr val="E3B341"/>
                </a:solidFill>
                <a:latin typeface="Courier New" pitchFamily="34" charset="0"/>
                <a:ea typeface="Courier New" pitchFamily="34" charset="-122"/>
                <a:cs typeface="Courier New" pitchFamily="34" charset="-120"/>
              </a:rPr>
              <a:t>    case "PRIMARY":</a:t>
            </a:r>
            <a:endParaRPr lang="en-US" sz="730" dirty="0"/>
          </a:p>
        </p:txBody>
      </p:sp>
      <p:sp>
        <p:nvSpPr>
          <p:cNvPr id="47" name="Text 45"/>
          <p:cNvSpPr/>
          <p:nvPr/>
        </p:nvSpPr>
        <p:spPr>
          <a:xfrm>
            <a:off x="3291840" y="4361688"/>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11</a:t>
            </a:r>
            <a:endParaRPr lang="en-US" sz="630" dirty="0"/>
          </a:p>
        </p:txBody>
      </p:sp>
      <p:sp>
        <p:nvSpPr>
          <p:cNvPr id="48" name="Text 46"/>
          <p:cNvSpPr/>
          <p:nvPr/>
        </p:nvSpPr>
        <p:spPr>
          <a:xfrm>
            <a:off x="3584448" y="4361688"/>
            <a:ext cx="5239512" cy="219456"/>
          </a:xfrm>
          <a:prstGeom prst="rect">
            <a:avLst/>
          </a:prstGeom>
          <a:noFill/>
          <a:ln/>
        </p:spPr>
        <p:txBody>
          <a:bodyPr wrap="square" lIns="0" tIns="0" rIns="0" bIns="0" rtlCol="0" anchor="ctr"/>
          <a:lstStyle/>
          <a:p>
            <a:pPr marL="0" indent="0">
              <a:buNone/>
            </a:pPr>
            <a:r>
              <a:rPr lang="en-US" sz="730" dirty="0">
                <a:solidFill>
                  <a:srgbClr val="E6EDF3"/>
                </a:solidFill>
                <a:latin typeface="Courier New" pitchFamily="34" charset="0"/>
                <a:ea typeface="Courier New" pitchFamily="34" charset="-122"/>
                <a:cs typeface="Courier New" pitchFamily="34" charset="-120"/>
              </a:rPr>
              <a:t>        if !verifyEd25519(req.Nonce, signature, req.PubKey1Hash) {</a:t>
            </a:r>
            <a:endParaRPr lang="en-US" sz="730" dirty="0"/>
          </a:p>
        </p:txBody>
      </p:sp>
      <p:sp>
        <p:nvSpPr>
          <p:cNvPr id="49" name="Text 47"/>
          <p:cNvSpPr/>
          <p:nvPr/>
        </p:nvSpPr>
        <p:spPr>
          <a:xfrm>
            <a:off x="3291840" y="4599432"/>
            <a:ext cx="256032" cy="219456"/>
          </a:xfrm>
          <a:prstGeom prst="rect">
            <a:avLst/>
          </a:prstGeom>
          <a:noFill/>
          <a:ln/>
        </p:spPr>
        <p:txBody>
          <a:bodyPr wrap="square" lIns="0" tIns="0" rIns="0" bIns="0" rtlCol="0" anchor="ctr"/>
          <a:lstStyle/>
          <a:p>
            <a:pPr marL="0" indent="0">
              <a:buNone/>
            </a:pPr>
            <a:r>
              <a:rPr lang="en-US" sz="630" dirty="0">
                <a:solidFill>
                  <a:srgbClr val="8B949E"/>
                </a:solidFill>
                <a:latin typeface="Courier New" pitchFamily="34" charset="0"/>
                <a:ea typeface="Courier New" pitchFamily="34" charset="-122"/>
                <a:cs typeface="Courier New" pitchFamily="34" charset="-120"/>
              </a:rPr>
              <a:t>12</a:t>
            </a:r>
            <a:endParaRPr lang="en-US" sz="630" dirty="0"/>
          </a:p>
        </p:txBody>
      </p:sp>
      <p:sp>
        <p:nvSpPr>
          <p:cNvPr id="50" name="Text 48"/>
          <p:cNvSpPr/>
          <p:nvPr/>
        </p:nvSpPr>
        <p:spPr>
          <a:xfrm>
            <a:off x="3584448" y="4599432"/>
            <a:ext cx="5239512" cy="219456"/>
          </a:xfrm>
          <a:prstGeom prst="rect">
            <a:avLst/>
          </a:prstGeom>
          <a:noFill/>
          <a:ln/>
        </p:spPr>
        <p:txBody>
          <a:bodyPr wrap="square" lIns="0" tIns="0" rIns="0" bIns="0" rtlCol="0" anchor="ctr"/>
          <a:lstStyle/>
          <a:p>
            <a:pPr marL="0" indent="0">
              <a:buNone/>
            </a:pPr>
            <a:r>
              <a:rPr lang="en-US" sz="730" dirty="0">
                <a:solidFill>
                  <a:srgbClr val="FF7B72"/>
                </a:solidFill>
                <a:latin typeface="Courier New" pitchFamily="34" charset="0"/>
                <a:ea typeface="Courier New" pitchFamily="34" charset="-122"/>
                <a:cs typeface="Courier New" pitchFamily="34" charset="-120"/>
              </a:rPr>
              <a:t>            return fmt.Errorf("invalid primary signature")</a:t>
            </a:r>
            <a:endParaRPr lang="en-US" sz="7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18872"/>
            <a:ext cx="8412480" cy="301752"/>
          </a:xfrm>
          <a:prstGeom prst="rect">
            <a:avLst/>
          </a:prstGeom>
          <a:noFill/>
          <a:ln/>
        </p:spPr>
        <p:txBody>
          <a:bodyPr wrap="square" lIns="0" tIns="0" rIns="0" bIns="0" rtlCol="0" anchor="ctr"/>
          <a:lstStyle/>
          <a:p>
            <a:pPr marL="0" indent="0">
              <a:buNone/>
            </a:pPr>
            <a:r>
              <a:rPr lang="en-US" sz="1000" b="1" kern="0" spc="300" dirty="0">
                <a:solidFill>
                  <a:srgbClr val="1DB87A"/>
                </a:solidFill>
                <a:latin typeface="Calibri" pitchFamily="34" charset="0"/>
                <a:ea typeface="Calibri" pitchFamily="34" charset="-122"/>
                <a:cs typeface="Calibri" pitchFamily="34" charset="-120"/>
              </a:rPr>
              <a:t>SC-05  ·  CHAINCODE SPECIFICATION</a:t>
            </a:r>
            <a:endParaRPr lang="en-US" sz="1000" dirty="0"/>
          </a:p>
        </p:txBody>
      </p:sp>
      <p:sp>
        <p:nvSpPr>
          <p:cNvPr id="3" name="Text 1"/>
          <p:cNvSpPr/>
          <p:nvPr/>
        </p:nvSpPr>
        <p:spPr>
          <a:xfrm>
            <a:off x="365760" y="402336"/>
            <a:ext cx="8412480" cy="493776"/>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AnomalyDecisionEngine</a:t>
            </a:r>
            <a:endParaRPr lang="en-US" sz="2100" dirty="0"/>
          </a:p>
        </p:txBody>
      </p:sp>
      <p:sp>
        <p:nvSpPr>
          <p:cNvPr id="4" name="Text 2"/>
          <p:cNvSpPr/>
          <p:nvPr/>
        </p:nvSpPr>
        <p:spPr>
          <a:xfrm>
            <a:off x="365760" y="868680"/>
            <a:ext cx="8412480" cy="292608"/>
          </a:xfrm>
          <a:prstGeom prst="rect">
            <a:avLst/>
          </a:prstGeom>
          <a:noFill/>
          <a:ln/>
        </p:spPr>
        <p:txBody>
          <a:bodyPr wrap="square" lIns="0" tIns="0" rIns="0" bIns="0" rtlCol="0" anchor="ctr"/>
          <a:lstStyle/>
          <a:p>
            <a:pPr marL="0" indent="0">
              <a:buNone/>
            </a:pPr>
            <a:r>
              <a:rPr lang="en-US" sz="1200" i="1" dirty="0">
                <a:solidFill>
                  <a:srgbClr val="8FA5BF"/>
                </a:solidFill>
                <a:latin typeface="Calibri" pitchFamily="34" charset="0"/>
                <a:ea typeface="Calibri" pitchFamily="34" charset="-122"/>
                <a:cs typeface="Calibri" pitchFamily="34" charset="-120"/>
              </a:rPr>
              <a:t>The orchestrator — calls SC-01, evaluates all signals, returns PROCEED / HOLD / REJECT</a:t>
            </a:r>
            <a:endParaRPr lang="en-US" sz="1200" dirty="0"/>
          </a:p>
        </p:txBody>
      </p:sp>
      <p:sp>
        <p:nvSpPr>
          <p:cNvPr id="5" name="Shape 3"/>
          <p:cNvSpPr/>
          <p:nvPr/>
        </p:nvSpPr>
        <p:spPr>
          <a:xfrm>
            <a:off x="228600" y="1170432"/>
            <a:ext cx="5321808" cy="3822192"/>
          </a:xfrm>
          <a:prstGeom prst="roundRect">
            <a:avLst>
              <a:gd name="adj" fmla="val 2392"/>
            </a:avLst>
          </a:prstGeom>
          <a:solidFill>
            <a:srgbClr val="0D1117"/>
          </a:solidFill>
          <a:ln w="12700">
            <a:solidFill>
              <a:srgbClr val="30363D"/>
            </a:solidFill>
            <a:prstDash val="solid"/>
          </a:ln>
        </p:spPr>
      </p:sp>
      <p:sp>
        <p:nvSpPr>
          <p:cNvPr id="6" name="Text 4"/>
          <p:cNvSpPr/>
          <p:nvPr/>
        </p:nvSpPr>
        <p:spPr>
          <a:xfrm>
            <a:off x="320040" y="1280160"/>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1</a:t>
            </a:r>
            <a:endParaRPr lang="en-US" sz="650" dirty="0"/>
          </a:p>
        </p:txBody>
      </p:sp>
      <p:sp>
        <p:nvSpPr>
          <p:cNvPr id="7" name="Text 5"/>
          <p:cNvSpPr/>
          <p:nvPr/>
        </p:nvSpPr>
        <p:spPr>
          <a:xfrm>
            <a:off x="612648" y="1280160"/>
            <a:ext cx="4846320" cy="219456"/>
          </a:xfrm>
          <a:prstGeom prst="rect">
            <a:avLst/>
          </a:prstGeom>
          <a:noFill/>
          <a:ln/>
        </p:spPr>
        <p:txBody>
          <a:bodyPr wrap="square" lIns="0" tIns="0" rIns="0" bIns="0" rtlCol="0" anchor="ctr"/>
          <a:lstStyle/>
          <a:p>
            <a:pPr marL="0" indent="0">
              <a:buNone/>
            </a:pPr>
            <a:r>
              <a:rPr lang="en-US" sz="750" dirty="0">
                <a:solidFill>
                  <a:srgbClr val="8B949E"/>
                </a:solidFill>
                <a:latin typeface="Courier New" pitchFamily="34" charset="0"/>
                <a:ea typeface="Courier New" pitchFamily="34" charset="-122"/>
                <a:cs typeface="Courier New" pitchFamily="34" charset="-120"/>
              </a:rPr>
              <a:t>// EvaluatePayment — entry point called by integration layer</a:t>
            </a:r>
            <a:endParaRPr lang="en-US" sz="750" dirty="0"/>
          </a:p>
        </p:txBody>
      </p:sp>
      <p:sp>
        <p:nvSpPr>
          <p:cNvPr id="8" name="Text 6"/>
          <p:cNvSpPr/>
          <p:nvPr/>
        </p:nvSpPr>
        <p:spPr>
          <a:xfrm>
            <a:off x="320040" y="1517904"/>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2</a:t>
            </a:r>
            <a:endParaRPr lang="en-US" sz="650" dirty="0"/>
          </a:p>
        </p:txBody>
      </p:sp>
      <p:sp>
        <p:nvSpPr>
          <p:cNvPr id="9" name="Text 7"/>
          <p:cNvSpPr/>
          <p:nvPr/>
        </p:nvSpPr>
        <p:spPr>
          <a:xfrm>
            <a:off x="612648" y="1517904"/>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func (e *DecisionEngine) EvaluatePayment(</a:t>
            </a:r>
            <a:endParaRPr lang="en-US" sz="750" dirty="0"/>
          </a:p>
        </p:txBody>
      </p:sp>
      <p:sp>
        <p:nvSpPr>
          <p:cNvPr id="10" name="Text 8"/>
          <p:cNvSpPr/>
          <p:nvPr/>
        </p:nvSpPr>
        <p:spPr>
          <a:xfrm>
            <a:off x="320040" y="1755648"/>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3</a:t>
            </a:r>
            <a:endParaRPr lang="en-US" sz="650" dirty="0"/>
          </a:p>
        </p:txBody>
      </p:sp>
      <p:sp>
        <p:nvSpPr>
          <p:cNvPr id="11" name="Text 9"/>
          <p:cNvSpPr/>
          <p:nvPr/>
        </p:nvSpPr>
        <p:spPr>
          <a:xfrm>
            <a:off x="612648" y="1755648"/>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ctx contractapi.TransactionContextInterface,</a:t>
            </a:r>
            <a:endParaRPr lang="en-US" sz="750" dirty="0"/>
          </a:p>
        </p:txBody>
      </p:sp>
      <p:sp>
        <p:nvSpPr>
          <p:cNvPr id="12" name="Text 10"/>
          <p:cNvSpPr/>
          <p:nvPr/>
        </p:nvSpPr>
        <p:spPr>
          <a:xfrm>
            <a:off x="320040" y="1993392"/>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4</a:t>
            </a:r>
            <a:endParaRPr lang="en-US" sz="650" dirty="0"/>
          </a:p>
        </p:txBody>
      </p:sp>
      <p:sp>
        <p:nvSpPr>
          <p:cNvPr id="13" name="Text 11"/>
          <p:cNvSpPr/>
          <p:nvPr/>
        </p:nvSpPr>
        <p:spPr>
          <a:xfrm>
            <a:off x="612648" y="1993392"/>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txID, payeeHash, customerHash, deviceHash string,</a:t>
            </a:r>
            <a:endParaRPr lang="en-US" sz="750" dirty="0"/>
          </a:p>
        </p:txBody>
      </p:sp>
      <p:sp>
        <p:nvSpPr>
          <p:cNvPr id="14" name="Text 12"/>
          <p:cNvSpPr/>
          <p:nvPr/>
        </p:nvSpPr>
        <p:spPr>
          <a:xfrm>
            <a:off x="320040" y="2231136"/>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5</a:t>
            </a:r>
            <a:endParaRPr lang="en-US" sz="650" dirty="0"/>
          </a:p>
        </p:txBody>
      </p:sp>
      <p:sp>
        <p:nvSpPr>
          <p:cNvPr id="15" name="Text 13"/>
          <p:cNvSpPr/>
          <p:nvPr/>
        </p:nvSpPr>
        <p:spPr>
          <a:xfrm>
            <a:off x="612648" y="2231136"/>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amountPence int64, mlScore, behaviourScore float64,</a:t>
            </a:r>
            <a:endParaRPr lang="en-US" sz="750" dirty="0"/>
          </a:p>
        </p:txBody>
      </p:sp>
      <p:sp>
        <p:nvSpPr>
          <p:cNvPr id="16" name="Text 14"/>
          <p:cNvSpPr/>
          <p:nvPr/>
        </p:nvSpPr>
        <p:spPr>
          <a:xfrm>
            <a:off x="320040" y="2468880"/>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6</a:t>
            </a:r>
            <a:endParaRPr lang="en-US" sz="650" dirty="0"/>
          </a:p>
        </p:txBody>
      </p:sp>
      <p:sp>
        <p:nvSpPr>
          <p:cNvPr id="17" name="Text 15"/>
          <p:cNvSpPr/>
          <p:nvPr/>
        </p:nvSpPr>
        <p:spPr>
          <a:xfrm>
            <a:off x="612648" y="2468880"/>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payeeKnown, deviceKnown bool, hourlyTxCount int,</a:t>
            </a:r>
            <a:endParaRPr lang="en-US" sz="750" dirty="0"/>
          </a:p>
        </p:txBody>
      </p:sp>
      <p:sp>
        <p:nvSpPr>
          <p:cNvPr id="18" name="Text 16"/>
          <p:cNvSpPr/>
          <p:nvPr/>
        </p:nvSpPr>
        <p:spPr>
          <a:xfrm>
            <a:off x="320040" y="2706624"/>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7</a:t>
            </a:r>
            <a:endParaRPr lang="en-US" sz="650" dirty="0"/>
          </a:p>
        </p:txBody>
      </p:sp>
      <p:sp>
        <p:nvSpPr>
          <p:cNvPr id="19" name="Text 17"/>
          <p:cNvSpPr/>
          <p:nvPr/>
        </p:nvSpPr>
        <p:spPr>
          <a:xfrm>
            <a:off x="612648" y="2706624"/>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(*Decision, error) {</a:t>
            </a:r>
            <a:endParaRPr lang="en-US" sz="750" dirty="0"/>
          </a:p>
        </p:txBody>
      </p:sp>
      <p:sp>
        <p:nvSpPr>
          <p:cNvPr id="20" name="Text 18"/>
          <p:cNvSpPr/>
          <p:nvPr/>
        </p:nvSpPr>
        <p:spPr>
          <a:xfrm>
            <a:off x="320040" y="2944368"/>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8</a:t>
            </a:r>
            <a:endParaRPr lang="en-US" sz="650" dirty="0"/>
          </a:p>
        </p:txBody>
      </p:sp>
      <p:sp>
        <p:nvSpPr>
          <p:cNvPr id="21" name="Text 19"/>
          <p:cNvSpPr/>
          <p:nvPr/>
        </p:nvSpPr>
        <p:spPr>
          <a:xfrm>
            <a:off x="612648" y="2944368"/>
            <a:ext cx="4846320" cy="219456"/>
          </a:xfrm>
          <a:prstGeom prst="rect">
            <a:avLst/>
          </a:prstGeom>
          <a:noFill/>
          <a:ln/>
        </p:spPr>
        <p:txBody>
          <a:bodyPr wrap="square" lIns="0" tIns="0" rIns="0" bIns="0" rtlCol="0" anchor="ctr"/>
          <a:lstStyle/>
          <a:p>
            <a:pPr marL="0" indent="0">
              <a:buNone/>
            </a:pPr>
            <a:endParaRPr lang="en-US" sz="750" dirty="0"/>
          </a:p>
        </p:txBody>
      </p:sp>
      <p:sp>
        <p:nvSpPr>
          <p:cNvPr id="22" name="Text 20"/>
          <p:cNvSpPr/>
          <p:nvPr/>
        </p:nvSpPr>
        <p:spPr>
          <a:xfrm>
            <a:off x="320040" y="3182112"/>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 9</a:t>
            </a:r>
            <a:endParaRPr lang="en-US" sz="650" dirty="0"/>
          </a:p>
        </p:txBody>
      </p:sp>
      <p:sp>
        <p:nvSpPr>
          <p:cNvPr id="23" name="Text 21"/>
          <p:cNvSpPr/>
          <p:nvPr/>
        </p:nvSpPr>
        <p:spPr>
          <a:xfrm>
            <a:off x="612648" y="3182112"/>
            <a:ext cx="4846320" cy="219456"/>
          </a:xfrm>
          <a:prstGeom prst="rect">
            <a:avLst/>
          </a:prstGeom>
          <a:noFill/>
          <a:ln/>
        </p:spPr>
        <p:txBody>
          <a:bodyPr wrap="square" lIns="0" tIns="0" rIns="0" bIns="0" rtlCol="0" anchor="ctr"/>
          <a:lstStyle/>
          <a:p>
            <a:pPr marL="0" indent="0">
              <a:buNone/>
            </a:pPr>
            <a:r>
              <a:rPr lang="en-US" sz="750" dirty="0">
                <a:solidFill>
                  <a:srgbClr val="8B949E"/>
                </a:solidFill>
                <a:latin typeface="Courier New" pitchFamily="34" charset="0"/>
                <a:ea typeface="Courier New" pitchFamily="34" charset="-122"/>
                <a:cs typeface="Courier New" pitchFamily="34" charset="-120"/>
              </a:rPr>
              <a:t>    // ── STEP 1: Query SC-01 FraudSignalRegistry ──────────────────</a:t>
            </a:r>
            <a:endParaRPr lang="en-US" sz="750" dirty="0"/>
          </a:p>
        </p:txBody>
      </p:sp>
      <p:sp>
        <p:nvSpPr>
          <p:cNvPr id="24" name="Text 22"/>
          <p:cNvSpPr/>
          <p:nvPr/>
        </p:nvSpPr>
        <p:spPr>
          <a:xfrm>
            <a:off x="320040" y="3419856"/>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10</a:t>
            </a:r>
            <a:endParaRPr lang="en-US" sz="650" dirty="0"/>
          </a:p>
        </p:txBody>
      </p:sp>
      <p:sp>
        <p:nvSpPr>
          <p:cNvPr id="25" name="Text 23"/>
          <p:cNvSpPr/>
          <p:nvPr/>
        </p:nvSpPr>
        <p:spPr>
          <a:xfrm>
            <a:off x="612648" y="3419856"/>
            <a:ext cx="4846320" cy="219456"/>
          </a:xfrm>
          <a:prstGeom prst="rect">
            <a:avLst/>
          </a:prstGeom>
          <a:noFill/>
          <a:ln/>
        </p:spPr>
        <p:txBody>
          <a:bodyPr wrap="square" lIns="0" tIns="0" rIns="0" bIns="0" rtlCol="0" anchor="ctr"/>
          <a:lstStyle/>
          <a:p>
            <a:pPr marL="0" indent="0">
              <a:buNone/>
            </a:pPr>
            <a:r>
              <a:rPr lang="en-US" sz="750" dirty="0">
                <a:solidFill>
                  <a:srgbClr val="79C0FF"/>
                </a:solidFill>
                <a:latin typeface="Courier New" pitchFamily="34" charset="0"/>
                <a:ea typeface="Courier New" pitchFamily="34" charset="-122"/>
                <a:cs typeface="Courier New" pitchFamily="34" charset="-120"/>
              </a:rPr>
              <a:t>    fraudSignal, _ := e.registryCC.QueryFlag(ctx, payeeHash)</a:t>
            </a:r>
            <a:endParaRPr lang="en-US" sz="750" dirty="0"/>
          </a:p>
        </p:txBody>
      </p:sp>
      <p:sp>
        <p:nvSpPr>
          <p:cNvPr id="26" name="Text 24"/>
          <p:cNvSpPr/>
          <p:nvPr/>
        </p:nvSpPr>
        <p:spPr>
          <a:xfrm>
            <a:off x="320040" y="3657600"/>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11</a:t>
            </a:r>
            <a:endParaRPr lang="en-US" sz="650" dirty="0"/>
          </a:p>
        </p:txBody>
      </p:sp>
      <p:sp>
        <p:nvSpPr>
          <p:cNvPr id="27" name="Text 25"/>
          <p:cNvSpPr/>
          <p:nvPr/>
        </p:nvSpPr>
        <p:spPr>
          <a:xfrm>
            <a:off x="612648" y="3657600"/>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if fraudSignal != nil &amp;&amp; fraudSignal.FlagType == CONFIRMED_FRAUD {</a:t>
            </a:r>
            <a:endParaRPr lang="en-US" sz="750" dirty="0"/>
          </a:p>
        </p:txBody>
      </p:sp>
      <p:sp>
        <p:nvSpPr>
          <p:cNvPr id="28" name="Text 26"/>
          <p:cNvSpPr/>
          <p:nvPr/>
        </p:nvSpPr>
        <p:spPr>
          <a:xfrm>
            <a:off x="320040" y="3895344"/>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12</a:t>
            </a:r>
            <a:endParaRPr lang="en-US" sz="650" dirty="0"/>
          </a:p>
        </p:txBody>
      </p:sp>
      <p:sp>
        <p:nvSpPr>
          <p:cNvPr id="29" name="Text 27"/>
          <p:cNvSpPr/>
          <p:nvPr/>
        </p:nvSpPr>
        <p:spPr>
          <a:xfrm>
            <a:off x="612648" y="3895344"/>
            <a:ext cx="4846320" cy="219456"/>
          </a:xfrm>
          <a:prstGeom prst="rect">
            <a:avLst/>
          </a:prstGeom>
          <a:noFill/>
          <a:ln/>
        </p:spPr>
        <p:txBody>
          <a:bodyPr wrap="square" lIns="0" tIns="0" rIns="0" bIns="0" rtlCol="0" anchor="ctr"/>
          <a:lstStyle/>
          <a:p>
            <a:pPr marL="0" indent="0">
              <a:buNone/>
            </a:pPr>
            <a:r>
              <a:rPr lang="en-US" sz="750" dirty="0">
                <a:solidFill>
                  <a:srgbClr val="FF7B72"/>
                </a:solidFill>
                <a:latin typeface="Courier New" pitchFamily="34" charset="0"/>
                <a:ea typeface="Courier New" pitchFamily="34" charset="-122"/>
                <a:cs typeface="Courier New" pitchFamily="34" charset="-120"/>
              </a:rPr>
              <a:t>        return e.reject(ctx, txID, "CONFIRMED_FRAUD_FLAG", fraudSignal.Confidence)</a:t>
            </a:r>
            <a:endParaRPr lang="en-US" sz="750" dirty="0"/>
          </a:p>
        </p:txBody>
      </p:sp>
      <p:sp>
        <p:nvSpPr>
          <p:cNvPr id="30" name="Text 28"/>
          <p:cNvSpPr/>
          <p:nvPr/>
        </p:nvSpPr>
        <p:spPr>
          <a:xfrm>
            <a:off x="320040" y="4133088"/>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13</a:t>
            </a:r>
            <a:endParaRPr lang="en-US" sz="650" dirty="0"/>
          </a:p>
        </p:txBody>
      </p:sp>
      <p:sp>
        <p:nvSpPr>
          <p:cNvPr id="31" name="Text 29"/>
          <p:cNvSpPr/>
          <p:nvPr/>
        </p:nvSpPr>
        <p:spPr>
          <a:xfrm>
            <a:off x="612648" y="4133088"/>
            <a:ext cx="4846320" cy="219456"/>
          </a:xfrm>
          <a:prstGeom prst="rect">
            <a:avLst/>
          </a:prstGeom>
          <a:noFill/>
          <a:ln/>
        </p:spPr>
        <p:txBody>
          <a:bodyPr wrap="square" lIns="0" tIns="0" rIns="0" bIns="0" rtlCol="0" anchor="ctr"/>
          <a:lstStyle/>
          <a:p>
            <a:pPr marL="0" indent="0">
              <a:buNone/>
            </a:pPr>
            <a:r>
              <a:rPr lang="en-US" sz="750" dirty="0">
                <a:solidFill>
                  <a:srgbClr val="E6EDF3"/>
                </a:solidFill>
                <a:latin typeface="Courier New" pitchFamily="34" charset="0"/>
                <a:ea typeface="Courier New" pitchFamily="34" charset="-122"/>
                <a:cs typeface="Courier New" pitchFamily="34" charset="-120"/>
              </a:rPr>
              <a:t>    }</a:t>
            </a:r>
            <a:endParaRPr lang="en-US" sz="750" dirty="0"/>
          </a:p>
        </p:txBody>
      </p:sp>
      <p:sp>
        <p:nvSpPr>
          <p:cNvPr id="32" name="Text 30"/>
          <p:cNvSpPr/>
          <p:nvPr/>
        </p:nvSpPr>
        <p:spPr>
          <a:xfrm>
            <a:off x="320040" y="4370832"/>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14</a:t>
            </a:r>
            <a:endParaRPr lang="en-US" sz="650" dirty="0"/>
          </a:p>
        </p:txBody>
      </p:sp>
      <p:sp>
        <p:nvSpPr>
          <p:cNvPr id="33" name="Text 31"/>
          <p:cNvSpPr/>
          <p:nvPr/>
        </p:nvSpPr>
        <p:spPr>
          <a:xfrm>
            <a:off x="612648" y="4370832"/>
            <a:ext cx="4846320" cy="219456"/>
          </a:xfrm>
          <a:prstGeom prst="rect">
            <a:avLst/>
          </a:prstGeom>
          <a:noFill/>
          <a:ln/>
        </p:spPr>
        <p:txBody>
          <a:bodyPr wrap="square" lIns="0" tIns="0" rIns="0" bIns="0" rtlCol="0" anchor="ctr"/>
          <a:lstStyle/>
          <a:p>
            <a:pPr marL="0" indent="0">
              <a:buNone/>
            </a:pPr>
            <a:endParaRPr lang="en-US" sz="750" dirty="0"/>
          </a:p>
        </p:txBody>
      </p:sp>
      <p:sp>
        <p:nvSpPr>
          <p:cNvPr id="34" name="Text 32"/>
          <p:cNvSpPr/>
          <p:nvPr/>
        </p:nvSpPr>
        <p:spPr>
          <a:xfrm>
            <a:off x="320040" y="4608576"/>
            <a:ext cx="256032" cy="219456"/>
          </a:xfrm>
          <a:prstGeom prst="rect">
            <a:avLst/>
          </a:prstGeom>
          <a:noFill/>
          <a:ln/>
        </p:spPr>
        <p:txBody>
          <a:bodyPr wrap="square" lIns="0" tIns="0" rIns="0" bIns="0" rtlCol="0" anchor="ctr"/>
          <a:lstStyle/>
          <a:p>
            <a:pPr marL="0" indent="0">
              <a:buNone/>
            </a:pPr>
            <a:r>
              <a:rPr lang="en-US" sz="650" dirty="0">
                <a:solidFill>
                  <a:srgbClr val="8B949E"/>
                </a:solidFill>
                <a:latin typeface="Courier New" pitchFamily="34" charset="0"/>
                <a:ea typeface="Courier New" pitchFamily="34" charset="-122"/>
                <a:cs typeface="Courier New" pitchFamily="34" charset="-120"/>
              </a:rPr>
              <a:t>15</a:t>
            </a:r>
            <a:endParaRPr lang="en-US" sz="650" dirty="0"/>
          </a:p>
        </p:txBody>
      </p:sp>
      <p:sp>
        <p:nvSpPr>
          <p:cNvPr id="35" name="Text 33"/>
          <p:cNvSpPr/>
          <p:nvPr/>
        </p:nvSpPr>
        <p:spPr>
          <a:xfrm>
            <a:off x="612648" y="4608576"/>
            <a:ext cx="4846320" cy="219456"/>
          </a:xfrm>
          <a:prstGeom prst="rect">
            <a:avLst/>
          </a:prstGeom>
          <a:noFill/>
          <a:ln/>
        </p:spPr>
        <p:txBody>
          <a:bodyPr wrap="square" lIns="0" tIns="0" rIns="0" bIns="0" rtlCol="0" anchor="ctr"/>
          <a:lstStyle/>
          <a:p>
            <a:pPr marL="0" indent="0">
              <a:buNone/>
            </a:pPr>
            <a:r>
              <a:rPr lang="en-US" sz="750" dirty="0">
                <a:solidFill>
                  <a:srgbClr val="8B949E"/>
                </a:solidFill>
                <a:latin typeface="Courier New" pitchFamily="34" charset="0"/>
                <a:ea typeface="Courier New" pitchFamily="34" charset="-122"/>
                <a:cs typeface="Courier New" pitchFamily="34" charset="-120"/>
              </a:rPr>
              <a:t>    // ── STEP 2: Hard reject threshold on ML score ─────────────────</a:t>
            </a:r>
            <a:endParaRPr lang="en-US" sz="750" dirty="0"/>
          </a:p>
        </p:txBody>
      </p:sp>
      <p:sp>
        <p:nvSpPr>
          <p:cNvPr id="36" name="Shape 34"/>
          <p:cNvSpPr/>
          <p:nvPr/>
        </p:nvSpPr>
        <p:spPr>
          <a:xfrm>
            <a:off x="5687568" y="1170432"/>
            <a:ext cx="3227832" cy="3822192"/>
          </a:xfrm>
          <a:prstGeom prst="roundRect">
            <a:avLst>
              <a:gd name="adj" fmla="val 2833"/>
            </a:avLst>
          </a:prstGeom>
          <a:solidFill>
            <a:srgbClr val="162D52"/>
          </a:solidFill>
          <a:ln w="12700">
            <a:solidFill>
              <a:srgbClr val="1DB87A"/>
            </a:solidFill>
            <a:prstDash val="solid"/>
          </a:ln>
          <a:effectLst>
            <a:outerShdw blurRad="101600" dist="38100" dir="2700000" algn="bl" rotWithShape="0">
              <a:srgbClr val="000000">
                <a:alpha val="20000"/>
              </a:srgbClr>
            </a:outerShdw>
          </a:effectLst>
        </p:spPr>
      </p:sp>
      <p:sp>
        <p:nvSpPr>
          <p:cNvPr id="37" name="Text 35"/>
          <p:cNvSpPr/>
          <p:nvPr/>
        </p:nvSpPr>
        <p:spPr>
          <a:xfrm>
            <a:off x="5833872" y="1243584"/>
            <a:ext cx="2926080" cy="274320"/>
          </a:xfrm>
          <a:prstGeom prst="rect">
            <a:avLst/>
          </a:prstGeom>
          <a:noFill/>
          <a:ln/>
        </p:spPr>
        <p:txBody>
          <a:bodyPr wrap="square" lIns="0" tIns="0" rIns="0" bIns="0" rtlCol="0" anchor="ctr"/>
          <a:lstStyle/>
          <a:p>
            <a:pPr marL="0" indent="0">
              <a:buNone/>
            </a:pPr>
            <a:r>
              <a:rPr lang="en-US" sz="850" b="1" kern="0" spc="100" dirty="0">
                <a:solidFill>
                  <a:srgbClr val="1DB87A"/>
                </a:solidFill>
                <a:latin typeface="Calibri" pitchFamily="34" charset="0"/>
                <a:ea typeface="Calibri" pitchFamily="34" charset="-122"/>
                <a:cs typeface="Calibri" pitchFamily="34" charset="-120"/>
              </a:rPr>
              <a:t>GOVERNANCE CONFIG</a:t>
            </a:r>
            <a:endParaRPr lang="en-US" sz="850" dirty="0"/>
          </a:p>
        </p:txBody>
      </p:sp>
      <p:sp>
        <p:nvSpPr>
          <p:cNvPr id="38" name="Text 36"/>
          <p:cNvSpPr/>
          <p:nvPr/>
        </p:nvSpPr>
        <p:spPr>
          <a:xfrm>
            <a:off x="5833872" y="1508760"/>
            <a:ext cx="2926080" cy="201168"/>
          </a:xfrm>
          <a:prstGeom prst="rect">
            <a:avLst/>
          </a:prstGeom>
          <a:noFill/>
          <a:ln/>
        </p:spPr>
        <p:txBody>
          <a:bodyPr wrap="square" lIns="0" tIns="0" rIns="0" bIns="0" rtlCol="0" anchor="ctr"/>
          <a:lstStyle/>
          <a:p>
            <a:pPr marL="0" indent="0">
              <a:buNone/>
            </a:pPr>
            <a:r>
              <a:rPr lang="en-US" sz="750" i="1" dirty="0">
                <a:solidFill>
                  <a:srgbClr val="8FA5BF"/>
                </a:solidFill>
                <a:latin typeface="Calibri" pitchFamily="34" charset="0"/>
                <a:ea typeface="Calibri" pitchFamily="34" charset="-122"/>
                <a:cs typeface="Calibri" pitchFamily="34" charset="-120"/>
              </a:rPr>
              <a:t>(updateable by consortium vote — no redeploy)</a:t>
            </a:r>
            <a:endParaRPr lang="en-US" sz="750" dirty="0"/>
          </a:p>
        </p:txBody>
      </p:sp>
      <p:sp>
        <p:nvSpPr>
          <p:cNvPr id="39" name="Shape 37"/>
          <p:cNvSpPr/>
          <p:nvPr/>
        </p:nvSpPr>
        <p:spPr>
          <a:xfrm>
            <a:off x="5806440" y="1755648"/>
            <a:ext cx="2971800" cy="256032"/>
          </a:xfrm>
          <a:prstGeom prst="roundRect">
            <a:avLst>
              <a:gd name="adj" fmla="val 17857"/>
            </a:avLst>
          </a:prstGeom>
          <a:solidFill>
            <a:srgbClr val="0D1628"/>
          </a:solidFill>
          <a:ln w="12700">
            <a:solidFill>
              <a:srgbClr val="2A3A5A"/>
            </a:solidFill>
            <a:prstDash val="solid"/>
          </a:ln>
        </p:spPr>
      </p:sp>
      <p:sp>
        <p:nvSpPr>
          <p:cNvPr id="40" name="Text 38"/>
          <p:cNvSpPr/>
          <p:nvPr/>
        </p:nvSpPr>
        <p:spPr>
          <a:xfrm>
            <a:off x="5870448" y="1783080"/>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HardRejectThreshold</a:t>
            </a:r>
            <a:endParaRPr lang="en-US" sz="780" dirty="0"/>
          </a:p>
        </p:txBody>
      </p:sp>
      <p:sp>
        <p:nvSpPr>
          <p:cNvPr id="41" name="Text 39"/>
          <p:cNvSpPr/>
          <p:nvPr/>
        </p:nvSpPr>
        <p:spPr>
          <a:xfrm>
            <a:off x="7726680" y="1783080"/>
            <a:ext cx="987552" cy="201168"/>
          </a:xfrm>
          <a:prstGeom prst="rect">
            <a:avLst/>
          </a:prstGeom>
          <a:noFill/>
          <a:ln/>
        </p:spPr>
        <p:txBody>
          <a:bodyPr wrap="square" lIns="0" tIns="0" rIns="0" bIns="0" rtlCol="0" anchor="ctr"/>
          <a:lstStyle/>
          <a:p>
            <a:pPr marL="0" indent="0" algn="r">
              <a:buNone/>
            </a:pPr>
            <a:r>
              <a:rPr lang="en-US" sz="780" b="1" dirty="0">
                <a:solidFill>
                  <a:srgbClr val="C0392B"/>
                </a:solidFill>
                <a:latin typeface="Courier New" pitchFamily="34" charset="0"/>
                <a:ea typeface="Courier New" pitchFamily="34" charset="-122"/>
                <a:cs typeface="Courier New" pitchFamily="34" charset="-120"/>
              </a:rPr>
              <a:t>0.85</a:t>
            </a:r>
            <a:endParaRPr lang="en-US" sz="780" dirty="0"/>
          </a:p>
        </p:txBody>
      </p:sp>
      <p:sp>
        <p:nvSpPr>
          <p:cNvPr id="42" name="Shape 40"/>
          <p:cNvSpPr/>
          <p:nvPr/>
        </p:nvSpPr>
        <p:spPr>
          <a:xfrm>
            <a:off x="5806440" y="2048256"/>
            <a:ext cx="2971800" cy="256032"/>
          </a:xfrm>
          <a:prstGeom prst="roundRect">
            <a:avLst>
              <a:gd name="adj" fmla="val 17857"/>
            </a:avLst>
          </a:prstGeom>
          <a:solidFill>
            <a:srgbClr val="0D1628"/>
          </a:solidFill>
          <a:ln w="12700">
            <a:solidFill>
              <a:srgbClr val="2A3A5A"/>
            </a:solidFill>
            <a:prstDash val="solid"/>
          </a:ln>
        </p:spPr>
      </p:sp>
      <p:sp>
        <p:nvSpPr>
          <p:cNvPr id="43" name="Text 41"/>
          <p:cNvSpPr/>
          <p:nvPr/>
        </p:nvSpPr>
        <p:spPr>
          <a:xfrm>
            <a:off x="5870448" y="2075688"/>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SoftHoldThreshold</a:t>
            </a:r>
            <a:endParaRPr lang="en-US" sz="780" dirty="0"/>
          </a:p>
        </p:txBody>
      </p:sp>
      <p:sp>
        <p:nvSpPr>
          <p:cNvPr id="44" name="Text 42"/>
          <p:cNvSpPr/>
          <p:nvPr/>
        </p:nvSpPr>
        <p:spPr>
          <a:xfrm>
            <a:off x="7726680" y="2075688"/>
            <a:ext cx="987552" cy="201168"/>
          </a:xfrm>
          <a:prstGeom prst="rect">
            <a:avLst/>
          </a:prstGeom>
          <a:noFill/>
          <a:ln/>
        </p:spPr>
        <p:txBody>
          <a:bodyPr wrap="square" lIns="0" tIns="0" rIns="0" bIns="0" rtlCol="0" anchor="ctr"/>
          <a:lstStyle/>
          <a:p>
            <a:pPr marL="0" indent="0" algn="r">
              <a:buNone/>
            </a:pPr>
            <a:r>
              <a:rPr lang="en-US" sz="780" b="1" dirty="0">
                <a:solidFill>
                  <a:srgbClr val="E8A020"/>
                </a:solidFill>
                <a:latin typeface="Courier New" pitchFamily="34" charset="0"/>
                <a:ea typeface="Courier New" pitchFamily="34" charset="-122"/>
                <a:cs typeface="Courier New" pitchFamily="34" charset="-120"/>
              </a:rPr>
              <a:t>0.55</a:t>
            </a:r>
            <a:endParaRPr lang="en-US" sz="780" dirty="0"/>
          </a:p>
        </p:txBody>
      </p:sp>
      <p:sp>
        <p:nvSpPr>
          <p:cNvPr id="45" name="Shape 43"/>
          <p:cNvSpPr/>
          <p:nvPr/>
        </p:nvSpPr>
        <p:spPr>
          <a:xfrm>
            <a:off x="5806440" y="2340864"/>
            <a:ext cx="2971800" cy="256032"/>
          </a:xfrm>
          <a:prstGeom prst="roundRect">
            <a:avLst>
              <a:gd name="adj" fmla="val 17857"/>
            </a:avLst>
          </a:prstGeom>
          <a:solidFill>
            <a:srgbClr val="0D1628"/>
          </a:solidFill>
          <a:ln w="12700">
            <a:solidFill>
              <a:srgbClr val="2A3A5A"/>
            </a:solidFill>
            <a:prstDash val="solid"/>
          </a:ln>
        </p:spPr>
      </p:sp>
      <p:sp>
        <p:nvSpPr>
          <p:cNvPr id="46" name="Text 44"/>
          <p:cNvSpPr/>
          <p:nvPr/>
        </p:nvSpPr>
        <p:spPr>
          <a:xfrm>
            <a:off x="5870448" y="2368296"/>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BehaviourThreshold</a:t>
            </a:r>
            <a:endParaRPr lang="en-US" sz="780" dirty="0"/>
          </a:p>
        </p:txBody>
      </p:sp>
      <p:sp>
        <p:nvSpPr>
          <p:cNvPr id="47" name="Text 45"/>
          <p:cNvSpPr/>
          <p:nvPr/>
        </p:nvSpPr>
        <p:spPr>
          <a:xfrm>
            <a:off x="7726680" y="2368296"/>
            <a:ext cx="987552" cy="201168"/>
          </a:xfrm>
          <a:prstGeom prst="rect">
            <a:avLst/>
          </a:prstGeom>
          <a:noFill/>
          <a:ln/>
        </p:spPr>
        <p:txBody>
          <a:bodyPr wrap="square" lIns="0" tIns="0" rIns="0" bIns="0" rtlCol="0" anchor="ctr"/>
          <a:lstStyle/>
          <a:p>
            <a:pPr marL="0" indent="0" algn="r">
              <a:buNone/>
            </a:pPr>
            <a:r>
              <a:rPr lang="en-US" sz="780" b="1" dirty="0">
                <a:solidFill>
                  <a:srgbClr val="E8A020"/>
                </a:solidFill>
                <a:latin typeface="Courier New" pitchFamily="34" charset="0"/>
                <a:ea typeface="Courier New" pitchFamily="34" charset="-122"/>
                <a:cs typeface="Courier New" pitchFamily="34" charset="-120"/>
              </a:rPr>
              <a:t>0.70</a:t>
            </a:r>
            <a:endParaRPr lang="en-US" sz="780" dirty="0"/>
          </a:p>
        </p:txBody>
      </p:sp>
      <p:sp>
        <p:nvSpPr>
          <p:cNvPr id="48" name="Shape 46"/>
          <p:cNvSpPr/>
          <p:nvPr/>
        </p:nvSpPr>
        <p:spPr>
          <a:xfrm>
            <a:off x="5806440" y="2633472"/>
            <a:ext cx="2971800" cy="256032"/>
          </a:xfrm>
          <a:prstGeom prst="roundRect">
            <a:avLst>
              <a:gd name="adj" fmla="val 17857"/>
            </a:avLst>
          </a:prstGeom>
          <a:solidFill>
            <a:srgbClr val="0D1628"/>
          </a:solidFill>
          <a:ln w="12700">
            <a:solidFill>
              <a:srgbClr val="2A3A5A"/>
            </a:solidFill>
            <a:prstDash val="solid"/>
          </a:ln>
        </p:spPr>
      </p:sp>
      <p:sp>
        <p:nvSpPr>
          <p:cNvPr id="49" name="Text 47"/>
          <p:cNvSpPr/>
          <p:nvPr/>
        </p:nvSpPr>
        <p:spPr>
          <a:xfrm>
            <a:off x="5870448" y="2660904"/>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MultiSigThresholdPence</a:t>
            </a:r>
            <a:endParaRPr lang="en-US" sz="780" dirty="0"/>
          </a:p>
        </p:txBody>
      </p:sp>
      <p:sp>
        <p:nvSpPr>
          <p:cNvPr id="50" name="Text 48"/>
          <p:cNvSpPr/>
          <p:nvPr/>
        </p:nvSpPr>
        <p:spPr>
          <a:xfrm>
            <a:off x="7726680" y="2660904"/>
            <a:ext cx="987552" cy="201168"/>
          </a:xfrm>
          <a:prstGeom prst="rect">
            <a:avLst/>
          </a:prstGeom>
          <a:noFill/>
          <a:ln/>
        </p:spPr>
        <p:txBody>
          <a:bodyPr wrap="square" lIns="0" tIns="0" rIns="0" bIns="0" rtlCol="0" anchor="ctr"/>
          <a:lstStyle/>
          <a:p>
            <a:pPr marL="0" indent="0" algn="r">
              <a:buNone/>
            </a:pPr>
            <a:r>
              <a:rPr lang="en-US" sz="780" b="1" dirty="0">
                <a:solidFill>
                  <a:srgbClr val="7B2FBE"/>
                </a:solidFill>
                <a:latin typeface="Courier New" pitchFamily="34" charset="0"/>
                <a:ea typeface="Courier New" pitchFamily="34" charset="-122"/>
                <a:cs typeface="Courier New" pitchFamily="34" charset="-120"/>
              </a:rPr>
              <a:t>5000000</a:t>
            </a:r>
            <a:endParaRPr lang="en-US" sz="780" dirty="0"/>
          </a:p>
        </p:txBody>
      </p:sp>
      <p:sp>
        <p:nvSpPr>
          <p:cNvPr id="51" name="Shape 49"/>
          <p:cNvSpPr/>
          <p:nvPr/>
        </p:nvSpPr>
        <p:spPr>
          <a:xfrm>
            <a:off x="5806440" y="2926080"/>
            <a:ext cx="2971800" cy="256032"/>
          </a:xfrm>
          <a:prstGeom prst="roundRect">
            <a:avLst>
              <a:gd name="adj" fmla="val 17857"/>
            </a:avLst>
          </a:prstGeom>
          <a:solidFill>
            <a:srgbClr val="0D1628"/>
          </a:solidFill>
          <a:ln w="12700">
            <a:solidFill>
              <a:srgbClr val="2A3A5A"/>
            </a:solidFill>
            <a:prstDash val="solid"/>
          </a:ln>
        </p:spPr>
      </p:sp>
      <p:sp>
        <p:nvSpPr>
          <p:cNvPr id="52" name="Text 50"/>
          <p:cNvSpPr/>
          <p:nvPr/>
        </p:nvSpPr>
        <p:spPr>
          <a:xfrm>
            <a:off x="5870448" y="2953512"/>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NewPayeeThresholdPence</a:t>
            </a:r>
            <a:endParaRPr lang="en-US" sz="780" dirty="0"/>
          </a:p>
        </p:txBody>
      </p:sp>
      <p:sp>
        <p:nvSpPr>
          <p:cNvPr id="53" name="Text 51"/>
          <p:cNvSpPr/>
          <p:nvPr/>
        </p:nvSpPr>
        <p:spPr>
          <a:xfrm>
            <a:off x="7726680" y="2953512"/>
            <a:ext cx="987552" cy="201168"/>
          </a:xfrm>
          <a:prstGeom prst="rect">
            <a:avLst/>
          </a:prstGeom>
          <a:noFill/>
          <a:ln/>
        </p:spPr>
        <p:txBody>
          <a:bodyPr wrap="square" lIns="0" tIns="0" rIns="0" bIns="0" rtlCol="0" anchor="ctr"/>
          <a:lstStyle/>
          <a:p>
            <a:pPr marL="0" indent="0" algn="r">
              <a:buNone/>
            </a:pPr>
            <a:r>
              <a:rPr lang="en-US" sz="780" b="1" dirty="0">
                <a:solidFill>
                  <a:srgbClr val="E8A020"/>
                </a:solidFill>
                <a:latin typeface="Courier New" pitchFamily="34" charset="0"/>
                <a:ea typeface="Courier New" pitchFamily="34" charset="-122"/>
                <a:cs typeface="Courier New" pitchFamily="34" charset="-120"/>
              </a:rPr>
              <a:t>1000000</a:t>
            </a:r>
            <a:endParaRPr lang="en-US" sz="780" dirty="0"/>
          </a:p>
        </p:txBody>
      </p:sp>
      <p:sp>
        <p:nvSpPr>
          <p:cNvPr id="54" name="Shape 52"/>
          <p:cNvSpPr/>
          <p:nvPr/>
        </p:nvSpPr>
        <p:spPr>
          <a:xfrm>
            <a:off x="5806440" y="3218688"/>
            <a:ext cx="2971800" cy="256032"/>
          </a:xfrm>
          <a:prstGeom prst="roundRect">
            <a:avLst>
              <a:gd name="adj" fmla="val 17857"/>
            </a:avLst>
          </a:prstGeom>
          <a:solidFill>
            <a:srgbClr val="0D1628"/>
          </a:solidFill>
          <a:ln w="12700">
            <a:solidFill>
              <a:srgbClr val="2A3A5A"/>
            </a:solidFill>
            <a:prstDash val="solid"/>
          </a:ln>
        </p:spPr>
      </p:sp>
      <p:sp>
        <p:nvSpPr>
          <p:cNvPr id="55" name="Text 53"/>
          <p:cNvSpPr/>
          <p:nvPr/>
        </p:nvSpPr>
        <p:spPr>
          <a:xfrm>
            <a:off x="5870448" y="3246120"/>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NewDeviceThresholdPence</a:t>
            </a:r>
            <a:endParaRPr lang="en-US" sz="780" dirty="0"/>
          </a:p>
        </p:txBody>
      </p:sp>
      <p:sp>
        <p:nvSpPr>
          <p:cNvPr id="56" name="Text 54"/>
          <p:cNvSpPr/>
          <p:nvPr/>
        </p:nvSpPr>
        <p:spPr>
          <a:xfrm>
            <a:off x="7726680" y="3246120"/>
            <a:ext cx="987552" cy="201168"/>
          </a:xfrm>
          <a:prstGeom prst="rect">
            <a:avLst/>
          </a:prstGeom>
          <a:noFill/>
          <a:ln/>
        </p:spPr>
        <p:txBody>
          <a:bodyPr wrap="square" lIns="0" tIns="0" rIns="0" bIns="0" rtlCol="0" anchor="ctr"/>
          <a:lstStyle/>
          <a:p>
            <a:pPr marL="0" indent="0" algn="r">
              <a:buNone/>
            </a:pPr>
            <a:r>
              <a:rPr lang="en-US" sz="780" b="1" dirty="0">
                <a:solidFill>
                  <a:srgbClr val="E8A020"/>
                </a:solidFill>
                <a:latin typeface="Courier New" pitchFamily="34" charset="0"/>
                <a:ea typeface="Courier New" pitchFamily="34" charset="-122"/>
                <a:cs typeface="Courier New" pitchFamily="34" charset="-120"/>
              </a:rPr>
              <a:t>500000</a:t>
            </a:r>
            <a:endParaRPr lang="en-US" sz="780" dirty="0"/>
          </a:p>
        </p:txBody>
      </p:sp>
      <p:sp>
        <p:nvSpPr>
          <p:cNvPr id="57" name="Shape 55"/>
          <p:cNvSpPr/>
          <p:nvPr/>
        </p:nvSpPr>
        <p:spPr>
          <a:xfrm>
            <a:off x="5806440" y="3511296"/>
            <a:ext cx="2971800" cy="256032"/>
          </a:xfrm>
          <a:prstGeom prst="roundRect">
            <a:avLst>
              <a:gd name="adj" fmla="val 17857"/>
            </a:avLst>
          </a:prstGeom>
          <a:solidFill>
            <a:srgbClr val="0D1628"/>
          </a:solidFill>
          <a:ln w="12700">
            <a:solidFill>
              <a:srgbClr val="2A3A5A"/>
            </a:solidFill>
            <a:prstDash val="solid"/>
          </a:ln>
        </p:spPr>
      </p:sp>
      <p:sp>
        <p:nvSpPr>
          <p:cNvPr id="58" name="Text 56"/>
          <p:cNvSpPr/>
          <p:nvPr/>
        </p:nvSpPr>
        <p:spPr>
          <a:xfrm>
            <a:off x="5870448" y="3538728"/>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VelocityLimit</a:t>
            </a:r>
            <a:endParaRPr lang="en-US" sz="780" dirty="0"/>
          </a:p>
        </p:txBody>
      </p:sp>
      <p:sp>
        <p:nvSpPr>
          <p:cNvPr id="59" name="Text 57"/>
          <p:cNvSpPr/>
          <p:nvPr/>
        </p:nvSpPr>
        <p:spPr>
          <a:xfrm>
            <a:off x="7726680" y="3538728"/>
            <a:ext cx="987552" cy="201168"/>
          </a:xfrm>
          <a:prstGeom prst="rect">
            <a:avLst/>
          </a:prstGeom>
          <a:noFill/>
          <a:ln/>
        </p:spPr>
        <p:txBody>
          <a:bodyPr wrap="square" lIns="0" tIns="0" rIns="0" bIns="0" rtlCol="0" anchor="ctr"/>
          <a:lstStyle/>
          <a:p>
            <a:pPr marL="0" indent="0" algn="r">
              <a:buNone/>
            </a:pPr>
            <a:r>
              <a:rPr lang="en-US" sz="780" b="1" dirty="0">
                <a:solidFill>
                  <a:srgbClr val="C0392B"/>
                </a:solidFill>
                <a:latin typeface="Courier New" pitchFamily="34" charset="0"/>
                <a:ea typeface="Courier New" pitchFamily="34" charset="-122"/>
                <a:cs typeface="Courier New" pitchFamily="34" charset="-120"/>
              </a:rPr>
              <a:t>3/hr</a:t>
            </a:r>
            <a:endParaRPr lang="en-US" sz="780" dirty="0"/>
          </a:p>
        </p:txBody>
      </p:sp>
      <p:sp>
        <p:nvSpPr>
          <p:cNvPr id="60" name="Shape 58"/>
          <p:cNvSpPr/>
          <p:nvPr/>
        </p:nvSpPr>
        <p:spPr>
          <a:xfrm>
            <a:off x="5806440" y="3803904"/>
            <a:ext cx="2971800" cy="256032"/>
          </a:xfrm>
          <a:prstGeom prst="roundRect">
            <a:avLst>
              <a:gd name="adj" fmla="val 17857"/>
            </a:avLst>
          </a:prstGeom>
          <a:solidFill>
            <a:srgbClr val="0D1628"/>
          </a:solidFill>
          <a:ln w="12700">
            <a:solidFill>
              <a:srgbClr val="2A3A5A"/>
            </a:solidFill>
            <a:prstDash val="solid"/>
          </a:ln>
        </p:spPr>
      </p:sp>
      <p:sp>
        <p:nvSpPr>
          <p:cNvPr id="61" name="Text 59"/>
          <p:cNvSpPr/>
          <p:nvPr/>
        </p:nvSpPr>
        <p:spPr>
          <a:xfrm>
            <a:off x="5870448" y="3831336"/>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FlagExpiryDays</a:t>
            </a:r>
            <a:endParaRPr lang="en-US" sz="780" dirty="0"/>
          </a:p>
        </p:txBody>
      </p:sp>
      <p:sp>
        <p:nvSpPr>
          <p:cNvPr id="62" name="Text 60"/>
          <p:cNvSpPr/>
          <p:nvPr/>
        </p:nvSpPr>
        <p:spPr>
          <a:xfrm>
            <a:off x="7726680" y="3831336"/>
            <a:ext cx="987552" cy="201168"/>
          </a:xfrm>
          <a:prstGeom prst="rect">
            <a:avLst/>
          </a:prstGeom>
          <a:noFill/>
          <a:ln/>
        </p:spPr>
        <p:txBody>
          <a:bodyPr wrap="square" lIns="0" tIns="0" rIns="0" bIns="0" rtlCol="0" anchor="ctr"/>
          <a:lstStyle/>
          <a:p>
            <a:pPr marL="0" indent="0" algn="r">
              <a:buNone/>
            </a:pPr>
            <a:r>
              <a:rPr lang="en-US" sz="780" b="1" dirty="0">
                <a:solidFill>
                  <a:srgbClr val="0D9488"/>
                </a:solidFill>
                <a:latin typeface="Courier New" pitchFamily="34" charset="0"/>
                <a:ea typeface="Courier New" pitchFamily="34" charset="-122"/>
                <a:cs typeface="Courier New" pitchFamily="34" charset="-120"/>
              </a:rPr>
              <a:t>90</a:t>
            </a:r>
            <a:endParaRPr lang="en-US" sz="780" dirty="0"/>
          </a:p>
        </p:txBody>
      </p:sp>
      <p:sp>
        <p:nvSpPr>
          <p:cNvPr id="63" name="Shape 61"/>
          <p:cNvSpPr/>
          <p:nvPr/>
        </p:nvSpPr>
        <p:spPr>
          <a:xfrm>
            <a:off x="5806440" y="4096512"/>
            <a:ext cx="2971800" cy="256032"/>
          </a:xfrm>
          <a:prstGeom prst="roundRect">
            <a:avLst>
              <a:gd name="adj" fmla="val 17857"/>
            </a:avLst>
          </a:prstGeom>
          <a:solidFill>
            <a:srgbClr val="0D1628"/>
          </a:solidFill>
          <a:ln w="12700">
            <a:solidFill>
              <a:srgbClr val="2A3A5A"/>
            </a:solidFill>
            <a:prstDash val="solid"/>
          </a:ln>
        </p:spPr>
      </p:sp>
      <p:sp>
        <p:nvSpPr>
          <p:cNvPr id="64" name="Text 62"/>
          <p:cNvSpPr/>
          <p:nvPr/>
        </p:nvSpPr>
        <p:spPr>
          <a:xfrm>
            <a:off x="5870448" y="4123944"/>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HoldDurationShortSec</a:t>
            </a:r>
            <a:endParaRPr lang="en-US" sz="780" dirty="0"/>
          </a:p>
        </p:txBody>
      </p:sp>
      <p:sp>
        <p:nvSpPr>
          <p:cNvPr id="65" name="Text 63"/>
          <p:cNvSpPr/>
          <p:nvPr/>
        </p:nvSpPr>
        <p:spPr>
          <a:xfrm>
            <a:off x="7726680" y="4123944"/>
            <a:ext cx="987552" cy="201168"/>
          </a:xfrm>
          <a:prstGeom prst="rect">
            <a:avLst/>
          </a:prstGeom>
          <a:noFill/>
          <a:ln/>
        </p:spPr>
        <p:txBody>
          <a:bodyPr wrap="square" lIns="0" tIns="0" rIns="0" bIns="0" rtlCol="0" anchor="ctr"/>
          <a:lstStyle/>
          <a:p>
            <a:pPr marL="0" indent="0" algn="r">
              <a:buNone/>
            </a:pPr>
            <a:r>
              <a:rPr lang="en-US" sz="780" b="1" dirty="0">
                <a:solidFill>
                  <a:srgbClr val="0D9488"/>
                </a:solidFill>
                <a:latin typeface="Courier New" pitchFamily="34" charset="0"/>
                <a:ea typeface="Courier New" pitchFamily="34" charset="-122"/>
                <a:cs typeface="Courier New" pitchFamily="34" charset="-120"/>
              </a:rPr>
              <a:t>14400</a:t>
            </a:r>
            <a:endParaRPr lang="en-US" sz="780" dirty="0"/>
          </a:p>
        </p:txBody>
      </p:sp>
      <p:sp>
        <p:nvSpPr>
          <p:cNvPr id="66" name="Shape 64"/>
          <p:cNvSpPr/>
          <p:nvPr/>
        </p:nvSpPr>
        <p:spPr>
          <a:xfrm>
            <a:off x="5806440" y="4389120"/>
            <a:ext cx="2971800" cy="256032"/>
          </a:xfrm>
          <a:prstGeom prst="roundRect">
            <a:avLst>
              <a:gd name="adj" fmla="val 17857"/>
            </a:avLst>
          </a:prstGeom>
          <a:solidFill>
            <a:srgbClr val="0D1628"/>
          </a:solidFill>
          <a:ln w="12700">
            <a:solidFill>
              <a:srgbClr val="2A3A5A"/>
            </a:solidFill>
            <a:prstDash val="solid"/>
          </a:ln>
        </p:spPr>
      </p:sp>
      <p:sp>
        <p:nvSpPr>
          <p:cNvPr id="67" name="Text 65"/>
          <p:cNvSpPr/>
          <p:nvPr/>
        </p:nvSpPr>
        <p:spPr>
          <a:xfrm>
            <a:off x="5870448" y="4416552"/>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HoldDurationLongSec</a:t>
            </a:r>
            <a:endParaRPr lang="en-US" sz="780" dirty="0"/>
          </a:p>
        </p:txBody>
      </p:sp>
      <p:sp>
        <p:nvSpPr>
          <p:cNvPr id="68" name="Text 66"/>
          <p:cNvSpPr/>
          <p:nvPr/>
        </p:nvSpPr>
        <p:spPr>
          <a:xfrm>
            <a:off x="7726680" y="4416552"/>
            <a:ext cx="987552" cy="201168"/>
          </a:xfrm>
          <a:prstGeom prst="rect">
            <a:avLst/>
          </a:prstGeom>
          <a:noFill/>
          <a:ln/>
        </p:spPr>
        <p:txBody>
          <a:bodyPr wrap="square" lIns="0" tIns="0" rIns="0" bIns="0" rtlCol="0" anchor="ctr"/>
          <a:lstStyle/>
          <a:p>
            <a:pPr marL="0" indent="0" algn="r">
              <a:buNone/>
            </a:pPr>
            <a:r>
              <a:rPr lang="en-US" sz="780" b="1" dirty="0">
                <a:solidFill>
                  <a:srgbClr val="0D9488"/>
                </a:solidFill>
                <a:latin typeface="Courier New" pitchFamily="34" charset="0"/>
                <a:ea typeface="Courier New" pitchFamily="34" charset="-122"/>
                <a:cs typeface="Courier New" pitchFamily="34" charset="-120"/>
              </a:rPr>
              <a:t>86400</a:t>
            </a:r>
            <a:endParaRPr lang="en-US" sz="780" dirty="0"/>
          </a:p>
        </p:txBody>
      </p:sp>
      <p:sp>
        <p:nvSpPr>
          <p:cNvPr id="69" name="Shape 67"/>
          <p:cNvSpPr/>
          <p:nvPr/>
        </p:nvSpPr>
        <p:spPr>
          <a:xfrm>
            <a:off x="5806440" y="4681728"/>
            <a:ext cx="2971800" cy="256032"/>
          </a:xfrm>
          <a:prstGeom prst="roundRect">
            <a:avLst>
              <a:gd name="adj" fmla="val 17857"/>
            </a:avLst>
          </a:prstGeom>
          <a:solidFill>
            <a:srgbClr val="0D1628"/>
          </a:solidFill>
          <a:ln w="12700">
            <a:solidFill>
              <a:srgbClr val="2A3A5A"/>
            </a:solidFill>
            <a:prstDash val="solid"/>
          </a:ln>
        </p:spPr>
      </p:sp>
      <p:sp>
        <p:nvSpPr>
          <p:cNvPr id="70" name="Text 68"/>
          <p:cNvSpPr/>
          <p:nvPr/>
        </p:nvSpPr>
        <p:spPr>
          <a:xfrm>
            <a:off x="5870448" y="4709160"/>
            <a:ext cx="1828800" cy="201168"/>
          </a:xfrm>
          <a:prstGeom prst="rect">
            <a:avLst/>
          </a:prstGeom>
          <a:noFill/>
          <a:ln/>
        </p:spPr>
        <p:txBody>
          <a:bodyPr wrap="square" lIns="0" tIns="0" rIns="0" bIns="0" rtlCol="0" anchor="ctr"/>
          <a:lstStyle/>
          <a:p>
            <a:pPr marL="0" indent="0">
              <a:buNone/>
            </a:pPr>
            <a:r>
              <a:rPr lang="en-US" sz="780" dirty="0">
                <a:solidFill>
                  <a:srgbClr val="79C0FF"/>
                </a:solidFill>
                <a:latin typeface="Courier New" pitchFamily="34" charset="0"/>
                <a:ea typeface="Courier New" pitchFamily="34" charset="-122"/>
                <a:cs typeface="Courier New" pitchFamily="34" charset="-120"/>
              </a:rPr>
              <a:t>MultiSigExpirySec</a:t>
            </a:r>
            <a:endParaRPr lang="en-US" sz="780" dirty="0"/>
          </a:p>
        </p:txBody>
      </p:sp>
      <p:sp>
        <p:nvSpPr>
          <p:cNvPr id="71" name="Text 69"/>
          <p:cNvSpPr/>
          <p:nvPr/>
        </p:nvSpPr>
        <p:spPr>
          <a:xfrm>
            <a:off x="7726680" y="4709160"/>
            <a:ext cx="987552" cy="201168"/>
          </a:xfrm>
          <a:prstGeom prst="rect">
            <a:avLst/>
          </a:prstGeom>
          <a:noFill/>
          <a:ln/>
        </p:spPr>
        <p:txBody>
          <a:bodyPr wrap="square" lIns="0" tIns="0" rIns="0" bIns="0" rtlCol="0" anchor="ctr"/>
          <a:lstStyle/>
          <a:p>
            <a:pPr marL="0" indent="0" algn="r">
              <a:buNone/>
            </a:pPr>
            <a:r>
              <a:rPr lang="en-US" sz="780" b="1" dirty="0">
                <a:solidFill>
                  <a:srgbClr val="0D9488"/>
                </a:solidFill>
                <a:latin typeface="Courier New" pitchFamily="34" charset="0"/>
                <a:ea typeface="Courier New" pitchFamily="34" charset="-122"/>
                <a:cs typeface="Courier New" pitchFamily="34" charset="-120"/>
              </a:rPr>
              <a:t>1800</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1D3A"/>
          </a:solidFill>
          <a:ln w="12700">
            <a:solidFill>
              <a:srgbClr val="0B1D3A"/>
            </a:solidFill>
            <a:prstDash val="solid"/>
          </a:ln>
        </p:spPr>
      </p:sp>
      <p:sp>
        <p:nvSpPr>
          <p:cNvPr id="3" name="Text 1"/>
          <p:cNvSpPr/>
          <p:nvPr/>
        </p:nvSpPr>
        <p:spPr>
          <a:xfrm>
            <a:off x="365760" y="91440"/>
            <a:ext cx="8412480" cy="32004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CONTRACT INTERACTION</a:t>
            </a:r>
            <a:endParaRPr lang="en-US" sz="1000" dirty="0"/>
          </a:p>
        </p:txBody>
      </p:sp>
      <p:sp>
        <p:nvSpPr>
          <p:cNvPr id="4" name="Text 2"/>
          <p:cNvSpPr/>
          <p:nvPr/>
        </p:nvSpPr>
        <p:spPr>
          <a:xfrm>
            <a:off x="365760" y="438912"/>
            <a:ext cx="8412480" cy="402336"/>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How the Five Chaincodes Work Together — Call Graph</a:t>
            </a:r>
            <a:endParaRPr lang="en-US" sz="1700" dirty="0"/>
          </a:p>
        </p:txBody>
      </p:sp>
      <p:sp>
        <p:nvSpPr>
          <p:cNvPr id="5" name="Shape 3"/>
          <p:cNvSpPr/>
          <p:nvPr/>
        </p:nvSpPr>
        <p:spPr>
          <a:xfrm>
            <a:off x="2286000" y="1024128"/>
            <a:ext cx="4572000" cy="548640"/>
          </a:xfrm>
          <a:prstGeom prst="roundRect">
            <a:avLst>
              <a:gd name="adj" fmla="val 16667"/>
            </a:avLst>
          </a:prstGeom>
          <a:solidFill>
            <a:srgbClr val="0B1D3A"/>
          </a:solidFill>
          <a:ln w="12700">
            <a:solidFill>
              <a:srgbClr val="8FA5BF"/>
            </a:solidFill>
            <a:prstDash val="solid"/>
          </a:ln>
          <a:effectLst>
            <a:outerShdw blurRad="63500" dist="25400" dir="2700000" algn="bl" rotWithShape="0">
              <a:srgbClr val="000000">
                <a:alpha val="13000"/>
              </a:srgbClr>
            </a:outerShdw>
          </a:effectLst>
        </p:spPr>
      </p:sp>
      <p:sp>
        <p:nvSpPr>
          <p:cNvPr id="6" name="Text 4"/>
          <p:cNvSpPr/>
          <p:nvPr/>
        </p:nvSpPr>
        <p:spPr>
          <a:xfrm>
            <a:off x="2286000" y="1024128"/>
            <a:ext cx="4572000" cy="5486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Bank Integration Layer  (REST / gRPC API)</a:t>
            </a:r>
            <a:endParaRPr lang="en-US" sz="1150" dirty="0"/>
          </a:p>
        </p:txBody>
      </p:sp>
      <p:sp>
        <p:nvSpPr>
          <p:cNvPr id="7" name="Text 5"/>
          <p:cNvSpPr/>
          <p:nvPr/>
        </p:nvSpPr>
        <p:spPr>
          <a:xfrm>
            <a:off x="3474720" y="1591056"/>
            <a:ext cx="2194560" cy="201168"/>
          </a:xfrm>
          <a:prstGeom prst="rect">
            <a:avLst/>
          </a:prstGeom>
          <a:noFill/>
          <a:ln/>
        </p:spPr>
        <p:txBody>
          <a:bodyPr wrap="square" lIns="0" tIns="0" rIns="0" bIns="0" rtlCol="0" anchor="ctr"/>
          <a:lstStyle/>
          <a:p>
            <a:pPr marL="0" indent="0" algn="ctr">
              <a:buNone/>
            </a:pPr>
            <a:r>
              <a:rPr lang="en-US" sz="800" i="1" dirty="0">
                <a:solidFill>
                  <a:srgbClr val="8FA5BF"/>
                </a:solidFill>
                <a:latin typeface="Calibri" pitchFamily="34" charset="0"/>
                <a:ea typeface="Calibri" pitchFamily="34" charset="-122"/>
                <a:cs typeface="Calibri" pitchFamily="34" charset="-120"/>
              </a:rPr>
              <a:t>↓  invokes on every payment</a:t>
            </a:r>
            <a:endParaRPr lang="en-US" sz="800" dirty="0"/>
          </a:p>
        </p:txBody>
      </p:sp>
      <p:sp>
        <p:nvSpPr>
          <p:cNvPr id="8" name="Shape 6"/>
          <p:cNvSpPr/>
          <p:nvPr/>
        </p:nvSpPr>
        <p:spPr>
          <a:xfrm>
            <a:off x="3017520" y="1810512"/>
            <a:ext cx="3108960" cy="658368"/>
          </a:xfrm>
          <a:prstGeom prst="roundRect">
            <a:avLst>
              <a:gd name="adj" fmla="val 13889"/>
            </a:avLst>
          </a:prstGeom>
          <a:solidFill>
            <a:srgbClr val="0A1E14"/>
          </a:solidFill>
          <a:ln w="25400">
            <a:solidFill>
              <a:srgbClr val="1DB87A"/>
            </a:solidFill>
            <a:prstDash val="solid"/>
          </a:ln>
          <a:effectLst>
            <a:outerShdw blurRad="101600" dist="38100" dir="2700000" algn="bl" rotWithShape="0">
              <a:srgbClr val="000000">
                <a:alpha val="20000"/>
              </a:srgbClr>
            </a:outerShdw>
          </a:effectLst>
        </p:spPr>
      </p:sp>
      <p:sp>
        <p:nvSpPr>
          <p:cNvPr id="9" name="Text 7"/>
          <p:cNvSpPr/>
          <p:nvPr/>
        </p:nvSpPr>
        <p:spPr>
          <a:xfrm>
            <a:off x="3017520" y="1810512"/>
            <a:ext cx="3108960" cy="658368"/>
          </a:xfrm>
          <a:prstGeom prst="rect">
            <a:avLst/>
          </a:prstGeom>
          <a:noFill/>
          <a:ln/>
        </p:spPr>
        <p:txBody>
          <a:bodyPr wrap="square" lIns="0" tIns="0" rIns="0" bIns="0" rtlCol="0" anchor="ctr"/>
          <a:lstStyle/>
          <a:p>
            <a:pPr marL="0" indent="0" algn="ctr">
              <a:buNone/>
            </a:pPr>
            <a:r>
              <a:rPr lang="en-US" sz="1200" b="1" dirty="0">
                <a:solidFill>
                  <a:srgbClr val="1DB87A"/>
                </a:solidFill>
                <a:latin typeface="Calibri" pitchFamily="34" charset="0"/>
                <a:ea typeface="Calibri" pitchFamily="34" charset="-122"/>
                <a:cs typeface="Calibri" pitchFamily="34" charset="-120"/>
              </a:rPr>
              <a:t>SC-05  AnomalyDecisionEngine</a:t>
            </a:r>
            <a:endParaRPr lang="en-US" sz="1200" dirty="0"/>
          </a:p>
        </p:txBody>
      </p:sp>
      <p:sp>
        <p:nvSpPr>
          <p:cNvPr id="10" name="Shape 8"/>
          <p:cNvSpPr/>
          <p:nvPr/>
        </p:nvSpPr>
        <p:spPr>
          <a:xfrm>
            <a:off x="274320" y="3063240"/>
            <a:ext cx="2331720" cy="731520"/>
          </a:xfrm>
          <a:prstGeom prst="roundRect">
            <a:avLst>
              <a:gd name="adj" fmla="val 12500"/>
            </a:avLst>
          </a:prstGeom>
          <a:solidFill>
            <a:srgbClr val="FFFFFF"/>
          </a:solidFill>
          <a:ln w="19050">
            <a:solidFill>
              <a:srgbClr val="C0392B"/>
            </a:solidFill>
            <a:prstDash val="solid"/>
          </a:ln>
          <a:effectLst>
            <a:outerShdw blurRad="63500" dist="25400" dir="2700000" algn="bl" rotWithShape="0">
              <a:srgbClr val="000000">
                <a:alpha val="13000"/>
              </a:srgbClr>
            </a:outerShdw>
          </a:effectLst>
        </p:spPr>
      </p:sp>
      <p:sp>
        <p:nvSpPr>
          <p:cNvPr id="11" name="Text 9"/>
          <p:cNvSpPr/>
          <p:nvPr/>
        </p:nvSpPr>
        <p:spPr>
          <a:xfrm>
            <a:off x="274320" y="3063240"/>
            <a:ext cx="2331720" cy="731520"/>
          </a:xfrm>
          <a:prstGeom prst="rect">
            <a:avLst/>
          </a:prstGeom>
          <a:noFill/>
          <a:ln/>
        </p:spPr>
        <p:txBody>
          <a:bodyPr wrap="square" lIns="0" tIns="0" rIns="0" bIns="0" rtlCol="0" anchor="ctr"/>
          <a:lstStyle/>
          <a:p>
            <a:pPr marL="0" indent="0" algn="ctr">
              <a:buNone/>
            </a:pPr>
            <a:r>
              <a:rPr lang="en-US" sz="1050" b="1" dirty="0">
                <a:solidFill>
                  <a:srgbClr val="C0392B"/>
                </a:solidFill>
                <a:latin typeface="Calibri" pitchFamily="34" charset="0"/>
                <a:ea typeface="Calibri" pitchFamily="34" charset="-122"/>
                <a:cs typeface="Calibri" pitchFamily="34" charset="-120"/>
              </a:rPr>
              <a:t>SC-01</a:t>
            </a:r>
            <a:endParaRPr lang="en-US" sz="1050" dirty="0"/>
          </a:p>
          <a:p>
            <a:pPr marL="0" indent="0" algn="ctr">
              <a:buNone/>
            </a:pPr>
            <a:r>
              <a:rPr lang="en-US" sz="1050" b="1" dirty="0">
                <a:solidFill>
                  <a:srgbClr val="C0392B"/>
                </a:solidFill>
                <a:latin typeface="Calibri" pitchFamily="34" charset="0"/>
                <a:ea typeface="Calibri" pitchFamily="34" charset="-122"/>
                <a:cs typeface="Calibri" pitchFamily="34" charset="-120"/>
              </a:rPr>
              <a:t>FraudSignalRegistry</a:t>
            </a:r>
            <a:endParaRPr lang="en-US" sz="1050" dirty="0"/>
          </a:p>
        </p:txBody>
      </p:sp>
      <p:sp>
        <p:nvSpPr>
          <p:cNvPr id="12" name="Text 10"/>
          <p:cNvSpPr/>
          <p:nvPr/>
        </p:nvSpPr>
        <p:spPr>
          <a:xfrm>
            <a:off x="274320" y="3813048"/>
            <a:ext cx="2331720" cy="201168"/>
          </a:xfrm>
          <a:prstGeom prst="rect">
            <a:avLst/>
          </a:prstGeom>
          <a:noFill/>
          <a:ln/>
        </p:spPr>
        <p:txBody>
          <a:bodyPr wrap="square" lIns="0" tIns="0" rIns="0" bIns="0" rtlCol="0" anchor="ctr"/>
          <a:lstStyle/>
          <a:p>
            <a:pPr marL="0" indent="0" algn="ctr">
              <a:buNone/>
            </a:pPr>
            <a:r>
              <a:rPr lang="en-US" sz="800" i="1" dirty="0">
                <a:solidFill>
                  <a:srgbClr val="C0392B"/>
                </a:solidFill>
                <a:latin typeface="Calibri" pitchFamily="34" charset="0"/>
                <a:ea typeface="Calibri" pitchFamily="34" charset="-122"/>
                <a:cs typeface="Calibri" pitchFamily="34" charset="-120"/>
              </a:rPr>
              <a:t>← queries payee flag</a:t>
            </a:r>
            <a:endParaRPr lang="en-US" sz="800" dirty="0"/>
          </a:p>
        </p:txBody>
      </p:sp>
      <p:sp>
        <p:nvSpPr>
          <p:cNvPr id="13" name="Shape 11"/>
          <p:cNvSpPr/>
          <p:nvPr/>
        </p:nvSpPr>
        <p:spPr>
          <a:xfrm>
            <a:off x="3401568" y="3063240"/>
            <a:ext cx="2331720" cy="731520"/>
          </a:xfrm>
          <a:prstGeom prst="roundRect">
            <a:avLst>
              <a:gd name="adj" fmla="val 12500"/>
            </a:avLst>
          </a:prstGeom>
          <a:solidFill>
            <a:srgbClr val="FFFFFF"/>
          </a:solidFill>
          <a:ln w="19050">
            <a:solidFill>
              <a:srgbClr val="0D9488"/>
            </a:solidFill>
            <a:prstDash val="solid"/>
          </a:ln>
          <a:effectLst>
            <a:outerShdw blurRad="63500" dist="25400" dir="2700000" algn="bl" rotWithShape="0">
              <a:srgbClr val="000000">
                <a:alpha val="13000"/>
              </a:srgbClr>
            </a:outerShdw>
          </a:effectLst>
        </p:spPr>
      </p:sp>
      <p:sp>
        <p:nvSpPr>
          <p:cNvPr id="14" name="Text 12"/>
          <p:cNvSpPr/>
          <p:nvPr/>
        </p:nvSpPr>
        <p:spPr>
          <a:xfrm>
            <a:off x="3401568" y="3063240"/>
            <a:ext cx="2331720" cy="731520"/>
          </a:xfrm>
          <a:prstGeom prst="rect">
            <a:avLst/>
          </a:prstGeom>
          <a:noFill/>
          <a:ln/>
        </p:spPr>
        <p:txBody>
          <a:bodyPr wrap="square" lIns="0" tIns="0" rIns="0" bIns="0" rtlCol="0" anchor="ctr"/>
          <a:lstStyle/>
          <a:p>
            <a:pPr marL="0" indent="0" algn="ctr">
              <a:buNone/>
            </a:pPr>
            <a:r>
              <a:rPr lang="en-US" sz="1050" b="1" dirty="0">
                <a:solidFill>
                  <a:srgbClr val="0D9488"/>
                </a:solidFill>
                <a:latin typeface="Calibri" pitchFamily="34" charset="0"/>
                <a:ea typeface="Calibri" pitchFamily="34" charset="-122"/>
                <a:cs typeface="Calibri" pitchFamily="34" charset="-120"/>
              </a:rPr>
              <a:t>SC-02</a:t>
            </a:r>
            <a:endParaRPr lang="en-US" sz="1050" dirty="0"/>
          </a:p>
          <a:p>
            <a:pPr marL="0" indent="0" algn="ctr">
              <a:buNone/>
            </a:pPr>
            <a:r>
              <a:rPr lang="en-US" sz="1050" b="1" dirty="0">
                <a:solidFill>
                  <a:srgbClr val="0D9488"/>
                </a:solidFill>
                <a:latin typeface="Calibri" pitchFamily="34" charset="0"/>
                <a:ea typeface="Calibri" pitchFamily="34" charset="-122"/>
                <a:cs typeface="Calibri" pitchFamily="34" charset="-120"/>
              </a:rPr>
              <a:t>TransactionAuditTrail</a:t>
            </a:r>
            <a:endParaRPr lang="en-US" sz="1050" dirty="0"/>
          </a:p>
        </p:txBody>
      </p:sp>
      <p:sp>
        <p:nvSpPr>
          <p:cNvPr id="15" name="Text 13"/>
          <p:cNvSpPr/>
          <p:nvPr/>
        </p:nvSpPr>
        <p:spPr>
          <a:xfrm>
            <a:off x="3401568" y="3813048"/>
            <a:ext cx="2331720" cy="201168"/>
          </a:xfrm>
          <a:prstGeom prst="rect">
            <a:avLst/>
          </a:prstGeom>
          <a:noFill/>
          <a:ln/>
        </p:spPr>
        <p:txBody>
          <a:bodyPr wrap="square" lIns="0" tIns="0" rIns="0" bIns="0" rtlCol="0" anchor="ctr"/>
          <a:lstStyle/>
          <a:p>
            <a:pPr marL="0" indent="0" algn="ctr">
              <a:buNone/>
            </a:pPr>
            <a:r>
              <a:rPr lang="en-US" sz="800" i="1" dirty="0">
                <a:solidFill>
                  <a:srgbClr val="0D9488"/>
                </a:solidFill>
                <a:latin typeface="Calibri" pitchFamily="34" charset="0"/>
                <a:ea typeface="Calibri" pitchFamily="34" charset="-122"/>
                <a:cs typeface="Calibri" pitchFamily="34" charset="-120"/>
              </a:rPr>
              <a:t>← always writes record</a:t>
            </a:r>
            <a:endParaRPr lang="en-US" sz="800" dirty="0"/>
          </a:p>
        </p:txBody>
      </p:sp>
      <p:sp>
        <p:nvSpPr>
          <p:cNvPr id="16" name="Shape 14"/>
          <p:cNvSpPr/>
          <p:nvPr/>
        </p:nvSpPr>
        <p:spPr>
          <a:xfrm>
            <a:off x="6537960" y="3063240"/>
            <a:ext cx="2331720" cy="731520"/>
          </a:xfrm>
          <a:prstGeom prst="roundRect">
            <a:avLst>
              <a:gd name="adj" fmla="val 12500"/>
            </a:avLst>
          </a:prstGeom>
          <a:solidFill>
            <a:srgbClr val="FFFFFF"/>
          </a:solidFill>
          <a:ln w="19050">
            <a:solidFill>
              <a:srgbClr val="E8A020"/>
            </a:solidFill>
            <a:prstDash val="solid"/>
          </a:ln>
          <a:effectLst>
            <a:outerShdw blurRad="63500" dist="25400" dir="2700000" algn="bl" rotWithShape="0">
              <a:srgbClr val="000000">
                <a:alpha val="13000"/>
              </a:srgbClr>
            </a:outerShdw>
          </a:effectLst>
        </p:spPr>
      </p:sp>
      <p:sp>
        <p:nvSpPr>
          <p:cNvPr id="17" name="Text 15"/>
          <p:cNvSpPr/>
          <p:nvPr/>
        </p:nvSpPr>
        <p:spPr>
          <a:xfrm>
            <a:off x="6537960" y="3063240"/>
            <a:ext cx="2331720" cy="731520"/>
          </a:xfrm>
          <a:prstGeom prst="rect">
            <a:avLst/>
          </a:prstGeom>
          <a:noFill/>
          <a:ln/>
        </p:spPr>
        <p:txBody>
          <a:bodyPr wrap="square" lIns="0" tIns="0" rIns="0" bIns="0" rtlCol="0" anchor="ctr"/>
          <a:lstStyle/>
          <a:p>
            <a:pPr marL="0" indent="0" algn="ctr">
              <a:buNone/>
            </a:pPr>
            <a:r>
              <a:rPr lang="en-US" sz="1050" b="1" dirty="0">
                <a:solidFill>
                  <a:srgbClr val="E8A020"/>
                </a:solidFill>
                <a:latin typeface="Calibri" pitchFamily="34" charset="0"/>
                <a:ea typeface="Calibri" pitchFamily="34" charset="-122"/>
                <a:cs typeface="Calibri" pitchFamily="34" charset="-120"/>
              </a:rPr>
              <a:t>SC-03</a:t>
            </a:r>
            <a:endParaRPr lang="en-US" sz="1050" dirty="0"/>
          </a:p>
          <a:p>
            <a:pPr marL="0" indent="0" algn="ctr">
              <a:buNone/>
            </a:pPr>
            <a:r>
              <a:rPr lang="en-US" sz="1050" b="1" dirty="0">
                <a:solidFill>
                  <a:srgbClr val="E8A020"/>
                </a:solidFill>
                <a:latin typeface="Calibri" pitchFamily="34" charset="0"/>
                <a:ea typeface="Calibri" pitchFamily="34" charset="-122"/>
                <a:cs typeface="Calibri" pitchFamily="34" charset="-120"/>
              </a:rPr>
              <a:t>CoolingOffController</a:t>
            </a:r>
            <a:endParaRPr lang="en-US" sz="1050" dirty="0"/>
          </a:p>
        </p:txBody>
      </p:sp>
      <p:sp>
        <p:nvSpPr>
          <p:cNvPr id="18" name="Text 16"/>
          <p:cNvSpPr/>
          <p:nvPr/>
        </p:nvSpPr>
        <p:spPr>
          <a:xfrm>
            <a:off x="6537960" y="3813048"/>
            <a:ext cx="2331720" cy="201168"/>
          </a:xfrm>
          <a:prstGeom prst="rect">
            <a:avLst/>
          </a:prstGeom>
          <a:noFill/>
          <a:ln/>
        </p:spPr>
        <p:txBody>
          <a:bodyPr wrap="square" lIns="0" tIns="0" rIns="0" bIns="0" rtlCol="0" anchor="ctr"/>
          <a:lstStyle/>
          <a:p>
            <a:pPr marL="0" indent="0" algn="ctr">
              <a:buNone/>
            </a:pPr>
            <a:r>
              <a:rPr lang="en-US" sz="800" i="1" dirty="0">
                <a:solidFill>
                  <a:srgbClr val="E8A020"/>
                </a:solidFill>
                <a:latin typeface="Calibri" pitchFamily="34" charset="0"/>
                <a:ea typeface="Calibri" pitchFamily="34" charset="-122"/>
                <a:cs typeface="Calibri" pitchFamily="34" charset="-120"/>
              </a:rPr>
              <a:t>← initiates hold if needed</a:t>
            </a:r>
            <a:endParaRPr lang="en-US" sz="800" dirty="0"/>
          </a:p>
        </p:txBody>
      </p:sp>
      <p:sp>
        <p:nvSpPr>
          <p:cNvPr id="19" name="Shape 17"/>
          <p:cNvSpPr/>
          <p:nvPr/>
        </p:nvSpPr>
        <p:spPr>
          <a:xfrm>
            <a:off x="3401568" y="4206240"/>
            <a:ext cx="2331720" cy="640080"/>
          </a:xfrm>
          <a:prstGeom prst="roundRect">
            <a:avLst>
              <a:gd name="adj" fmla="val 14286"/>
            </a:avLst>
          </a:prstGeom>
          <a:solidFill>
            <a:srgbClr val="FFFFFF"/>
          </a:solidFill>
          <a:ln w="19050">
            <a:solidFill>
              <a:srgbClr val="7B2FBE"/>
            </a:solidFill>
            <a:prstDash val="solid"/>
          </a:ln>
          <a:effectLst>
            <a:outerShdw blurRad="63500" dist="25400" dir="2700000" algn="bl" rotWithShape="0">
              <a:srgbClr val="000000">
                <a:alpha val="13000"/>
              </a:srgbClr>
            </a:outerShdw>
          </a:effectLst>
        </p:spPr>
      </p:sp>
      <p:sp>
        <p:nvSpPr>
          <p:cNvPr id="20" name="Text 18"/>
          <p:cNvSpPr/>
          <p:nvPr/>
        </p:nvSpPr>
        <p:spPr>
          <a:xfrm>
            <a:off x="3401568" y="4206240"/>
            <a:ext cx="2331720" cy="640080"/>
          </a:xfrm>
          <a:prstGeom prst="rect">
            <a:avLst/>
          </a:prstGeom>
          <a:noFill/>
          <a:ln/>
        </p:spPr>
        <p:txBody>
          <a:bodyPr wrap="square" lIns="0" tIns="0" rIns="0" bIns="0" rtlCol="0" anchor="ctr"/>
          <a:lstStyle/>
          <a:p>
            <a:pPr marL="0" indent="0" algn="ctr">
              <a:buNone/>
            </a:pPr>
            <a:r>
              <a:rPr lang="en-US" sz="1050" b="1" dirty="0">
                <a:solidFill>
                  <a:srgbClr val="7B2FBE"/>
                </a:solidFill>
                <a:latin typeface="Calibri" pitchFamily="34" charset="0"/>
                <a:ea typeface="Calibri" pitchFamily="34" charset="-122"/>
                <a:cs typeface="Calibri" pitchFamily="34" charset="-120"/>
              </a:rPr>
              <a:t>SC-04</a:t>
            </a:r>
            <a:endParaRPr lang="en-US" sz="1050" dirty="0"/>
          </a:p>
          <a:p>
            <a:pPr marL="0" indent="0" algn="ctr">
              <a:buNone/>
            </a:pPr>
            <a:r>
              <a:rPr lang="en-US" sz="1050" b="1" dirty="0">
                <a:solidFill>
                  <a:srgbClr val="7B2FBE"/>
                </a:solidFill>
                <a:latin typeface="Calibri" pitchFamily="34" charset="0"/>
                <a:ea typeface="Calibri" pitchFamily="34" charset="-122"/>
                <a:cs typeface="Calibri" pitchFamily="34" charset="-120"/>
              </a:rPr>
              <a:t>MultiSigApproval</a:t>
            </a:r>
            <a:endParaRPr lang="en-US" sz="1050" dirty="0"/>
          </a:p>
        </p:txBody>
      </p:sp>
      <p:sp>
        <p:nvSpPr>
          <p:cNvPr id="21" name="Text 19"/>
          <p:cNvSpPr/>
          <p:nvPr/>
        </p:nvSpPr>
        <p:spPr>
          <a:xfrm>
            <a:off x="3401568" y="4864608"/>
            <a:ext cx="2331720" cy="201168"/>
          </a:xfrm>
          <a:prstGeom prst="rect">
            <a:avLst/>
          </a:prstGeom>
          <a:noFill/>
          <a:ln/>
        </p:spPr>
        <p:txBody>
          <a:bodyPr wrap="square" lIns="0" tIns="0" rIns="0" bIns="0" rtlCol="0" anchor="ctr"/>
          <a:lstStyle/>
          <a:p>
            <a:pPr marL="0" indent="0" algn="ctr">
              <a:buNone/>
            </a:pPr>
            <a:r>
              <a:rPr lang="en-US" sz="800" i="1" dirty="0">
                <a:solidFill>
                  <a:srgbClr val="7B2FBE"/>
                </a:solidFill>
                <a:latin typeface="Calibri" pitchFamily="34" charset="0"/>
                <a:ea typeface="Calibri" pitchFamily="34" charset="-122"/>
                <a:cs typeface="Calibri" pitchFamily="34" charset="-120"/>
              </a:rPr>
              <a:t>← triggered for amount &gt; £50,000</a:t>
            </a:r>
            <a:endParaRPr lang="en-US" sz="800" dirty="0"/>
          </a:p>
        </p:txBody>
      </p:sp>
      <p:sp>
        <p:nvSpPr>
          <p:cNvPr id="22" name="Shape 20"/>
          <p:cNvSpPr/>
          <p:nvPr/>
        </p:nvSpPr>
        <p:spPr>
          <a:xfrm>
            <a:off x="1435608" y="2450592"/>
            <a:ext cx="1609344" cy="36576"/>
          </a:xfrm>
          <a:prstGeom prst="rect">
            <a:avLst/>
          </a:prstGeom>
          <a:solidFill>
            <a:srgbClr val="C0392B"/>
          </a:solidFill>
          <a:ln w="12700">
            <a:solidFill>
              <a:srgbClr val="C0392B"/>
            </a:solidFill>
            <a:prstDash val="solid"/>
          </a:ln>
        </p:spPr>
      </p:sp>
      <p:sp>
        <p:nvSpPr>
          <p:cNvPr id="23" name="Shape 21"/>
          <p:cNvSpPr/>
          <p:nvPr/>
        </p:nvSpPr>
        <p:spPr>
          <a:xfrm>
            <a:off x="1435608" y="2450592"/>
            <a:ext cx="36576" cy="594360"/>
          </a:xfrm>
          <a:prstGeom prst="rect">
            <a:avLst/>
          </a:prstGeom>
          <a:solidFill>
            <a:srgbClr val="C0392B"/>
          </a:solidFill>
          <a:ln w="12700">
            <a:solidFill>
              <a:srgbClr val="C0392B"/>
            </a:solidFill>
            <a:prstDash val="solid"/>
          </a:ln>
        </p:spPr>
      </p:sp>
      <p:sp>
        <p:nvSpPr>
          <p:cNvPr id="24" name="Shape 22"/>
          <p:cNvSpPr/>
          <p:nvPr/>
        </p:nvSpPr>
        <p:spPr>
          <a:xfrm>
            <a:off x="4562856" y="2450592"/>
            <a:ext cx="36576" cy="594360"/>
          </a:xfrm>
          <a:prstGeom prst="rect">
            <a:avLst/>
          </a:prstGeom>
          <a:solidFill>
            <a:srgbClr val="0D9488"/>
          </a:solidFill>
          <a:ln w="12700">
            <a:solidFill>
              <a:srgbClr val="0D9488"/>
            </a:solidFill>
            <a:prstDash val="solid"/>
          </a:ln>
        </p:spPr>
      </p:sp>
      <p:sp>
        <p:nvSpPr>
          <p:cNvPr id="25" name="Shape 23"/>
          <p:cNvSpPr/>
          <p:nvPr/>
        </p:nvSpPr>
        <p:spPr>
          <a:xfrm>
            <a:off x="6062472" y="2450592"/>
            <a:ext cx="1645920" cy="36576"/>
          </a:xfrm>
          <a:prstGeom prst="rect">
            <a:avLst/>
          </a:prstGeom>
          <a:solidFill>
            <a:srgbClr val="E8A020"/>
          </a:solidFill>
          <a:ln w="12700">
            <a:solidFill>
              <a:srgbClr val="E8A020"/>
            </a:solidFill>
            <a:prstDash val="solid"/>
          </a:ln>
        </p:spPr>
      </p:sp>
      <p:sp>
        <p:nvSpPr>
          <p:cNvPr id="26" name="Shape 24"/>
          <p:cNvSpPr/>
          <p:nvPr/>
        </p:nvSpPr>
        <p:spPr>
          <a:xfrm>
            <a:off x="7671816" y="2450592"/>
            <a:ext cx="36576" cy="594360"/>
          </a:xfrm>
          <a:prstGeom prst="rect">
            <a:avLst/>
          </a:prstGeom>
          <a:solidFill>
            <a:srgbClr val="E8A020"/>
          </a:solidFill>
          <a:ln w="12700">
            <a:solidFill>
              <a:srgbClr val="E8A020"/>
            </a:solidFill>
            <a:prstDash val="solid"/>
          </a:ln>
        </p:spPr>
      </p:sp>
      <p:sp>
        <p:nvSpPr>
          <p:cNvPr id="27" name="Shape 25"/>
          <p:cNvSpPr/>
          <p:nvPr/>
        </p:nvSpPr>
        <p:spPr>
          <a:xfrm>
            <a:off x="4562856" y="3776472"/>
            <a:ext cx="36576" cy="429768"/>
          </a:xfrm>
          <a:prstGeom prst="rect">
            <a:avLst/>
          </a:prstGeom>
          <a:solidFill>
            <a:srgbClr val="7B2FBE"/>
          </a:solidFill>
          <a:ln w="12700">
            <a:solidFill>
              <a:srgbClr val="7B2FBE"/>
            </a:solidFill>
            <a:prstDash val="solid"/>
          </a:ln>
        </p:spPr>
      </p:sp>
      <p:sp>
        <p:nvSpPr>
          <p:cNvPr id="28" name="Shape 26"/>
          <p:cNvSpPr/>
          <p:nvPr/>
        </p:nvSpPr>
        <p:spPr>
          <a:xfrm>
            <a:off x="228600" y="4114800"/>
            <a:ext cx="3017520" cy="914400"/>
          </a:xfrm>
          <a:prstGeom prst="roundRect">
            <a:avLst>
              <a:gd name="adj" fmla="val 8000"/>
            </a:avLst>
          </a:prstGeom>
          <a:solidFill>
            <a:srgbClr val="FFFFFF"/>
          </a:solidFill>
          <a:ln w="12700">
            <a:solidFill>
              <a:srgbClr val="DDE4EF"/>
            </a:solidFill>
            <a:prstDash val="solid"/>
          </a:ln>
          <a:effectLst>
            <a:outerShdw blurRad="63500" dist="25400" dir="2700000" algn="bl" rotWithShape="0">
              <a:srgbClr val="000000">
                <a:alpha val="13000"/>
              </a:srgbClr>
            </a:outerShdw>
          </a:effectLst>
        </p:spPr>
      </p:sp>
      <p:sp>
        <p:nvSpPr>
          <p:cNvPr id="29" name="Text 27"/>
          <p:cNvSpPr/>
          <p:nvPr/>
        </p:nvSpPr>
        <p:spPr>
          <a:xfrm>
            <a:off x="384048" y="4169664"/>
            <a:ext cx="2706624" cy="256032"/>
          </a:xfrm>
          <a:prstGeom prst="rect">
            <a:avLst/>
          </a:prstGeom>
          <a:noFill/>
          <a:ln/>
        </p:spPr>
        <p:txBody>
          <a:bodyPr wrap="square" lIns="0" tIns="0" rIns="0" bIns="0" rtlCol="0" anchor="ctr"/>
          <a:lstStyle/>
          <a:p>
            <a:pPr marL="0" indent="0">
              <a:buNone/>
            </a:pPr>
            <a:r>
              <a:rPr lang="en-US" sz="850" b="1" dirty="0">
                <a:solidFill>
                  <a:srgbClr val="0B1D3A"/>
                </a:solidFill>
                <a:latin typeface="Calibri" pitchFamily="34" charset="0"/>
                <a:ea typeface="Calibri" pitchFamily="34" charset="-122"/>
                <a:cs typeface="Calibri" pitchFamily="34" charset="-120"/>
              </a:rPr>
              <a:t>CALL FREQUENCY</a:t>
            </a:r>
            <a:endParaRPr lang="en-US" sz="850" dirty="0"/>
          </a:p>
        </p:txBody>
      </p:sp>
      <p:sp>
        <p:nvSpPr>
          <p:cNvPr id="30" name="Text 28"/>
          <p:cNvSpPr/>
          <p:nvPr/>
        </p:nvSpPr>
        <p:spPr>
          <a:xfrm>
            <a:off x="384048" y="4462272"/>
            <a:ext cx="2743200" cy="155448"/>
          </a:xfrm>
          <a:prstGeom prst="rect">
            <a:avLst/>
          </a:prstGeom>
          <a:noFill/>
          <a:ln/>
        </p:spPr>
        <p:txBody>
          <a:bodyPr wrap="square" lIns="0" tIns="0" rIns="0" bIns="0" rtlCol="0" anchor="ctr"/>
          <a:lstStyle/>
          <a:p>
            <a:pPr marL="0" indent="0">
              <a:buNone/>
            </a:pPr>
            <a:r>
              <a:rPr lang="en-US" sz="800" b="1" dirty="0">
                <a:solidFill>
                  <a:srgbClr val="C0392B"/>
                </a:solidFill>
                <a:latin typeface="Courier New" pitchFamily="34" charset="0"/>
                <a:ea typeface="Courier New" pitchFamily="34" charset="-122"/>
                <a:cs typeface="Courier New" pitchFamily="34" charset="-120"/>
              </a:rPr>
              <a:t>SC-01  </a:t>
            </a:r>
            <a:r>
              <a:rPr lang="en-US" sz="800" dirty="0">
                <a:solidFill>
                  <a:srgbClr val="4A5568"/>
                </a:solidFill>
                <a:latin typeface="Calibri" pitchFamily="34" charset="0"/>
                <a:ea typeface="Calibri" pitchFamily="34" charset="-122"/>
                <a:cs typeface="Calibri" pitchFamily="34" charset="-120"/>
              </a:rPr>
              <a:t>Every payment (read-only, ~50ms)</a:t>
            </a:r>
            <a:endParaRPr lang="en-US" sz="800" dirty="0"/>
          </a:p>
        </p:txBody>
      </p:sp>
      <p:sp>
        <p:nvSpPr>
          <p:cNvPr id="31" name="Text 29"/>
          <p:cNvSpPr/>
          <p:nvPr/>
        </p:nvSpPr>
        <p:spPr>
          <a:xfrm>
            <a:off x="384048" y="4617720"/>
            <a:ext cx="2743200" cy="155448"/>
          </a:xfrm>
          <a:prstGeom prst="rect">
            <a:avLst/>
          </a:prstGeom>
          <a:noFill/>
          <a:ln/>
        </p:spPr>
        <p:txBody>
          <a:bodyPr wrap="square" lIns="0" tIns="0" rIns="0" bIns="0" rtlCol="0" anchor="ctr"/>
          <a:lstStyle/>
          <a:p>
            <a:pPr marL="0" indent="0">
              <a:buNone/>
            </a:pPr>
            <a:r>
              <a:rPr lang="en-US" sz="800" b="1" dirty="0">
                <a:solidFill>
                  <a:srgbClr val="0D9488"/>
                </a:solidFill>
                <a:latin typeface="Courier New" pitchFamily="34" charset="0"/>
                <a:ea typeface="Courier New" pitchFamily="34" charset="-122"/>
                <a:cs typeface="Courier New" pitchFamily="34" charset="-120"/>
              </a:rPr>
              <a:t>SC-02  </a:t>
            </a:r>
            <a:r>
              <a:rPr lang="en-US" sz="800" dirty="0">
                <a:solidFill>
                  <a:srgbClr val="4A5568"/>
                </a:solidFill>
                <a:latin typeface="Calibri" pitchFamily="34" charset="0"/>
                <a:ea typeface="Calibri" pitchFamily="34" charset="-122"/>
                <a:cs typeface="Calibri" pitchFamily="34" charset="-120"/>
              </a:rPr>
              <a:t>Every payment (write, ~80ms)</a:t>
            </a:r>
            <a:endParaRPr lang="en-US" sz="800" dirty="0"/>
          </a:p>
        </p:txBody>
      </p:sp>
      <p:sp>
        <p:nvSpPr>
          <p:cNvPr id="32" name="Text 30"/>
          <p:cNvSpPr/>
          <p:nvPr/>
        </p:nvSpPr>
        <p:spPr>
          <a:xfrm>
            <a:off x="384048" y="4773168"/>
            <a:ext cx="2743200" cy="155448"/>
          </a:xfrm>
          <a:prstGeom prst="rect">
            <a:avLst/>
          </a:prstGeom>
          <a:noFill/>
          <a:ln/>
        </p:spPr>
        <p:txBody>
          <a:bodyPr wrap="square" lIns="0" tIns="0" rIns="0" bIns="0" rtlCol="0" anchor="ctr"/>
          <a:lstStyle/>
          <a:p>
            <a:pPr marL="0" indent="0">
              <a:buNone/>
            </a:pPr>
            <a:r>
              <a:rPr lang="en-US" sz="800" b="1" dirty="0">
                <a:solidFill>
                  <a:srgbClr val="E8A020"/>
                </a:solidFill>
                <a:latin typeface="Courier New" pitchFamily="34" charset="0"/>
                <a:ea typeface="Courier New" pitchFamily="34" charset="-122"/>
                <a:cs typeface="Courier New" pitchFamily="34" charset="-120"/>
              </a:rPr>
              <a:t>SC-03  </a:t>
            </a:r>
            <a:r>
              <a:rPr lang="en-US" sz="800" dirty="0">
                <a:solidFill>
                  <a:srgbClr val="4A5568"/>
                </a:solidFill>
                <a:latin typeface="Calibri" pitchFamily="34" charset="0"/>
                <a:ea typeface="Calibri" pitchFamily="34" charset="-122"/>
                <a:cs typeface="Calibri" pitchFamily="34" charset="-120"/>
              </a:rPr>
              <a:t>~15% of payments (trigger-based)</a:t>
            </a:r>
            <a:endParaRPr lang="en-US" sz="800" dirty="0"/>
          </a:p>
        </p:txBody>
      </p:sp>
      <p:sp>
        <p:nvSpPr>
          <p:cNvPr id="33" name="Text 31"/>
          <p:cNvSpPr/>
          <p:nvPr/>
        </p:nvSpPr>
        <p:spPr>
          <a:xfrm>
            <a:off x="384048" y="4928616"/>
            <a:ext cx="2743200" cy="155448"/>
          </a:xfrm>
          <a:prstGeom prst="rect">
            <a:avLst/>
          </a:prstGeom>
          <a:noFill/>
          <a:ln/>
        </p:spPr>
        <p:txBody>
          <a:bodyPr wrap="square" lIns="0" tIns="0" rIns="0" bIns="0" rtlCol="0" anchor="ctr"/>
          <a:lstStyle/>
          <a:p>
            <a:pPr marL="0" indent="0">
              <a:buNone/>
            </a:pPr>
            <a:r>
              <a:rPr lang="en-US" sz="800" b="1" dirty="0">
                <a:solidFill>
                  <a:srgbClr val="7B2FBE"/>
                </a:solidFill>
                <a:latin typeface="Courier New" pitchFamily="34" charset="0"/>
                <a:ea typeface="Courier New" pitchFamily="34" charset="-122"/>
                <a:cs typeface="Courier New" pitchFamily="34" charset="-120"/>
              </a:rPr>
              <a:t>SC-04  </a:t>
            </a:r>
            <a:r>
              <a:rPr lang="en-US" sz="800" dirty="0">
                <a:solidFill>
                  <a:srgbClr val="4A5568"/>
                </a:solidFill>
                <a:latin typeface="Calibri" pitchFamily="34" charset="0"/>
                <a:ea typeface="Calibri" pitchFamily="34" charset="-122"/>
                <a:cs typeface="Calibri" pitchFamily="34" charset="-120"/>
              </a:rPr>
              <a:t>~1% of payments (&gt;£50K only)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65760" y="118872"/>
            <a:ext cx="8412480" cy="301752"/>
          </a:xfrm>
          <a:prstGeom prst="rect">
            <a:avLst/>
          </a:prstGeom>
          <a:noFill/>
          <a:ln/>
        </p:spPr>
        <p:txBody>
          <a:bodyPr wrap="square" lIns="0" tIns="0" rIns="0" bIns="0" rtlCol="0" anchor="ctr"/>
          <a:lstStyle/>
          <a:p>
            <a:pPr marL="0" indent="0">
              <a:buNone/>
            </a:pPr>
            <a:r>
              <a:rPr lang="en-US" sz="1000" b="1" kern="0" spc="300" dirty="0">
                <a:solidFill>
                  <a:srgbClr val="0D9488"/>
                </a:solidFill>
                <a:latin typeface="Calibri" pitchFamily="34" charset="0"/>
                <a:ea typeface="Calibri" pitchFamily="34" charset="-122"/>
                <a:cs typeface="Calibri" pitchFamily="34" charset="-120"/>
              </a:rPr>
              <a:t>DEPLOYMENT  &amp;  GOVERNANCE</a:t>
            </a:r>
            <a:endParaRPr lang="en-US" sz="1000" dirty="0"/>
          </a:p>
        </p:txBody>
      </p:sp>
      <p:sp>
        <p:nvSpPr>
          <p:cNvPr id="3" name="Text 1"/>
          <p:cNvSpPr/>
          <p:nvPr/>
        </p:nvSpPr>
        <p:spPr>
          <a:xfrm>
            <a:off x="365760" y="402336"/>
            <a:ext cx="8412480" cy="493776"/>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How Contracts Are Deployed, Tested &amp; Upgraded</a:t>
            </a:r>
            <a:endParaRPr lang="en-US" sz="2100" dirty="0"/>
          </a:p>
        </p:txBody>
      </p:sp>
      <p:sp>
        <p:nvSpPr>
          <p:cNvPr id="4" name="Text 2"/>
          <p:cNvSpPr/>
          <p:nvPr/>
        </p:nvSpPr>
        <p:spPr>
          <a:xfrm>
            <a:off x="365760" y="868680"/>
            <a:ext cx="8412480" cy="292608"/>
          </a:xfrm>
          <a:prstGeom prst="rect">
            <a:avLst/>
          </a:prstGeom>
          <a:noFill/>
          <a:ln/>
        </p:spPr>
        <p:txBody>
          <a:bodyPr wrap="square" lIns="0" tIns="0" rIns="0" bIns="0" rtlCol="0" anchor="ctr"/>
          <a:lstStyle/>
          <a:p>
            <a:pPr marL="0" indent="0">
              <a:buNone/>
            </a:pPr>
            <a:r>
              <a:rPr lang="en-US" sz="1200" i="1" dirty="0">
                <a:solidFill>
                  <a:srgbClr val="8FA5BF"/>
                </a:solidFill>
                <a:latin typeface="Calibri" pitchFamily="34" charset="0"/>
                <a:ea typeface="Calibri" pitchFamily="34" charset="-122"/>
                <a:cs typeface="Calibri" pitchFamily="34" charset="-120"/>
              </a:rPr>
              <a:t>Hyperledger Fabric lifecycle — no big-bang deployments, no single point of control</a:t>
            </a:r>
            <a:endParaRPr lang="en-US" sz="1200" dirty="0"/>
          </a:p>
        </p:txBody>
      </p:sp>
      <p:sp>
        <p:nvSpPr>
          <p:cNvPr id="5" name="Shape 3"/>
          <p:cNvSpPr/>
          <p:nvPr/>
        </p:nvSpPr>
        <p:spPr>
          <a:xfrm>
            <a:off x="228600" y="1188720"/>
            <a:ext cx="2743200" cy="3749040"/>
          </a:xfrm>
          <a:prstGeom prst="roundRect">
            <a:avLst>
              <a:gd name="adj" fmla="val 3333"/>
            </a:avLst>
          </a:prstGeom>
          <a:solidFill>
            <a:srgbClr val="162D52"/>
          </a:solidFill>
          <a:ln w="12700">
            <a:solidFill>
              <a:srgbClr val="0D9488"/>
            </a:solidFill>
            <a:prstDash val="solid"/>
          </a:ln>
          <a:effectLst>
            <a:outerShdw blurRad="101600" dist="38100" dir="2700000" algn="bl" rotWithShape="0">
              <a:srgbClr val="000000">
                <a:alpha val="20000"/>
              </a:srgbClr>
            </a:outerShdw>
          </a:effectLst>
        </p:spPr>
      </p:sp>
      <p:sp>
        <p:nvSpPr>
          <p:cNvPr id="6" name="Text 4"/>
          <p:cNvSpPr/>
          <p:nvPr/>
        </p:nvSpPr>
        <p:spPr>
          <a:xfrm>
            <a:off x="384048" y="1261872"/>
            <a:ext cx="2468880" cy="274320"/>
          </a:xfrm>
          <a:prstGeom prst="rect">
            <a:avLst/>
          </a:prstGeom>
          <a:noFill/>
          <a:ln/>
        </p:spPr>
        <p:txBody>
          <a:bodyPr wrap="square" lIns="0" tIns="0" rIns="0" bIns="0" rtlCol="0" anchor="ctr"/>
          <a:lstStyle/>
          <a:p>
            <a:pPr marL="0" indent="0">
              <a:buNone/>
            </a:pPr>
            <a:r>
              <a:rPr lang="en-US" sz="850" b="1" kern="0" spc="100" dirty="0">
                <a:solidFill>
                  <a:srgbClr val="0D9488"/>
                </a:solidFill>
                <a:latin typeface="Calibri" pitchFamily="34" charset="0"/>
                <a:ea typeface="Calibri" pitchFamily="34" charset="-122"/>
                <a:cs typeface="Calibri" pitchFamily="34" charset="-120"/>
              </a:rPr>
              <a:t>FABRIC LIFECYCLE</a:t>
            </a:r>
            <a:endParaRPr lang="en-US" sz="850" dirty="0"/>
          </a:p>
        </p:txBody>
      </p:sp>
      <p:sp>
        <p:nvSpPr>
          <p:cNvPr id="7" name="Shape 5"/>
          <p:cNvSpPr/>
          <p:nvPr/>
        </p:nvSpPr>
        <p:spPr>
          <a:xfrm>
            <a:off x="347472" y="1682496"/>
            <a:ext cx="347472" cy="347472"/>
          </a:xfrm>
          <a:prstGeom prst="ellipse">
            <a:avLst/>
          </a:prstGeom>
          <a:solidFill>
            <a:srgbClr val="0D9488"/>
          </a:solidFill>
          <a:ln w="12700">
            <a:solidFill>
              <a:srgbClr val="0D9488"/>
            </a:solidFill>
            <a:prstDash val="solid"/>
          </a:ln>
        </p:spPr>
      </p:sp>
      <p:sp>
        <p:nvSpPr>
          <p:cNvPr id="8" name="Text 6"/>
          <p:cNvSpPr/>
          <p:nvPr/>
        </p:nvSpPr>
        <p:spPr>
          <a:xfrm>
            <a:off x="347472" y="16824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04672" y="1682496"/>
            <a:ext cx="202996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Package</a:t>
            </a:r>
            <a:endParaRPr lang="en-US" sz="1100" dirty="0"/>
          </a:p>
        </p:txBody>
      </p:sp>
      <p:sp>
        <p:nvSpPr>
          <p:cNvPr id="10" name="Text 8"/>
          <p:cNvSpPr/>
          <p:nvPr/>
        </p:nvSpPr>
        <p:spPr>
          <a:xfrm>
            <a:off x="804672" y="1938528"/>
            <a:ext cx="2029968" cy="34747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Chaincode compiled to Go binary. Packaged with metadata (label, version). Each org packages independently.</a:t>
            </a:r>
            <a:endParaRPr lang="en-US" sz="820" dirty="0"/>
          </a:p>
        </p:txBody>
      </p:sp>
      <p:sp>
        <p:nvSpPr>
          <p:cNvPr id="11" name="Shape 9"/>
          <p:cNvSpPr/>
          <p:nvPr/>
        </p:nvSpPr>
        <p:spPr>
          <a:xfrm>
            <a:off x="347472" y="2340864"/>
            <a:ext cx="347472" cy="347472"/>
          </a:xfrm>
          <a:prstGeom prst="ellipse">
            <a:avLst/>
          </a:prstGeom>
          <a:solidFill>
            <a:srgbClr val="0D9488"/>
          </a:solidFill>
          <a:ln w="12700">
            <a:solidFill>
              <a:srgbClr val="0D9488"/>
            </a:solidFill>
            <a:prstDash val="solid"/>
          </a:ln>
        </p:spPr>
      </p:sp>
      <p:sp>
        <p:nvSpPr>
          <p:cNvPr id="12" name="Text 10"/>
          <p:cNvSpPr/>
          <p:nvPr/>
        </p:nvSpPr>
        <p:spPr>
          <a:xfrm>
            <a:off x="347472" y="234086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04672" y="2340864"/>
            <a:ext cx="202996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Install</a:t>
            </a:r>
            <a:endParaRPr lang="en-US" sz="1100" dirty="0"/>
          </a:p>
        </p:txBody>
      </p:sp>
      <p:sp>
        <p:nvSpPr>
          <p:cNvPr id="14" name="Text 12"/>
          <p:cNvSpPr/>
          <p:nvPr/>
        </p:nvSpPr>
        <p:spPr>
          <a:xfrm>
            <a:off x="804672" y="2596896"/>
            <a:ext cx="2029968" cy="34747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Each organisation installs package on its own peer nodes. No cross-org installation required.</a:t>
            </a:r>
            <a:endParaRPr lang="en-US" sz="820" dirty="0"/>
          </a:p>
        </p:txBody>
      </p:sp>
      <p:sp>
        <p:nvSpPr>
          <p:cNvPr id="15" name="Shape 13"/>
          <p:cNvSpPr/>
          <p:nvPr/>
        </p:nvSpPr>
        <p:spPr>
          <a:xfrm>
            <a:off x="347472" y="2999232"/>
            <a:ext cx="347472" cy="347472"/>
          </a:xfrm>
          <a:prstGeom prst="ellipse">
            <a:avLst/>
          </a:prstGeom>
          <a:solidFill>
            <a:srgbClr val="0D9488"/>
          </a:solidFill>
          <a:ln w="12700">
            <a:solidFill>
              <a:srgbClr val="0D9488"/>
            </a:solidFill>
            <a:prstDash val="solid"/>
          </a:ln>
        </p:spPr>
      </p:sp>
      <p:sp>
        <p:nvSpPr>
          <p:cNvPr id="16" name="Text 14"/>
          <p:cNvSpPr/>
          <p:nvPr/>
        </p:nvSpPr>
        <p:spPr>
          <a:xfrm>
            <a:off x="347472" y="299923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04672" y="2999232"/>
            <a:ext cx="202996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Approve</a:t>
            </a:r>
            <a:endParaRPr lang="en-US" sz="1100" dirty="0"/>
          </a:p>
        </p:txBody>
      </p:sp>
      <p:sp>
        <p:nvSpPr>
          <p:cNvPr id="18" name="Text 16"/>
          <p:cNvSpPr/>
          <p:nvPr/>
        </p:nvSpPr>
        <p:spPr>
          <a:xfrm>
            <a:off x="804672" y="3255264"/>
            <a:ext cx="2029968" cy="34747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Each org approves the chaincode definition via peer lifecycle command. Supermajority (&gt;50% of orgs) required.</a:t>
            </a:r>
            <a:endParaRPr lang="en-US" sz="820" dirty="0"/>
          </a:p>
        </p:txBody>
      </p:sp>
      <p:sp>
        <p:nvSpPr>
          <p:cNvPr id="19" name="Shape 17"/>
          <p:cNvSpPr/>
          <p:nvPr/>
        </p:nvSpPr>
        <p:spPr>
          <a:xfrm>
            <a:off x="347472" y="3657600"/>
            <a:ext cx="347472" cy="347472"/>
          </a:xfrm>
          <a:prstGeom prst="ellipse">
            <a:avLst/>
          </a:prstGeom>
          <a:solidFill>
            <a:srgbClr val="0D9488"/>
          </a:solidFill>
          <a:ln w="12700">
            <a:solidFill>
              <a:srgbClr val="0D9488"/>
            </a:solidFill>
            <a:prstDash val="solid"/>
          </a:ln>
        </p:spPr>
      </p:sp>
      <p:sp>
        <p:nvSpPr>
          <p:cNvPr id="20" name="Text 18"/>
          <p:cNvSpPr/>
          <p:nvPr/>
        </p:nvSpPr>
        <p:spPr>
          <a:xfrm>
            <a:off x="347472" y="365760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04672" y="3657600"/>
            <a:ext cx="202996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Commit</a:t>
            </a:r>
            <a:endParaRPr lang="en-US" sz="1100" dirty="0"/>
          </a:p>
        </p:txBody>
      </p:sp>
      <p:sp>
        <p:nvSpPr>
          <p:cNvPr id="22" name="Text 20"/>
          <p:cNvSpPr/>
          <p:nvPr/>
        </p:nvSpPr>
        <p:spPr>
          <a:xfrm>
            <a:off x="804672" y="3913632"/>
            <a:ext cx="2029968" cy="34747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Once enough approvals collected, any org commits the definition to the channel. Contract is now live.</a:t>
            </a:r>
            <a:endParaRPr lang="en-US" sz="820" dirty="0"/>
          </a:p>
        </p:txBody>
      </p:sp>
      <p:sp>
        <p:nvSpPr>
          <p:cNvPr id="23" name="Shape 21"/>
          <p:cNvSpPr/>
          <p:nvPr/>
        </p:nvSpPr>
        <p:spPr>
          <a:xfrm>
            <a:off x="347472" y="4315968"/>
            <a:ext cx="347472" cy="347472"/>
          </a:xfrm>
          <a:prstGeom prst="ellipse">
            <a:avLst/>
          </a:prstGeom>
          <a:solidFill>
            <a:srgbClr val="0D9488"/>
          </a:solidFill>
          <a:ln w="12700">
            <a:solidFill>
              <a:srgbClr val="0D9488"/>
            </a:solidFill>
            <a:prstDash val="solid"/>
          </a:ln>
        </p:spPr>
      </p:sp>
      <p:sp>
        <p:nvSpPr>
          <p:cNvPr id="24" name="Text 22"/>
          <p:cNvSpPr/>
          <p:nvPr/>
        </p:nvSpPr>
        <p:spPr>
          <a:xfrm>
            <a:off x="347472" y="431596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04672" y="4315968"/>
            <a:ext cx="202996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Upgrade</a:t>
            </a:r>
            <a:endParaRPr lang="en-US" sz="1100" dirty="0"/>
          </a:p>
        </p:txBody>
      </p:sp>
      <p:sp>
        <p:nvSpPr>
          <p:cNvPr id="26" name="Text 24"/>
          <p:cNvSpPr/>
          <p:nvPr/>
        </p:nvSpPr>
        <p:spPr>
          <a:xfrm>
            <a:off x="804672" y="4572000"/>
            <a:ext cx="2029968" cy="347472"/>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Threshold changes → update Config record (no redeploy). Logic changes → new version, repeat cycle.</a:t>
            </a:r>
            <a:endParaRPr lang="en-US" sz="820" dirty="0"/>
          </a:p>
        </p:txBody>
      </p:sp>
      <p:sp>
        <p:nvSpPr>
          <p:cNvPr id="27" name="Shape 25"/>
          <p:cNvSpPr/>
          <p:nvPr/>
        </p:nvSpPr>
        <p:spPr>
          <a:xfrm>
            <a:off x="3154680" y="1188720"/>
            <a:ext cx="2743200" cy="3749040"/>
          </a:xfrm>
          <a:prstGeom prst="roundRect">
            <a:avLst>
              <a:gd name="adj" fmla="val 3333"/>
            </a:avLst>
          </a:prstGeom>
          <a:solidFill>
            <a:srgbClr val="162D52"/>
          </a:solidFill>
          <a:ln w="12700">
            <a:solidFill>
              <a:srgbClr val="E8A020"/>
            </a:solidFill>
            <a:prstDash val="solid"/>
          </a:ln>
          <a:effectLst>
            <a:outerShdw blurRad="101600" dist="38100" dir="2700000" algn="bl" rotWithShape="0">
              <a:srgbClr val="000000">
                <a:alpha val="20000"/>
              </a:srgbClr>
            </a:outerShdw>
          </a:effectLst>
        </p:spPr>
      </p:sp>
      <p:sp>
        <p:nvSpPr>
          <p:cNvPr id="28" name="Text 26"/>
          <p:cNvSpPr/>
          <p:nvPr/>
        </p:nvSpPr>
        <p:spPr>
          <a:xfrm>
            <a:off x="3310128" y="1261872"/>
            <a:ext cx="2468880" cy="274320"/>
          </a:xfrm>
          <a:prstGeom prst="rect">
            <a:avLst/>
          </a:prstGeom>
          <a:noFill/>
          <a:ln/>
        </p:spPr>
        <p:txBody>
          <a:bodyPr wrap="square" lIns="0" tIns="0" rIns="0" bIns="0" rtlCol="0" anchor="ctr"/>
          <a:lstStyle/>
          <a:p>
            <a:pPr marL="0" indent="0">
              <a:buNone/>
            </a:pPr>
            <a:r>
              <a:rPr lang="en-US" sz="850" b="1" kern="0" spc="100" dirty="0">
                <a:solidFill>
                  <a:srgbClr val="E8A020"/>
                </a:solidFill>
                <a:latin typeface="Calibri" pitchFamily="34" charset="0"/>
                <a:ea typeface="Calibri" pitchFamily="34" charset="-122"/>
                <a:cs typeface="Calibri" pitchFamily="34" charset="-120"/>
              </a:rPr>
              <a:t>TESTING STRATEGY</a:t>
            </a:r>
            <a:endParaRPr lang="en-US" sz="850" dirty="0"/>
          </a:p>
        </p:txBody>
      </p:sp>
      <p:sp>
        <p:nvSpPr>
          <p:cNvPr id="29" name="Shape 27"/>
          <p:cNvSpPr/>
          <p:nvPr/>
        </p:nvSpPr>
        <p:spPr>
          <a:xfrm>
            <a:off x="3291840" y="1609344"/>
            <a:ext cx="2487168" cy="621792"/>
          </a:xfrm>
          <a:prstGeom prst="roundRect">
            <a:avLst>
              <a:gd name="adj" fmla="val 10294"/>
            </a:avLst>
          </a:prstGeom>
          <a:solidFill>
            <a:srgbClr val="0D1628"/>
          </a:solidFill>
          <a:ln w="12700">
            <a:solidFill>
              <a:srgbClr val="2A3A5A"/>
            </a:solidFill>
            <a:prstDash val="solid"/>
          </a:ln>
        </p:spPr>
      </p:sp>
      <p:sp>
        <p:nvSpPr>
          <p:cNvPr id="30" name="Text 28"/>
          <p:cNvSpPr/>
          <p:nvPr/>
        </p:nvSpPr>
        <p:spPr>
          <a:xfrm>
            <a:off x="3401568" y="1655064"/>
            <a:ext cx="2267712" cy="237744"/>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Unit Tests</a:t>
            </a:r>
            <a:endParaRPr lang="en-US" sz="1000" dirty="0"/>
          </a:p>
        </p:txBody>
      </p:sp>
      <p:sp>
        <p:nvSpPr>
          <p:cNvPr id="31" name="Text 29"/>
          <p:cNvSpPr/>
          <p:nvPr/>
        </p:nvSpPr>
        <p:spPr>
          <a:xfrm>
            <a:off x="3401568" y="1856232"/>
            <a:ext cx="2267712" cy="164592"/>
          </a:xfrm>
          <a:prstGeom prst="rect">
            <a:avLst/>
          </a:prstGeom>
          <a:noFill/>
          <a:ln/>
        </p:spPr>
        <p:txBody>
          <a:bodyPr wrap="square" lIns="0" tIns="0" rIns="0" bIns="0"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Tool: Fabric MockStub</a:t>
            </a:r>
            <a:endParaRPr lang="en-US" sz="800" dirty="0"/>
          </a:p>
        </p:txBody>
      </p:sp>
      <p:sp>
        <p:nvSpPr>
          <p:cNvPr id="32" name="Text 30"/>
          <p:cNvSpPr/>
          <p:nvPr/>
        </p:nvSpPr>
        <p:spPr>
          <a:xfrm>
            <a:off x="3401568" y="2011680"/>
            <a:ext cx="2267712" cy="201168"/>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All 5 contracts tested in isolation. 100% function coverage required for merge.</a:t>
            </a:r>
            <a:endParaRPr lang="en-US" sz="780" dirty="0"/>
          </a:p>
        </p:txBody>
      </p:sp>
      <p:sp>
        <p:nvSpPr>
          <p:cNvPr id="33" name="Shape 31"/>
          <p:cNvSpPr/>
          <p:nvPr/>
        </p:nvSpPr>
        <p:spPr>
          <a:xfrm>
            <a:off x="3291840" y="2267712"/>
            <a:ext cx="2487168" cy="621792"/>
          </a:xfrm>
          <a:prstGeom prst="roundRect">
            <a:avLst>
              <a:gd name="adj" fmla="val 10294"/>
            </a:avLst>
          </a:prstGeom>
          <a:solidFill>
            <a:srgbClr val="0D1628"/>
          </a:solidFill>
          <a:ln w="12700">
            <a:solidFill>
              <a:srgbClr val="2A3A5A"/>
            </a:solidFill>
            <a:prstDash val="solid"/>
          </a:ln>
        </p:spPr>
      </p:sp>
      <p:sp>
        <p:nvSpPr>
          <p:cNvPr id="34" name="Text 32"/>
          <p:cNvSpPr/>
          <p:nvPr/>
        </p:nvSpPr>
        <p:spPr>
          <a:xfrm>
            <a:off x="3401568" y="2313432"/>
            <a:ext cx="2267712" cy="237744"/>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Integration Tests</a:t>
            </a:r>
            <a:endParaRPr lang="en-US" sz="1000" dirty="0"/>
          </a:p>
        </p:txBody>
      </p:sp>
      <p:sp>
        <p:nvSpPr>
          <p:cNvPr id="35" name="Text 33"/>
          <p:cNvSpPr/>
          <p:nvPr/>
        </p:nvSpPr>
        <p:spPr>
          <a:xfrm>
            <a:off x="3401568" y="2514600"/>
            <a:ext cx="2267712" cy="164592"/>
          </a:xfrm>
          <a:prstGeom prst="rect">
            <a:avLst/>
          </a:prstGeom>
          <a:noFill/>
          <a:ln/>
        </p:spPr>
        <p:txBody>
          <a:bodyPr wrap="square" lIns="0" tIns="0" rIns="0" bIns="0"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Tool: Fabric Testnet</a:t>
            </a:r>
            <a:endParaRPr lang="en-US" sz="800" dirty="0"/>
          </a:p>
        </p:txBody>
      </p:sp>
      <p:sp>
        <p:nvSpPr>
          <p:cNvPr id="36" name="Text 34"/>
          <p:cNvSpPr/>
          <p:nvPr/>
        </p:nvSpPr>
        <p:spPr>
          <a:xfrm>
            <a:off x="3401568" y="2670048"/>
            <a:ext cx="2267712" cy="201168"/>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Full contract interaction tested on a local Fabric network before promotion.</a:t>
            </a:r>
            <a:endParaRPr lang="en-US" sz="780" dirty="0"/>
          </a:p>
        </p:txBody>
      </p:sp>
      <p:sp>
        <p:nvSpPr>
          <p:cNvPr id="37" name="Shape 35"/>
          <p:cNvSpPr/>
          <p:nvPr/>
        </p:nvSpPr>
        <p:spPr>
          <a:xfrm>
            <a:off x="3291840" y="2926080"/>
            <a:ext cx="2487168" cy="621792"/>
          </a:xfrm>
          <a:prstGeom prst="roundRect">
            <a:avLst>
              <a:gd name="adj" fmla="val 10294"/>
            </a:avLst>
          </a:prstGeom>
          <a:solidFill>
            <a:srgbClr val="0D1628"/>
          </a:solidFill>
          <a:ln w="12700">
            <a:solidFill>
              <a:srgbClr val="2A3A5A"/>
            </a:solidFill>
            <a:prstDash val="solid"/>
          </a:ln>
        </p:spPr>
      </p:sp>
      <p:sp>
        <p:nvSpPr>
          <p:cNvPr id="38" name="Text 36"/>
          <p:cNvSpPr/>
          <p:nvPr/>
        </p:nvSpPr>
        <p:spPr>
          <a:xfrm>
            <a:off x="3401568" y="2971800"/>
            <a:ext cx="2267712" cy="237744"/>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Scenario Testing</a:t>
            </a:r>
            <a:endParaRPr lang="en-US" sz="1000" dirty="0"/>
          </a:p>
        </p:txBody>
      </p:sp>
      <p:sp>
        <p:nvSpPr>
          <p:cNvPr id="39" name="Text 37"/>
          <p:cNvSpPr/>
          <p:nvPr/>
        </p:nvSpPr>
        <p:spPr>
          <a:xfrm>
            <a:off x="3401568" y="3172968"/>
            <a:ext cx="2267712" cy="164592"/>
          </a:xfrm>
          <a:prstGeom prst="rect">
            <a:avLst/>
          </a:prstGeom>
          <a:noFill/>
          <a:ln/>
        </p:spPr>
        <p:txBody>
          <a:bodyPr wrap="square" lIns="0" tIns="0" rIns="0" bIns="0"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Tool: Cucumber / Gherkin</a:t>
            </a:r>
            <a:endParaRPr lang="en-US" sz="800" dirty="0"/>
          </a:p>
        </p:txBody>
      </p:sp>
      <p:sp>
        <p:nvSpPr>
          <p:cNvPr id="40" name="Text 38"/>
          <p:cNvSpPr/>
          <p:nvPr/>
        </p:nvSpPr>
        <p:spPr>
          <a:xfrm>
            <a:off x="3401568" y="3328416"/>
            <a:ext cx="2267712" cy="201168"/>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Business scenarios (APP fraud, large transfer, mule flag) expressed as BDD specs and run against testnet.</a:t>
            </a:r>
            <a:endParaRPr lang="en-US" sz="780" dirty="0"/>
          </a:p>
        </p:txBody>
      </p:sp>
      <p:sp>
        <p:nvSpPr>
          <p:cNvPr id="41" name="Shape 39"/>
          <p:cNvSpPr/>
          <p:nvPr/>
        </p:nvSpPr>
        <p:spPr>
          <a:xfrm>
            <a:off x="3291840" y="3584448"/>
            <a:ext cx="2487168" cy="621792"/>
          </a:xfrm>
          <a:prstGeom prst="roundRect">
            <a:avLst>
              <a:gd name="adj" fmla="val 10294"/>
            </a:avLst>
          </a:prstGeom>
          <a:solidFill>
            <a:srgbClr val="0D1628"/>
          </a:solidFill>
          <a:ln w="12700">
            <a:solidFill>
              <a:srgbClr val="2A3A5A"/>
            </a:solidFill>
            <a:prstDash val="solid"/>
          </a:ln>
        </p:spPr>
      </p:sp>
      <p:sp>
        <p:nvSpPr>
          <p:cNvPr id="42" name="Text 40"/>
          <p:cNvSpPr/>
          <p:nvPr/>
        </p:nvSpPr>
        <p:spPr>
          <a:xfrm>
            <a:off x="3401568" y="3630168"/>
            <a:ext cx="2267712" cy="237744"/>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Performance Tests</a:t>
            </a:r>
            <a:endParaRPr lang="en-US" sz="1000" dirty="0"/>
          </a:p>
        </p:txBody>
      </p:sp>
      <p:sp>
        <p:nvSpPr>
          <p:cNvPr id="43" name="Text 41"/>
          <p:cNvSpPr/>
          <p:nvPr/>
        </p:nvSpPr>
        <p:spPr>
          <a:xfrm>
            <a:off x="3401568" y="3831336"/>
            <a:ext cx="2267712" cy="164592"/>
          </a:xfrm>
          <a:prstGeom prst="rect">
            <a:avLst/>
          </a:prstGeom>
          <a:noFill/>
          <a:ln/>
        </p:spPr>
        <p:txBody>
          <a:bodyPr wrap="square" lIns="0" tIns="0" rIns="0" bIns="0"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Tool: Hyperledger Caliper</a:t>
            </a:r>
            <a:endParaRPr lang="en-US" sz="800" dirty="0"/>
          </a:p>
        </p:txBody>
      </p:sp>
      <p:sp>
        <p:nvSpPr>
          <p:cNvPr id="44" name="Text 42"/>
          <p:cNvSpPr/>
          <p:nvPr/>
        </p:nvSpPr>
        <p:spPr>
          <a:xfrm>
            <a:off x="3401568" y="3986784"/>
            <a:ext cx="2267712" cy="201168"/>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Load test: 1,000 concurrent EvaluatePayment calls. Target: p99 &lt; 300ms, 0 errors.</a:t>
            </a:r>
            <a:endParaRPr lang="en-US" sz="780" dirty="0"/>
          </a:p>
        </p:txBody>
      </p:sp>
      <p:sp>
        <p:nvSpPr>
          <p:cNvPr id="45" name="Shape 43"/>
          <p:cNvSpPr/>
          <p:nvPr/>
        </p:nvSpPr>
        <p:spPr>
          <a:xfrm>
            <a:off x="3291840" y="4242816"/>
            <a:ext cx="2487168" cy="621792"/>
          </a:xfrm>
          <a:prstGeom prst="roundRect">
            <a:avLst>
              <a:gd name="adj" fmla="val 10294"/>
            </a:avLst>
          </a:prstGeom>
          <a:solidFill>
            <a:srgbClr val="0D1628"/>
          </a:solidFill>
          <a:ln w="12700">
            <a:solidFill>
              <a:srgbClr val="2A3A5A"/>
            </a:solidFill>
            <a:prstDash val="solid"/>
          </a:ln>
        </p:spPr>
      </p:sp>
      <p:sp>
        <p:nvSpPr>
          <p:cNvPr id="46" name="Text 44"/>
          <p:cNvSpPr/>
          <p:nvPr/>
        </p:nvSpPr>
        <p:spPr>
          <a:xfrm>
            <a:off x="3401568" y="4288536"/>
            <a:ext cx="2267712" cy="237744"/>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Threshold Simulation</a:t>
            </a:r>
            <a:endParaRPr lang="en-US" sz="1000" dirty="0"/>
          </a:p>
        </p:txBody>
      </p:sp>
      <p:sp>
        <p:nvSpPr>
          <p:cNvPr id="47" name="Text 45"/>
          <p:cNvSpPr/>
          <p:nvPr/>
        </p:nvSpPr>
        <p:spPr>
          <a:xfrm>
            <a:off x="3401568" y="4489704"/>
            <a:ext cx="2267712" cy="164592"/>
          </a:xfrm>
          <a:prstGeom prst="rect">
            <a:avLst/>
          </a:prstGeom>
          <a:noFill/>
          <a:ln/>
        </p:spPr>
        <p:txBody>
          <a:bodyPr wrap="square" lIns="0" tIns="0" rIns="0" bIns="0"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Tool: Monte Carlo model</a:t>
            </a:r>
            <a:endParaRPr lang="en-US" sz="800" dirty="0"/>
          </a:p>
        </p:txBody>
      </p:sp>
      <p:sp>
        <p:nvSpPr>
          <p:cNvPr id="48" name="Text 46"/>
          <p:cNvSpPr/>
          <p:nvPr/>
        </p:nvSpPr>
        <p:spPr>
          <a:xfrm>
            <a:off x="3401568" y="4645152"/>
            <a:ext cx="2267712" cy="201168"/>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Simulate 12 months of payment data against different threshold configs. Optimise F1 score (precision + recall balance).</a:t>
            </a:r>
            <a:endParaRPr lang="en-US" sz="780" dirty="0"/>
          </a:p>
        </p:txBody>
      </p:sp>
      <p:sp>
        <p:nvSpPr>
          <p:cNvPr id="49" name="Shape 47"/>
          <p:cNvSpPr/>
          <p:nvPr/>
        </p:nvSpPr>
        <p:spPr>
          <a:xfrm>
            <a:off x="6080760" y="1188720"/>
            <a:ext cx="2834640" cy="3749040"/>
          </a:xfrm>
          <a:prstGeom prst="roundRect">
            <a:avLst>
              <a:gd name="adj" fmla="val 3226"/>
            </a:avLst>
          </a:prstGeom>
          <a:solidFill>
            <a:srgbClr val="162D52"/>
          </a:solidFill>
          <a:ln w="12700">
            <a:solidFill>
              <a:srgbClr val="1DB87A"/>
            </a:solidFill>
            <a:prstDash val="solid"/>
          </a:ln>
          <a:effectLst>
            <a:outerShdw blurRad="101600" dist="38100" dir="2700000" algn="bl" rotWithShape="0">
              <a:srgbClr val="000000">
                <a:alpha val="20000"/>
              </a:srgbClr>
            </a:outerShdw>
          </a:effectLst>
        </p:spPr>
      </p:sp>
      <p:sp>
        <p:nvSpPr>
          <p:cNvPr id="50" name="Text 48"/>
          <p:cNvSpPr/>
          <p:nvPr/>
        </p:nvSpPr>
        <p:spPr>
          <a:xfrm>
            <a:off x="6236208" y="1261872"/>
            <a:ext cx="2542032" cy="274320"/>
          </a:xfrm>
          <a:prstGeom prst="rect">
            <a:avLst/>
          </a:prstGeom>
          <a:noFill/>
          <a:ln/>
        </p:spPr>
        <p:txBody>
          <a:bodyPr wrap="square" lIns="0" tIns="0" rIns="0" bIns="0" rtlCol="0" anchor="ctr"/>
          <a:lstStyle/>
          <a:p>
            <a:pPr marL="0" indent="0">
              <a:buNone/>
            </a:pPr>
            <a:r>
              <a:rPr lang="en-US" sz="850" b="1" kern="0" spc="100" dirty="0">
                <a:solidFill>
                  <a:srgbClr val="1DB87A"/>
                </a:solidFill>
                <a:latin typeface="Calibri" pitchFamily="34" charset="0"/>
                <a:ea typeface="Calibri" pitchFamily="34" charset="-122"/>
                <a:cs typeface="Calibri" pitchFamily="34" charset="-120"/>
              </a:rPr>
              <a:t>GOVERNANCE MODEL</a:t>
            </a:r>
            <a:endParaRPr lang="en-US" sz="850" dirty="0"/>
          </a:p>
        </p:txBody>
      </p:sp>
      <p:sp>
        <p:nvSpPr>
          <p:cNvPr id="51" name="Shape 49"/>
          <p:cNvSpPr/>
          <p:nvPr/>
        </p:nvSpPr>
        <p:spPr>
          <a:xfrm>
            <a:off x="6199632" y="1609344"/>
            <a:ext cx="2596896" cy="621792"/>
          </a:xfrm>
          <a:prstGeom prst="roundRect">
            <a:avLst>
              <a:gd name="adj" fmla="val 10294"/>
            </a:avLst>
          </a:prstGeom>
          <a:solidFill>
            <a:srgbClr val="0D1628"/>
          </a:solidFill>
          <a:ln w="12700">
            <a:solidFill>
              <a:srgbClr val="2A3A5A"/>
            </a:solidFill>
            <a:prstDash val="solid"/>
          </a:ln>
        </p:spPr>
      </p:sp>
      <p:sp>
        <p:nvSpPr>
          <p:cNvPr id="52" name="Text 50"/>
          <p:cNvSpPr/>
          <p:nvPr/>
        </p:nvSpPr>
        <p:spPr>
          <a:xfrm>
            <a:off x="6309360" y="1655064"/>
            <a:ext cx="2395728" cy="237744"/>
          </a:xfrm>
          <a:prstGeom prst="rect">
            <a:avLst/>
          </a:prstGeom>
          <a:noFill/>
          <a:ln/>
        </p:spPr>
        <p:txBody>
          <a:bodyPr wrap="square" lIns="0" tIns="0" rIns="0" bIns="0" rtlCol="0" anchor="ctr"/>
          <a:lstStyle/>
          <a:p>
            <a:pPr marL="0" indent="0">
              <a:buNone/>
            </a:pPr>
            <a:r>
              <a:rPr lang="en-US" sz="1000" b="1" dirty="0">
                <a:solidFill>
                  <a:srgbClr val="1DB87A"/>
                </a:solidFill>
                <a:latin typeface="Calibri" pitchFamily="34" charset="0"/>
                <a:ea typeface="Calibri" pitchFamily="34" charset="-122"/>
                <a:cs typeface="Calibri" pitchFamily="34" charset="-120"/>
              </a:rPr>
              <a:t>Threshold updates</a:t>
            </a:r>
            <a:endParaRPr lang="en-US" sz="1000" dirty="0"/>
          </a:p>
        </p:txBody>
      </p:sp>
      <p:sp>
        <p:nvSpPr>
          <p:cNvPr id="53" name="Text 51"/>
          <p:cNvSpPr/>
          <p:nvPr/>
        </p:nvSpPr>
        <p:spPr>
          <a:xfrm>
            <a:off x="6309360" y="1874520"/>
            <a:ext cx="2395728" cy="347472"/>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Consortium vote: simple majority</a:t>
            </a:r>
            <a:endParaRPr lang="en-US" sz="780" dirty="0"/>
          </a:p>
          <a:p>
            <a:pPr marL="0" indent="0">
              <a:buNone/>
            </a:pPr>
            <a:r>
              <a:rPr lang="en-US" sz="780" dirty="0">
                <a:solidFill>
                  <a:srgbClr val="CBD8EA"/>
                </a:solidFill>
                <a:latin typeface="Calibri" pitchFamily="34" charset="0"/>
                <a:ea typeface="Calibri" pitchFamily="34" charset="-122"/>
                <a:cs typeface="Calibri" pitchFamily="34" charset="-120"/>
              </a:rPr>
              <a:t>→ on-chain Config record update</a:t>
            </a:r>
            <a:endParaRPr lang="en-US" sz="780" dirty="0"/>
          </a:p>
          <a:p>
            <a:pPr marL="0" indent="0">
              <a:buNone/>
            </a:pPr>
            <a:r>
              <a:rPr lang="en-US" sz="780" dirty="0">
                <a:solidFill>
                  <a:srgbClr val="CBD8EA"/>
                </a:solidFill>
                <a:latin typeface="Calibri" pitchFamily="34" charset="0"/>
                <a:ea typeface="Calibri" pitchFamily="34" charset="-122"/>
                <a:cs typeface="Calibri" pitchFamily="34" charset="-120"/>
              </a:rPr>
              <a:t>→ immediate effect, no redeploy</a:t>
            </a:r>
            <a:endParaRPr lang="en-US" sz="780" dirty="0"/>
          </a:p>
        </p:txBody>
      </p:sp>
      <p:sp>
        <p:nvSpPr>
          <p:cNvPr id="54" name="Shape 52"/>
          <p:cNvSpPr/>
          <p:nvPr/>
        </p:nvSpPr>
        <p:spPr>
          <a:xfrm>
            <a:off x="6199632" y="2267712"/>
            <a:ext cx="2596896" cy="621792"/>
          </a:xfrm>
          <a:prstGeom prst="roundRect">
            <a:avLst>
              <a:gd name="adj" fmla="val 10294"/>
            </a:avLst>
          </a:prstGeom>
          <a:solidFill>
            <a:srgbClr val="0D1628"/>
          </a:solidFill>
          <a:ln w="12700">
            <a:solidFill>
              <a:srgbClr val="2A3A5A"/>
            </a:solidFill>
            <a:prstDash val="solid"/>
          </a:ln>
        </p:spPr>
      </p:sp>
      <p:sp>
        <p:nvSpPr>
          <p:cNvPr id="55" name="Text 53"/>
          <p:cNvSpPr/>
          <p:nvPr/>
        </p:nvSpPr>
        <p:spPr>
          <a:xfrm>
            <a:off x="6309360" y="2313432"/>
            <a:ext cx="2395728" cy="237744"/>
          </a:xfrm>
          <a:prstGeom prst="rect">
            <a:avLst/>
          </a:prstGeom>
          <a:noFill/>
          <a:ln/>
        </p:spPr>
        <p:txBody>
          <a:bodyPr wrap="square" lIns="0" tIns="0" rIns="0" bIns="0" rtlCol="0" anchor="ctr"/>
          <a:lstStyle/>
          <a:p>
            <a:pPr marL="0" indent="0">
              <a:buNone/>
            </a:pPr>
            <a:r>
              <a:rPr lang="en-US" sz="1000" b="1" dirty="0">
                <a:solidFill>
                  <a:srgbClr val="1DB87A"/>
                </a:solidFill>
                <a:latin typeface="Calibri" pitchFamily="34" charset="0"/>
                <a:ea typeface="Calibri" pitchFamily="34" charset="-122"/>
                <a:cs typeface="Calibri" pitchFamily="34" charset="-120"/>
              </a:rPr>
              <a:t>Logic upgrades</a:t>
            </a:r>
            <a:endParaRPr lang="en-US" sz="1000" dirty="0"/>
          </a:p>
        </p:txBody>
      </p:sp>
      <p:sp>
        <p:nvSpPr>
          <p:cNvPr id="56" name="Text 54"/>
          <p:cNvSpPr/>
          <p:nvPr/>
        </p:nvSpPr>
        <p:spPr>
          <a:xfrm>
            <a:off x="6309360" y="2532888"/>
            <a:ext cx="2395728" cy="347472"/>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Consortium vote: supermajority (&gt;50% orgs approve new chaincode version before commit)</a:t>
            </a:r>
            <a:endParaRPr lang="en-US" sz="780" dirty="0"/>
          </a:p>
        </p:txBody>
      </p:sp>
      <p:sp>
        <p:nvSpPr>
          <p:cNvPr id="57" name="Shape 55"/>
          <p:cNvSpPr/>
          <p:nvPr/>
        </p:nvSpPr>
        <p:spPr>
          <a:xfrm>
            <a:off x="6199632" y="2926080"/>
            <a:ext cx="2596896" cy="621792"/>
          </a:xfrm>
          <a:prstGeom prst="roundRect">
            <a:avLst>
              <a:gd name="adj" fmla="val 10294"/>
            </a:avLst>
          </a:prstGeom>
          <a:solidFill>
            <a:srgbClr val="0D1628"/>
          </a:solidFill>
          <a:ln w="12700">
            <a:solidFill>
              <a:srgbClr val="2A3A5A"/>
            </a:solidFill>
            <a:prstDash val="solid"/>
          </a:ln>
        </p:spPr>
      </p:sp>
      <p:sp>
        <p:nvSpPr>
          <p:cNvPr id="58" name="Text 56"/>
          <p:cNvSpPr/>
          <p:nvPr/>
        </p:nvSpPr>
        <p:spPr>
          <a:xfrm>
            <a:off x="6309360" y="2971800"/>
            <a:ext cx="2395728" cy="237744"/>
          </a:xfrm>
          <a:prstGeom prst="rect">
            <a:avLst/>
          </a:prstGeom>
          <a:noFill/>
          <a:ln/>
        </p:spPr>
        <p:txBody>
          <a:bodyPr wrap="square" lIns="0" tIns="0" rIns="0" bIns="0" rtlCol="0" anchor="ctr"/>
          <a:lstStyle/>
          <a:p>
            <a:pPr marL="0" indent="0">
              <a:buNone/>
            </a:pPr>
            <a:r>
              <a:rPr lang="en-US" sz="1000" b="1" dirty="0">
                <a:solidFill>
                  <a:srgbClr val="1DB87A"/>
                </a:solidFill>
                <a:latin typeface="Calibri" pitchFamily="34" charset="0"/>
                <a:ea typeface="Calibri" pitchFamily="34" charset="-122"/>
                <a:cs typeface="Calibri" pitchFamily="34" charset="-120"/>
              </a:rPr>
              <a:t>New bank onboarding</a:t>
            </a:r>
            <a:endParaRPr lang="en-US" sz="1000" dirty="0"/>
          </a:p>
        </p:txBody>
      </p:sp>
      <p:sp>
        <p:nvSpPr>
          <p:cNvPr id="59" name="Text 57"/>
          <p:cNvSpPr/>
          <p:nvPr/>
        </p:nvSpPr>
        <p:spPr>
          <a:xfrm>
            <a:off x="6309360" y="3191256"/>
            <a:ext cx="2395728" cy="347472"/>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Consortium vote: supermajority</a:t>
            </a:r>
            <a:endParaRPr lang="en-US" sz="780" dirty="0"/>
          </a:p>
          <a:p>
            <a:pPr marL="0" indent="0">
              <a:buNone/>
            </a:pPr>
            <a:r>
              <a:rPr lang="en-US" sz="780" dirty="0">
                <a:solidFill>
                  <a:srgbClr val="CBD8EA"/>
                </a:solidFill>
                <a:latin typeface="Calibri" pitchFamily="34" charset="0"/>
                <a:ea typeface="Calibri" pitchFamily="34" charset="-122"/>
                <a:cs typeface="Calibri" pitchFamily="34" charset="-120"/>
              </a:rPr>
              <a:t>New org MSP added to channel policy. New peer nodes installed and synced.</a:t>
            </a:r>
            <a:endParaRPr lang="en-US" sz="780" dirty="0"/>
          </a:p>
        </p:txBody>
      </p:sp>
      <p:sp>
        <p:nvSpPr>
          <p:cNvPr id="60" name="Shape 58"/>
          <p:cNvSpPr/>
          <p:nvPr/>
        </p:nvSpPr>
        <p:spPr>
          <a:xfrm>
            <a:off x="6199632" y="3584448"/>
            <a:ext cx="2596896" cy="621792"/>
          </a:xfrm>
          <a:prstGeom prst="roundRect">
            <a:avLst>
              <a:gd name="adj" fmla="val 10294"/>
            </a:avLst>
          </a:prstGeom>
          <a:solidFill>
            <a:srgbClr val="0D1628"/>
          </a:solidFill>
          <a:ln w="12700">
            <a:solidFill>
              <a:srgbClr val="2A3A5A"/>
            </a:solidFill>
            <a:prstDash val="solid"/>
          </a:ln>
        </p:spPr>
      </p:sp>
      <p:sp>
        <p:nvSpPr>
          <p:cNvPr id="61" name="Text 59"/>
          <p:cNvSpPr/>
          <p:nvPr/>
        </p:nvSpPr>
        <p:spPr>
          <a:xfrm>
            <a:off x="6309360" y="3630168"/>
            <a:ext cx="2395728" cy="237744"/>
          </a:xfrm>
          <a:prstGeom prst="rect">
            <a:avLst/>
          </a:prstGeom>
          <a:noFill/>
          <a:ln/>
        </p:spPr>
        <p:txBody>
          <a:bodyPr wrap="square" lIns="0" tIns="0" rIns="0" bIns="0" rtlCol="0" anchor="ctr"/>
          <a:lstStyle/>
          <a:p>
            <a:pPr marL="0" indent="0">
              <a:buNone/>
            </a:pPr>
            <a:r>
              <a:rPr lang="en-US" sz="1000" b="1" dirty="0">
                <a:solidFill>
                  <a:srgbClr val="1DB87A"/>
                </a:solidFill>
                <a:latin typeface="Calibri" pitchFamily="34" charset="0"/>
                <a:ea typeface="Calibri" pitchFamily="34" charset="-122"/>
                <a:cs typeface="Calibri" pitchFamily="34" charset="-120"/>
              </a:rPr>
              <a:t>Flag disputes</a:t>
            </a:r>
            <a:endParaRPr lang="en-US" sz="1000" dirty="0"/>
          </a:p>
        </p:txBody>
      </p:sp>
      <p:sp>
        <p:nvSpPr>
          <p:cNvPr id="62" name="Text 60"/>
          <p:cNvSpPr/>
          <p:nvPr/>
        </p:nvSpPr>
        <p:spPr>
          <a:xfrm>
            <a:off x="6309360" y="3849624"/>
            <a:ext cx="2395728" cy="347472"/>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Any bank can challenge a flag via DisputeFlag() function. Dispute reviewed by 3-org arbitration panel. Resolved on-chain.</a:t>
            </a:r>
            <a:endParaRPr lang="en-US" sz="780" dirty="0"/>
          </a:p>
        </p:txBody>
      </p:sp>
      <p:sp>
        <p:nvSpPr>
          <p:cNvPr id="63" name="Shape 61"/>
          <p:cNvSpPr/>
          <p:nvPr/>
        </p:nvSpPr>
        <p:spPr>
          <a:xfrm>
            <a:off x="6199632" y="4242816"/>
            <a:ext cx="2596896" cy="621792"/>
          </a:xfrm>
          <a:prstGeom prst="roundRect">
            <a:avLst>
              <a:gd name="adj" fmla="val 10294"/>
            </a:avLst>
          </a:prstGeom>
          <a:solidFill>
            <a:srgbClr val="0D1628"/>
          </a:solidFill>
          <a:ln w="12700">
            <a:solidFill>
              <a:srgbClr val="2A3A5A"/>
            </a:solidFill>
            <a:prstDash val="solid"/>
          </a:ln>
        </p:spPr>
      </p:sp>
      <p:sp>
        <p:nvSpPr>
          <p:cNvPr id="64" name="Text 62"/>
          <p:cNvSpPr/>
          <p:nvPr/>
        </p:nvSpPr>
        <p:spPr>
          <a:xfrm>
            <a:off x="6309360" y="4288536"/>
            <a:ext cx="2395728" cy="237744"/>
          </a:xfrm>
          <a:prstGeom prst="rect">
            <a:avLst/>
          </a:prstGeom>
          <a:noFill/>
          <a:ln/>
        </p:spPr>
        <p:txBody>
          <a:bodyPr wrap="square" lIns="0" tIns="0" rIns="0" bIns="0" rtlCol="0" anchor="ctr"/>
          <a:lstStyle/>
          <a:p>
            <a:pPr marL="0" indent="0">
              <a:buNone/>
            </a:pPr>
            <a:r>
              <a:rPr lang="en-US" sz="1000" b="1" dirty="0">
                <a:solidFill>
                  <a:srgbClr val="1DB87A"/>
                </a:solidFill>
                <a:latin typeface="Calibri" pitchFamily="34" charset="0"/>
                <a:ea typeface="Calibri" pitchFamily="34" charset="-122"/>
                <a:cs typeface="Calibri" pitchFamily="34" charset="-120"/>
              </a:rPr>
              <a:t>Regulator access</a:t>
            </a:r>
            <a:endParaRPr lang="en-US" sz="1000" dirty="0"/>
          </a:p>
        </p:txBody>
      </p:sp>
      <p:sp>
        <p:nvSpPr>
          <p:cNvPr id="65" name="Text 63"/>
          <p:cNvSpPr/>
          <p:nvPr/>
        </p:nvSpPr>
        <p:spPr>
          <a:xfrm>
            <a:off x="6309360" y="4507992"/>
            <a:ext cx="2395728" cy="347472"/>
          </a:xfrm>
          <a:prstGeom prst="rect">
            <a:avLst/>
          </a:prstGeom>
          <a:noFill/>
          <a:ln/>
        </p:spPr>
        <p:txBody>
          <a:bodyPr wrap="square" lIns="0" tIns="0" rIns="0" bIns="0" rtlCol="0" anchor="ctr"/>
          <a:lstStyle/>
          <a:p>
            <a:pPr marL="0" indent="0">
              <a:buNone/>
            </a:pPr>
            <a:r>
              <a:rPr lang="en-US" sz="780" dirty="0">
                <a:solidFill>
                  <a:srgbClr val="CBD8EA"/>
                </a:solidFill>
                <a:latin typeface="Calibri" pitchFamily="34" charset="0"/>
                <a:ea typeface="Calibri" pitchFamily="34" charset="-122"/>
                <a:cs typeface="Calibri" pitchFamily="34" charset="-120"/>
              </a:rPr>
              <a:t>FCA/PSR observer node: read-only, no endorsement rights. Added from Day 1 by Lloyds founding charter.</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3973</Words>
  <Application>Microsoft Office PowerPoint</Application>
  <PresentationFormat>On-screen Show (16:9)</PresentationFormat>
  <Paragraphs>355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Contract Design – Fraud Prevention</dc:title>
  <dc:subject>PptxGenJS Presentation</dc:subject>
  <dc:creator>PptxGenJS</dc:creator>
  <cp:lastModifiedBy>ARUN KUMAR MOHAPATRA</cp:lastModifiedBy>
  <cp:revision>1</cp:revision>
  <dcterms:created xsi:type="dcterms:W3CDTF">2026-06-21T17:29:36Z</dcterms:created>
  <dcterms:modified xsi:type="dcterms:W3CDTF">2026-06-21T17:31:52Z</dcterms:modified>
</cp:coreProperties>
</file>