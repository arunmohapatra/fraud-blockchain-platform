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7611" autoAdjust="0"/>
  </p:normalViewPr>
  <p:slideViewPr>
    <p:cSldViewPr snapToGrid="0" snapToObjects="1">
      <p:cViewPr varScale="1">
        <p:scale>
          <a:sx n="99" d="100"/>
          <a:sy n="99" d="100"/>
        </p:scale>
        <p:origin x="9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CBD8EA"/>
                </a:solidFill>
                <a:latin typeface="Arial"/>
              </a:defRPr>
            </a:pPr>
            <a:r>
              <a:rPr lang="en-IN" sz="1200" b="0" i="0" u="none" strike="noStrike">
                <a:solidFill>
                  <a:srgbClr val="CBD8EA"/>
                </a:solidFill>
                <a:latin typeface="Arial"/>
              </a:rPr>
              <a:t>UK Banking Fraud Losses (£M)</a:t>
            </a:r>
          </a:p>
        </c:rich>
      </c:tx>
      <c:overlay val="0"/>
    </c:title>
    <c:autoTitleDeleted val="0"/>
    <c:plotArea>
      <c:layout/>
      <c:barChart>
        <c:barDir val="col"/>
        <c:grouping val="clustered"/>
        <c:varyColors val="0"/>
        <c:ser>
          <c:idx val="0"/>
          <c:order val="0"/>
          <c:tx>
            <c:strRef>
              <c:f>Sheet1!$B$1</c:f>
              <c:strCache>
                <c:ptCount val="1"/>
                <c:pt idx="0">
                  <c:v>£M Lost</c:v>
                </c:pt>
              </c:strCache>
            </c:strRef>
          </c:tx>
          <c:spPr>
            <a:solidFill>
              <a:srgbClr val="E8A020"/>
            </a:solidFill>
            <a:effectLst/>
          </c:spPr>
          <c:invertIfNegative val="0"/>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2020</c:v>
                </c:pt>
                <c:pt idx="1">
                  <c:v>2021</c:v>
                </c:pt>
                <c:pt idx="2">
                  <c:v>2022</c:v>
                </c:pt>
                <c:pt idx="3">
                  <c:v>2023</c:v>
                </c:pt>
                <c:pt idx="4">
                  <c:v>2024</c:v>
                </c:pt>
              </c:strCache>
            </c:strRef>
          </c:cat>
          <c:val>
            <c:numRef>
              <c:f>Sheet1!$B$2:$B$6</c:f>
              <c:numCache>
                <c:formatCode>General</c:formatCode>
                <c:ptCount val="5"/>
                <c:pt idx="0">
                  <c:v>479</c:v>
                </c:pt>
                <c:pt idx="1">
                  <c:v>583</c:v>
                </c:pt>
                <c:pt idx="2">
                  <c:v>727</c:v>
                </c:pt>
                <c:pt idx="3">
                  <c:v>1080</c:v>
                </c:pt>
                <c:pt idx="4">
                  <c:v>1170</c:v>
                </c:pt>
              </c:numCache>
            </c:numRef>
          </c:val>
          <c:extLst>
            <c:ext xmlns:c16="http://schemas.microsoft.com/office/drawing/2014/chart" uri="{C3380CC4-5D6E-409C-BE32-E72D297353CC}">
              <c16:uniqueId val="{00000000-0212-422C-B181-1613B5F6DBE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5B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5B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62D52"/>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774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UK Banking Fraud Landscape 2024
Open by anchoring the audience on the scale of the problem with hard, current numbers.
Key talking points:
£1.17 billion was lost to fraud across UK banks in 2024 — the highest figure recorded in five years. This is not a spike; it is an upward trend under a system that has not fundamentally changed.
Over 40% of that total — approximately £468 million — is attributable to Authorised Push Payment (APP) fraud. This is the category where the customer is socially engineered into authorising the transfer themselves, making it the hardest vector for traditional controls to intercept.
The traditional fraud recovery rate sits below 8%. Once a payment clears the Faster Payments rail, the window to reclaim funds closes in seconds. Banks are managing aftermath, not preventing loss.
Emphasise the bottom callout: the intervention window is measured in seconds — the exact same speed at which Faster Payments settles. Current anti-fraud architecture was built for a world where fraud was discovered days later; it was never re-engineered for real-time payment rails.
Transition: These are not just statistics. They expose structural gaps in how banks process, authorise, and audit payments. The next slides detail exactly where those gaps sit.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Use Case 1: Authorised Push Payment (APP) Fraud
This slide tells the story of a single APP fraud event, step by step, so the audience understands not just what happens — but why every step passes undetected under the current system.
Step 1 — Victim Targeted: A fraudster impersonates a trusted authority — HMRC, a police officer, or the bank itself. The victim receives a convincing call or message instructing them to move money urgently for their own protection. There is no technical signal to the bank that this conversation has taken place.
Step 2 — Authorised Payment: The victim logs in to their banking app and initiates the transfer themselves. From the bank's perspective, this is an authenticated customer performing a routine action. All KYC and transaction monitoring checks pass because the customer's credentials are valid.
Step 3 — Funds Clear Instantly: Faster Payments settles the transaction in under 10 seconds. The money lands in a mule account — often at a different institution. Within minutes it is moved again or withdrawn as cash.
Step 4 — Recovery Fails: By the time the victim realises what has happened and contacts the bank, the funds are gone. Traditional fraud tracing takes days. The cross-institution investigation requires manual evidence gathering. Less than 8% is ever recovered.
Core system flaw: The bank authorised this payment because the legitimate account holder instructed it. There is no layer in the current stack that can detect social coercion, compare this behaviour against a real-time anomaly baseline, or pause the payment for a verification step before it is irrevocable.
Transition: APP fraud is the most visible gap, but it sits on top of a broader set of architectural weaknesses in the banking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Systemic Flaws: Where the Current Banking Infrastructure Breaks Down
This slide shifts from the individual fraud story to the structural failures that make APP fraud — and fraud more broadly — so difficult to prevent. Each card represents a genuine architectural gap, not a process improvement opportunity.
Post-Event Detection: Anti-fraud systems are designed to flag anomalies after a transaction has settled. With Faster Payments clearing in under 10 seconds, there is simply no time for a human — or a traditional rule-based engine — to intervene before funds are gone. Detection happens; prevention does not.
Siloed Data, No Audit Trail: Fraud intelligence is trapped inside individual institutions. When Bank A identifies a mule account, Banks B through Z continue accepting payments into it. There is no shared, tamper-proof record that enables cross-institution pattern recognition in real time.
Manual Triage Burden: Fraud operations teams spend significant time manually reviewing cases, many of which are false positives generated by blunt rule-based engines. This drives up cost-per-case, delays genuine victim support, and creates a workload that scales linearly with fraud volume.
Reactive Reimbursement Model: The PSR mandatory reimbursement framework — while correct for consumer protection — creates a system where banks are financially incentivised to compensate victims efficiently, not to prevent the loss from occurring. There is no upstream prevention logic.
No Cooling-Off Mechanism: High-value or anomalous payments are not automatically paused. Once a customer taps confirm, the instruction is irrevocable — even when the transfer is to a new payee, for an unusual amount, at an unusual time, from a new device. No friction is introduced at the precise moment it is most needed.
Trust Without Verification: Banks trust the instruction because it comes from an authenticated account holder. Social engineering bypasses all conventional controls because the attacker never touches the bank's systems — they manipulate the human instead. The bank's security perimeter assumes the customer is in full control of their decisions.
Transition: These six gaps are not independent. They compound each other. The next two use cases show how they play out in specific, high-impact fraud scenarios.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Use Case 2: Large-Value Transfer — The Invisible Window
This use case focuses on a specific and common fraud scenario: the fraudster does not need to hack any system. They simply need to convince the victim to move money, and the banking infrastructure does the rest automatically.
The scenario (left panel): A customer receives a call from someone posing as their conveyancer, solicitor, or mortgage adviser. They are told that the account for their house deposit has changed at the last minute — a common and credible instruction during a property transaction. The customer logs in and initiates a £90,000 transfer. Standard KYC checks pass because the customer is real and authenticated. Faster Payments clears the transfer in 7 seconds. The mule account is drained within minutes. Investigation begins days later. The trail is cold.
The system gaps (right panel):
No threshold-based pause: There is no mandatory hold or step-up challenge triggered by payment size alone. A £90,000 transfer to a first-time payee proceeds with the same friction as a £30 utility direct debit.
No behavioural baseline check: The bank does not compare this transfer in real time against the customer's payment history. If this customer has never sent more than £2,000 in a single transaction, that anomaly is not surfaced before authorisation.
No cross-bank intelligence: The receiving account may already be flagged as a mule by another institution. But because fraud data is siloed, the sending bank has no visibility of that flag. It processes the payment blind.
No immutable pre-transfer record: There is no cryptographic record that captures the authorisation context — the device used, the behavioural signals, the declared intent. This makes post-fraud dispute resolution slow, expensive, and often inconclusive.
Transition: This type of fraud targets individuals. The next use case shows how the same structural gaps allow organised crime to scale the same attack across hundreds of victims simultaneously.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Use Case 3: Repeat Victimisation and Mule Account Networks
This use case elevates the fraud problem from individual incidents to systemic organised crime. The same infrastructure that fails one customer fails thousands — because banks have no mechanism to share intelligence in real time.
Multiple Victims: Fraud rings do not run one scam at a time. A single fraudster or criminal network will run the same script across dozens or hundreds of targets simultaneously, often spread across several banks. Each victim believes they are an isolated incident. Without a shared intelligence layer, so does each bank.
Siloed Bank Systems: This is the critical structural failure. Bank A may identify a mule account and flag it internally — but that intelligence stays within Bank A. Banks B, C, and D continue to receive and process incoming payments into that same account because they have no visibility of the flag. Fraud operations teams log cases in separate systems. Patterns only become visible in retrospect, during industry-wide data sharing exercises that happen weeks or months later.
Mule Account Networks: The proceeds of APP fraud rarely stay still. They are layered through multiple mule accounts — often across several banks and payment processors — before leaving UK jurisdiction entirely. Current AML transaction monitoring is calibrated for scheduled batch processing, not for real-time in-flight layering at the speed of Faster Payments.
The core gap: The banking system has no shared, immutable, real-time record of which accounts are known fraud vectors. Every institution operates in its own silo, which means organised crime can exploit the same gap indefinitely — simply by spreading their mule network thinly enough that no single institution sees the full pattern.
Transition: Having established the three use cases and their underlying system gaps, the next slide quantifies the cost of doing nothing — and the opportunity that proactive intervention represents.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The Cost of Inaction: Why the Status Quo Is No Longer Acceptable
This slide makes the financial case for change. Use the bar chart to show the trajectory before introducing the opportunity numbers on the right.
The trend line (left chart): UK banking fraud losses have grown from £479M in 2020 to £1.17 billion in 2024 — a 144% increase in four years. This is not volatility; it is a consistent upward curve. The PSR mandatory reimbursement rules introduced in 2024 mean banks now bear a greater share of these losses directly. Inaction is no longer a neutral position financially.
£468M+ — APP fraud share: Of the total 2024 losses, Authorised Push Payment fraud accounts for over 40%. This is the segment most amenable to prevention through real-time intervention, because the fraud succeeds during a brief window between customer instruction and payment settlement — a window that a smart contract or automated hold could exploit.
£350–400M potential annual savings: If real-time smart contract controls can intercept 75–80% of fraudulent APP transactions before completion — a conservative estimate based on the intervention window that exists — the UK banking sector could avoid between £350M and £400M in annual losses. This is a sector-wide figure; Lloyds' proportional share, based on market position, is significant.
60% fraud ops cost reduction: Beyond direct loss prevention, automating flagging, audit trail generation, and evidence collection could reduce the cost of fraud operations by up to 60%. Manual triage, case management, and regulatory reporting are the dominant cost drivers in a fraud ops function today — all of which are candidates for automation.
Pause here and let the numbers land. The question for the judges is not whether this problem is real — the data makes that case. The question is whether a blockchain-based architecture can address the specific gaps identified. That is what the solution slides will cover.
Source note: UK Finance Annual Fraud Report 2024; PSR Mandatory Reimbursement Framework impact assessment.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Summary: The Problem We Are Here to Solve
This is the closing slide of the problem statement section. Use it to crystallise the argument before transitioning to the solution.
Use Case 1 — APP Fraud, Social Engineering at Scale: The banking system treats every authenticated customer instruction as legitimate. There is no mechanism in the current payment flow to detect coercion, impersonation, or manipulation between the moment a customer is targeted and the moment they press send. By the time the fraud is known, the money has already settled.
Use Case 2 — Large-Value Transfers, No Friction, No Protection: Payments that represent a customer's entire savings — house deposits, pension transfers, business payments — complete with exactly the same controls as a grocery payment. There is no mandatory cooling-off period for anomalous high-value transfers, no multi-party approval requirement, and no threshold-based intervention protocol that could create a pause for verification.
Use Case 3 — Repeat Victimisation, Mule Networks Operating Unchallenged: The same mule account can receive fraudulent transfers from customers at multiple banks simultaneously, because there is no shared real-time intelligence layer across the UK banking system. Fraud intelligence stays trapped inside each institution, invisible to the others, until it is too late.
The unifying theme across all three use cases is the same: the current system responds to fraud rather than preventing it. It detects after settlement, investigates after the fact, and reimburses after the loss. Every gap identified here is a gap that exists between the moment of risk and the moment of action.
Hand-off: The architecture we are proposing addresses each of these gaps directly — through an immutable on-chain transaction audit trail, smart contract-based cooling-off and multi-sig controls for high-value transfers, and a shared cross-institution fraud intelligence layer. The next section covers how.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Solution Overview</a:t>
            </a:r>
            <a:r>
              <a:rPr lang="en-IN" dirty="0"/>
              <a:t>Introduces the three-pillar architecture: Immutable On-Chain Audit Trail, Smart Contract Payment Controls, and Cross-Institution Fraud Intelligence Layer. Each pillar shows exactly which system gaps it closes.</a:t>
            </a:r>
            <a:r>
              <a:rPr lang="en-US" dirty="0"/>
              <a:t>
This slide introduces the three-pillar architecture. Emphasise that these are not three separate products — they are three interlocking capabilities that form a single prevention system.
Pillar 1 — Immutable On-Chain Audit Trail: Before any payment leaves the bank, the full authorisation context — device fingerprint, behavioural signals, declared payee, amount, timestamp — is written to a permissioned blockchain. This creates a tamper-proof record that can be interrogated by regulators, shared across institutions, and used in dispute resolution without relying on fragmented internal logs.
Pillar 2 — Smart Contract Payment Controls: Rules encoded in smart contracts replace manual intervention. A transfer above a defined threshold to a new payee automatically triggers a cooling-off hold. Unusually large transfers require a second factor or multi-sig approval. These controls fire in the same sub-second window as Faster Payments — before the money moves.
Pillar 3 — Cross-Institution Fraud Intelligence Layer: A privacy-preserving shared ledger allows participating banks to flag mule accounts and fraud patterns in real time. Zero-knowledge proofs or hashed identifiers mean raw customer data is never exposed — only the fraud signal. When Bank A flags an account, Banks B through Z see the flag immediately.
Transition: The next slides detail each pillar, then show how they map to the specific use cases identified in the problem statement.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Pillar 1: Immutable On-Chain Audit Trail
This slide explains the first and most foundational capability. Everything else in the architecture depends on having a reliable, tamper-proof record of what happened before and during a payment.
Step 1 — Payment Initiated: The customer triggers a transfer. At this moment, the system captures the full authorisation context — the device being used, IP address, behavioural biometrics (typing speed, touch pressure, navigation patterns), the declared payee and amount, and session metadata. This context is never sent to the payee bank; it stays with the originating institution and the chain.
Step 2 — Context Hashed and Written: A cryptographic hash of this authorisation bundle is written to the permissioned blockchain. This happens before the payment instruction is sent to Faster Payments. The hash is small and writes in milliseconds — no performance impact on the payment journey.
Step 3 — Smart Contract Validates: On-chain rules fire immediately. Is this payee known? Is the amount above a threshold? Are there active fraud flags on the receiving account? The contract returns a proceed or hold signal in under one second.
Step 4 — Payment Settles or Is Held: Clean payments proceed to Faster Payments normally. Flagged payments enter a hold state — the customer is prompted for a step-up verification (e.g. call-back, biometric re-auth, a 24-hour cooling-off for very large amounts).
Step 5 — Immutable Record Created: Once the payment resolves — whether it settles, is confirmed after step-up, or is cancelled — the full chain of custody is sealed on the ledger. This is the record that regulators, fraud investigators, and dispute resolution teams access.
What this enables: Tamper-proof evidence for disputes. Cross-institution visibility of fraud patterns. Dispute resolution that takes minutes instead of days.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Pillar 2: Smart Contract Payment Controls
This is the most operationally impactful pillar for immediate fraud prevention. Smart contracts are the mechanism that turns the on-chain audit trail into active intervention.
Contract 1 — Cooling-Off Period: When a customer initiates a transfer to a first-time payee above a configurable threshold, the smart contract places a programmable hold. The customer receives a notification — via app push, SMS, or both — with a clear 'confirm or cancel' prompt and a countdown timer. This directly replicates the pause that would have stopped the majority of APP fraud cases, where victims realise they have been scammed within hours of making the transfer. The cooling-off duration is configurable by risk tier: 4 hours for moderate-risk, 24 hours for high-value or high-risk payments.
Contract 2 — Multi-Sig Approval: For transfers above £50,000 — or any transfer where the behavioural anomaly score exceeds a threshold — the payment requires two cryptographic signatures. The customer's primary device provides signature one. Signature two must come from a registered secondary device, a bank-side fraud analyst approval token, or a biometric re-authentication. This makes social engineering attacks far harder: the fraudster would need to compromise two independent factors simultaneously.
Contract 3 — Anomaly Detection and Hold: An on-chain oracle pulls real-time signals — ML fraud scores from the bank's existing models, cross-institution flags from the shared ledger, and velocity checks — and runs them against the contract rules. If any rule breaches, the payment is held automatically before Faster Payments is called. A case is raised in the fraud ops queue. The customer is notified. No manual triage is required to initiate the hold.
Key point for judges: these contracts are composable. Multiple contracts can evaluate a single payment simultaneously. And because the logic lives on-chain, it is fully auditable by the FCA, the PSR, and participating institutions — resolving a significant regulatory transparency challenge.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Pillar 3: Cross-Institution Fraud Intelligence Layer
This pillar addresses the systemic gap that allows the same fraud infrastructure to operate across multiple banks indefinitely. It is also the pillar with the strongest industry-wide value proposition — which is relevant for a Lloyds hackathon, where the solution needs to demonstrate sector leadership.
Permissioned Blockchain Network: The proposed technology is a permissioned blockchain — either Hyperledger Fabric or Quorum (JP Morgan's Ethereum fork, already used in financial services). This is not a public chain. There are no crypto tokens. Participating banks run validator nodes. Governance is handled through a consortium agreement — similar in structure to the existing CHAPS and Faster Payments governance models. The FCA has already signalled openness to this type of arrangement under the Digital Regulation Cooperation Forum.
Privacy-Preserving Fraud Flags: When Lloyds identifies a mule account, it writes a salted hash of the account identifier to the shared ledger — not the account number, not the customer name, not any raw data. When another bank receives a payment instruction destined for that account, it hashes the account identifier and queries the ledger. A match returns a fraud flag. No raw data ever crosses institution boundaries.
Zero-Knowledge Proofs: For richer signals — behavioural patterns, device fingerprints, transaction velocity profiles — ZK proofs allow a bank to share a cryptographic assertion without revealing the underlying data. This is GDPR-compliant by design, because no personal data is shared — only a mathematical proof of a property.
Real-Time Query: The ledger query at payment initiation adds under 50ms to the payment journey — imperceptible to the customer. If a flag is found, the smart contract from Pillar 2 is triggered automatically.
What this changes: Mule accounts are flagged once and blocked everywhere. Cross-institution fraud patterns become visible for the first time. Regulatory reporting becomes automated and on-chain.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Solution to Use Case Mapping
Use this slide to tie the architecture back to the specific problems identified earlier. Judges will want to see a direct line between the problem and the solution.
Use Case 1 — APP Fraud: The smart contract anomaly detection layer (Pillar 2) intercepts the payment before it reaches Faster Payments. Unusual session behaviour — new device, atypical amount, first-time payee — triggers a cooling-off hold. The customer receives a notification and has a defined window to cancel. This is the intervention that the current system has no equivalent of.
Use Case 2 — Large-Value Transfers: The threshold-based and multi-sig contracts (Pillar 2) enforce mandatory friction on high-value, high-risk payments. A £90,000 transfer to a new payee does not complete in 7 seconds — it enters a hold, requires step-up authentication, and in some cases a mandatory 24-hour cooling-off period. The full authorisation context is recorded on-chain (Pillar 1) for dispute resolution.
Use Case 3 — Repeat Victimisation: The shared fraud intelligence ledger (Pillar 3) means a mule account identified by any participating bank is immediately visible to all others. The same account cannot receive proceeds from customers at Lloyds, Barclays, and NatWest simultaneously — once flagged by one, the flag propagates to all. Cross-institution pattern detection also identifies fraud rings before they reach scale.
Bottom line: The combined architecture delivers an estimated 75–80% interception rate on fraudulent transactions, £350–400M in annual savings across UK banking, and a 60% reduction in fraud operations cost through automated detection and on-chain evidence.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Technical Architecture: High-Level System Design
This slide is for the technical audience — engineers, architects, and technical judges. Walk through the three layers from bottom to top in terms of dependency, but top to bottom on the slide.
Layer 1 — Existing Bank Infrastructure: The architecture is designed to be non-invasive to existing systems. The core banking system, customer app, KYC/AML engine, and Faster Payments gateway are unchanged. The blockchain integration layer sits alongside them, not between them and the customer.
Layer 2 — Blockchain Integration Layer (New Build): This is the primary engineering deliverable. Key components:
- Transaction Context Capture API: Hooks into the payment initiation flow to capture authorisation context before the payment is submitted to Faster Payments.
- Smart Contract Engine: Executes the cooling-off, multi-sig, and anomaly detection contracts. Written in Solidity (for EVM-compatible chains) or Go Chaincode (for Hyperledger Fabric).
- On-Chain Audit Trail Writer: Hashes and writes the transaction context to the ledger.
- Real-Time Ledger Query Service: Queries the shared consortium ledger for fraud flags on the receiving account before payment proceeds.
- Oracle Bridge: Pulls ML fraud scores from the bank's existing models and makes them available to the smart contracts as on-chain data.
Layer 3 — Shared Consortium Ledger (Cross-Bank): This is the inter-institutional layer. Hyperledger Fabric is the recommended technology — it is permissioned, proven in financial services (used by We.Trade, Marco Polo, and Contour), and has built-in channel-based privacy controls. The hashed fraud signal registry and ZK proof nodes live here. Regulatory nodes provide the FCA and PSR with real-time read access.
Technology choices: Hyperledger Fabric for the consortium chain (no public exposure, no token economics, proven governance model). Existing Faster Payments gateway is completely unchanged — the blockchain layer intercepts before the payment reaches FPS, not within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Expected Outcomes and Return on Investment
This slide closes the solution section by quantifying the impact. Use it to make the business case concrete.
75–80% APP fraud interception rate: This estimate is based on the proportion of APP fraud cases where a cooling-off period or step-up verification would have allowed the victim to identify and cancel the fraudulent payment. Industry research and victim surveys consistently show that the majority of APP fraud victims realise they have been scammed within hours — but by then the funds have already settled. The smart contract cooling-off period closes this window.
£350–400M annual savings: At a 75% interception rate applied to the £468M APP fraud loss figure, the gross saving is approximately £350M. This is a conservative estimate — it does not include savings from improved AML efficiency, reduced reimbursement liability under the PSR framework, or the value of the on-chain audit trail for dispute resolution and regulatory reporting.
60% fraud ops cost reduction: Current fraud operations cost is dominated by manual case triage, evidence gathering, and cross-bank liaison for recovery. The on-chain audit trail eliminates the evidence gathering step. Smart contract automation reduces the manual triage workload by flagging cases with full context attached. Cross-bank intelligence reduces the liaison overhead. Conservative modelling puts the achievable cost reduction at 60%.
&lt;50ms ledger query latency: The cross-bank fraud flag query adds under 50 milliseconds to the payment initiation flow — imperceptible to the customer. This is achievable with Hyperledger Fabric running on co-located nodes with low-latency connections between consortium members.
Phased delivery: The three-phase roadmap is designed to deliver value early while building toward the full consortium model. Phase 1 delivers measurable fraud reduction within 6 months using only Lloyds infrastructure. Phases 2 and 3 scale the impact across the sector.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132847"/>
          </a:solidFill>
          <a:ln w="12700">
            <a:solidFill>
              <a:srgbClr val="132847"/>
            </a:solidFill>
            <a:prstDash val="solid"/>
          </a:ln>
        </p:spPr>
        <p:txBody>
          <a:bodyPr/>
          <a:lstStyle/>
          <a:p>
            <a:endParaRPr lang="en-IN" dirty="0"/>
          </a:p>
        </p:txBody>
      </p:sp>
      <p:sp>
        <p:nvSpPr>
          <p:cNvPr id="3" name="Shape 1"/>
          <p:cNvSpPr/>
          <p:nvPr/>
        </p:nvSpPr>
        <p:spPr>
          <a:xfrm>
            <a:off x="320040" y="1645920"/>
            <a:ext cx="54864" cy="1920240"/>
          </a:xfrm>
          <a:prstGeom prst="roundRect">
            <a:avLst>
              <a:gd name="adj" fmla="val 50000"/>
            </a:avLst>
          </a:prstGeom>
          <a:solidFill>
            <a:srgbClr val="E8A020"/>
          </a:solidFill>
          <a:ln w="12700">
            <a:solidFill>
              <a:srgbClr val="E8A020"/>
            </a:solidFill>
            <a:prstDash val="solid"/>
          </a:ln>
        </p:spPr>
      </p:sp>
      <p:pic>
        <p:nvPicPr>
          <p:cNvPr id="4" name="Image 0" descr="preencoded.png"/>
          <p:cNvPicPr>
            <a:picLocks noChangeAspect="1"/>
          </p:cNvPicPr>
          <p:nvPr/>
        </p:nvPicPr>
        <p:blipFill>
          <a:blip r:embed="rId3"/>
          <a:stretch>
            <a:fillRect/>
          </a:stretch>
        </p:blipFill>
        <p:spPr>
          <a:xfrm>
            <a:off x="548640" y="502920"/>
            <a:ext cx="640080" cy="640080"/>
          </a:xfrm>
          <a:prstGeom prst="rect">
            <a:avLst/>
          </a:prstGeom>
        </p:spPr>
      </p:pic>
      <p:sp>
        <p:nvSpPr>
          <p:cNvPr id="5" name="Text 2"/>
          <p:cNvSpPr/>
          <p:nvPr/>
        </p:nvSpPr>
        <p:spPr>
          <a:xfrm>
            <a:off x="1280160" y="457200"/>
            <a:ext cx="2834640" cy="685800"/>
          </a:xfrm>
          <a:prstGeom prst="rect">
            <a:avLst/>
          </a:prstGeom>
          <a:noFill/>
          <a:ln/>
        </p:spPr>
        <p:txBody>
          <a:bodyPr wrap="square" lIns="0" tIns="0" rIns="0" bIns="0" rtlCol="0" anchor="ctr"/>
          <a:lstStyle/>
          <a:p>
            <a:pPr marL="0" indent="0">
              <a:buNone/>
            </a:pPr>
            <a:r>
              <a:rPr lang="en-US" sz="1100" b="1" kern="0" spc="300" dirty="0">
                <a:solidFill>
                  <a:srgbClr val="E8A020"/>
                </a:solidFill>
                <a:latin typeface="Calibri" pitchFamily="34" charset="0"/>
                <a:ea typeface="Calibri" pitchFamily="34" charset="-122"/>
                <a:cs typeface="Calibri" pitchFamily="34" charset="-120"/>
              </a:rPr>
              <a:t>LLOYDS BANK</a:t>
            </a:r>
            <a:endParaRPr lang="en-US" sz="1100" dirty="0"/>
          </a:p>
        </p:txBody>
      </p:sp>
      <p:sp>
        <p:nvSpPr>
          <p:cNvPr id="6" name="Text 3"/>
          <p:cNvSpPr/>
          <p:nvPr/>
        </p:nvSpPr>
        <p:spPr>
          <a:xfrm>
            <a:off x="1280160" y="777240"/>
            <a:ext cx="2834640" cy="457200"/>
          </a:xfrm>
          <a:prstGeom prst="rect">
            <a:avLst/>
          </a:prstGeom>
          <a:noFill/>
          <a:ln/>
        </p:spPr>
        <p:txBody>
          <a:bodyPr wrap="square" lIns="0" tIns="0" rIns="0" bIns="0" rtlCol="0" anchor="ctr"/>
          <a:lstStyle/>
          <a:p>
            <a:pPr marL="0" indent="0">
              <a:buNone/>
            </a:pPr>
            <a:r>
              <a:rPr lang="en-US" sz="1000" dirty="0">
                <a:solidFill>
                  <a:srgbClr val="8FA5BF"/>
                </a:solidFill>
                <a:latin typeface="Calibri" pitchFamily="34" charset="0"/>
                <a:ea typeface="Calibri" pitchFamily="34" charset="-122"/>
                <a:cs typeface="Calibri" pitchFamily="34" charset="-120"/>
              </a:rPr>
              <a:t>Reboot 2026</a:t>
            </a:r>
            <a:endParaRPr lang="en-US" sz="1000" dirty="0"/>
          </a:p>
        </p:txBody>
      </p:sp>
      <p:sp>
        <p:nvSpPr>
          <p:cNvPr id="7" name="Text 4"/>
          <p:cNvSpPr/>
          <p:nvPr/>
        </p:nvSpPr>
        <p:spPr>
          <a:xfrm>
            <a:off x="384048" y="1691640"/>
            <a:ext cx="3840480"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Blockchain-Based</a:t>
            </a:r>
            <a:endParaRPr lang="en-US" sz="3200" dirty="0"/>
          </a:p>
        </p:txBody>
      </p:sp>
      <p:sp>
        <p:nvSpPr>
          <p:cNvPr id="8" name="Text 5"/>
          <p:cNvSpPr/>
          <p:nvPr/>
        </p:nvSpPr>
        <p:spPr>
          <a:xfrm>
            <a:off x="384048" y="2377440"/>
            <a:ext cx="3840480"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Fraud Detection</a:t>
            </a:r>
            <a:endParaRPr lang="en-US" sz="3200" dirty="0"/>
          </a:p>
        </p:txBody>
      </p:sp>
      <p:sp>
        <p:nvSpPr>
          <p:cNvPr id="9" name="Text 6"/>
          <p:cNvSpPr/>
          <p:nvPr/>
        </p:nvSpPr>
        <p:spPr>
          <a:xfrm>
            <a:off x="384048" y="3063240"/>
            <a:ext cx="3840480" cy="777240"/>
          </a:xfrm>
          <a:prstGeom prst="rect">
            <a:avLst/>
          </a:prstGeom>
          <a:noFill/>
          <a:ln/>
        </p:spPr>
        <p:txBody>
          <a:bodyPr wrap="square" lIns="0" tIns="0" rIns="0" bIns="0" rtlCol="0" anchor="ctr"/>
          <a:lstStyle/>
          <a:p>
            <a:pPr marL="0" indent="0">
              <a:buNone/>
            </a:pPr>
            <a:r>
              <a:rPr lang="en-US" sz="3200" b="1" dirty="0">
                <a:solidFill>
                  <a:srgbClr val="E8A020"/>
                </a:solidFill>
                <a:latin typeface="Cambria" pitchFamily="34" charset="0"/>
                <a:ea typeface="Cambria" pitchFamily="34" charset="-122"/>
                <a:cs typeface="Cambria" pitchFamily="34" charset="-120"/>
              </a:rPr>
              <a:t>&amp; Prevention</a:t>
            </a:r>
            <a:endParaRPr lang="en-US" sz="3200" dirty="0"/>
          </a:p>
        </p:txBody>
      </p:sp>
      <p:sp>
        <p:nvSpPr>
          <p:cNvPr id="10" name="Text 7"/>
          <p:cNvSpPr/>
          <p:nvPr/>
        </p:nvSpPr>
        <p:spPr>
          <a:xfrm>
            <a:off x="384048" y="3931920"/>
            <a:ext cx="3840480" cy="457200"/>
          </a:xfrm>
          <a:prstGeom prst="rect">
            <a:avLst/>
          </a:prstGeom>
          <a:noFill/>
          <a:ln/>
        </p:spPr>
        <p:txBody>
          <a:bodyPr wrap="square" lIns="0" tIns="0" rIns="0" bIns="0" rtlCol="0" anchor="ctr"/>
          <a:lstStyle/>
          <a:p>
            <a:pPr marL="0" indent="0">
              <a:buNone/>
            </a:pPr>
            <a:r>
              <a:rPr lang="en-US" sz="1300" i="1" dirty="0">
                <a:solidFill>
                  <a:srgbClr val="8FA5BF"/>
                </a:solidFill>
                <a:latin typeface="Calibri" pitchFamily="34" charset="0"/>
                <a:ea typeface="Calibri" pitchFamily="34" charset="-122"/>
                <a:cs typeface="Calibri" pitchFamily="34" charset="-120"/>
              </a:rPr>
              <a:t>Problem Statement &amp; Use Cases</a:t>
            </a:r>
            <a:endParaRPr lang="en-US" sz="1300" dirty="0"/>
          </a:p>
        </p:txBody>
      </p:sp>
      <p:sp>
        <p:nvSpPr>
          <p:cNvPr id="11" name="Shape 8"/>
          <p:cNvSpPr/>
          <p:nvPr/>
        </p:nvSpPr>
        <p:spPr>
          <a:xfrm>
            <a:off x="4846320" y="1188720"/>
            <a:ext cx="3840480" cy="2651760"/>
          </a:xfrm>
          <a:prstGeom prst="roundRect">
            <a:avLst>
              <a:gd name="adj" fmla="val 5172"/>
            </a:avLst>
          </a:prstGeom>
          <a:solidFill>
            <a:srgbClr val="162D52"/>
          </a:solidFill>
          <a:ln w="12700">
            <a:solidFill>
              <a:srgbClr val="162D52"/>
            </a:solidFill>
            <a:prstDash val="solid"/>
          </a:ln>
          <a:effectLst>
            <a:outerShdw blurRad="101600" dist="38100" dir="2700000" algn="bl" rotWithShape="0">
              <a:srgbClr val="000000">
                <a:alpha val="20000"/>
              </a:srgbClr>
            </a:outerShdw>
          </a:effectLst>
        </p:spPr>
      </p:sp>
      <p:pic>
        <p:nvPicPr>
          <p:cNvPr id="12" name="Image 1" descr="preencoded.png"/>
          <p:cNvPicPr>
            <a:picLocks noChangeAspect="1"/>
          </p:cNvPicPr>
          <p:nvPr/>
        </p:nvPicPr>
        <p:blipFill>
          <a:blip r:embed="rId4"/>
          <a:stretch>
            <a:fillRect/>
          </a:stretch>
        </p:blipFill>
        <p:spPr>
          <a:xfrm>
            <a:off x="6355080" y="1371600"/>
            <a:ext cx="822960" cy="822960"/>
          </a:xfrm>
          <a:prstGeom prst="rect">
            <a:avLst/>
          </a:prstGeom>
        </p:spPr>
      </p:pic>
      <p:sp>
        <p:nvSpPr>
          <p:cNvPr id="13" name="Text 9"/>
          <p:cNvSpPr/>
          <p:nvPr/>
        </p:nvSpPr>
        <p:spPr>
          <a:xfrm>
            <a:off x="4937760" y="2194560"/>
            <a:ext cx="3657600" cy="822960"/>
          </a:xfrm>
          <a:prstGeom prst="rect">
            <a:avLst/>
          </a:prstGeom>
          <a:noFill/>
          <a:ln/>
        </p:spPr>
        <p:txBody>
          <a:bodyPr wrap="square" lIns="0" tIns="0" rIns="0" bIns="0" rtlCol="0" anchor="ctr"/>
          <a:lstStyle/>
          <a:p>
            <a:pPr marL="0" indent="0" algn="ctr">
              <a:buNone/>
            </a:pPr>
            <a:r>
              <a:rPr lang="en-US" sz="3600" b="1" dirty="0">
                <a:solidFill>
                  <a:srgbClr val="E8A020"/>
                </a:solidFill>
                <a:latin typeface="Cambria" pitchFamily="34" charset="0"/>
                <a:ea typeface="Cambria" pitchFamily="34" charset="-122"/>
                <a:cs typeface="Cambria" pitchFamily="34" charset="-120"/>
              </a:rPr>
              <a:t>£1.17 Billion</a:t>
            </a:r>
            <a:endParaRPr lang="en-US" sz="3600" dirty="0"/>
          </a:p>
        </p:txBody>
      </p:sp>
      <p:sp>
        <p:nvSpPr>
          <p:cNvPr id="14" name="Text 10"/>
          <p:cNvSpPr/>
          <p:nvPr/>
        </p:nvSpPr>
        <p:spPr>
          <a:xfrm>
            <a:off x="4937760" y="2926080"/>
            <a:ext cx="3657600" cy="502920"/>
          </a:xfrm>
          <a:prstGeom prst="rect">
            <a:avLst/>
          </a:prstGeom>
          <a:noFill/>
          <a:ln/>
        </p:spPr>
        <p:txBody>
          <a:bodyPr wrap="square" lIns="0" tIns="0" rIns="0" bIns="0" rtlCol="0" anchor="ctr"/>
          <a:lstStyle/>
          <a:p>
            <a:pPr marL="0" indent="0" algn="ctr">
              <a:buNone/>
            </a:pPr>
            <a:r>
              <a:rPr lang="en-US" sz="1300" dirty="0">
                <a:solidFill>
                  <a:srgbClr val="CBD8EA"/>
                </a:solidFill>
                <a:latin typeface="Calibri" pitchFamily="34" charset="0"/>
                <a:ea typeface="Calibri" pitchFamily="34" charset="-122"/>
                <a:cs typeface="Calibri" pitchFamily="34" charset="-120"/>
              </a:rPr>
              <a:t>lost to fraud by UK banks in 2024</a:t>
            </a:r>
            <a:endParaRPr lang="en-US" sz="1300" dirty="0"/>
          </a:p>
        </p:txBody>
      </p:sp>
      <p:sp>
        <p:nvSpPr>
          <p:cNvPr id="15" name="Text 11"/>
          <p:cNvSpPr/>
          <p:nvPr/>
        </p:nvSpPr>
        <p:spPr>
          <a:xfrm>
            <a:off x="4937760" y="3429000"/>
            <a:ext cx="3657600" cy="347472"/>
          </a:xfrm>
          <a:prstGeom prst="rect">
            <a:avLst/>
          </a:prstGeom>
          <a:noFill/>
          <a:ln/>
        </p:spPr>
        <p:txBody>
          <a:bodyPr wrap="square" lIns="0" tIns="0" rIns="0" bIns="0" rtlCol="0" anchor="ctr"/>
          <a:lstStyle/>
          <a:p>
            <a:pPr marL="0" indent="0" algn="ctr">
              <a:buNone/>
            </a:pPr>
            <a:r>
              <a:rPr lang="en-US" sz="1100" i="1" dirty="0">
                <a:solidFill>
                  <a:srgbClr val="8FA5BF"/>
                </a:solidFill>
                <a:latin typeface="Calibri" pitchFamily="34" charset="0"/>
                <a:ea typeface="Calibri" pitchFamily="34" charset="-122"/>
                <a:cs typeface="Calibri" pitchFamily="34" charset="-120"/>
              </a:rPr>
              <a:t>Traditional systems are failing.</a:t>
            </a:r>
            <a:endParaRPr lang="en-US" sz="1100" dirty="0"/>
          </a:p>
        </p:txBody>
      </p:sp>
      <p:sp>
        <p:nvSpPr>
          <p:cNvPr id="16" name="Text 12"/>
          <p:cNvSpPr/>
          <p:nvPr/>
        </p:nvSpPr>
        <p:spPr>
          <a:xfrm>
            <a:off x="0" y="4754880"/>
            <a:ext cx="9144000" cy="365760"/>
          </a:xfrm>
          <a:prstGeom prst="rect">
            <a:avLst/>
          </a:prstGeom>
          <a:noFill/>
          <a:ln/>
        </p:spPr>
        <p:txBody>
          <a:bodyPr wrap="square" lIns="0" tIns="0" rIns="0" bIns="0" rtlCol="0" anchor="ctr"/>
          <a:lstStyle/>
          <a:p>
            <a:pPr marL="0" indent="0" algn="ctr">
              <a:buNone/>
            </a:pPr>
            <a:r>
              <a:rPr lang="en-US" sz="900" dirty="0">
                <a:solidFill>
                  <a:srgbClr val="8FA5BF"/>
                </a:solidFill>
                <a:latin typeface="Calibri" pitchFamily="34" charset="0"/>
                <a:ea typeface="Calibri" pitchFamily="34" charset="-122"/>
                <a:cs typeface="Calibri" pitchFamily="34" charset="-120"/>
              </a:rPr>
              <a:t>Lead Solution Architect Presentation  |  Lloyds Bank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Text 1"/>
          <p:cNvSpPr/>
          <p:nvPr/>
        </p:nvSpPr>
        <p:spPr>
          <a:xfrm>
            <a:off x="365760" y="91440"/>
            <a:ext cx="6400800" cy="457200"/>
          </a:xfrm>
          <a:prstGeom prst="rect">
            <a:avLst/>
          </a:prstGeom>
          <a:noFill/>
          <a:ln/>
        </p:spPr>
        <p:txBody>
          <a:bodyPr wrap="square" lIns="0" tIns="0" rIns="0" bIns="0" rtlCol="0" anchor="ctr"/>
          <a:lstStyle/>
          <a:p>
            <a:pPr marL="0" indent="0">
              <a:buNone/>
            </a:pPr>
            <a:r>
              <a:rPr lang="en-US" sz="1100" b="1" kern="0" spc="300" dirty="0">
                <a:solidFill>
                  <a:srgbClr val="E8A020"/>
                </a:solidFill>
                <a:latin typeface="Calibri" pitchFamily="34" charset="0"/>
                <a:ea typeface="Calibri" pitchFamily="34" charset="-122"/>
                <a:cs typeface="Calibri" pitchFamily="34" charset="-120"/>
              </a:rPr>
              <a:t>THE SCALE OF THE PROBLEM</a:t>
            </a:r>
            <a:endParaRPr lang="en-US" sz="1100" dirty="0"/>
          </a:p>
        </p:txBody>
      </p:sp>
      <p:sp>
        <p:nvSpPr>
          <p:cNvPr id="4" name="Text 2"/>
          <p:cNvSpPr/>
          <p:nvPr/>
        </p:nvSpPr>
        <p:spPr>
          <a:xfrm>
            <a:off x="365760" y="502920"/>
            <a:ext cx="64008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UK Banking Fraud Landscape – 2024</a:t>
            </a:r>
            <a:endParaRPr lang="en-US" sz="1600" dirty="0"/>
          </a:p>
        </p:txBody>
      </p:sp>
      <p:sp>
        <p:nvSpPr>
          <p:cNvPr id="5" name="Shape 3"/>
          <p:cNvSpPr/>
          <p:nvPr/>
        </p:nvSpPr>
        <p:spPr>
          <a:xfrm>
            <a:off x="320040" y="1143000"/>
            <a:ext cx="2697480" cy="2697480"/>
          </a:xfrm>
          <a:prstGeom prst="roundRect">
            <a:avLst>
              <a:gd name="adj" fmla="val 4068"/>
            </a:avLst>
          </a:prstGeom>
          <a:solidFill>
            <a:srgbClr val="FFFFFF"/>
          </a:solidFill>
          <a:ln w="12700">
            <a:solidFill>
              <a:srgbClr val="E0E7EF"/>
            </a:solidFill>
            <a:prstDash val="solid"/>
          </a:ln>
          <a:effectLst>
            <a:outerShdw blurRad="101600" dist="38100" dir="2700000" algn="bl" rotWithShape="0">
              <a:srgbClr val="000000">
                <a:alpha val="20000"/>
              </a:srgbClr>
            </a:outerShdw>
          </a:effectLst>
        </p:spPr>
      </p:sp>
      <p:pic>
        <p:nvPicPr>
          <p:cNvPr id="6" name="Image 0" descr="preencoded.png"/>
          <p:cNvPicPr>
            <a:picLocks noChangeAspect="1"/>
          </p:cNvPicPr>
          <p:nvPr/>
        </p:nvPicPr>
        <p:blipFill>
          <a:blip r:embed="rId3"/>
          <a:stretch>
            <a:fillRect/>
          </a:stretch>
        </p:blipFill>
        <p:spPr>
          <a:xfrm>
            <a:off x="1417320" y="1280160"/>
            <a:ext cx="502920" cy="502920"/>
          </a:xfrm>
          <a:prstGeom prst="rect">
            <a:avLst/>
          </a:prstGeom>
        </p:spPr>
      </p:pic>
      <p:sp>
        <p:nvSpPr>
          <p:cNvPr id="7" name="Text 4"/>
          <p:cNvSpPr/>
          <p:nvPr/>
        </p:nvSpPr>
        <p:spPr>
          <a:xfrm>
            <a:off x="320040" y="1783080"/>
            <a:ext cx="2697480" cy="777240"/>
          </a:xfrm>
          <a:prstGeom prst="rect">
            <a:avLst/>
          </a:prstGeom>
          <a:noFill/>
          <a:ln/>
        </p:spPr>
        <p:txBody>
          <a:bodyPr wrap="square" lIns="0" tIns="0" rIns="0" bIns="0" rtlCol="0" anchor="ctr"/>
          <a:lstStyle/>
          <a:p>
            <a:pPr marL="0" indent="0" algn="ctr">
              <a:buNone/>
            </a:pPr>
            <a:r>
              <a:rPr lang="en-US" sz="3400" b="1" dirty="0">
                <a:solidFill>
                  <a:srgbClr val="E8A020"/>
                </a:solidFill>
                <a:latin typeface="Cambria" pitchFamily="34" charset="0"/>
                <a:ea typeface="Cambria" pitchFamily="34" charset="-122"/>
                <a:cs typeface="Cambria" pitchFamily="34" charset="-120"/>
              </a:rPr>
              <a:t>£1.17Bn</a:t>
            </a:r>
            <a:endParaRPr lang="en-US" sz="3400" dirty="0"/>
          </a:p>
        </p:txBody>
      </p:sp>
      <p:sp>
        <p:nvSpPr>
          <p:cNvPr id="8" name="Text 5"/>
          <p:cNvSpPr/>
          <p:nvPr/>
        </p:nvSpPr>
        <p:spPr>
          <a:xfrm>
            <a:off x="429768" y="2578608"/>
            <a:ext cx="2468880" cy="640080"/>
          </a:xfrm>
          <a:prstGeom prst="rect">
            <a:avLst/>
          </a:prstGeom>
          <a:noFill/>
          <a:ln/>
        </p:spPr>
        <p:txBody>
          <a:bodyPr wrap="square" lIns="0" tIns="0" rIns="0" bIns="0" rtlCol="0" anchor="ctr"/>
          <a:lstStyle/>
          <a:p>
            <a:pPr marL="0" indent="0" algn="ctr">
              <a:buNone/>
            </a:pPr>
            <a:r>
              <a:rPr lang="en-US" sz="1200" b="1" dirty="0">
                <a:solidFill>
                  <a:srgbClr val="0B1D3A"/>
                </a:solidFill>
                <a:latin typeface="Calibri" pitchFamily="34" charset="0"/>
                <a:ea typeface="Calibri" pitchFamily="34" charset="-122"/>
                <a:cs typeface="Calibri" pitchFamily="34" charset="-120"/>
              </a:rPr>
              <a:t>Total UK bank fraud losses 2024</a:t>
            </a:r>
            <a:endParaRPr lang="en-US" sz="1200" dirty="0"/>
          </a:p>
        </p:txBody>
      </p:sp>
      <p:sp>
        <p:nvSpPr>
          <p:cNvPr id="9" name="Text 6"/>
          <p:cNvSpPr/>
          <p:nvPr/>
        </p:nvSpPr>
        <p:spPr>
          <a:xfrm>
            <a:off x="411480" y="3246120"/>
            <a:ext cx="2514600" cy="457200"/>
          </a:xfrm>
          <a:prstGeom prst="rect">
            <a:avLst/>
          </a:prstGeom>
          <a:noFill/>
          <a:ln/>
        </p:spPr>
        <p:txBody>
          <a:bodyPr wrap="square" lIns="0" tIns="0" rIns="0" bIns="0" rtlCol="0" anchor="ctr"/>
          <a:lstStyle/>
          <a:p>
            <a:pPr marL="0" indent="0" algn="ctr">
              <a:buNone/>
            </a:pPr>
            <a:r>
              <a:rPr lang="en-US" sz="1000" i="1" dirty="0">
                <a:solidFill>
                  <a:srgbClr val="6B7D96"/>
                </a:solidFill>
                <a:latin typeface="Calibri" pitchFamily="34" charset="0"/>
                <a:ea typeface="Calibri" pitchFamily="34" charset="-122"/>
                <a:cs typeface="Calibri" pitchFamily="34" charset="-120"/>
              </a:rPr>
              <a:t>Highest recorded in 5 years</a:t>
            </a:r>
            <a:endParaRPr lang="en-US" sz="1000" dirty="0"/>
          </a:p>
        </p:txBody>
      </p:sp>
      <p:sp>
        <p:nvSpPr>
          <p:cNvPr id="10" name="Shape 7"/>
          <p:cNvSpPr/>
          <p:nvPr/>
        </p:nvSpPr>
        <p:spPr>
          <a:xfrm>
            <a:off x="3200400" y="1143000"/>
            <a:ext cx="2697480" cy="2697480"/>
          </a:xfrm>
          <a:prstGeom prst="roundRect">
            <a:avLst>
              <a:gd name="adj" fmla="val 4068"/>
            </a:avLst>
          </a:prstGeom>
          <a:solidFill>
            <a:srgbClr val="FFFFFF"/>
          </a:solidFill>
          <a:ln w="12700">
            <a:solidFill>
              <a:srgbClr val="E0E7EF"/>
            </a:solidFill>
            <a:prstDash val="solid"/>
          </a:ln>
          <a:effectLst>
            <a:outerShdw blurRad="101600" dist="38100" dir="2700000" algn="bl" rotWithShape="0">
              <a:srgbClr val="000000">
                <a:alpha val="20000"/>
              </a:srgbClr>
            </a:outerShdw>
          </a:effectLst>
        </p:spPr>
      </p:sp>
      <p:pic>
        <p:nvPicPr>
          <p:cNvPr id="11" name="Image 1" descr="preencoded.png"/>
          <p:cNvPicPr>
            <a:picLocks noChangeAspect="1"/>
          </p:cNvPicPr>
          <p:nvPr/>
        </p:nvPicPr>
        <p:blipFill>
          <a:blip r:embed="rId4"/>
          <a:stretch>
            <a:fillRect/>
          </a:stretch>
        </p:blipFill>
        <p:spPr>
          <a:xfrm>
            <a:off x="4297680" y="1280160"/>
            <a:ext cx="502920" cy="502920"/>
          </a:xfrm>
          <a:prstGeom prst="rect">
            <a:avLst/>
          </a:prstGeom>
        </p:spPr>
      </p:pic>
      <p:sp>
        <p:nvSpPr>
          <p:cNvPr id="12" name="Text 8"/>
          <p:cNvSpPr/>
          <p:nvPr/>
        </p:nvSpPr>
        <p:spPr>
          <a:xfrm>
            <a:off x="3200400" y="1783080"/>
            <a:ext cx="2697480" cy="777240"/>
          </a:xfrm>
          <a:prstGeom prst="rect">
            <a:avLst/>
          </a:prstGeom>
          <a:noFill/>
          <a:ln/>
        </p:spPr>
        <p:txBody>
          <a:bodyPr wrap="square" lIns="0" tIns="0" rIns="0" bIns="0" rtlCol="0" anchor="ctr"/>
          <a:lstStyle/>
          <a:p>
            <a:pPr marL="0" indent="0" algn="ctr">
              <a:buNone/>
            </a:pPr>
            <a:r>
              <a:rPr lang="en-US" sz="3400" b="1" dirty="0">
                <a:solidFill>
                  <a:srgbClr val="E05252"/>
                </a:solidFill>
                <a:latin typeface="Cambria" pitchFamily="34" charset="0"/>
                <a:ea typeface="Cambria" pitchFamily="34" charset="-122"/>
                <a:cs typeface="Cambria" pitchFamily="34" charset="-120"/>
              </a:rPr>
              <a:t>&gt;40%</a:t>
            </a:r>
            <a:endParaRPr lang="en-US" sz="3400" dirty="0"/>
          </a:p>
        </p:txBody>
      </p:sp>
      <p:sp>
        <p:nvSpPr>
          <p:cNvPr id="13" name="Text 9"/>
          <p:cNvSpPr/>
          <p:nvPr/>
        </p:nvSpPr>
        <p:spPr>
          <a:xfrm>
            <a:off x="3310128" y="2578608"/>
            <a:ext cx="2468880" cy="640080"/>
          </a:xfrm>
          <a:prstGeom prst="rect">
            <a:avLst/>
          </a:prstGeom>
          <a:noFill/>
          <a:ln/>
        </p:spPr>
        <p:txBody>
          <a:bodyPr wrap="square" lIns="0" tIns="0" rIns="0" bIns="0" rtlCol="0" anchor="ctr"/>
          <a:lstStyle/>
          <a:p>
            <a:pPr marL="0" indent="0" algn="ctr">
              <a:buNone/>
            </a:pPr>
            <a:r>
              <a:rPr lang="en-US" sz="1200" b="1" dirty="0">
                <a:solidFill>
                  <a:srgbClr val="0B1D3A"/>
                </a:solidFill>
                <a:latin typeface="Calibri" pitchFamily="34" charset="0"/>
                <a:ea typeface="Calibri" pitchFamily="34" charset="-122"/>
                <a:cs typeface="Calibri" pitchFamily="34" charset="-120"/>
              </a:rPr>
              <a:t>Share attributable to APP fraud</a:t>
            </a:r>
            <a:endParaRPr lang="en-US" sz="1200" dirty="0"/>
          </a:p>
        </p:txBody>
      </p:sp>
      <p:sp>
        <p:nvSpPr>
          <p:cNvPr id="14" name="Text 10"/>
          <p:cNvSpPr/>
          <p:nvPr/>
        </p:nvSpPr>
        <p:spPr>
          <a:xfrm>
            <a:off x="3291840" y="3246120"/>
            <a:ext cx="2514600" cy="457200"/>
          </a:xfrm>
          <a:prstGeom prst="rect">
            <a:avLst/>
          </a:prstGeom>
          <a:noFill/>
          <a:ln/>
        </p:spPr>
        <p:txBody>
          <a:bodyPr wrap="square" lIns="0" tIns="0" rIns="0" bIns="0" rtlCol="0" anchor="ctr"/>
          <a:lstStyle/>
          <a:p>
            <a:pPr marL="0" indent="0" algn="ctr">
              <a:buNone/>
            </a:pPr>
            <a:r>
              <a:rPr lang="en-US" sz="1000" i="1" dirty="0">
                <a:solidFill>
                  <a:srgbClr val="6B7D96"/>
                </a:solidFill>
                <a:latin typeface="Calibri" pitchFamily="34" charset="0"/>
                <a:ea typeface="Calibri" pitchFamily="34" charset="-122"/>
                <a:cs typeface="Calibri" pitchFamily="34" charset="-120"/>
              </a:rPr>
              <a:t>Authorised Push Payment scams</a:t>
            </a:r>
            <a:endParaRPr lang="en-US" sz="1000" dirty="0"/>
          </a:p>
        </p:txBody>
      </p:sp>
      <p:sp>
        <p:nvSpPr>
          <p:cNvPr id="15" name="Shape 11"/>
          <p:cNvSpPr/>
          <p:nvPr/>
        </p:nvSpPr>
        <p:spPr>
          <a:xfrm>
            <a:off x="6080760" y="1143000"/>
            <a:ext cx="2697480" cy="2697480"/>
          </a:xfrm>
          <a:prstGeom prst="roundRect">
            <a:avLst>
              <a:gd name="adj" fmla="val 4068"/>
            </a:avLst>
          </a:prstGeom>
          <a:solidFill>
            <a:srgbClr val="FFFFFF"/>
          </a:solidFill>
          <a:ln w="12700">
            <a:solidFill>
              <a:srgbClr val="E0E7EF"/>
            </a:solidFill>
            <a:prstDash val="solid"/>
          </a:ln>
          <a:effectLst>
            <a:outerShdw blurRad="101600" dist="38100" dir="2700000" algn="bl" rotWithShape="0">
              <a:srgbClr val="000000">
                <a:alpha val="20000"/>
              </a:srgbClr>
            </a:outerShdw>
          </a:effectLst>
        </p:spPr>
      </p:sp>
      <p:pic>
        <p:nvPicPr>
          <p:cNvPr id="16" name="Image 2" descr="preencoded.png"/>
          <p:cNvPicPr>
            <a:picLocks noChangeAspect="1"/>
          </p:cNvPicPr>
          <p:nvPr/>
        </p:nvPicPr>
        <p:blipFill>
          <a:blip r:embed="rId5"/>
          <a:stretch>
            <a:fillRect/>
          </a:stretch>
        </p:blipFill>
        <p:spPr>
          <a:xfrm>
            <a:off x="7178040" y="1280160"/>
            <a:ext cx="502920" cy="502920"/>
          </a:xfrm>
          <a:prstGeom prst="rect">
            <a:avLst/>
          </a:prstGeom>
        </p:spPr>
      </p:pic>
      <p:sp>
        <p:nvSpPr>
          <p:cNvPr id="17" name="Text 12"/>
          <p:cNvSpPr/>
          <p:nvPr/>
        </p:nvSpPr>
        <p:spPr>
          <a:xfrm>
            <a:off x="6080760" y="1783080"/>
            <a:ext cx="2697480" cy="777240"/>
          </a:xfrm>
          <a:prstGeom prst="rect">
            <a:avLst/>
          </a:prstGeom>
          <a:noFill/>
          <a:ln/>
        </p:spPr>
        <p:txBody>
          <a:bodyPr wrap="square" lIns="0" tIns="0" rIns="0" bIns="0" rtlCol="0" anchor="ctr"/>
          <a:lstStyle/>
          <a:p>
            <a:pPr marL="0" indent="0" algn="ctr">
              <a:buNone/>
            </a:pPr>
            <a:r>
              <a:rPr lang="en-US" sz="3400" b="1" dirty="0">
                <a:solidFill>
                  <a:srgbClr val="3AB0FF"/>
                </a:solidFill>
                <a:latin typeface="Cambria" pitchFamily="34" charset="0"/>
                <a:ea typeface="Cambria" pitchFamily="34" charset="-122"/>
                <a:cs typeface="Cambria" pitchFamily="34" charset="-120"/>
              </a:rPr>
              <a:t>&lt;8%</a:t>
            </a:r>
            <a:endParaRPr lang="en-US" sz="3400" dirty="0"/>
          </a:p>
        </p:txBody>
      </p:sp>
      <p:sp>
        <p:nvSpPr>
          <p:cNvPr id="18" name="Text 13"/>
          <p:cNvSpPr/>
          <p:nvPr/>
        </p:nvSpPr>
        <p:spPr>
          <a:xfrm>
            <a:off x="6190488" y="2578608"/>
            <a:ext cx="2468880" cy="640080"/>
          </a:xfrm>
          <a:prstGeom prst="rect">
            <a:avLst/>
          </a:prstGeom>
          <a:noFill/>
          <a:ln/>
        </p:spPr>
        <p:txBody>
          <a:bodyPr wrap="square" lIns="0" tIns="0" rIns="0" bIns="0" rtlCol="0" anchor="ctr"/>
          <a:lstStyle/>
          <a:p>
            <a:pPr marL="0" indent="0" algn="ctr">
              <a:buNone/>
            </a:pPr>
            <a:r>
              <a:rPr lang="en-US" sz="1200" b="1" dirty="0">
                <a:solidFill>
                  <a:srgbClr val="0B1D3A"/>
                </a:solidFill>
                <a:latin typeface="Calibri" pitchFamily="34" charset="0"/>
                <a:ea typeface="Calibri" pitchFamily="34" charset="-122"/>
                <a:cs typeface="Calibri" pitchFamily="34" charset="-120"/>
              </a:rPr>
              <a:t>Traditional fraud recovery rate</a:t>
            </a:r>
            <a:endParaRPr lang="en-US" sz="1200" dirty="0"/>
          </a:p>
        </p:txBody>
      </p:sp>
      <p:sp>
        <p:nvSpPr>
          <p:cNvPr id="19" name="Text 14"/>
          <p:cNvSpPr/>
          <p:nvPr/>
        </p:nvSpPr>
        <p:spPr>
          <a:xfrm>
            <a:off x="6172200" y="3246120"/>
            <a:ext cx="2514600" cy="457200"/>
          </a:xfrm>
          <a:prstGeom prst="rect">
            <a:avLst/>
          </a:prstGeom>
          <a:noFill/>
          <a:ln/>
        </p:spPr>
        <p:txBody>
          <a:bodyPr wrap="square" lIns="0" tIns="0" rIns="0" bIns="0" rtlCol="0" anchor="ctr"/>
          <a:lstStyle/>
          <a:p>
            <a:pPr marL="0" indent="0" algn="ctr">
              <a:buNone/>
            </a:pPr>
            <a:r>
              <a:rPr lang="en-US" sz="1000" i="1" dirty="0">
                <a:solidFill>
                  <a:srgbClr val="6B7D96"/>
                </a:solidFill>
                <a:latin typeface="Calibri" pitchFamily="34" charset="0"/>
                <a:ea typeface="Calibri" pitchFamily="34" charset="-122"/>
                <a:cs typeface="Calibri" pitchFamily="34" charset="-120"/>
              </a:rPr>
              <a:t>Once funds are sent, near-impossible to reclaim</a:t>
            </a:r>
            <a:endParaRPr lang="en-US" sz="1000" dirty="0"/>
          </a:p>
        </p:txBody>
      </p:sp>
      <p:sp>
        <p:nvSpPr>
          <p:cNvPr id="20" name="Shape 15"/>
          <p:cNvSpPr/>
          <p:nvPr/>
        </p:nvSpPr>
        <p:spPr>
          <a:xfrm>
            <a:off x="320040" y="3977640"/>
            <a:ext cx="8503920" cy="841248"/>
          </a:xfrm>
          <a:prstGeom prst="roundRect">
            <a:avLst>
              <a:gd name="adj" fmla="val 10870"/>
            </a:avLst>
          </a:prstGeom>
          <a:solidFill>
            <a:srgbClr val="FFF3CD"/>
          </a:solidFill>
          <a:ln w="12700">
            <a:solidFill>
              <a:srgbClr val="E8A020"/>
            </a:solidFill>
            <a:prstDash val="solid"/>
          </a:ln>
        </p:spPr>
      </p:sp>
      <p:sp>
        <p:nvSpPr>
          <p:cNvPr id="21" name="Text 16"/>
          <p:cNvSpPr/>
          <p:nvPr/>
        </p:nvSpPr>
        <p:spPr>
          <a:xfrm>
            <a:off x="502920" y="4069080"/>
            <a:ext cx="8138160" cy="658368"/>
          </a:xfrm>
          <a:prstGeom prst="rect">
            <a:avLst/>
          </a:prstGeom>
          <a:noFill/>
          <a:ln/>
        </p:spPr>
        <p:txBody>
          <a:bodyPr wrap="square" lIns="0" tIns="0" rIns="0" bIns="0" rtlCol="0" anchor="ctr"/>
          <a:lstStyle/>
          <a:p>
            <a:pPr marL="0" indent="0">
              <a:buNone/>
            </a:pPr>
            <a:r>
              <a:rPr lang="en-US" sz="1250" b="1" dirty="0">
                <a:solidFill>
                  <a:srgbClr val="7A5000"/>
                </a:solidFill>
                <a:latin typeface="Calibri" pitchFamily="34" charset="0"/>
                <a:ea typeface="Calibri" pitchFamily="34" charset="-122"/>
                <a:cs typeface="Calibri" pitchFamily="34" charset="-120"/>
              </a:rPr>
              <a:t>⚠  APP fraud alone accounts for ~£468M of annual losses — and the window to stop it is measured in seconds, not days.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347472"/>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USE CASE 1</a:t>
            </a:r>
            <a:endParaRPr lang="en-US" sz="10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Authorised Push Payment (APP) Fraud</a:t>
            </a:r>
            <a:endParaRPr lang="en-US" sz="2600" dirty="0"/>
          </a:p>
        </p:txBody>
      </p:sp>
      <p:sp>
        <p:nvSpPr>
          <p:cNvPr id="4" name="Text 2"/>
          <p:cNvSpPr/>
          <p:nvPr/>
        </p:nvSpPr>
        <p:spPr>
          <a:xfrm>
            <a:off x="457200" y="1024128"/>
            <a:ext cx="8229600" cy="365760"/>
          </a:xfrm>
          <a:prstGeom prst="rect">
            <a:avLst/>
          </a:prstGeom>
          <a:noFill/>
          <a:ln/>
        </p:spPr>
        <p:txBody>
          <a:bodyPr wrap="square" lIns="0" tIns="0" rIns="0" bIns="0" rtlCol="0" anchor="ctr"/>
          <a:lstStyle/>
          <a:p>
            <a:pPr marL="0" indent="0">
              <a:buNone/>
            </a:pPr>
            <a:r>
              <a:rPr lang="en-US" sz="1400" i="1" dirty="0">
                <a:solidFill>
                  <a:srgbClr val="8FA5BF"/>
                </a:solidFill>
                <a:latin typeface="Calibri" pitchFamily="34" charset="0"/>
                <a:ea typeface="Calibri" pitchFamily="34" charset="-122"/>
                <a:cs typeface="Calibri" pitchFamily="34" charset="-120"/>
              </a:rPr>
              <a:t>The scam that banks cannot stop — yet</a:t>
            </a:r>
            <a:endParaRPr lang="en-US" sz="1400" dirty="0"/>
          </a:p>
        </p:txBody>
      </p:sp>
      <p:sp>
        <p:nvSpPr>
          <p:cNvPr id="5" name="Shape 3"/>
          <p:cNvSpPr/>
          <p:nvPr/>
        </p:nvSpPr>
        <p:spPr>
          <a:xfrm>
            <a:off x="274320" y="1554480"/>
            <a:ext cx="2011680" cy="3108960"/>
          </a:xfrm>
          <a:prstGeom prst="roundRect">
            <a:avLst>
              <a:gd name="adj" fmla="val 5455"/>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6" name="Shape 4"/>
          <p:cNvSpPr/>
          <p:nvPr/>
        </p:nvSpPr>
        <p:spPr>
          <a:xfrm>
            <a:off x="960120" y="1691640"/>
            <a:ext cx="640080" cy="640080"/>
          </a:xfrm>
          <a:prstGeom prst="ellipse">
            <a:avLst/>
          </a:prstGeom>
          <a:solidFill>
            <a:srgbClr val="E8A020"/>
          </a:solidFill>
          <a:ln w="12700">
            <a:solidFill>
              <a:srgbClr val="E8A020"/>
            </a:solidFill>
            <a:prstDash val="solid"/>
          </a:ln>
        </p:spPr>
      </p:sp>
      <p:sp>
        <p:nvSpPr>
          <p:cNvPr id="7" name="Text 5"/>
          <p:cNvSpPr/>
          <p:nvPr/>
        </p:nvSpPr>
        <p:spPr>
          <a:xfrm>
            <a:off x="960120" y="16916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365760" y="2468880"/>
            <a:ext cx="18288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Victim Targeted</a:t>
            </a:r>
            <a:endParaRPr lang="en-US" sz="1300" dirty="0"/>
          </a:p>
        </p:txBody>
      </p:sp>
      <p:sp>
        <p:nvSpPr>
          <p:cNvPr id="9" name="Text 7"/>
          <p:cNvSpPr/>
          <p:nvPr/>
        </p:nvSpPr>
        <p:spPr>
          <a:xfrm>
            <a:off x="384048" y="3017520"/>
            <a:ext cx="1792224" cy="1508760"/>
          </a:xfrm>
          <a:prstGeom prst="rect">
            <a:avLst/>
          </a:prstGeom>
          <a:noFill/>
          <a:ln/>
        </p:spPr>
        <p:txBody>
          <a:bodyPr wrap="square" lIns="0" tIns="0" rIns="0" bIns="0" rtlCol="0" anchor="ctr"/>
          <a:lstStyle/>
          <a:p>
            <a:pPr marL="0" indent="0" algn="ctr">
              <a:buNone/>
            </a:pPr>
            <a:r>
              <a:rPr lang="en-US" sz="1050" dirty="0">
                <a:solidFill>
                  <a:srgbClr val="CBD8EA"/>
                </a:solidFill>
                <a:latin typeface="Calibri" pitchFamily="34" charset="0"/>
                <a:ea typeface="Calibri" pitchFamily="34" charset="-122"/>
                <a:cs typeface="Calibri" pitchFamily="34" charset="-120"/>
              </a:rPr>
              <a:t>Fraudster impersonates HMRC, police, or bank. Victim believes the instruction is legitimate.</a:t>
            </a:r>
            <a:endParaRPr lang="en-US" sz="1050" dirty="0"/>
          </a:p>
        </p:txBody>
      </p:sp>
      <p:sp>
        <p:nvSpPr>
          <p:cNvPr id="10" name="Shape 8"/>
          <p:cNvSpPr/>
          <p:nvPr/>
        </p:nvSpPr>
        <p:spPr>
          <a:xfrm>
            <a:off x="2450592" y="1554480"/>
            <a:ext cx="2011680" cy="3108960"/>
          </a:xfrm>
          <a:prstGeom prst="roundRect">
            <a:avLst>
              <a:gd name="adj" fmla="val 5455"/>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11" name="Shape 9"/>
          <p:cNvSpPr/>
          <p:nvPr/>
        </p:nvSpPr>
        <p:spPr>
          <a:xfrm>
            <a:off x="3136392" y="1691640"/>
            <a:ext cx="640080" cy="640080"/>
          </a:xfrm>
          <a:prstGeom prst="ellipse">
            <a:avLst/>
          </a:prstGeom>
          <a:solidFill>
            <a:srgbClr val="E8A020"/>
          </a:solidFill>
          <a:ln w="12700">
            <a:solidFill>
              <a:srgbClr val="E8A020"/>
            </a:solidFill>
            <a:prstDash val="solid"/>
          </a:ln>
        </p:spPr>
      </p:sp>
      <p:sp>
        <p:nvSpPr>
          <p:cNvPr id="12" name="Text 10"/>
          <p:cNvSpPr/>
          <p:nvPr/>
        </p:nvSpPr>
        <p:spPr>
          <a:xfrm>
            <a:off x="3136392" y="16916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2542032" y="2468880"/>
            <a:ext cx="18288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Authorised Payment</a:t>
            </a:r>
            <a:endParaRPr lang="en-US" sz="1300" dirty="0"/>
          </a:p>
        </p:txBody>
      </p:sp>
      <p:sp>
        <p:nvSpPr>
          <p:cNvPr id="14" name="Text 12"/>
          <p:cNvSpPr/>
          <p:nvPr/>
        </p:nvSpPr>
        <p:spPr>
          <a:xfrm>
            <a:off x="2560320" y="3017520"/>
            <a:ext cx="1792224" cy="1508760"/>
          </a:xfrm>
          <a:prstGeom prst="rect">
            <a:avLst/>
          </a:prstGeom>
          <a:noFill/>
          <a:ln/>
        </p:spPr>
        <p:txBody>
          <a:bodyPr wrap="square" lIns="0" tIns="0" rIns="0" bIns="0" rtlCol="0" anchor="ctr"/>
          <a:lstStyle/>
          <a:p>
            <a:pPr marL="0" indent="0" algn="ctr">
              <a:buNone/>
            </a:pPr>
            <a:r>
              <a:rPr lang="en-US" sz="1050" dirty="0">
                <a:solidFill>
                  <a:srgbClr val="CBD8EA"/>
                </a:solidFill>
                <a:latin typeface="Calibri" pitchFamily="34" charset="0"/>
                <a:ea typeface="Calibri" pitchFamily="34" charset="-122"/>
                <a:cs typeface="Calibri" pitchFamily="34" charset="-120"/>
              </a:rPr>
              <a:t>Victim willingly initiates a bank transfer — crossing the compliance gate undetected.</a:t>
            </a:r>
            <a:endParaRPr lang="en-US" sz="1050" dirty="0"/>
          </a:p>
        </p:txBody>
      </p:sp>
      <p:sp>
        <p:nvSpPr>
          <p:cNvPr id="15" name="Shape 13"/>
          <p:cNvSpPr/>
          <p:nvPr/>
        </p:nvSpPr>
        <p:spPr>
          <a:xfrm>
            <a:off x="4626864" y="1554480"/>
            <a:ext cx="2011680" cy="3108960"/>
          </a:xfrm>
          <a:prstGeom prst="roundRect">
            <a:avLst>
              <a:gd name="adj" fmla="val 5455"/>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16" name="Shape 14"/>
          <p:cNvSpPr/>
          <p:nvPr/>
        </p:nvSpPr>
        <p:spPr>
          <a:xfrm>
            <a:off x="5312664" y="1691640"/>
            <a:ext cx="640080" cy="640080"/>
          </a:xfrm>
          <a:prstGeom prst="ellipse">
            <a:avLst/>
          </a:prstGeom>
          <a:solidFill>
            <a:srgbClr val="E8A020"/>
          </a:solidFill>
          <a:ln w="12700">
            <a:solidFill>
              <a:srgbClr val="E8A020"/>
            </a:solidFill>
            <a:prstDash val="solid"/>
          </a:ln>
        </p:spPr>
      </p:sp>
      <p:sp>
        <p:nvSpPr>
          <p:cNvPr id="17" name="Text 15"/>
          <p:cNvSpPr/>
          <p:nvPr/>
        </p:nvSpPr>
        <p:spPr>
          <a:xfrm>
            <a:off x="5312664" y="16916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4718304" y="2468880"/>
            <a:ext cx="18288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Funds Clear Instantly</a:t>
            </a:r>
            <a:endParaRPr lang="en-US" sz="1300" dirty="0"/>
          </a:p>
        </p:txBody>
      </p:sp>
      <p:sp>
        <p:nvSpPr>
          <p:cNvPr id="19" name="Text 17"/>
          <p:cNvSpPr/>
          <p:nvPr/>
        </p:nvSpPr>
        <p:spPr>
          <a:xfrm>
            <a:off x="4736592" y="3017520"/>
            <a:ext cx="1792224" cy="1508760"/>
          </a:xfrm>
          <a:prstGeom prst="rect">
            <a:avLst/>
          </a:prstGeom>
          <a:noFill/>
          <a:ln/>
        </p:spPr>
        <p:txBody>
          <a:bodyPr wrap="square" lIns="0" tIns="0" rIns="0" bIns="0" rtlCol="0" anchor="ctr"/>
          <a:lstStyle/>
          <a:p>
            <a:pPr marL="0" indent="0" algn="ctr">
              <a:buNone/>
            </a:pPr>
            <a:r>
              <a:rPr lang="en-US" sz="1050" dirty="0">
                <a:solidFill>
                  <a:srgbClr val="CBD8EA"/>
                </a:solidFill>
                <a:latin typeface="Calibri" pitchFamily="34" charset="0"/>
                <a:ea typeface="Calibri" pitchFamily="34" charset="-122"/>
                <a:cs typeface="Calibri" pitchFamily="34" charset="-120"/>
              </a:rPr>
              <a:t>Faster Payments settles in under 10 seconds. Money lands in mule accounts immediately.</a:t>
            </a:r>
            <a:endParaRPr lang="en-US" sz="1050" dirty="0"/>
          </a:p>
        </p:txBody>
      </p:sp>
      <p:sp>
        <p:nvSpPr>
          <p:cNvPr id="20" name="Shape 18"/>
          <p:cNvSpPr/>
          <p:nvPr/>
        </p:nvSpPr>
        <p:spPr>
          <a:xfrm>
            <a:off x="6803136" y="1554480"/>
            <a:ext cx="2011680" cy="3108960"/>
          </a:xfrm>
          <a:prstGeom prst="roundRect">
            <a:avLst>
              <a:gd name="adj" fmla="val 5455"/>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21" name="Shape 19"/>
          <p:cNvSpPr/>
          <p:nvPr/>
        </p:nvSpPr>
        <p:spPr>
          <a:xfrm>
            <a:off x="7488936" y="1691640"/>
            <a:ext cx="640080" cy="640080"/>
          </a:xfrm>
          <a:prstGeom prst="ellipse">
            <a:avLst/>
          </a:prstGeom>
          <a:solidFill>
            <a:srgbClr val="E8A020"/>
          </a:solidFill>
          <a:ln w="12700">
            <a:solidFill>
              <a:srgbClr val="E8A020"/>
            </a:solidFill>
            <a:prstDash val="solid"/>
          </a:ln>
        </p:spPr>
      </p:sp>
      <p:sp>
        <p:nvSpPr>
          <p:cNvPr id="22" name="Text 20"/>
          <p:cNvSpPr/>
          <p:nvPr/>
        </p:nvSpPr>
        <p:spPr>
          <a:xfrm>
            <a:off x="7488936" y="16916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6894576" y="2468880"/>
            <a:ext cx="18288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Recovery Fails</a:t>
            </a:r>
            <a:endParaRPr lang="en-US" sz="1300" dirty="0"/>
          </a:p>
        </p:txBody>
      </p:sp>
      <p:sp>
        <p:nvSpPr>
          <p:cNvPr id="24" name="Text 22"/>
          <p:cNvSpPr/>
          <p:nvPr/>
        </p:nvSpPr>
        <p:spPr>
          <a:xfrm>
            <a:off x="6912864" y="3017520"/>
            <a:ext cx="1792224" cy="1508760"/>
          </a:xfrm>
          <a:prstGeom prst="rect">
            <a:avLst/>
          </a:prstGeom>
          <a:noFill/>
          <a:ln/>
        </p:spPr>
        <p:txBody>
          <a:bodyPr wrap="square" lIns="0" tIns="0" rIns="0" bIns="0" rtlCol="0" anchor="ctr"/>
          <a:lstStyle/>
          <a:p>
            <a:pPr marL="0" indent="0" algn="ctr">
              <a:buNone/>
            </a:pPr>
            <a:r>
              <a:rPr lang="en-US" sz="1050" dirty="0">
                <a:solidFill>
                  <a:srgbClr val="CBD8EA"/>
                </a:solidFill>
                <a:latin typeface="Calibri" pitchFamily="34" charset="0"/>
                <a:ea typeface="Calibri" pitchFamily="34" charset="-122"/>
                <a:cs typeface="Calibri" pitchFamily="34" charset="-120"/>
              </a:rPr>
              <a:t>Funds are moved or withdrawn. Traditional tracing takes days. &lt;8% is recovered.</a:t>
            </a:r>
            <a:endParaRPr lang="en-US" sz="1050" dirty="0"/>
          </a:p>
        </p:txBody>
      </p:sp>
      <p:sp>
        <p:nvSpPr>
          <p:cNvPr id="25" name="Shape 23"/>
          <p:cNvSpPr/>
          <p:nvPr/>
        </p:nvSpPr>
        <p:spPr>
          <a:xfrm>
            <a:off x="2286000" y="3108960"/>
            <a:ext cx="164592" cy="0"/>
          </a:xfrm>
          <a:prstGeom prst="line">
            <a:avLst/>
          </a:prstGeom>
          <a:noFill/>
          <a:ln w="25400">
            <a:solidFill>
              <a:srgbClr val="E8A020"/>
            </a:solidFill>
            <a:prstDash val="solid"/>
          </a:ln>
        </p:spPr>
      </p:sp>
      <p:sp>
        <p:nvSpPr>
          <p:cNvPr id="26" name="Shape 24"/>
          <p:cNvSpPr/>
          <p:nvPr/>
        </p:nvSpPr>
        <p:spPr>
          <a:xfrm>
            <a:off x="4462272" y="3108960"/>
            <a:ext cx="164592" cy="0"/>
          </a:xfrm>
          <a:prstGeom prst="line">
            <a:avLst/>
          </a:prstGeom>
          <a:noFill/>
          <a:ln w="25400">
            <a:solidFill>
              <a:srgbClr val="E8A020"/>
            </a:solidFill>
            <a:prstDash val="solid"/>
          </a:ln>
        </p:spPr>
      </p:sp>
      <p:sp>
        <p:nvSpPr>
          <p:cNvPr id="27" name="Shape 25"/>
          <p:cNvSpPr/>
          <p:nvPr/>
        </p:nvSpPr>
        <p:spPr>
          <a:xfrm>
            <a:off x="6638544" y="3108960"/>
            <a:ext cx="164592" cy="0"/>
          </a:xfrm>
          <a:prstGeom prst="line">
            <a:avLst/>
          </a:prstGeom>
          <a:noFill/>
          <a:ln w="25400">
            <a:solidFill>
              <a:srgbClr val="E8A020"/>
            </a:solidFill>
            <a:prstDash val="solid"/>
          </a:ln>
        </p:spPr>
      </p:sp>
      <p:sp>
        <p:nvSpPr>
          <p:cNvPr id="28" name="Text 26"/>
          <p:cNvSpPr/>
          <p:nvPr/>
        </p:nvSpPr>
        <p:spPr>
          <a:xfrm>
            <a:off x="274320" y="4663440"/>
            <a:ext cx="8595360" cy="384048"/>
          </a:xfrm>
          <a:prstGeom prst="rect">
            <a:avLst/>
          </a:prstGeom>
          <a:noFill/>
          <a:ln/>
        </p:spPr>
        <p:txBody>
          <a:bodyPr wrap="square" lIns="0" tIns="0" rIns="0" bIns="0" rtlCol="0" anchor="ctr"/>
          <a:lstStyle/>
          <a:p>
            <a:pPr marL="0" indent="0">
              <a:buNone/>
            </a:pPr>
            <a:r>
              <a:rPr lang="en-US" sz="1100" b="1" i="1" dirty="0">
                <a:solidFill>
                  <a:srgbClr val="E8A020"/>
                </a:solidFill>
                <a:latin typeface="Calibri" pitchFamily="34" charset="0"/>
                <a:ea typeface="Calibri" pitchFamily="34" charset="-122"/>
                <a:cs typeface="Calibri" pitchFamily="34" charset="-120"/>
              </a:rPr>
              <a:t>Current System Flaw: Banks authorise the payment because the customer instructed it — there is NO real-time intelligence layer to detect manipulation.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Text 1"/>
          <p:cNvSpPr/>
          <p:nvPr/>
        </p:nvSpPr>
        <p:spPr>
          <a:xfrm>
            <a:off x="365760" y="91440"/>
            <a:ext cx="8229600" cy="365760"/>
          </a:xfrm>
          <a:prstGeom prst="rect">
            <a:avLst/>
          </a:prstGeom>
          <a:noFill/>
          <a:ln/>
        </p:spPr>
        <p:txBody>
          <a:bodyPr wrap="square" lIns="0" tIns="0" rIns="0" bIns="0" rtlCol="0" anchor="ctr"/>
          <a:lstStyle/>
          <a:p>
            <a:pPr marL="0" indent="0">
              <a:buNone/>
            </a:pPr>
            <a:r>
              <a:rPr lang="en-US" sz="1100" b="1" kern="0" spc="300" dirty="0">
                <a:solidFill>
                  <a:srgbClr val="E8A020"/>
                </a:solidFill>
                <a:latin typeface="Calibri" pitchFamily="34" charset="0"/>
                <a:ea typeface="Calibri" pitchFamily="34" charset="-122"/>
                <a:cs typeface="Calibri" pitchFamily="34" charset="-120"/>
              </a:rPr>
              <a:t>SYSTEMIC FLAWS</a:t>
            </a:r>
            <a:endParaRPr lang="en-US" sz="1100" dirty="0"/>
          </a:p>
        </p:txBody>
      </p:sp>
      <p:sp>
        <p:nvSpPr>
          <p:cNvPr id="4" name="Text 2"/>
          <p:cNvSpPr/>
          <p:nvPr/>
        </p:nvSpPr>
        <p:spPr>
          <a:xfrm>
            <a:off x="365760" y="475488"/>
            <a:ext cx="8229600" cy="402336"/>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Where the Current Banking Infrastructure Breaks Down</a:t>
            </a:r>
            <a:endParaRPr lang="en-US" sz="1600" dirty="0"/>
          </a:p>
        </p:txBody>
      </p:sp>
      <p:sp>
        <p:nvSpPr>
          <p:cNvPr id="5" name="Shape 3"/>
          <p:cNvSpPr/>
          <p:nvPr/>
        </p:nvSpPr>
        <p:spPr>
          <a:xfrm>
            <a:off x="274320" y="1143000"/>
            <a:ext cx="4206240" cy="1188720"/>
          </a:xfrm>
          <a:prstGeom prst="roundRect">
            <a:avLst>
              <a:gd name="adj" fmla="val 7692"/>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pic>
        <p:nvPicPr>
          <p:cNvPr id="6" name="Image 0" descr="preencoded.png"/>
          <p:cNvPicPr>
            <a:picLocks noChangeAspect="1"/>
          </p:cNvPicPr>
          <p:nvPr/>
        </p:nvPicPr>
        <p:blipFill>
          <a:blip r:embed="rId3"/>
          <a:stretch>
            <a:fillRect/>
          </a:stretch>
        </p:blipFill>
        <p:spPr>
          <a:xfrm>
            <a:off x="411480" y="1280160"/>
            <a:ext cx="411480" cy="411480"/>
          </a:xfrm>
          <a:prstGeom prst="rect">
            <a:avLst/>
          </a:prstGeom>
        </p:spPr>
      </p:pic>
      <p:sp>
        <p:nvSpPr>
          <p:cNvPr id="7" name="Text 4"/>
          <p:cNvSpPr/>
          <p:nvPr/>
        </p:nvSpPr>
        <p:spPr>
          <a:xfrm>
            <a:off x="896112" y="1234440"/>
            <a:ext cx="3474720" cy="365760"/>
          </a:xfrm>
          <a:prstGeom prst="rect">
            <a:avLst/>
          </a:prstGeom>
          <a:noFill/>
          <a:ln/>
        </p:spPr>
        <p:txBody>
          <a:bodyPr wrap="square" lIns="0" tIns="0" rIns="0" bIns="0" rtlCol="0" anchor="ctr"/>
          <a:lstStyle/>
          <a:p>
            <a:pPr marL="0" indent="0">
              <a:buNone/>
            </a:pPr>
            <a:r>
              <a:rPr lang="en-US" sz="1250" b="1" dirty="0">
                <a:solidFill>
                  <a:srgbClr val="0B1D3A"/>
                </a:solidFill>
                <a:latin typeface="Calibri" pitchFamily="34" charset="0"/>
                <a:ea typeface="Calibri" pitchFamily="34" charset="-122"/>
                <a:cs typeface="Calibri" pitchFamily="34" charset="-120"/>
              </a:rPr>
              <a:t>Post-Event Detection</a:t>
            </a:r>
            <a:endParaRPr lang="en-US" sz="1250" dirty="0"/>
          </a:p>
        </p:txBody>
      </p:sp>
      <p:sp>
        <p:nvSpPr>
          <p:cNvPr id="8" name="Text 5"/>
          <p:cNvSpPr/>
          <p:nvPr/>
        </p:nvSpPr>
        <p:spPr>
          <a:xfrm>
            <a:off x="896112" y="1600200"/>
            <a:ext cx="3493008" cy="68580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Current anti-fraud systems flag transactions after they are settled. Faster Payments clears funds in under 10 seconds — far too late for any manual intervention or reversal.</a:t>
            </a:r>
            <a:endParaRPr lang="en-US" sz="950" dirty="0"/>
          </a:p>
        </p:txBody>
      </p:sp>
      <p:sp>
        <p:nvSpPr>
          <p:cNvPr id="9" name="Shape 6"/>
          <p:cNvSpPr/>
          <p:nvPr/>
        </p:nvSpPr>
        <p:spPr>
          <a:xfrm>
            <a:off x="4736592" y="1143000"/>
            <a:ext cx="4206240" cy="1188720"/>
          </a:xfrm>
          <a:prstGeom prst="roundRect">
            <a:avLst>
              <a:gd name="adj" fmla="val 7692"/>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pic>
        <p:nvPicPr>
          <p:cNvPr id="10" name="Image 1" descr="preencoded.png"/>
          <p:cNvPicPr>
            <a:picLocks noChangeAspect="1"/>
          </p:cNvPicPr>
          <p:nvPr/>
        </p:nvPicPr>
        <p:blipFill>
          <a:blip r:embed="rId4"/>
          <a:stretch>
            <a:fillRect/>
          </a:stretch>
        </p:blipFill>
        <p:spPr>
          <a:xfrm>
            <a:off x="4873752" y="1280160"/>
            <a:ext cx="411480" cy="411480"/>
          </a:xfrm>
          <a:prstGeom prst="rect">
            <a:avLst/>
          </a:prstGeom>
        </p:spPr>
      </p:pic>
      <p:sp>
        <p:nvSpPr>
          <p:cNvPr id="11" name="Text 7"/>
          <p:cNvSpPr/>
          <p:nvPr/>
        </p:nvSpPr>
        <p:spPr>
          <a:xfrm>
            <a:off x="5358384" y="1234440"/>
            <a:ext cx="3474720" cy="365760"/>
          </a:xfrm>
          <a:prstGeom prst="rect">
            <a:avLst/>
          </a:prstGeom>
          <a:noFill/>
          <a:ln/>
        </p:spPr>
        <p:txBody>
          <a:bodyPr wrap="square" lIns="0" tIns="0" rIns="0" bIns="0" rtlCol="0" anchor="ctr"/>
          <a:lstStyle/>
          <a:p>
            <a:pPr marL="0" indent="0">
              <a:buNone/>
            </a:pPr>
            <a:r>
              <a:rPr lang="en-US" sz="1250" b="1" dirty="0">
                <a:solidFill>
                  <a:srgbClr val="0B1D3A"/>
                </a:solidFill>
                <a:latin typeface="Calibri" pitchFamily="34" charset="0"/>
                <a:ea typeface="Calibri" pitchFamily="34" charset="-122"/>
                <a:cs typeface="Calibri" pitchFamily="34" charset="-120"/>
              </a:rPr>
              <a:t>Siloed Data, No Audit Trail</a:t>
            </a:r>
            <a:endParaRPr lang="en-US" sz="1250" dirty="0"/>
          </a:p>
        </p:txBody>
      </p:sp>
      <p:sp>
        <p:nvSpPr>
          <p:cNvPr id="12" name="Text 8"/>
          <p:cNvSpPr/>
          <p:nvPr/>
        </p:nvSpPr>
        <p:spPr>
          <a:xfrm>
            <a:off x="5358384" y="1600200"/>
            <a:ext cx="3493008" cy="68580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Fraud data lives in separate, incompatible systems across banks. There is no shared immutable audit trail enabling cross-institution fraud pattern recognition in real time.</a:t>
            </a:r>
            <a:endParaRPr lang="en-US" sz="950" dirty="0"/>
          </a:p>
        </p:txBody>
      </p:sp>
      <p:sp>
        <p:nvSpPr>
          <p:cNvPr id="13" name="Shape 9"/>
          <p:cNvSpPr/>
          <p:nvPr/>
        </p:nvSpPr>
        <p:spPr>
          <a:xfrm>
            <a:off x="274320" y="2441448"/>
            <a:ext cx="4206240" cy="1188720"/>
          </a:xfrm>
          <a:prstGeom prst="roundRect">
            <a:avLst>
              <a:gd name="adj" fmla="val 7692"/>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pic>
        <p:nvPicPr>
          <p:cNvPr id="14" name="Image 2" descr="preencoded.png"/>
          <p:cNvPicPr>
            <a:picLocks noChangeAspect="1"/>
          </p:cNvPicPr>
          <p:nvPr/>
        </p:nvPicPr>
        <p:blipFill>
          <a:blip r:embed="rId5"/>
          <a:stretch>
            <a:fillRect/>
          </a:stretch>
        </p:blipFill>
        <p:spPr>
          <a:xfrm>
            <a:off x="411480" y="2578608"/>
            <a:ext cx="411480" cy="411480"/>
          </a:xfrm>
          <a:prstGeom prst="rect">
            <a:avLst/>
          </a:prstGeom>
        </p:spPr>
      </p:pic>
      <p:sp>
        <p:nvSpPr>
          <p:cNvPr id="15" name="Text 10"/>
          <p:cNvSpPr/>
          <p:nvPr/>
        </p:nvSpPr>
        <p:spPr>
          <a:xfrm>
            <a:off x="896112" y="2532888"/>
            <a:ext cx="3474720" cy="365760"/>
          </a:xfrm>
          <a:prstGeom prst="rect">
            <a:avLst/>
          </a:prstGeom>
          <a:noFill/>
          <a:ln/>
        </p:spPr>
        <p:txBody>
          <a:bodyPr wrap="square" lIns="0" tIns="0" rIns="0" bIns="0" rtlCol="0" anchor="ctr"/>
          <a:lstStyle/>
          <a:p>
            <a:pPr marL="0" indent="0">
              <a:buNone/>
            </a:pPr>
            <a:r>
              <a:rPr lang="en-US" sz="1250" b="1" dirty="0">
                <a:solidFill>
                  <a:srgbClr val="0B1D3A"/>
                </a:solidFill>
                <a:latin typeface="Calibri" pitchFamily="34" charset="0"/>
                <a:ea typeface="Calibri" pitchFamily="34" charset="-122"/>
                <a:cs typeface="Calibri" pitchFamily="34" charset="-120"/>
              </a:rPr>
              <a:t>Manual Triage Burden</a:t>
            </a:r>
            <a:endParaRPr lang="en-US" sz="1250" dirty="0"/>
          </a:p>
        </p:txBody>
      </p:sp>
      <p:sp>
        <p:nvSpPr>
          <p:cNvPr id="16" name="Text 11"/>
          <p:cNvSpPr/>
          <p:nvPr/>
        </p:nvSpPr>
        <p:spPr>
          <a:xfrm>
            <a:off x="896112" y="2898648"/>
            <a:ext cx="3493008" cy="68580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Fraud operations teams manually review cases — a slow, costly process. High false-positive rates burn analyst time, driving up cost-per-case and delaying genuine victim support.</a:t>
            </a:r>
            <a:endParaRPr lang="en-US" sz="950" dirty="0"/>
          </a:p>
        </p:txBody>
      </p:sp>
      <p:sp>
        <p:nvSpPr>
          <p:cNvPr id="17" name="Shape 12"/>
          <p:cNvSpPr/>
          <p:nvPr/>
        </p:nvSpPr>
        <p:spPr>
          <a:xfrm>
            <a:off x="4736592" y="2441448"/>
            <a:ext cx="4206240" cy="1188720"/>
          </a:xfrm>
          <a:prstGeom prst="roundRect">
            <a:avLst>
              <a:gd name="adj" fmla="val 7692"/>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pic>
        <p:nvPicPr>
          <p:cNvPr id="18" name="Image 3" descr="preencoded.png"/>
          <p:cNvPicPr>
            <a:picLocks noChangeAspect="1"/>
          </p:cNvPicPr>
          <p:nvPr/>
        </p:nvPicPr>
        <p:blipFill>
          <a:blip r:embed="rId6"/>
          <a:stretch>
            <a:fillRect/>
          </a:stretch>
        </p:blipFill>
        <p:spPr>
          <a:xfrm>
            <a:off x="4873752" y="2578608"/>
            <a:ext cx="411480" cy="411480"/>
          </a:xfrm>
          <a:prstGeom prst="rect">
            <a:avLst/>
          </a:prstGeom>
        </p:spPr>
      </p:pic>
      <p:sp>
        <p:nvSpPr>
          <p:cNvPr id="19" name="Text 13"/>
          <p:cNvSpPr/>
          <p:nvPr/>
        </p:nvSpPr>
        <p:spPr>
          <a:xfrm>
            <a:off x="5358384" y="2532888"/>
            <a:ext cx="3474720" cy="365760"/>
          </a:xfrm>
          <a:prstGeom prst="rect">
            <a:avLst/>
          </a:prstGeom>
          <a:noFill/>
          <a:ln/>
        </p:spPr>
        <p:txBody>
          <a:bodyPr wrap="square" lIns="0" tIns="0" rIns="0" bIns="0" rtlCol="0" anchor="ctr"/>
          <a:lstStyle/>
          <a:p>
            <a:pPr marL="0" indent="0">
              <a:buNone/>
            </a:pPr>
            <a:r>
              <a:rPr lang="en-US" sz="1250" b="1" dirty="0">
                <a:solidFill>
                  <a:srgbClr val="0B1D3A"/>
                </a:solidFill>
                <a:latin typeface="Calibri" pitchFamily="34" charset="0"/>
                <a:ea typeface="Calibri" pitchFamily="34" charset="-122"/>
                <a:cs typeface="Calibri" pitchFamily="34" charset="-120"/>
              </a:rPr>
              <a:t>Reactive Reimbursement Model</a:t>
            </a:r>
            <a:endParaRPr lang="en-US" sz="1250" dirty="0"/>
          </a:p>
        </p:txBody>
      </p:sp>
      <p:sp>
        <p:nvSpPr>
          <p:cNvPr id="20" name="Text 14"/>
          <p:cNvSpPr/>
          <p:nvPr/>
        </p:nvSpPr>
        <p:spPr>
          <a:xfrm>
            <a:off x="5358384" y="2898648"/>
            <a:ext cx="3493008" cy="68580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The PSR's mandatory reimbursement framework means banks compensate victims after the loss. There is no system incentivised to prevent the transaction from occurring in the first place.</a:t>
            </a:r>
            <a:endParaRPr lang="en-US" sz="950" dirty="0"/>
          </a:p>
        </p:txBody>
      </p:sp>
      <p:sp>
        <p:nvSpPr>
          <p:cNvPr id="21" name="Shape 15"/>
          <p:cNvSpPr/>
          <p:nvPr/>
        </p:nvSpPr>
        <p:spPr>
          <a:xfrm>
            <a:off x="274320" y="3739896"/>
            <a:ext cx="4206240" cy="1188720"/>
          </a:xfrm>
          <a:prstGeom prst="roundRect">
            <a:avLst>
              <a:gd name="adj" fmla="val 7692"/>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pic>
        <p:nvPicPr>
          <p:cNvPr id="22" name="Image 4" descr="preencoded.png"/>
          <p:cNvPicPr>
            <a:picLocks noChangeAspect="1"/>
          </p:cNvPicPr>
          <p:nvPr/>
        </p:nvPicPr>
        <p:blipFill>
          <a:blip r:embed="rId7"/>
          <a:stretch>
            <a:fillRect/>
          </a:stretch>
        </p:blipFill>
        <p:spPr>
          <a:xfrm>
            <a:off x="411480" y="3877056"/>
            <a:ext cx="411480" cy="411480"/>
          </a:xfrm>
          <a:prstGeom prst="rect">
            <a:avLst/>
          </a:prstGeom>
        </p:spPr>
      </p:pic>
      <p:sp>
        <p:nvSpPr>
          <p:cNvPr id="23" name="Text 16"/>
          <p:cNvSpPr/>
          <p:nvPr/>
        </p:nvSpPr>
        <p:spPr>
          <a:xfrm>
            <a:off x="896112" y="3831336"/>
            <a:ext cx="3474720" cy="365760"/>
          </a:xfrm>
          <a:prstGeom prst="rect">
            <a:avLst/>
          </a:prstGeom>
          <a:noFill/>
          <a:ln/>
        </p:spPr>
        <p:txBody>
          <a:bodyPr wrap="square" lIns="0" tIns="0" rIns="0" bIns="0" rtlCol="0" anchor="ctr"/>
          <a:lstStyle/>
          <a:p>
            <a:pPr marL="0" indent="0">
              <a:buNone/>
            </a:pPr>
            <a:r>
              <a:rPr lang="en-US" sz="1250" b="1" dirty="0">
                <a:solidFill>
                  <a:srgbClr val="0B1D3A"/>
                </a:solidFill>
                <a:latin typeface="Calibri" pitchFamily="34" charset="0"/>
                <a:ea typeface="Calibri" pitchFamily="34" charset="-122"/>
                <a:cs typeface="Calibri" pitchFamily="34" charset="-120"/>
              </a:rPr>
              <a:t>No Cooling-Off Mechanism</a:t>
            </a:r>
            <a:endParaRPr lang="en-US" sz="1250" dirty="0"/>
          </a:p>
        </p:txBody>
      </p:sp>
      <p:sp>
        <p:nvSpPr>
          <p:cNvPr id="24" name="Text 17"/>
          <p:cNvSpPr/>
          <p:nvPr/>
        </p:nvSpPr>
        <p:spPr>
          <a:xfrm>
            <a:off x="896112" y="4197096"/>
            <a:ext cx="3493008" cy="68580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Large or anomalous transfers are not paused for step-up verification. Once the customer presses 'confirm,' the payment is irrevocable — even when clear behavioural anomalies exist.</a:t>
            </a:r>
            <a:endParaRPr lang="en-US" sz="950" dirty="0"/>
          </a:p>
        </p:txBody>
      </p:sp>
      <p:sp>
        <p:nvSpPr>
          <p:cNvPr id="25" name="Shape 18"/>
          <p:cNvSpPr/>
          <p:nvPr/>
        </p:nvSpPr>
        <p:spPr>
          <a:xfrm>
            <a:off x="4736592" y="3739896"/>
            <a:ext cx="4206240" cy="1188720"/>
          </a:xfrm>
          <a:prstGeom prst="roundRect">
            <a:avLst>
              <a:gd name="adj" fmla="val 7692"/>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pic>
        <p:nvPicPr>
          <p:cNvPr id="26" name="Image 5" descr="preencoded.png"/>
          <p:cNvPicPr>
            <a:picLocks noChangeAspect="1"/>
          </p:cNvPicPr>
          <p:nvPr/>
        </p:nvPicPr>
        <p:blipFill>
          <a:blip r:embed="rId8"/>
          <a:stretch>
            <a:fillRect/>
          </a:stretch>
        </p:blipFill>
        <p:spPr>
          <a:xfrm>
            <a:off x="4873752" y="3877056"/>
            <a:ext cx="411480" cy="411480"/>
          </a:xfrm>
          <a:prstGeom prst="rect">
            <a:avLst/>
          </a:prstGeom>
        </p:spPr>
      </p:pic>
      <p:sp>
        <p:nvSpPr>
          <p:cNvPr id="27" name="Text 19"/>
          <p:cNvSpPr/>
          <p:nvPr/>
        </p:nvSpPr>
        <p:spPr>
          <a:xfrm>
            <a:off x="5358384" y="3831336"/>
            <a:ext cx="3474720" cy="365760"/>
          </a:xfrm>
          <a:prstGeom prst="rect">
            <a:avLst/>
          </a:prstGeom>
          <a:noFill/>
          <a:ln/>
        </p:spPr>
        <p:txBody>
          <a:bodyPr wrap="square" lIns="0" tIns="0" rIns="0" bIns="0" rtlCol="0" anchor="ctr"/>
          <a:lstStyle/>
          <a:p>
            <a:pPr marL="0" indent="0">
              <a:buNone/>
            </a:pPr>
            <a:r>
              <a:rPr lang="en-US" sz="1250" b="1" dirty="0">
                <a:solidFill>
                  <a:srgbClr val="0B1D3A"/>
                </a:solidFill>
                <a:latin typeface="Calibri" pitchFamily="34" charset="0"/>
                <a:ea typeface="Calibri" pitchFamily="34" charset="-122"/>
                <a:cs typeface="Calibri" pitchFamily="34" charset="-120"/>
              </a:rPr>
              <a:t>Trust Without Verification</a:t>
            </a:r>
            <a:endParaRPr lang="en-US" sz="1250" dirty="0"/>
          </a:p>
        </p:txBody>
      </p:sp>
      <p:sp>
        <p:nvSpPr>
          <p:cNvPr id="28" name="Text 20"/>
          <p:cNvSpPr/>
          <p:nvPr/>
        </p:nvSpPr>
        <p:spPr>
          <a:xfrm>
            <a:off x="5358384" y="4197096"/>
            <a:ext cx="3493008" cy="68580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Banks trust the customer instruction at face value. Social engineering bypasses all standard controls because the account holder is technically the one authorising the transfer.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347472"/>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USE CASE 2</a:t>
            </a:r>
            <a:endParaRPr lang="en-US" sz="10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Large-Value Transfer: The Invisible Window</a:t>
            </a:r>
            <a:endParaRPr lang="en-US" sz="2600" dirty="0"/>
          </a:p>
        </p:txBody>
      </p:sp>
      <p:sp>
        <p:nvSpPr>
          <p:cNvPr id="4" name="Text 2"/>
          <p:cNvSpPr/>
          <p:nvPr/>
        </p:nvSpPr>
        <p:spPr>
          <a:xfrm>
            <a:off x="457200" y="1024128"/>
            <a:ext cx="8229600" cy="365760"/>
          </a:xfrm>
          <a:prstGeom prst="rect">
            <a:avLst/>
          </a:prstGeom>
          <a:noFill/>
          <a:ln/>
        </p:spPr>
        <p:txBody>
          <a:bodyPr wrap="square" lIns="0" tIns="0" rIns="0" bIns="0" rtlCol="0" anchor="ctr"/>
          <a:lstStyle/>
          <a:p>
            <a:pPr marL="0" indent="0">
              <a:buNone/>
            </a:pPr>
            <a:r>
              <a:rPr lang="en-US" sz="1300" i="1" dirty="0">
                <a:solidFill>
                  <a:srgbClr val="8FA5BF"/>
                </a:solidFill>
                <a:latin typeface="Calibri" pitchFamily="34" charset="0"/>
                <a:ea typeface="Calibri" pitchFamily="34" charset="-122"/>
                <a:cs typeface="Calibri" pitchFamily="34" charset="-120"/>
              </a:rPr>
              <a:t>High-value payments carry the highest risk — yet face the least friction</a:t>
            </a:r>
            <a:endParaRPr lang="en-US" sz="1300" dirty="0"/>
          </a:p>
        </p:txBody>
      </p:sp>
      <p:sp>
        <p:nvSpPr>
          <p:cNvPr id="5" name="Shape 3"/>
          <p:cNvSpPr/>
          <p:nvPr/>
        </p:nvSpPr>
        <p:spPr>
          <a:xfrm>
            <a:off x="320040" y="1508760"/>
            <a:ext cx="4114800" cy="3291840"/>
          </a:xfrm>
          <a:prstGeom prst="roundRect">
            <a:avLst>
              <a:gd name="adj" fmla="val 3333"/>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6" name="Text 4"/>
          <p:cNvSpPr/>
          <p:nvPr/>
        </p:nvSpPr>
        <p:spPr>
          <a:xfrm>
            <a:off x="502920" y="1645920"/>
            <a:ext cx="3749040" cy="384048"/>
          </a:xfrm>
          <a:prstGeom prst="rect">
            <a:avLst/>
          </a:prstGeom>
          <a:noFill/>
          <a:ln/>
        </p:spPr>
        <p:txBody>
          <a:bodyPr wrap="square" lIns="0" tIns="0" rIns="0" bIns="0" rtlCol="0" anchor="ctr"/>
          <a:lstStyle/>
          <a:p>
            <a:pPr marL="0" indent="0">
              <a:buNone/>
            </a:pPr>
            <a:r>
              <a:rPr lang="en-US" sz="1500" b="1" dirty="0">
                <a:solidFill>
                  <a:srgbClr val="E8A020"/>
                </a:solidFill>
                <a:latin typeface="Calibri" pitchFamily="34" charset="0"/>
                <a:ea typeface="Calibri" pitchFamily="34" charset="-122"/>
                <a:cs typeface="Calibri" pitchFamily="34" charset="-120"/>
              </a:rPr>
              <a:t>The Problem</a:t>
            </a:r>
            <a:endParaRPr lang="en-US" sz="1500" dirty="0"/>
          </a:p>
        </p:txBody>
      </p:sp>
      <p:sp>
        <p:nvSpPr>
          <p:cNvPr id="7" name="Text 5"/>
          <p:cNvSpPr/>
          <p:nvPr/>
        </p:nvSpPr>
        <p:spPr>
          <a:xfrm>
            <a:off x="502920" y="2103120"/>
            <a:ext cx="3749040" cy="457200"/>
          </a:xfrm>
          <a:prstGeom prst="rect">
            <a:avLst/>
          </a:prstGeom>
          <a:noFill/>
          <a:ln/>
        </p:spPr>
        <p:txBody>
          <a:bodyPr wrap="square" lIns="0" tIns="0" rIns="0" bIns="0"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1.  </a:t>
            </a:r>
            <a:r>
              <a:rPr lang="en-US" sz="1050" dirty="0">
                <a:solidFill>
                  <a:srgbClr val="CBD8EA"/>
                </a:solidFill>
                <a:latin typeface="Calibri" pitchFamily="34" charset="0"/>
                <a:ea typeface="Calibri" pitchFamily="34" charset="-122"/>
                <a:cs typeface="Calibri" pitchFamily="34" charset="-120"/>
              </a:rPr>
              <a:t>A customer is manipulated into authorising a £90,000 house deposit transfer to a fraudster's account.</a:t>
            </a:r>
            <a:endParaRPr lang="en-US" sz="1050" dirty="0"/>
          </a:p>
        </p:txBody>
      </p:sp>
      <p:sp>
        <p:nvSpPr>
          <p:cNvPr id="8" name="Text 6"/>
          <p:cNvSpPr/>
          <p:nvPr/>
        </p:nvSpPr>
        <p:spPr>
          <a:xfrm>
            <a:off x="502920" y="2587752"/>
            <a:ext cx="3749040" cy="457200"/>
          </a:xfrm>
          <a:prstGeom prst="rect">
            <a:avLst/>
          </a:prstGeom>
          <a:noFill/>
          <a:ln/>
        </p:spPr>
        <p:txBody>
          <a:bodyPr wrap="square" lIns="0" tIns="0" rIns="0" bIns="0"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2.  </a:t>
            </a:r>
            <a:r>
              <a:rPr lang="en-US" sz="1050" dirty="0">
                <a:solidFill>
                  <a:srgbClr val="CBD8EA"/>
                </a:solidFill>
                <a:latin typeface="Calibri" pitchFamily="34" charset="0"/>
                <a:ea typeface="Calibri" pitchFamily="34" charset="-122"/>
                <a:cs typeface="Calibri" pitchFamily="34" charset="-120"/>
              </a:rPr>
              <a:t>The bank sees a legitimate instruction from a verified customer — standard KYC checks pass.</a:t>
            </a:r>
            <a:endParaRPr lang="en-US" sz="1050" dirty="0"/>
          </a:p>
        </p:txBody>
      </p:sp>
      <p:sp>
        <p:nvSpPr>
          <p:cNvPr id="9" name="Text 7"/>
          <p:cNvSpPr/>
          <p:nvPr/>
        </p:nvSpPr>
        <p:spPr>
          <a:xfrm>
            <a:off x="502920" y="3072384"/>
            <a:ext cx="3749040" cy="457200"/>
          </a:xfrm>
          <a:prstGeom prst="rect">
            <a:avLst/>
          </a:prstGeom>
          <a:noFill/>
          <a:ln/>
        </p:spPr>
        <p:txBody>
          <a:bodyPr wrap="square" lIns="0" tIns="0" rIns="0" bIns="0"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3.  </a:t>
            </a:r>
            <a:r>
              <a:rPr lang="en-US" sz="1050" dirty="0">
                <a:solidFill>
                  <a:srgbClr val="CBD8EA"/>
                </a:solidFill>
                <a:latin typeface="Calibri" pitchFamily="34" charset="0"/>
                <a:ea typeface="Calibri" pitchFamily="34" charset="-122"/>
                <a:cs typeface="Calibri" pitchFamily="34" charset="-120"/>
              </a:rPr>
              <a:t>Faster Payments clears the transfer in 7 seconds. The mule account empties within minutes.</a:t>
            </a:r>
            <a:endParaRPr lang="en-US" sz="1050" dirty="0"/>
          </a:p>
        </p:txBody>
      </p:sp>
      <p:sp>
        <p:nvSpPr>
          <p:cNvPr id="10" name="Text 8"/>
          <p:cNvSpPr/>
          <p:nvPr/>
        </p:nvSpPr>
        <p:spPr>
          <a:xfrm>
            <a:off x="502920" y="3557016"/>
            <a:ext cx="3749040" cy="457200"/>
          </a:xfrm>
          <a:prstGeom prst="rect">
            <a:avLst/>
          </a:prstGeom>
          <a:noFill/>
          <a:ln/>
        </p:spPr>
        <p:txBody>
          <a:bodyPr wrap="square" lIns="0" tIns="0" rIns="0" bIns="0"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4.  </a:t>
            </a:r>
            <a:r>
              <a:rPr lang="en-US" sz="1050" dirty="0">
                <a:solidFill>
                  <a:srgbClr val="CBD8EA"/>
                </a:solidFill>
                <a:latin typeface="Calibri" pitchFamily="34" charset="0"/>
                <a:ea typeface="Calibri" pitchFamily="34" charset="-122"/>
                <a:cs typeface="Calibri" pitchFamily="34" charset="-120"/>
              </a:rPr>
              <a:t>No multi-party approval was required. No cooling-off period was triggered. No on-chain record exists.</a:t>
            </a:r>
            <a:endParaRPr lang="en-US" sz="1050" dirty="0"/>
          </a:p>
        </p:txBody>
      </p:sp>
      <p:sp>
        <p:nvSpPr>
          <p:cNvPr id="11" name="Text 9"/>
          <p:cNvSpPr/>
          <p:nvPr/>
        </p:nvSpPr>
        <p:spPr>
          <a:xfrm>
            <a:off x="502920" y="4041648"/>
            <a:ext cx="3749040" cy="457200"/>
          </a:xfrm>
          <a:prstGeom prst="rect">
            <a:avLst/>
          </a:prstGeom>
          <a:noFill/>
          <a:ln/>
        </p:spPr>
        <p:txBody>
          <a:bodyPr wrap="square" lIns="0" tIns="0" rIns="0" bIns="0"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5.  </a:t>
            </a:r>
            <a:r>
              <a:rPr lang="en-US" sz="1050" dirty="0">
                <a:solidFill>
                  <a:srgbClr val="CBD8EA"/>
                </a:solidFill>
                <a:latin typeface="Calibri" pitchFamily="34" charset="0"/>
                <a:ea typeface="Calibri" pitchFamily="34" charset="-122"/>
                <a:cs typeface="Calibri" pitchFamily="34" charset="-120"/>
              </a:rPr>
              <a:t>Investigation begins days later — the trail is cold, recovery is near-impossible.</a:t>
            </a:r>
            <a:endParaRPr lang="en-US" sz="1050" dirty="0"/>
          </a:p>
        </p:txBody>
      </p:sp>
      <p:sp>
        <p:nvSpPr>
          <p:cNvPr id="12" name="Shape 10"/>
          <p:cNvSpPr/>
          <p:nvPr/>
        </p:nvSpPr>
        <p:spPr>
          <a:xfrm>
            <a:off x="4709160" y="1508760"/>
            <a:ext cx="4114800" cy="3291840"/>
          </a:xfrm>
          <a:prstGeom prst="roundRect">
            <a:avLst>
              <a:gd name="adj" fmla="val 3333"/>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13" name="Text 11"/>
          <p:cNvSpPr/>
          <p:nvPr/>
        </p:nvSpPr>
        <p:spPr>
          <a:xfrm>
            <a:off x="4892040" y="1645920"/>
            <a:ext cx="3749040" cy="384048"/>
          </a:xfrm>
          <a:prstGeom prst="rect">
            <a:avLst/>
          </a:prstGeom>
          <a:noFill/>
          <a:ln/>
        </p:spPr>
        <p:txBody>
          <a:bodyPr wrap="square" lIns="0" tIns="0" rIns="0" bIns="0" rtlCol="0" anchor="ctr"/>
          <a:lstStyle/>
          <a:p>
            <a:pPr marL="0" indent="0">
              <a:buNone/>
            </a:pPr>
            <a:r>
              <a:rPr lang="en-US" sz="1500" b="1" dirty="0">
                <a:solidFill>
                  <a:srgbClr val="E05252"/>
                </a:solidFill>
                <a:latin typeface="Calibri" pitchFamily="34" charset="0"/>
                <a:ea typeface="Calibri" pitchFamily="34" charset="-122"/>
                <a:cs typeface="Calibri" pitchFamily="34" charset="-120"/>
              </a:rPr>
              <a:t>System Gap</a:t>
            </a:r>
            <a:endParaRPr lang="en-US" sz="1500" dirty="0"/>
          </a:p>
        </p:txBody>
      </p:sp>
      <p:sp>
        <p:nvSpPr>
          <p:cNvPr id="14" name="Text 12"/>
          <p:cNvSpPr/>
          <p:nvPr/>
        </p:nvSpPr>
        <p:spPr>
          <a:xfrm>
            <a:off x="4892040" y="2084832"/>
            <a:ext cx="3749040" cy="320040"/>
          </a:xfrm>
          <a:prstGeom prst="rect">
            <a:avLst/>
          </a:prstGeom>
          <a:noFill/>
          <a:ln/>
        </p:spPr>
        <p:txBody>
          <a:bodyPr wrap="square" lIns="0" tIns="0" rIns="0" bIns="0" rtlCol="0" anchor="ctr"/>
          <a:lstStyle/>
          <a:p>
            <a:pPr marL="0" indent="0">
              <a:buNone/>
            </a:pPr>
            <a:r>
              <a:rPr lang="en-US" sz="1100" b="1" dirty="0">
                <a:solidFill>
                  <a:srgbClr val="E05252"/>
                </a:solidFill>
                <a:latin typeface="Calibri" pitchFamily="34" charset="0"/>
                <a:ea typeface="Calibri" pitchFamily="34" charset="-122"/>
                <a:cs typeface="Calibri" pitchFamily="34" charset="-120"/>
              </a:rPr>
              <a:t>✗  No threshold-based pause</a:t>
            </a:r>
            <a:endParaRPr lang="en-US" sz="1100" dirty="0"/>
          </a:p>
        </p:txBody>
      </p:sp>
      <p:sp>
        <p:nvSpPr>
          <p:cNvPr id="15" name="Text 13"/>
          <p:cNvSpPr/>
          <p:nvPr/>
        </p:nvSpPr>
        <p:spPr>
          <a:xfrm>
            <a:off x="4892040" y="2377440"/>
            <a:ext cx="3749040" cy="384048"/>
          </a:xfrm>
          <a:prstGeom prst="rect">
            <a:avLst/>
          </a:prstGeom>
          <a:noFill/>
          <a:ln/>
        </p:spPr>
        <p:txBody>
          <a:bodyPr wrap="square" lIns="0" tIns="0" rIns="0" bIns="0" rtlCol="0" anchor="ctr"/>
          <a:lstStyle/>
          <a:p>
            <a:pPr marL="0" indent="0">
              <a:buNone/>
            </a:pPr>
            <a:r>
              <a:rPr lang="en-US" sz="950" dirty="0">
                <a:solidFill>
                  <a:srgbClr val="CBD8EA"/>
                </a:solidFill>
                <a:latin typeface="Calibri" pitchFamily="34" charset="0"/>
                <a:ea typeface="Calibri" pitchFamily="34" charset="-122"/>
                <a:cs typeface="Calibri" pitchFamily="34" charset="-120"/>
              </a:rPr>
              <a:t>Payments above £X have no automatic hold for step-up authentication or second-factor approval.</a:t>
            </a:r>
            <a:endParaRPr lang="en-US" sz="950" dirty="0"/>
          </a:p>
        </p:txBody>
      </p:sp>
      <p:sp>
        <p:nvSpPr>
          <p:cNvPr id="16" name="Text 14"/>
          <p:cNvSpPr/>
          <p:nvPr/>
        </p:nvSpPr>
        <p:spPr>
          <a:xfrm>
            <a:off x="4892040" y="2798064"/>
            <a:ext cx="3749040" cy="320040"/>
          </a:xfrm>
          <a:prstGeom prst="rect">
            <a:avLst/>
          </a:prstGeom>
          <a:noFill/>
          <a:ln/>
        </p:spPr>
        <p:txBody>
          <a:bodyPr wrap="square" lIns="0" tIns="0" rIns="0" bIns="0" rtlCol="0" anchor="ctr"/>
          <a:lstStyle/>
          <a:p>
            <a:pPr marL="0" indent="0">
              <a:buNone/>
            </a:pPr>
            <a:r>
              <a:rPr lang="en-US" sz="1100" b="1" dirty="0">
                <a:solidFill>
                  <a:srgbClr val="E05252"/>
                </a:solidFill>
                <a:latin typeface="Calibri" pitchFamily="34" charset="0"/>
                <a:ea typeface="Calibri" pitchFamily="34" charset="-122"/>
                <a:cs typeface="Calibri" pitchFamily="34" charset="-120"/>
              </a:rPr>
              <a:t>✗  No behavioural baseline check</a:t>
            </a:r>
            <a:endParaRPr lang="en-US" sz="1100" dirty="0"/>
          </a:p>
        </p:txBody>
      </p:sp>
      <p:sp>
        <p:nvSpPr>
          <p:cNvPr id="17" name="Text 15"/>
          <p:cNvSpPr/>
          <p:nvPr/>
        </p:nvSpPr>
        <p:spPr>
          <a:xfrm>
            <a:off x="4892040" y="3090672"/>
            <a:ext cx="3749040" cy="384048"/>
          </a:xfrm>
          <a:prstGeom prst="rect">
            <a:avLst/>
          </a:prstGeom>
          <a:noFill/>
          <a:ln/>
        </p:spPr>
        <p:txBody>
          <a:bodyPr wrap="square" lIns="0" tIns="0" rIns="0" bIns="0" rtlCol="0" anchor="ctr"/>
          <a:lstStyle/>
          <a:p>
            <a:pPr marL="0" indent="0">
              <a:buNone/>
            </a:pPr>
            <a:r>
              <a:rPr lang="en-US" sz="950" dirty="0">
                <a:solidFill>
                  <a:srgbClr val="CBD8EA"/>
                </a:solidFill>
                <a:latin typeface="Calibri" pitchFamily="34" charset="0"/>
                <a:ea typeface="Calibri" pitchFamily="34" charset="-122"/>
                <a:cs typeface="Calibri" pitchFamily="34" charset="-120"/>
              </a:rPr>
              <a:t>Banks lack real-time comparison of this transfer against the customer's historical payment patterns.</a:t>
            </a:r>
            <a:endParaRPr lang="en-US" sz="950" dirty="0"/>
          </a:p>
        </p:txBody>
      </p:sp>
      <p:sp>
        <p:nvSpPr>
          <p:cNvPr id="18" name="Text 16"/>
          <p:cNvSpPr/>
          <p:nvPr/>
        </p:nvSpPr>
        <p:spPr>
          <a:xfrm>
            <a:off x="4892040" y="3511296"/>
            <a:ext cx="3749040" cy="320040"/>
          </a:xfrm>
          <a:prstGeom prst="rect">
            <a:avLst/>
          </a:prstGeom>
          <a:noFill/>
          <a:ln/>
        </p:spPr>
        <p:txBody>
          <a:bodyPr wrap="square" lIns="0" tIns="0" rIns="0" bIns="0" rtlCol="0" anchor="ctr"/>
          <a:lstStyle/>
          <a:p>
            <a:pPr marL="0" indent="0">
              <a:buNone/>
            </a:pPr>
            <a:r>
              <a:rPr lang="en-US" sz="1100" b="1" dirty="0">
                <a:solidFill>
                  <a:srgbClr val="E05252"/>
                </a:solidFill>
                <a:latin typeface="Calibri" pitchFamily="34" charset="0"/>
                <a:ea typeface="Calibri" pitchFamily="34" charset="-122"/>
                <a:cs typeface="Calibri" pitchFamily="34" charset="-120"/>
              </a:rPr>
              <a:t>✗  No cross-bank intelligence</a:t>
            </a:r>
            <a:endParaRPr lang="en-US" sz="1100" dirty="0"/>
          </a:p>
        </p:txBody>
      </p:sp>
      <p:sp>
        <p:nvSpPr>
          <p:cNvPr id="19" name="Text 17"/>
          <p:cNvSpPr/>
          <p:nvPr/>
        </p:nvSpPr>
        <p:spPr>
          <a:xfrm>
            <a:off x="4892040" y="3803904"/>
            <a:ext cx="3749040" cy="384048"/>
          </a:xfrm>
          <a:prstGeom prst="rect">
            <a:avLst/>
          </a:prstGeom>
          <a:noFill/>
          <a:ln/>
        </p:spPr>
        <p:txBody>
          <a:bodyPr wrap="square" lIns="0" tIns="0" rIns="0" bIns="0" rtlCol="0" anchor="ctr"/>
          <a:lstStyle/>
          <a:p>
            <a:pPr marL="0" indent="0">
              <a:buNone/>
            </a:pPr>
            <a:r>
              <a:rPr lang="en-US" sz="950" dirty="0">
                <a:solidFill>
                  <a:srgbClr val="CBD8EA"/>
                </a:solidFill>
                <a:latin typeface="Calibri" pitchFamily="34" charset="0"/>
                <a:ea typeface="Calibri" pitchFamily="34" charset="-122"/>
                <a:cs typeface="Calibri" pitchFamily="34" charset="-120"/>
              </a:rPr>
              <a:t>Receiving account may already be flagged by another institution — but data is siloed; the sending bank is blind.</a:t>
            </a:r>
            <a:endParaRPr lang="en-US" sz="950" dirty="0"/>
          </a:p>
        </p:txBody>
      </p:sp>
      <p:sp>
        <p:nvSpPr>
          <p:cNvPr id="20" name="Text 18"/>
          <p:cNvSpPr/>
          <p:nvPr/>
        </p:nvSpPr>
        <p:spPr>
          <a:xfrm>
            <a:off x="4892040" y="4224528"/>
            <a:ext cx="3749040" cy="320040"/>
          </a:xfrm>
          <a:prstGeom prst="rect">
            <a:avLst/>
          </a:prstGeom>
          <a:noFill/>
          <a:ln/>
        </p:spPr>
        <p:txBody>
          <a:bodyPr wrap="square" lIns="0" tIns="0" rIns="0" bIns="0" rtlCol="0" anchor="ctr"/>
          <a:lstStyle/>
          <a:p>
            <a:pPr marL="0" indent="0">
              <a:buNone/>
            </a:pPr>
            <a:r>
              <a:rPr lang="en-US" sz="1100" b="1" dirty="0">
                <a:solidFill>
                  <a:srgbClr val="E05252"/>
                </a:solidFill>
                <a:latin typeface="Calibri" pitchFamily="34" charset="0"/>
                <a:ea typeface="Calibri" pitchFamily="34" charset="-122"/>
                <a:cs typeface="Calibri" pitchFamily="34" charset="-120"/>
              </a:rPr>
              <a:t>✗  No immutable pre-transfer record</a:t>
            </a:r>
            <a:endParaRPr lang="en-US" sz="1100" dirty="0"/>
          </a:p>
        </p:txBody>
      </p:sp>
      <p:sp>
        <p:nvSpPr>
          <p:cNvPr id="21" name="Text 19"/>
          <p:cNvSpPr/>
          <p:nvPr/>
        </p:nvSpPr>
        <p:spPr>
          <a:xfrm>
            <a:off x="4892040" y="4517136"/>
            <a:ext cx="3749040" cy="384048"/>
          </a:xfrm>
          <a:prstGeom prst="rect">
            <a:avLst/>
          </a:prstGeom>
          <a:noFill/>
          <a:ln/>
        </p:spPr>
        <p:txBody>
          <a:bodyPr wrap="square" lIns="0" tIns="0" rIns="0" bIns="0" rtlCol="0" anchor="ctr"/>
          <a:lstStyle/>
          <a:p>
            <a:pPr marL="0" indent="0">
              <a:buNone/>
            </a:pPr>
            <a:r>
              <a:rPr lang="en-US" sz="950" dirty="0">
                <a:solidFill>
                  <a:srgbClr val="CBD8EA"/>
                </a:solidFill>
                <a:latin typeface="Calibri" pitchFamily="34" charset="0"/>
                <a:ea typeface="Calibri" pitchFamily="34" charset="-122"/>
                <a:cs typeface="Calibri" pitchFamily="34" charset="-120"/>
              </a:rPr>
              <a:t>There is no cryptographic record of the authorisation context — intent, device, and behaviour — that could support dispute resolution.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Text 1"/>
          <p:cNvSpPr/>
          <p:nvPr/>
        </p:nvSpPr>
        <p:spPr>
          <a:xfrm>
            <a:off x="365760" y="91440"/>
            <a:ext cx="8229600" cy="365760"/>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USE CASE 3</a:t>
            </a:r>
            <a:endParaRPr lang="en-US" sz="1000" dirty="0"/>
          </a:p>
        </p:txBody>
      </p:sp>
      <p:sp>
        <p:nvSpPr>
          <p:cNvPr id="4" name="Text 2"/>
          <p:cNvSpPr/>
          <p:nvPr/>
        </p:nvSpPr>
        <p:spPr>
          <a:xfrm>
            <a:off x="365760" y="475488"/>
            <a:ext cx="8229600" cy="402336"/>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Repeat Victimisation &amp; Mule Account Networks</a:t>
            </a:r>
            <a:endParaRPr lang="en-US" sz="1800" dirty="0"/>
          </a:p>
        </p:txBody>
      </p:sp>
      <p:sp>
        <p:nvSpPr>
          <p:cNvPr id="5" name="Shape 3"/>
          <p:cNvSpPr/>
          <p:nvPr/>
        </p:nvSpPr>
        <p:spPr>
          <a:xfrm>
            <a:off x="320040" y="1097280"/>
            <a:ext cx="8503920" cy="804672"/>
          </a:xfrm>
          <a:prstGeom prst="roundRect">
            <a:avLst>
              <a:gd name="adj" fmla="val 11364"/>
            </a:avLst>
          </a:prstGeom>
          <a:solidFill>
            <a:srgbClr val="E8F0FB"/>
          </a:solidFill>
          <a:ln w="12700">
            <a:solidFill>
              <a:srgbClr val="C5D5ED"/>
            </a:solidFill>
            <a:prstDash val="solid"/>
          </a:ln>
        </p:spPr>
      </p:sp>
      <p:sp>
        <p:nvSpPr>
          <p:cNvPr id="6" name="Text 4"/>
          <p:cNvSpPr/>
          <p:nvPr/>
        </p:nvSpPr>
        <p:spPr>
          <a:xfrm>
            <a:off x="502920" y="1188720"/>
            <a:ext cx="8138160" cy="640080"/>
          </a:xfrm>
          <a:prstGeom prst="rect">
            <a:avLst/>
          </a:prstGeom>
          <a:noFill/>
          <a:ln/>
        </p:spPr>
        <p:txBody>
          <a:bodyPr wrap="square" lIns="0" tIns="0" rIns="0" bIns="0" rtlCol="0" anchor="ctr"/>
          <a:lstStyle/>
          <a:p>
            <a:pPr marL="0" indent="0">
              <a:buNone/>
            </a:pPr>
            <a:r>
              <a:rPr lang="en-US" sz="1150" dirty="0">
                <a:solidFill>
                  <a:srgbClr val="0B1D3A"/>
                </a:solidFill>
                <a:latin typeface="Calibri" pitchFamily="34" charset="0"/>
                <a:ea typeface="Calibri" pitchFamily="34" charset="-122"/>
                <a:cs typeface="Calibri" pitchFamily="34" charset="-120"/>
              </a:rPr>
              <a:t>Fraudsters reuse compromised accounts across multiple victims. Without a shared immutable ledger, each bank treats every fraud case in isolation — allowing the same mule network to operate undetected for months.</a:t>
            </a:r>
            <a:endParaRPr lang="en-US" sz="1150" dirty="0"/>
          </a:p>
        </p:txBody>
      </p:sp>
      <p:sp>
        <p:nvSpPr>
          <p:cNvPr id="7" name="Shape 5"/>
          <p:cNvSpPr/>
          <p:nvPr/>
        </p:nvSpPr>
        <p:spPr>
          <a:xfrm>
            <a:off x="320040" y="2029968"/>
            <a:ext cx="2724912" cy="2788920"/>
          </a:xfrm>
          <a:prstGeom prst="roundRect">
            <a:avLst>
              <a:gd name="adj" fmla="val 4027"/>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pic>
        <p:nvPicPr>
          <p:cNvPr id="8" name="Image 0" descr="preencoded.png"/>
          <p:cNvPicPr>
            <a:picLocks noChangeAspect="1"/>
          </p:cNvPicPr>
          <p:nvPr/>
        </p:nvPicPr>
        <p:blipFill>
          <a:blip r:embed="rId3"/>
          <a:stretch>
            <a:fillRect/>
          </a:stretch>
        </p:blipFill>
        <p:spPr>
          <a:xfrm>
            <a:off x="1417320" y="2148840"/>
            <a:ext cx="502920" cy="502920"/>
          </a:xfrm>
          <a:prstGeom prst="rect">
            <a:avLst/>
          </a:prstGeom>
        </p:spPr>
      </p:pic>
      <p:sp>
        <p:nvSpPr>
          <p:cNvPr id="9" name="Text 6"/>
          <p:cNvSpPr/>
          <p:nvPr/>
        </p:nvSpPr>
        <p:spPr>
          <a:xfrm>
            <a:off x="429768" y="2697480"/>
            <a:ext cx="2505456" cy="411480"/>
          </a:xfrm>
          <a:prstGeom prst="rect">
            <a:avLst/>
          </a:prstGeom>
          <a:noFill/>
          <a:ln/>
        </p:spPr>
        <p:txBody>
          <a:bodyPr wrap="square" lIns="0" tIns="0" rIns="0" bIns="0"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Multiple Victims</a:t>
            </a:r>
            <a:endParaRPr lang="en-US" sz="1200" dirty="0"/>
          </a:p>
        </p:txBody>
      </p:sp>
      <p:sp>
        <p:nvSpPr>
          <p:cNvPr id="10" name="Text 7"/>
          <p:cNvSpPr/>
          <p:nvPr/>
        </p:nvSpPr>
        <p:spPr>
          <a:xfrm>
            <a:off x="457200" y="3154680"/>
            <a:ext cx="2468880" cy="475488"/>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  Same scam script used on dozens of customers across multiple banks simultaneously.</a:t>
            </a:r>
            <a:endParaRPr lang="en-US" sz="950" dirty="0"/>
          </a:p>
        </p:txBody>
      </p:sp>
      <p:sp>
        <p:nvSpPr>
          <p:cNvPr id="11" name="Text 8"/>
          <p:cNvSpPr/>
          <p:nvPr/>
        </p:nvSpPr>
        <p:spPr>
          <a:xfrm>
            <a:off x="457200" y="3657600"/>
            <a:ext cx="2468880" cy="475488"/>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  Each victim believes they are the only one; there is no mechanism to cross-reference.</a:t>
            </a:r>
            <a:endParaRPr lang="en-US" sz="950" dirty="0"/>
          </a:p>
        </p:txBody>
      </p:sp>
      <p:sp>
        <p:nvSpPr>
          <p:cNvPr id="12" name="Text 9"/>
          <p:cNvSpPr/>
          <p:nvPr/>
        </p:nvSpPr>
        <p:spPr>
          <a:xfrm>
            <a:off x="457200" y="4160520"/>
            <a:ext cx="2468880" cy="475488"/>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  Vulnerability is compounded by emotional manipulation — urgency, authority, fear.</a:t>
            </a:r>
            <a:endParaRPr lang="en-US" sz="950" dirty="0"/>
          </a:p>
        </p:txBody>
      </p:sp>
      <p:sp>
        <p:nvSpPr>
          <p:cNvPr id="13" name="Shape 10"/>
          <p:cNvSpPr/>
          <p:nvPr/>
        </p:nvSpPr>
        <p:spPr>
          <a:xfrm>
            <a:off x="3200400" y="2029968"/>
            <a:ext cx="2724912" cy="2788920"/>
          </a:xfrm>
          <a:prstGeom prst="roundRect">
            <a:avLst>
              <a:gd name="adj" fmla="val 4027"/>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pic>
        <p:nvPicPr>
          <p:cNvPr id="14" name="Image 1" descr="preencoded.png"/>
          <p:cNvPicPr>
            <a:picLocks noChangeAspect="1"/>
          </p:cNvPicPr>
          <p:nvPr/>
        </p:nvPicPr>
        <p:blipFill>
          <a:blip r:embed="rId4"/>
          <a:stretch>
            <a:fillRect/>
          </a:stretch>
        </p:blipFill>
        <p:spPr>
          <a:xfrm>
            <a:off x="4297680" y="2148840"/>
            <a:ext cx="502920" cy="502920"/>
          </a:xfrm>
          <a:prstGeom prst="rect">
            <a:avLst/>
          </a:prstGeom>
        </p:spPr>
      </p:pic>
      <p:sp>
        <p:nvSpPr>
          <p:cNvPr id="15" name="Text 11"/>
          <p:cNvSpPr/>
          <p:nvPr/>
        </p:nvSpPr>
        <p:spPr>
          <a:xfrm>
            <a:off x="3310128" y="2697480"/>
            <a:ext cx="2505456" cy="411480"/>
          </a:xfrm>
          <a:prstGeom prst="rect">
            <a:avLst/>
          </a:prstGeom>
          <a:noFill/>
          <a:ln/>
        </p:spPr>
        <p:txBody>
          <a:bodyPr wrap="square" lIns="0" tIns="0" rIns="0" bIns="0" rtlCol="0" anchor="ctr"/>
          <a:lstStyle/>
          <a:p>
            <a:pPr marL="0" indent="0" algn="ctr">
              <a:buNone/>
            </a:pPr>
            <a:r>
              <a:rPr lang="en-US" sz="1200" b="1" dirty="0">
                <a:solidFill>
                  <a:srgbClr val="1A5FA8"/>
                </a:solidFill>
                <a:latin typeface="Calibri" pitchFamily="34" charset="0"/>
                <a:ea typeface="Calibri" pitchFamily="34" charset="-122"/>
                <a:cs typeface="Calibri" pitchFamily="34" charset="-120"/>
              </a:rPr>
              <a:t>Siloed Bank Systems</a:t>
            </a:r>
            <a:endParaRPr lang="en-US" sz="1200" dirty="0"/>
          </a:p>
        </p:txBody>
      </p:sp>
      <p:sp>
        <p:nvSpPr>
          <p:cNvPr id="16" name="Text 12"/>
          <p:cNvSpPr/>
          <p:nvPr/>
        </p:nvSpPr>
        <p:spPr>
          <a:xfrm>
            <a:off x="3337560" y="3154680"/>
            <a:ext cx="2468880" cy="475488"/>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  Bank A flags a mule account — but Bank B, C, and D continue to process payments to it.</a:t>
            </a:r>
            <a:endParaRPr lang="en-US" sz="950" dirty="0"/>
          </a:p>
        </p:txBody>
      </p:sp>
      <p:sp>
        <p:nvSpPr>
          <p:cNvPr id="17" name="Text 13"/>
          <p:cNvSpPr/>
          <p:nvPr/>
        </p:nvSpPr>
        <p:spPr>
          <a:xfrm>
            <a:off x="3337560" y="3657600"/>
            <a:ext cx="2468880" cy="475488"/>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  No real-time intelligence sharing framework exists across UK high street banks.</a:t>
            </a:r>
            <a:endParaRPr lang="en-US" sz="950" dirty="0"/>
          </a:p>
        </p:txBody>
      </p:sp>
      <p:sp>
        <p:nvSpPr>
          <p:cNvPr id="18" name="Text 14"/>
          <p:cNvSpPr/>
          <p:nvPr/>
        </p:nvSpPr>
        <p:spPr>
          <a:xfrm>
            <a:off x="3337560" y="4160520"/>
            <a:ext cx="2468880" cy="475488"/>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  Fraud operations teams log cases separately; patterns are only visible in retrospect.</a:t>
            </a:r>
            <a:endParaRPr lang="en-US" sz="950" dirty="0"/>
          </a:p>
        </p:txBody>
      </p:sp>
      <p:sp>
        <p:nvSpPr>
          <p:cNvPr id="19" name="Shape 15"/>
          <p:cNvSpPr/>
          <p:nvPr/>
        </p:nvSpPr>
        <p:spPr>
          <a:xfrm>
            <a:off x="6080760" y="2029968"/>
            <a:ext cx="2724912" cy="2788920"/>
          </a:xfrm>
          <a:prstGeom prst="roundRect">
            <a:avLst>
              <a:gd name="adj" fmla="val 4027"/>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pic>
        <p:nvPicPr>
          <p:cNvPr id="20" name="Image 2" descr="preencoded.png"/>
          <p:cNvPicPr>
            <a:picLocks noChangeAspect="1"/>
          </p:cNvPicPr>
          <p:nvPr/>
        </p:nvPicPr>
        <p:blipFill>
          <a:blip r:embed="rId5"/>
          <a:stretch>
            <a:fillRect/>
          </a:stretch>
        </p:blipFill>
        <p:spPr>
          <a:xfrm>
            <a:off x="7178040" y="2148840"/>
            <a:ext cx="502920" cy="502920"/>
          </a:xfrm>
          <a:prstGeom prst="rect">
            <a:avLst/>
          </a:prstGeom>
        </p:spPr>
      </p:pic>
      <p:sp>
        <p:nvSpPr>
          <p:cNvPr id="21" name="Text 16"/>
          <p:cNvSpPr/>
          <p:nvPr/>
        </p:nvSpPr>
        <p:spPr>
          <a:xfrm>
            <a:off x="6190488" y="2697480"/>
            <a:ext cx="2505456" cy="411480"/>
          </a:xfrm>
          <a:prstGeom prst="rect">
            <a:avLst/>
          </a:prstGeom>
          <a:noFill/>
          <a:ln/>
        </p:spPr>
        <p:txBody>
          <a:bodyPr wrap="square" lIns="0" tIns="0" rIns="0" bIns="0" rtlCol="0" anchor="ctr"/>
          <a:lstStyle/>
          <a:p>
            <a:pPr marL="0" indent="0" algn="ctr">
              <a:buNone/>
            </a:pPr>
            <a:r>
              <a:rPr lang="en-US" sz="1200" b="1" dirty="0">
                <a:solidFill>
                  <a:srgbClr val="D4700A"/>
                </a:solidFill>
                <a:latin typeface="Calibri" pitchFamily="34" charset="0"/>
                <a:ea typeface="Calibri" pitchFamily="34" charset="-122"/>
                <a:cs typeface="Calibri" pitchFamily="34" charset="-120"/>
              </a:rPr>
              <a:t>Mule Account Networks</a:t>
            </a:r>
            <a:endParaRPr lang="en-US" sz="1200" dirty="0"/>
          </a:p>
        </p:txBody>
      </p:sp>
      <p:sp>
        <p:nvSpPr>
          <p:cNvPr id="22" name="Text 17"/>
          <p:cNvSpPr/>
          <p:nvPr/>
        </p:nvSpPr>
        <p:spPr>
          <a:xfrm>
            <a:off x="6217920" y="3154680"/>
            <a:ext cx="2468880" cy="475488"/>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  Proceeds laundered through layered mule accounts — often controlled by organised crime.</a:t>
            </a:r>
            <a:endParaRPr lang="en-US" sz="950" dirty="0"/>
          </a:p>
        </p:txBody>
      </p:sp>
      <p:sp>
        <p:nvSpPr>
          <p:cNvPr id="23" name="Text 18"/>
          <p:cNvSpPr/>
          <p:nvPr/>
        </p:nvSpPr>
        <p:spPr>
          <a:xfrm>
            <a:off x="6217920" y="3657600"/>
            <a:ext cx="2468880" cy="475488"/>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  Accounts cycle through multiple institutions before funds leave UK jurisdiction.</a:t>
            </a:r>
            <a:endParaRPr lang="en-US" sz="950" dirty="0"/>
          </a:p>
        </p:txBody>
      </p:sp>
      <p:sp>
        <p:nvSpPr>
          <p:cNvPr id="24" name="Text 19"/>
          <p:cNvSpPr/>
          <p:nvPr/>
        </p:nvSpPr>
        <p:spPr>
          <a:xfrm>
            <a:off x="6217920" y="4160520"/>
            <a:ext cx="2468880" cy="475488"/>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  Current AML transaction monitoring is too slow to intercept in-flight layering.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384048"/>
          </a:xfrm>
          <a:prstGeom prst="rect">
            <a:avLst/>
          </a:prstGeom>
          <a:noFill/>
          <a:ln/>
        </p:spPr>
        <p:txBody>
          <a:bodyPr wrap="square" lIns="0" tIns="0" rIns="0" bIns="0" rtlCol="0" anchor="ctr"/>
          <a:lstStyle/>
          <a:p>
            <a:pPr marL="0" indent="0">
              <a:buNone/>
            </a:pPr>
            <a:r>
              <a:rPr lang="en-US" sz="1100" b="1" kern="0" spc="300" dirty="0">
                <a:solidFill>
                  <a:srgbClr val="E8A020"/>
                </a:solidFill>
                <a:latin typeface="Calibri" pitchFamily="34" charset="0"/>
                <a:ea typeface="Calibri" pitchFamily="34" charset="-122"/>
                <a:cs typeface="Calibri" pitchFamily="34" charset="-120"/>
              </a:rPr>
              <a:t>THE COST OF INACTION</a:t>
            </a:r>
            <a:endParaRPr lang="en-US" sz="1100" dirty="0"/>
          </a:p>
        </p:txBody>
      </p:sp>
      <p:sp>
        <p:nvSpPr>
          <p:cNvPr id="3" name="Text 1"/>
          <p:cNvSpPr/>
          <p:nvPr/>
        </p:nvSpPr>
        <p:spPr>
          <a:xfrm>
            <a:off x="457200" y="56692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Why the Status Quo Is No Longer Acceptable</a:t>
            </a:r>
            <a:endParaRPr lang="en-US" sz="2400" dirty="0"/>
          </a:p>
        </p:txBody>
      </p:sp>
      <p:graphicFrame>
        <p:nvGraphicFramePr>
          <p:cNvPr id="4" name="Chart 0"/>
          <p:cNvGraphicFramePr/>
          <p:nvPr/>
        </p:nvGraphicFramePr>
        <p:xfrm>
          <a:off x="320040" y="1234440"/>
          <a:ext cx="47548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394960" y="1234440"/>
            <a:ext cx="3429000" cy="1051560"/>
          </a:xfrm>
          <a:prstGeom prst="roundRect">
            <a:avLst>
              <a:gd name="adj" fmla="val 8696"/>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6" name="Text 3"/>
          <p:cNvSpPr/>
          <p:nvPr/>
        </p:nvSpPr>
        <p:spPr>
          <a:xfrm>
            <a:off x="5486400" y="1280160"/>
            <a:ext cx="3246120" cy="475488"/>
          </a:xfrm>
          <a:prstGeom prst="rect">
            <a:avLst/>
          </a:prstGeom>
          <a:noFill/>
          <a:ln/>
        </p:spPr>
        <p:txBody>
          <a:bodyPr wrap="square" lIns="0" tIns="0" rIns="0" bIns="0" rtlCol="0" anchor="ctr"/>
          <a:lstStyle/>
          <a:p>
            <a:pPr marL="0" indent="0">
              <a:buNone/>
            </a:pPr>
            <a:r>
              <a:rPr lang="en-US" sz="2400" b="1" dirty="0">
                <a:solidFill>
                  <a:srgbClr val="E8A020"/>
                </a:solidFill>
                <a:latin typeface="Cambria" pitchFamily="34" charset="0"/>
                <a:ea typeface="Cambria" pitchFamily="34" charset="-122"/>
                <a:cs typeface="Cambria" pitchFamily="34" charset="-120"/>
              </a:rPr>
              <a:t>£468M+</a:t>
            </a:r>
            <a:endParaRPr lang="en-US" sz="2400" dirty="0"/>
          </a:p>
        </p:txBody>
      </p:sp>
      <p:sp>
        <p:nvSpPr>
          <p:cNvPr id="7" name="Text 4"/>
          <p:cNvSpPr/>
          <p:nvPr/>
        </p:nvSpPr>
        <p:spPr>
          <a:xfrm>
            <a:off x="5486400" y="1719072"/>
            <a:ext cx="32461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APP fraud share of total losses</a:t>
            </a:r>
            <a:endParaRPr lang="en-US" sz="1100" dirty="0"/>
          </a:p>
        </p:txBody>
      </p:sp>
      <p:sp>
        <p:nvSpPr>
          <p:cNvPr id="8" name="Text 5"/>
          <p:cNvSpPr/>
          <p:nvPr/>
        </p:nvSpPr>
        <p:spPr>
          <a:xfrm>
            <a:off x="5486400" y="1984248"/>
            <a:ext cx="3246120" cy="228600"/>
          </a:xfrm>
          <a:prstGeom prst="rect">
            <a:avLst/>
          </a:prstGeom>
          <a:noFill/>
          <a:ln/>
        </p:spPr>
        <p:txBody>
          <a:bodyPr wrap="square" lIns="0" tIns="0" rIns="0" bIns="0" rtlCol="0" anchor="ctr"/>
          <a:lstStyle/>
          <a:p>
            <a:pPr marL="0" indent="0">
              <a:buNone/>
            </a:pPr>
            <a:r>
              <a:rPr lang="en-US" sz="950" i="1" dirty="0">
                <a:solidFill>
                  <a:srgbClr val="8FA5BF"/>
                </a:solidFill>
                <a:latin typeface="Calibri" pitchFamily="34" charset="0"/>
                <a:ea typeface="Calibri" pitchFamily="34" charset="-122"/>
                <a:cs typeface="Calibri" pitchFamily="34" charset="-120"/>
              </a:rPr>
              <a:t>Over 40% of all bank fraud</a:t>
            </a:r>
            <a:endParaRPr lang="en-US" sz="950" dirty="0"/>
          </a:p>
        </p:txBody>
      </p:sp>
      <p:sp>
        <p:nvSpPr>
          <p:cNvPr id="9" name="Shape 6"/>
          <p:cNvSpPr/>
          <p:nvPr/>
        </p:nvSpPr>
        <p:spPr>
          <a:xfrm>
            <a:off x="5394960" y="2423160"/>
            <a:ext cx="3429000" cy="1051560"/>
          </a:xfrm>
          <a:prstGeom prst="roundRect">
            <a:avLst>
              <a:gd name="adj" fmla="val 8696"/>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10" name="Text 7"/>
          <p:cNvSpPr/>
          <p:nvPr/>
        </p:nvSpPr>
        <p:spPr>
          <a:xfrm>
            <a:off x="5486400" y="2468880"/>
            <a:ext cx="3246120" cy="475488"/>
          </a:xfrm>
          <a:prstGeom prst="rect">
            <a:avLst/>
          </a:prstGeom>
          <a:noFill/>
          <a:ln/>
        </p:spPr>
        <p:txBody>
          <a:bodyPr wrap="square" lIns="0" tIns="0" rIns="0" bIns="0" rtlCol="0" anchor="ctr"/>
          <a:lstStyle/>
          <a:p>
            <a:pPr marL="0" indent="0">
              <a:buNone/>
            </a:pPr>
            <a:r>
              <a:rPr lang="en-US" sz="2400" b="1" dirty="0">
                <a:solidFill>
                  <a:srgbClr val="E8A020"/>
                </a:solidFill>
                <a:latin typeface="Cambria" pitchFamily="34" charset="0"/>
                <a:ea typeface="Cambria" pitchFamily="34" charset="-122"/>
                <a:cs typeface="Cambria" pitchFamily="34" charset="-120"/>
              </a:rPr>
              <a:t>£350–400M</a:t>
            </a:r>
            <a:endParaRPr lang="en-US" sz="2400" dirty="0"/>
          </a:p>
        </p:txBody>
      </p:sp>
      <p:sp>
        <p:nvSpPr>
          <p:cNvPr id="11" name="Text 8"/>
          <p:cNvSpPr/>
          <p:nvPr/>
        </p:nvSpPr>
        <p:spPr>
          <a:xfrm>
            <a:off x="5486400" y="2907792"/>
            <a:ext cx="32461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Potential annual savings</a:t>
            </a:r>
            <a:endParaRPr lang="en-US" sz="1100" dirty="0"/>
          </a:p>
        </p:txBody>
      </p:sp>
      <p:sp>
        <p:nvSpPr>
          <p:cNvPr id="12" name="Text 9"/>
          <p:cNvSpPr/>
          <p:nvPr/>
        </p:nvSpPr>
        <p:spPr>
          <a:xfrm>
            <a:off x="5486400" y="3172968"/>
            <a:ext cx="3246120" cy="228600"/>
          </a:xfrm>
          <a:prstGeom prst="rect">
            <a:avLst/>
          </a:prstGeom>
          <a:noFill/>
          <a:ln/>
        </p:spPr>
        <p:txBody>
          <a:bodyPr wrap="square" lIns="0" tIns="0" rIns="0" bIns="0" rtlCol="0" anchor="ctr"/>
          <a:lstStyle/>
          <a:p>
            <a:pPr marL="0" indent="0">
              <a:buNone/>
            </a:pPr>
            <a:r>
              <a:rPr lang="en-US" sz="950" i="1" dirty="0">
                <a:solidFill>
                  <a:srgbClr val="8FA5BF"/>
                </a:solidFill>
                <a:latin typeface="Calibri" pitchFamily="34" charset="0"/>
                <a:ea typeface="Calibri" pitchFamily="34" charset="-122"/>
                <a:cs typeface="Calibri" pitchFamily="34" charset="-120"/>
              </a:rPr>
              <a:t>If 75–80% of transactions intercepted</a:t>
            </a:r>
            <a:endParaRPr lang="en-US" sz="950" dirty="0"/>
          </a:p>
        </p:txBody>
      </p:sp>
      <p:sp>
        <p:nvSpPr>
          <p:cNvPr id="13" name="Shape 10"/>
          <p:cNvSpPr/>
          <p:nvPr/>
        </p:nvSpPr>
        <p:spPr>
          <a:xfrm>
            <a:off x="5394960" y="3611880"/>
            <a:ext cx="3429000" cy="1051560"/>
          </a:xfrm>
          <a:prstGeom prst="roundRect">
            <a:avLst>
              <a:gd name="adj" fmla="val 8696"/>
            </a:avLst>
          </a:prstGeom>
          <a:solidFill>
            <a:srgbClr val="162D52"/>
          </a:solidFill>
          <a:ln w="12700">
            <a:solidFill>
              <a:srgbClr val="1E3A5F"/>
            </a:solidFill>
            <a:prstDash val="solid"/>
          </a:ln>
          <a:effectLst>
            <a:outerShdw blurRad="101600" dist="38100" dir="2700000" algn="bl" rotWithShape="0">
              <a:srgbClr val="000000">
                <a:alpha val="20000"/>
              </a:srgbClr>
            </a:outerShdw>
          </a:effectLst>
        </p:spPr>
      </p:sp>
      <p:sp>
        <p:nvSpPr>
          <p:cNvPr id="14" name="Text 11"/>
          <p:cNvSpPr/>
          <p:nvPr/>
        </p:nvSpPr>
        <p:spPr>
          <a:xfrm>
            <a:off x="5486400" y="3657600"/>
            <a:ext cx="3246120" cy="475488"/>
          </a:xfrm>
          <a:prstGeom prst="rect">
            <a:avLst/>
          </a:prstGeom>
          <a:noFill/>
          <a:ln/>
        </p:spPr>
        <p:txBody>
          <a:bodyPr wrap="square" lIns="0" tIns="0" rIns="0" bIns="0" rtlCol="0" anchor="ctr"/>
          <a:lstStyle/>
          <a:p>
            <a:pPr marL="0" indent="0">
              <a:buNone/>
            </a:pPr>
            <a:r>
              <a:rPr lang="en-US" sz="2400" b="1" dirty="0">
                <a:solidFill>
                  <a:srgbClr val="E8A020"/>
                </a:solidFill>
                <a:latin typeface="Cambria" pitchFamily="34" charset="0"/>
                <a:ea typeface="Cambria" pitchFamily="34" charset="-122"/>
                <a:cs typeface="Cambria" pitchFamily="34" charset="-120"/>
              </a:rPr>
              <a:t>60%</a:t>
            </a:r>
            <a:endParaRPr lang="en-US" sz="2400" dirty="0"/>
          </a:p>
        </p:txBody>
      </p:sp>
      <p:sp>
        <p:nvSpPr>
          <p:cNvPr id="15" name="Text 12"/>
          <p:cNvSpPr/>
          <p:nvPr/>
        </p:nvSpPr>
        <p:spPr>
          <a:xfrm>
            <a:off x="5486400" y="4096512"/>
            <a:ext cx="32461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Fraud ops cost reduction possible</a:t>
            </a:r>
            <a:endParaRPr lang="en-US" sz="1100" dirty="0"/>
          </a:p>
        </p:txBody>
      </p:sp>
      <p:sp>
        <p:nvSpPr>
          <p:cNvPr id="16" name="Text 13"/>
          <p:cNvSpPr/>
          <p:nvPr/>
        </p:nvSpPr>
        <p:spPr>
          <a:xfrm>
            <a:off x="5486400" y="4361688"/>
            <a:ext cx="3246120" cy="228600"/>
          </a:xfrm>
          <a:prstGeom prst="rect">
            <a:avLst/>
          </a:prstGeom>
          <a:noFill/>
          <a:ln/>
        </p:spPr>
        <p:txBody>
          <a:bodyPr wrap="square" lIns="0" tIns="0" rIns="0" bIns="0" rtlCol="0" anchor="ctr"/>
          <a:lstStyle/>
          <a:p>
            <a:pPr marL="0" indent="0">
              <a:buNone/>
            </a:pPr>
            <a:r>
              <a:rPr lang="en-US" sz="950" i="1" dirty="0">
                <a:solidFill>
                  <a:srgbClr val="8FA5BF"/>
                </a:solidFill>
                <a:latin typeface="Calibri" pitchFamily="34" charset="0"/>
                <a:ea typeface="Calibri" pitchFamily="34" charset="-122"/>
                <a:cs typeface="Calibri" pitchFamily="34" charset="-120"/>
              </a:rPr>
              <a:t>Via automated detection &amp; audit trails</a:t>
            </a:r>
            <a:endParaRPr lang="en-US" sz="950" dirty="0"/>
          </a:p>
        </p:txBody>
      </p:sp>
      <p:sp>
        <p:nvSpPr>
          <p:cNvPr id="17" name="Text 14"/>
          <p:cNvSpPr/>
          <p:nvPr/>
        </p:nvSpPr>
        <p:spPr>
          <a:xfrm>
            <a:off x="320040" y="4846320"/>
            <a:ext cx="8503920" cy="256032"/>
          </a:xfrm>
          <a:prstGeom prst="rect">
            <a:avLst/>
          </a:prstGeom>
          <a:noFill/>
          <a:ln/>
        </p:spPr>
        <p:txBody>
          <a:bodyPr wrap="square" lIns="0" tIns="0" rIns="0" bIns="0" rtlCol="0" anchor="ctr"/>
          <a:lstStyle/>
          <a:p>
            <a:pPr marL="0" indent="0" algn="ctr">
              <a:buNone/>
            </a:pPr>
            <a:r>
              <a:rPr lang="en-US" sz="850" i="1" dirty="0">
                <a:solidFill>
                  <a:srgbClr val="8FA5BF"/>
                </a:solidFill>
                <a:latin typeface="Calibri" pitchFamily="34" charset="0"/>
                <a:ea typeface="Calibri" pitchFamily="34" charset="-122"/>
                <a:cs typeface="Calibri" pitchFamily="34" charset="-120"/>
              </a:rPr>
              <a:t>Industry data: UK Finance Annual Fraud Report 2024  |  PSR Mandatory Reimbursement Framework</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Text 1"/>
          <p:cNvSpPr/>
          <p:nvPr/>
        </p:nvSpPr>
        <p:spPr>
          <a:xfrm>
            <a:off x="365760" y="91440"/>
            <a:ext cx="8229600" cy="365760"/>
          </a:xfrm>
          <a:prstGeom prst="rect">
            <a:avLst/>
          </a:prstGeom>
          <a:noFill/>
          <a:ln/>
        </p:spPr>
        <p:txBody>
          <a:bodyPr wrap="square" lIns="0" tIns="0" rIns="0" bIns="0" rtlCol="0" anchor="ctr"/>
          <a:lstStyle/>
          <a:p>
            <a:pPr marL="0" indent="0">
              <a:buNone/>
            </a:pPr>
            <a:r>
              <a:rPr lang="en-US" sz="1100" b="1" kern="0" spc="300" dirty="0">
                <a:solidFill>
                  <a:srgbClr val="E8A020"/>
                </a:solidFill>
                <a:latin typeface="Calibri" pitchFamily="34" charset="0"/>
                <a:ea typeface="Calibri" pitchFamily="34" charset="-122"/>
                <a:cs typeface="Calibri" pitchFamily="34" charset="-120"/>
              </a:rPr>
              <a:t>SUMMARY</a:t>
            </a:r>
            <a:endParaRPr lang="en-US" sz="1100" dirty="0"/>
          </a:p>
        </p:txBody>
      </p:sp>
      <p:sp>
        <p:nvSpPr>
          <p:cNvPr id="4" name="Text 2"/>
          <p:cNvSpPr/>
          <p:nvPr/>
        </p:nvSpPr>
        <p:spPr>
          <a:xfrm>
            <a:off x="365760" y="475488"/>
            <a:ext cx="8229600" cy="402336"/>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The Problem We Are Here to Solve</a:t>
            </a:r>
            <a:endParaRPr lang="en-US" sz="1800" dirty="0"/>
          </a:p>
        </p:txBody>
      </p:sp>
      <p:sp>
        <p:nvSpPr>
          <p:cNvPr id="5" name="Shape 3"/>
          <p:cNvSpPr/>
          <p:nvPr/>
        </p:nvSpPr>
        <p:spPr>
          <a:xfrm>
            <a:off x="320040" y="1115568"/>
            <a:ext cx="8503920" cy="1143000"/>
          </a:xfrm>
          <a:prstGeom prst="roundRect">
            <a:avLst>
              <a:gd name="adj" fmla="val 8000"/>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sp>
        <p:nvSpPr>
          <p:cNvPr id="6" name="Shape 4"/>
          <p:cNvSpPr/>
          <p:nvPr/>
        </p:nvSpPr>
        <p:spPr>
          <a:xfrm>
            <a:off x="320040" y="1115568"/>
            <a:ext cx="1005840" cy="1143000"/>
          </a:xfrm>
          <a:prstGeom prst="roundRect">
            <a:avLst>
              <a:gd name="adj" fmla="val 9091"/>
            </a:avLst>
          </a:prstGeom>
          <a:solidFill>
            <a:srgbClr val="0B1D3A"/>
          </a:solidFill>
          <a:ln w="12700">
            <a:solidFill>
              <a:srgbClr val="0B1D3A"/>
            </a:solidFill>
            <a:prstDash val="solid"/>
          </a:ln>
        </p:spPr>
      </p:sp>
      <p:sp>
        <p:nvSpPr>
          <p:cNvPr id="7" name="Text 5"/>
          <p:cNvSpPr/>
          <p:nvPr/>
        </p:nvSpPr>
        <p:spPr>
          <a:xfrm>
            <a:off x="320040" y="1481328"/>
            <a:ext cx="1005840" cy="41148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Use Case 1</a:t>
            </a:r>
            <a:endParaRPr lang="en-US" sz="1000" dirty="0"/>
          </a:p>
        </p:txBody>
      </p:sp>
      <p:sp>
        <p:nvSpPr>
          <p:cNvPr id="8" name="Text 6"/>
          <p:cNvSpPr/>
          <p:nvPr/>
        </p:nvSpPr>
        <p:spPr>
          <a:xfrm>
            <a:off x="1444752" y="1188720"/>
            <a:ext cx="7223760" cy="384048"/>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APP Fraud — Social Engineering at Scale</a:t>
            </a:r>
            <a:endParaRPr lang="en-US" sz="1300" dirty="0"/>
          </a:p>
        </p:txBody>
      </p:sp>
      <p:sp>
        <p:nvSpPr>
          <p:cNvPr id="9" name="Text 7"/>
          <p:cNvSpPr/>
          <p:nvPr/>
        </p:nvSpPr>
        <p:spPr>
          <a:xfrm>
            <a:off x="1444752" y="1572768"/>
            <a:ext cx="7223760" cy="59436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System Gap: Customers are manipulated into authorising transfers. Banks have no real-time intelligence layer to detect coercion or impersonation during the payment flow.</a:t>
            </a:r>
            <a:endParaRPr lang="en-US" sz="1050" dirty="0"/>
          </a:p>
        </p:txBody>
      </p:sp>
      <p:sp>
        <p:nvSpPr>
          <p:cNvPr id="10" name="Shape 8"/>
          <p:cNvSpPr/>
          <p:nvPr/>
        </p:nvSpPr>
        <p:spPr>
          <a:xfrm>
            <a:off x="320040" y="2395728"/>
            <a:ext cx="8503920" cy="1143000"/>
          </a:xfrm>
          <a:prstGeom prst="roundRect">
            <a:avLst>
              <a:gd name="adj" fmla="val 8000"/>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sp>
        <p:nvSpPr>
          <p:cNvPr id="11" name="Shape 9"/>
          <p:cNvSpPr/>
          <p:nvPr/>
        </p:nvSpPr>
        <p:spPr>
          <a:xfrm>
            <a:off x="320040" y="2395728"/>
            <a:ext cx="1005840" cy="1143000"/>
          </a:xfrm>
          <a:prstGeom prst="roundRect">
            <a:avLst>
              <a:gd name="adj" fmla="val 9091"/>
            </a:avLst>
          </a:prstGeom>
          <a:solidFill>
            <a:srgbClr val="0B1D3A"/>
          </a:solidFill>
          <a:ln w="12700">
            <a:solidFill>
              <a:srgbClr val="0B1D3A"/>
            </a:solidFill>
            <a:prstDash val="solid"/>
          </a:ln>
        </p:spPr>
      </p:sp>
      <p:sp>
        <p:nvSpPr>
          <p:cNvPr id="12" name="Text 10"/>
          <p:cNvSpPr/>
          <p:nvPr/>
        </p:nvSpPr>
        <p:spPr>
          <a:xfrm>
            <a:off x="320040" y="2761488"/>
            <a:ext cx="1005840" cy="41148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Use Case 2</a:t>
            </a:r>
            <a:endParaRPr lang="en-US" sz="1000" dirty="0"/>
          </a:p>
        </p:txBody>
      </p:sp>
      <p:sp>
        <p:nvSpPr>
          <p:cNvPr id="13" name="Text 11"/>
          <p:cNvSpPr/>
          <p:nvPr/>
        </p:nvSpPr>
        <p:spPr>
          <a:xfrm>
            <a:off x="1444752" y="2468880"/>
            <a:ext cx="7223760" cy="384048"/>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Large-Value Transfers — No Friction, No Protection</a:t>
            </a:r>
            <a:endParaRPr lang="en-US" sz="1300" dirty="0"/>
          </a:p>
        </p:txBody>
      </p:sp>
      <p:sp>
        <p:nvSpPr>
          <p:cNvPr id="14" name="Text 12"/>
          <p:cNvSpPr/>
          <p:nvPr/>
        </p:nvSpPr>
        <p:spPr>
          <a:xfrm>
            <a:off x="1444752" y="2852928"/>
            <a:ext cx="7223760" cy="59436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System Gap: High-risk, high-value payments complete with no mandatory cooling-off period, no multi-sig approval, and no threshold-based intervention protocol.</a:t>
            </a:r>
            <a:endParaRPr lang="en-US" sz="1050" dirty="0"/>
          </a:p>
        </p:txBody>
      </p:sp>
      <p:sp>
        <p:nvSpPr>
          <p:cNvPr id="15" name="Shape 13"/>
          <p:cNvSpPr/>
          <p:nvPr/>
        </p:nvSpPr>
        <p:spPr>
          <a:xfrm>
            <a:off x="320040" y="3675888"/>
            <a:ext cx="8503920" cy="1143000"/>
          </a:xfrm>
          <a:prstGeom prst="roundRect">
            <a:avLst>
              <a:gd name="adj" fmla="val 8000"/>
            </a:avLst>
          </a:prstGeom>
          <a:solidFill>
            <a:srgbClr val="FFFFFF"/>
          </a:solidFill>
          <a:ln w="12700">
            <a:solidFill>
              <a:srgbClr val="DDE4EE"/>
            </a:solidFill>
            <a:prstDash val="solid"/>
          </a:ln>
          <a:effectLst>
            <a:outerShdw blurRad="101600" dist="38100" dir="2700000" algn="bl" rotWithShape="0">
              <a:srgbClr val="000000">
                <a:alpha val="20000"/>
              </a:srgbClr>
            </a:outerShdw>
          </a:effectLst>
        </p:spPr>
      </p:sp>
      <p:sp>
        <p:nvSpPr>
          <p:cNvPr id="16" name="Shape 14"/>
          <p:cNvSpPr/>
          <p:nvPr/>
        </p:nvSpPr>
        <p:spPr>
          <a:xfrm>
            <a:off x="320040" y="3675888"/>
            <a:ext cx="1005840" cy="1143000"/>
          </a:xfrm>
          <a:prstGeom prst="roundRect">
            <a:avLst>
              <a:gd name="adj" fmla="val 9091"/>
            </a:avLst>
          </a:prstGeom>
          <a:solidFill>
            <a:srgbClr val="0B1D3A"/>
          </a:solidFill>
          <a:ln w="12700">
            <a:solidFill>
              <a:srgbClr val="0B1D3A"/>
            </a:solidFill>
            <a:prstDash val="solid"/>
          </a:ln>
        </p:spPr>
      </p:sp>
      <p:sp>
        <p:nvSpPr>
          <p:cNvPr id="17" name="Text 15"/>
          <p:cNvSpPr/>
          <p:nvPr/>
        </p:nvSpPr>
        <p:spPr>
          <a:xfrm>
            <a:off x="320040" y="4041648"/>
            <a:ext cx="1005840" cy="41148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Use Case 3</a:t>
            </a:r>
            <a:endParaRPr lang="en-US" sz="1000" dirty="0"/>
          </a:p>
        </p:txBody>
      </p:sp>
      <p:sp>
        <p:nvSpPr>
          <p:cNvPr id="18" name="Text 16"/>
          <p:cNvSpPr/>
          <p:nvPr/>
        </p:nvSpPr>
        <p:spPr>
          <a:xfrm>
            <a:off x="1444752" y="3749040"/>
            <a:ext cx="7223760" cy="384048"/>
          </a:xfrm>
          <a:prstGeom prst="rect">
            <a:avLst/>
          </a:prstGeom>
          <a:noFill/>
          <a:ln/>
        </p:spPr>
        <p:txBody>
          <a:bodyPr wrap="square" lIns="0" tIns="0" rIns="0" bIns="0" rtlCol="0" anchor="ctr"/>
          <a:lstStyle/>
          <a:p>
            <a:pPr marL="0" indent="0">
              <a:buNone/>
            </a:pPr>
            <a:r>
              <a:rPr lang="en-US" sz="1300" b="1" dirty="0">
                <a:solidFill>
                  <a:srgbClr val="0B1D3A"/>
                </a:solidFill>
                <a:latin typeface="Calibri" pitchFamily="34" charset="0"/>
                <a:ea typeface="Calibri" pitchFamily="34" charset="-122"/>
                <a:cs typeface="Calibri" pitchFamily="34" charset="-120"/>
              </a:rPr>
              <a:t>Repeat Victimisation — Mule Networks Operate Unchallenged</a:t>
            </a:r>
            <a:endParaRPr lang="en-US" sz="1300" dirty="0"/>
          </a:p>
        </p:txBody>
      </p:sp>
      <p:sp>
        <p:nvSpPr>
          <p:cNvPr id="19" name="Text 17"/>
          <p:cNvSpPr/>
          <p:nvPr/>
        </p:nvSpPr>
        <p:spPr>
          <a:xfrm>
            <a:off x="1444752" y="4133088"/>
            <a:ext cx="7223760" cy="59436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System Gap: Siloed bank systems allow the same mule account networks to defraud customers across multiple institutions simultaneously, with no cross-bank real-time intelligence.</a:t>
            </a:r>
            <a:endParaRPr lang="en-US" sz="1050" dirty="0"/>
          </a:p>
        </p:txBody>
      </p:sp>
      <p:sp>
        <p:nvSpPr>
          <p:cNvPr id="20" name="Shape 18"/>
          <p:cNvSpPr/>
          <p:nvPr/>
        </p:nvSpPr>
        <p:spPr>
          <a:xfrm>
            <a:off x="320040" y="4572000"/>
            <a:ext cx="8503920" cy="457200"/>
          </a:xfrm>
          <a:prstGeom prst="roundRect">
            <a:avLst>
              <a:gd name="adj" fmla="val 20000"/>
            </a:avLst>
          </a:prstGeom>
          <a:solidFill>
            <a:srgbClr val="E8F0FB"/>
          </a:solidFill>
          <a:ln w="12700">
            <a:solidFill>
              <a:srgbClr val="C5D5ED"/>
            </a:solidFill>
            <a:prstDash val="solid"/>
          </a:ln>
        </p:spPr>
      </p:sp>
      <p:sp>
        <p:nvSpPr>
          <p:cNvPr id="21" name="Text 19"/>
          <p:cNvSpPr/>
          <p:nvPr/>
        </p:nvSpPr>
        <p:spPr>
          <a:xfrm>
            <a:off x="502920" y="4626864"/>
            <a:ext cx="8138160" cy="347472"/>
          </a:xfrm>
          <a:prstGeom prst="rect">
            <a:avLst/>
          </a:prstGeom>
          <a:noFill/>
          <a:ln/>
        </p:spPr>
        <p:txBody>
          <a:bodyPr wrap="square" lIns="0" tIns="0" rIns="0" bIns="0" rtlCol="0" anchor="ctr"/>
          <a:lstStyle/>
          <a:p>
            <a:pPr marL="0" indent="0">
              <a:buNone/>
            </a:pPr>
            <a:r>
              <a:rPr lang="en-US" sz="1150" b="1" dirty="0">
                <a:solidFill>
                  <a:srgbClr val="0B1D3A"/>
                </a:solidFill>
                <a:latin typeface="Calibri" pitchFamily="34" charset="0"/>
                <a:ea typeface="Calibri" pitchFamily="34" charset="-122"/>
                <a:cs typeface="Calibri" pitchFamily="34" charset="-120"/>
              </a:rPr>
              <a:t>Next: Our proposed blockchain-based architecture to address each gap — real-time, immutable, and interoperable.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347472"/>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THE PROPOSED SOLUTION</a:t>
            </a:r>
            <a:endParaRPr lang="en-US" sz="10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Blockchain-Based Fraud Prevention Architecture</a:t>
            </a:r>
            <a:endParaRPr lang="en-US" sz="2400" dirty="0"/>
          </a:p>
        </p:txBody>
      </p:sp>
      <p:sp>
        <p:nvSpPr>
          <p:cNvPr id="4" name="Text 2"/>
          <p:cNvSpPr/>
          <p:nvPr/>
        </p:nvSpPr>
        <p:spPr>
          <a:xfrm>
            <a:off x="457200" y="1051560"/>
            <a:ext cx="8229600" cy="347472"/>
          </a:xfrm>
          <a:prstGeom prst="rect">
            <a:avLst/>
          </a:prstGeom>
          <a:noFill/>
          <a:ln/>
        </p:spPr>
        <p:txBody>
          <a:bodyPr wrap="square" lIns="0" tIns="0" rIns="0" bIns="0" rtlCol="0" anchor="ctr"/>
          <a:lstStyle/>
          <a:p>
            <a:pPr marL="0" indent="0">
              <a:buNone/>
            </a:pPr>
            <a:r>
              <a:rPr lang="en-US" sz="1300" i="1" dirty="0">
                <a:solidFill>
                  <a:srgbClr val="8FA5BF"/>
                </a:solidFill>
                <a:latin typeface="Calibri" pitchFamily="34" charset="0"/>
                <a:ea typeface="Calibri" pitchFamily="34" charset="-122"/>
                <a:cs typeface="Calibri" pitchFamily="34" charset="-120"/>
              </a:rPr>
              <a:t>Three capabilities that close the gaps the current system cannot</a:t>
            </a:r>
            <a:endParaRPr lang="en-US" sz="1300" dirty="0"/>
          </a:p>
        </p:txBody>
      </p:sp>
      <p:sp>
        <p:nvSpPr>
          <p:cNvPr id="5" name="Shape 3"/>
          <p:cNvSpPr/>
          <p:nvPr/>
        </p:nvSpPr>
        <p:spPr>
          <a:xfrm>
            <a:off x="274320" y="1536192"/>
            <a:ext cx="2743200" cy="3337560"/>
          </a:xfrm>
          <a:prstGeom prst="roundRect">
            <a:avLst>
              <a:gd name="adj" fmla="val 4667"/>
            </a:avLst>
          </a:prstGeom>
          <a:solidFill>
            <a:srgbClr val="0D2A26"/>
          </a:solidFill>
          <a:ln w="12700">
            <a:solidFill>
              <a:srgbClr val="0D9488"/>
            </a:solidFill>
            <a:prstDash val="solid"/>
          </a:ln>
          <a:effectLst>
            <a:outerShdw blurRad="101600" dist="38100" dir="2700000" algn="bl" rotWithShape="0">
              <a:srgbClr val="000000">
                <a:alpha val="18000"/>
              </a:srgbClr>
            </a:outerShdw>
          </a:effectLst>
        </p:spPr>
      </p:sp>
      <p:sp>
        <p:nvSpPr>
          <p:cNvPr id="7" name="Text 4"/>
          <p:cNvSpPr/>
          <p:nvPr/>
        </p:nvSpPr>
        <p:spPr>
          <a:xfrm>
            <a:off x="2377440" y="1664208"/>
            <a:ext cx="502920" cy="411480"/>
          </a:xfrm>
          <a:prstGeom prst="rect">
            <a:avLst/>
          </a:prstGeom>
          <a:noFill/>
          <a:ln/>
        </p:spPr>
        <p:txBody>
          <a:bodyPr wrap="square" lIns="0" tIns="0" rIns="0" bIns="0" rtlCol="0" anchor="ctr"/>
          <a:lstStyle/>
          <a:p>
            <a:pPr marL="0" indent="0" algn="r">
              <a:buNone/>
            </a:pPr>
            <a:r>
              <a:rPr lang="en-US" sz="2200" b="1" dirty="0">
                <a:solidFill>
                  <a:srgbClr val="0D9488"/>
                </a:solidFill>
                <a:latin typeface="Cambria" pitchFamily="34" charset="0"/>
                <a:ea typeface="Cambria" pitchFamily="34" charset="-122"/>
                <a:cs typeface="Cambria" pitchFamily="34" charset="-120"/>
              </a:rPr>
              <a:t>01</a:t>
            </a:r>
            <a:endParaRPr lang="en-US" sz="2200" dirty="0"/>
          </a:p>
        </p:txBody>
      </p:sp>
      <p:sp>
        <p:nvSpPr>
          <p:cNvPr id="8" name="Text 5"/>
          <p:cNvSpPr/>
          <p:nvPr/>
        </p:nvSpPr>
        <p:spPr>
          <a:xfrm>
            <a:off x="411480" y="2286000"/>
            <a:ext cx="2487168" cy="685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Immutable On-Chain</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Audit Trail</a:t>
            </a:r>
            <a:endParaRPr lang="en-US" sz="1400" dirty="0"/>
          </a:p>
        </p:txBody>
      </p:sp>
      <p:sp>
        <p:nvSpPr>
          <p:cNvPr id="9" name="Text 6"/>
          <p:cNvSpPr/>
          <p:nvPr/>
        </p:nvSpPr>
        <p:spPr>
          <a:xfrm>
            <a:off x="411480" y="2999232"/>
            <a:ext cx="2487168" cy="1143000"/>
          </a:xfrm>
          <a:prstGeom prst="rect">
            <a:avLst/>
          </a:prstGeom>
          <a:noFill/>
          <a:ln/>
        </p:spPr>
        <p:txBody>
          <a:bodyPr wrap="square" lIns="0" tIns="0" rIns="0" bIns="0" rtlCol="0" anchor="ctr"/>
          <a:lstStyle/>
          <a:p>
            <a:pPr marL="0" indent="0">
              <a:buNone/>
            </a:pPr>
            <a:r>
              <a:rPr lang="en-US" sz="950" dirty="0">
                <a:solidFill>
                  <a:srgbClr val="CBD8EA"/>
                </a:solidFill>
                <a:latin typeface="Calibri" pitchFamily="34" charset="0"/>
                <a:ea typeface="Calibri" pitchFamily="34" charset="-122"/>
                <a:cs typeface="Calibri" pitchFamily="34" charset="-120"/>
              </a:rPr>
              <a:t>Every transaction intent, authorisation event, and payment context is written to a permissioned blockchain before funds move — creating a tamper-proof, cross-institution record.</a:t>
            </a:r>
            <a:endParaRPr lang="en-US" sz="950" dirty="0"/>
          </a:p>
        </p:txBody>
      </p:sp>
      <p:sp>
        <p:nvSpPr>
          <p:cNvPr id="10" name="Text 7"/>
          <p:cNvSpPr/>
          <p:nvPr/>
        </p:nvSpPr>
        <p:spPr>
          <a:xfrm>
            <a:off x="411480" y="4178808"/>
            <a:ext cx="2487168" cy="548640"/>
          </a:xfrm>
          <a:prstGeom prst="rect">
            <a:avLst/>
          </a:prstGeom>
          <a:noFill/>
          <a:ln/>
        </p:spPr>
        <p:txBody>
          <a:bodyPr wrap="square" lIns="0" tIns="0" rIns="0" bIns="0" rtlCol="0" anchor="ctr"/>
          <a:lstStyle/>
          <a:p>
            <a:pPr marL="0" indent="0">
              <a:buNone/>
            </a:pPr>
            <a:r>
              <a:rPr lang="en-US" sz="850" i="1" dirty="0">
                <a:solidFill>
                  <a:srgbClr val="0D9488"/>
                </a:solidFill>
                <a:latin typeface="Calibri" pitchFamily="34" charset="0"/>
                <a:ea typeface="Calibri" pitchFamily="34" charset="-122"/>
                <a:cs typeface="Calibri" pitchFamily="34" charset="-120"/>
              </a:rPr>
              <a:t>Solves: Siloed data · No audit trail · Post-event detection</a:t>
            </a:r>
            <a:endParaRPr lang="en-US" sz="850" dirty="0"/>
          </a:p>
        </p:txBody>
      </p:sp>
      <p:sp>
        <p:nvSpPr>
          <p:cNvPr id="11" name="Shape 8"/>
          <p:cNvSpPr/>
          <p:nvPr/>
        </p:nvSpPr>
        <p:spPr>
          <a:xfrm>
            <a:off x="3154680" y="1536192"/>
            <a:ext cx="2743200" cy="3337560"/>
          </a:xfrm>
          <a:prstGeom prst="roundRect">
            <a:avLst>
              <a:gd name="adj" fmla="val 4667"/>
            </a:avLst>
          </a:prstGeom>
          <a:solidFill>
            <a:srgbClr val="2A1F00"/>
          </a:solidFill>
          <a:ln w="12700">
            <a:solidFill>
              <a:srgbClr val="E8A020"/>
            </a:solidFill>
            <a:prstDash val="solid"/>
          </a:ln>
          <a:effectLst>
            <a:outerShdw blurRad="101600" dist="38100" dir="2700000" algn="bl" rotWithShape="0">
              <a:srgbClr val="000000">
                <a:alpha val="18000"/>
              </a:srgbClr>
            </a:outerShdw>
          </a:effectLst>
        </p:spPr>
      </p:sp>
      <p:sp>
        <p:nvSpPr>
          <p:cNvPr id="13" name="Text 9"/>
          <p:cNvSpPr/>
          <p:nvPr/>
        </p:nvSpPr>
        <p:spPr>
          <a:xfrm>
            <a:off x="5257800" y="1664208"/>
            <a:ext cx="502920" cy="411480"/>
          </a:xfrm>
          <a:prstGeom prst="rect">
            <a:avLst/>
          </a:prstGeom>
          <a:noFill/>
          <a:ln/>
        </p:spPr>
        <p:txBody>
          <a:bodyPr wrap="square" lIns="0" tIns="0" rIns="0" bIns="0" rtlCol="0" anchor="ctr"/>
          <a:lstStyle/>
          <a:p>
            <a:pPr marL="0" indent="0" algn="r">
              <a:buNone/>
            </a:pPr>
            <a:r>
              <a:rPr lang="en-US" sz="2200" b="1" dirty="0">
                <a:solidFill>
                  <a:srgbClr val="E8A020"/>
                </a:solidFill>
                <a:latin typeface="Cambria" pitchFamily="34" charset="0"/>
                <a:ea typeface="Cambria" pitchFamily="34" charset="-122"/>
                <a:cs typeface="Cambria" pitchFamily="34" charset="-120"/>
              </a:rPr>
              <a:t>02</a:t>
            </a:r>
            <a:endParaRPr lang="en-US" sz="2200" dirty="0"/>
          </a:p>
        </p:txBody>
      </p:sp>
      <p:sp>
        <p:nvSpPr>
          <p:cNvPr id="14" name="Text 10"/>
          <p:cNvSpPr/>
          <p:nvPr/>
        </p:nvSpPr>
        <p:spPr>
          <a:xfrm>
            <a:off x="3291840" y="2286000"/>
            <a:ext cx="2487168" cy="685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Smart Contract</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Payment Controls</a:t>
            </a:r>
            <a:endParaRPr lang="en-US" sz="1400" dirty="0"/>
          </a:p>
        </p:txBody>
      </p:sp>
      <p:sp>
        <p:nvSpPr>
          <p:cNvPr id="15" name="Text 11"/>
          <p:cNvSpPr/>
          <p:nvPr/>
        </p:nvSpPr>
        <p:spPr>
          <a:xfrm>
            <a:off x="3291840" y="2999232"/>
            <a:ext cx="2487168" cy="1143000"/>
          </a:xfrm>
          <a:prstGeom prst="rect">
            <a:avLst/>
          </a:prstGeom>
          <a:noFill/>
          <a:ln/>
        </p:spPr>
        <p:txBody>
          <a:bodyPr wrap="square" lIns="0" tIns="0" rIns="0" bIns="0" rtlCol="0" anchor="ctr"/>
          <a:lstStyle/>
          <a:p>
            <a:pPr marL="0" indent="0">
              <a:buNone/>
            </a:pPr>
            <a:r>
              <a:rPr lang="en-US" sz="950" dirty="0">
                <a:solidFill>
                  <a:srgbClr val="CBD8EA"/>
                </a:solidFill>
                <a:latin typeface="Calibri" pitchFamily="34" charset="0"/>
                <a:ea typeface="Calibri" pitchFamily="34" charset="-122"/>
                <a:cs typeface="Calibri" pitchFamily="34" charset="-120"/>
              </a:rPr>
              <a:t>Programmable rules enforce cooling-off periods, multi-sig approval for large transfers, and real-time anomaly holds — all triggered automatically before settlement.</a:t>
            </a:r>
            <a:endParaRPr lang="en-US" sz="950" dirty="0"/>
          </a:p>
        </p:txBody>
      </p:sp>
      <p:sp>
        <p:nvSpPr>
          <p:cNvPr id="16" name="Text 12"/>
          <p:cNvSpPr/>
          <p:nvPr/>
        </p:nvSpPr>
        <p:spPr>
          <a:xfrm>
            <a:off x="3291840" y="4178808"/>
            <a:ext cx="2487168" cy="548640"/>
          </a:xfrm>
          <a:prstGeom prst="rect">
            <a:avLst/>
          </a:prstGeom>
          <a:noFill/>
          <a:ln/>
        </p:spPr>
        <p:txBody>
          <a:bodyPr wrap="square" lIns="0" tIns="0" rIns="0" bIns="0" rtlCol="0" anchor="ctr"/>
          <a:lstStyle/>
          <a:p>
            <a:pPr marL="0" indent="0">
              <a:buNone/>
            </a:pPr>
            <a:r>
              <a:rPr lang="en-US" sz="850" i="1" dirty="0">
                <a:solidFill>
                  <a:srgbClr val="E8A020"/>
                </a:solidFill>
                <a:latin typeface="Calibri" pitchFamily="34" charset="0"/>
                <a:ea typeface="Calibri" pitchFamily="34" charset="-122"/>
                <a:cs typeface="Calibri" pitchFamily="34" charset="-120"/>
              </a:rPr>
              <a:t>Solves: No cooling-off · No threshold pause · Trust without verification</a:t>
            </a:r>
            <a:endParaRPr lang="en-US" sz="850" dirty="0"/>
          </a:p>
        </p:txBody>
      </p:sp>
      <p:sp>
        <p:nvSpPr>
          <p:cNvPr id="17" name="Shape 13"/>
          <p:cNvSpPr/>
          <p:nvPr/>
        </p:nvSpPr>
        <p:spPr>
          <a:xfrm>
            <a:off x="6035040" y="1536192"/>
            <a:ext cx="2743200" cy="3337560"/>
          </a:xfrm>
          <a:prstGeom prst="roundRect">
            <a:avLst>
              <a:gd name="adj" fmla="val 4667"/>
            </a:avLst>
          </a:prstGeom>
          <a:solidFill>
            <a:srgbClr val="0A2218"/>
          </a:solidFill>
          <a:ln w="12700">
            <a:solidFill>
              <a:srgbClr val="1DB87A"/>
            </a:solidFill>
            <a:prstDash val="solid"/>
          </a:ln>
          <a:effectLst>
            <a:outerShdw blurRad="101600" dist="38100" dir="2700000" algn="bl" rotWithShape="0">
              <a:srgbClr val="000000">
                <a:alpha val="18000"/>
              </a:srgbClr>
            </a:outerShdw>
          </a:effectLst>
        </p:spPr>
      </p:sp>
      <p:sp>
        <p:nvSpPr>
          <p:cNvPr id="19" name="Text 14"/>
          <p:cNvSpPr/>
          <p:nvPr/>
        </p:nvSpPr>
        <p:spPr>
          <a:xfrm>
            <a:off x="8138160" y="1664208"/>
            <a:ext cx="502920" cy="411480"/>
          </a:xfrm>
          <a:prstGeom prst="rect">
            <a:avLst/>
          </a:prstGeom>
          <a:noFill/>
          <a:ln/>
        </p:spPr>
        <p:txBody>
          <a:bodyPr wrap="square" lIns="0" tIns="0" rIns="0" bIns="0" rtlCol="0" anchor="ctr"/>
          <a:lstStyle/>
          <a:p>
            <a:pPr marL="0" indent="0" algn="r">
              <a:buNone/>
            </a:pPr>
            <a:r>
              <a:rPr lang="en-US" sz="2200" b="1" dirty="0">
                <a:solidFill>
                  <a:srgbClr val="1DB87A"/>
                </a:solidFill>
                <a:latin typeface="Cambria" pitchFamily="34" charset="0"/>
                <a:ea typeface="Cambria" pitchFamily="34" charset="-122"/>
                <a:cs typeface="Cambria" pitchFamily="34" charset="-120"/>
              </a:rPr>
              <a:t>03</a:t>
            </a:r>
            <a:endParaRPr lang="en-US" sz="2200" dirty="0"/>
          </a:p>
        </p:txBody>
      </p:sp>
      <p:sp>
        <p:nvSpPr>
          <p:cNvPr id="20" name="Text 15"/>
          <p:cNvSpPr/>
          <p:nvPr/>
        </p:nvSpPr>
        <p:spPr>
          <a:xfrm>
            <a:off x="6172200" y="2286000"/>
            <a:ext cx="2487168" cy="685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Cross-Institution</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Fraud Intelligence Layer</a:t>
            </a:r>
            <a:endParaRPr lang="en-US" sz="1400" dirty="0"/>
          </a:p>
        </p:txBody>
      </p:sp>
      <p:sp>
        <p:nvSpPr>
          <p:cNvPr id="21" name="Text 16"/>
          <p:cNvSpPr/>
          <p:nvPr/>
        </p:nvSpPr>
        <p:spPr>
          <a:xfrm>
            <a:off x="6172200" y="2999232"/>
            <a:ext cx="2487168" cy="1143000"/>
          </a:xfrm>
          <a:prstGeom prst="rect">
            <a:avLst/>
          </a:prstGeom>
          <a:noFill/>
          <a:ln/>
        </p:spPr>
        <p:txBody>
          <a:bodyPr wrap="square" lIns="0" tIns="0" rIns="0" bIns="0" rtlCol="0" anchor="ctr"/>
          <a:lstStyle/>
          <a:p>
            <a:pPr marL="0" indent="0">
              <a:buNone/>
            </a:pPr>
            <a:r>
              <a:rPr lang="en-US" sz="950" dirty="0">
                <a:solidFill>
                  <a:srgbClr val="CBD8EA"/>
                </a:solidFill>
                <a:latin typeface="Calibri" pitchFamily="34" charset="0"/>
                <a:ea typeface="Calibri" pitchFamily="34" charset="-122"/>
                <a:cs typeface="Calibri" pitchFamily="34" charset="-120"/>
              </a:rPr>
              <a:t>A shared, privacy-preserving ledger flags mule accounts and fraud patterns across all participating banks in real time — without exposing raw customer data.</a:t>
            </a:r>
            <a:endParaRPr lang="en-US" sz="950" dirty="0"/>
          </a:p>
        </p:txBody>
      </p:sp>
      <p:sp>
        <p:nvSpPr>
          <p:cNvPr id="22" name="Text 17"/>
          <p:cNvSpPr/>
          <p:nvPr/>
        </p:nvSpPr>
        <p:spPr>
          <a:xfrm>
            <a:off x="6172200" y="4178808"/>
            <a:ext cx="2487168" cy="548640"/>
          </a:xfrm>
          <a:prstGeom prst="rect">
            <a:avLst/>
          </a:prstGeom>
          <a:noFill/>
          <a:ln/>
        </p:spPr>
        <p:txBody>
          <a:bodyPr wrap="square" lIns="0" tIns="0" rIns="0" bIns="0" rtlCol="0" anchor="ctr"/>
          <a:lstStyle/>
          <a:p>
            <a:pPr marL="0" indent="0">
              <a:buNone/>
            </a:pPr>
            <a:r>
              <a:rPr lang="en-US" sz="850" i="1" dirty="0">
                <a:solidFill>
                  <a:srgbClr val="1DB87A"/>
                </a:solidFill>
                <a:latin typeface="Calibri" pitchFamily="34" charset="0"/>
                <a:ea typeface="Calibri" pitchFamily="34" charset="-122"/>
                <a:cs typeface="Calibri" pitchFamily="34" charset="-120"/>
              </a:rPr>
              <a:t>Solves: Siloed banks · Repeat victimisation · Mule network exploitation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Text 1"/>
          <p:cNvSpPr/>
          <p:nvPr/>
        </p:nvSpPr>
        <p:spPr>
          <a:xfrm>
            <a:off x="365760" y="91440"/>
            <a:ext cx="8229600" cy="347472"/>
          </a:xfrm>
          <a:prstGeom prst="rect">
            <a:avLst/>
          </a:prstGeom>
          <a:noFill/>
          <a:ln/>
        </p:spPr>
        <p:txBody>
          <a:bodyPr wrap="square" lIns="0" tIns="0" rIns="0" bIns="0" rtlCol="0" anchor="ctr"/>
          <a:lstStyle/>
          <a:p>
            <a:pPr marL="0" indent="0">
              <a:buNone/>
            </a:pPr>
            <a:r>
              <a:rPr lang="en-US" sz="1000" b="1" kern="0" spc="300" dirty="0">
                <a:solidFill>
                  <a:srgbClr val="0D9488"/>
                </a:solidFill>
                <a:latin typeface="Calibri" pitchFamily="34" charset="0"/>
                <a:ea typeface="Calibri" pitchFamily="34" charset="-122"/>
                <a:cs typeface="Calibri" pitchFamily="34" charset="-120"/>
              </a:rPr>
              <a:t>SOLUTION PILLAR 1</a:t>
            </a:r>
            <a:endParaRPr lang="en-US" sz="1000" dirty="0"/>
          </a:p>
        </p:txBody>
      </p:sp>
      <p:sp>
        <p:nvSpPr>
          <p:cNvPr id="4" name="Text 2"/>
          <p:cNvSpPr/>
          <p:nvPr/>
        </p:nvSpPr>
        <p:spPr>
          <a:xfrm>
            <a:off x="365760" y="457200"/>
            <a:ext cx="8229600" cy="420624"/>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Immutable On-Chain Transaction Audit Trail</a:t>
            </a:r>
            <a:endParaRPr lang="en-US" sz="1800" dirty="0"/>
          </a:p>
        </p:txBody>
      </p:sp>
      <p:sp>
        <p:nvSpPr>
          <p:cNvPr id="5" name="Shape 3"/>
          <p:cNvSpPr/>
          <p:nvPr/>
        </p:nvSpPr>
        <p:spPr>
          <a:xfrm>
            <a:off x="274320" y="1078992"/>
            <a:ext cx="1481328" cy="914400"/>
          </a:xfrm>
          <a:prstGeom prst="roundRect">
            <a:avLst>
              <a:gd name="adj" fmla="val 10000"/>
            </a:avLst>
          </a:prstGeom>
          <a:solidFill>
            <a:srgbClr val="0B1D3A"/>
          </a:solidFill>
          <a:ln w="12700">
            <a:solidFill>
              <a:srgbClr val="0D9488"/>
            </a:solidFill>
            <a:prstDash val="solid"/>
          </a:ln>
          <a:effectLst>
            <a:outerShdw blurRad="76200" dist="25400" dir="2700000" algn="bl" rotWithShape="0">
              <a:srgbClr val="000000">
                <a:alpha val="12000"/>
              </a:srgbClr>
            </a:outerShdw>
          </a:effectLst>
        </p:spPr>
      </p:sp>
      <p:sp>
        <p:nvSpPr>
          <p:cNvPr id="6" name="Text 4"/>
          <p:cNvSpPr/>
          <p:nvPr/>
        </p:nvSpPr>
        <p:spPr>
          <a:xfrm>
            <a:off x="274320" y="1115568"/>
            <a:ext cx="1481328" cy="8412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Payment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Initiated</a:t>
            </a:r>
            <a:endParaRPr lang="en-US" sz="1100" dirty="0"/>
          </a:p>
        </p:txBody>
      </p:sp>
      <p:sp>
        <p:nvSpPr>
          <p:cNvPr id="7" name="Shape 5"/>
          <p:cNvSpPr/>
          <p:nvPr/>
        </p:nvSpPr>
        <p:spPr>
          <a:xfrm>
            <a:off x="1792224" y="1536192"/>
            <a:ext cx="237744" cy="0"/>
          </a:xfrm>
          <a:prstGeom prst="line">
            <a:avLst/>
          </a:prstGeom>
          <a:noFill/>
          <a:ln w="25400">
            <a:solidFill>
              <a:srgbClr val="0D9488"/>
            </a:solidFill>
            <a:prstDash val="solid"/>
          </a:ln>
        </p:spPr>
      </p:sp>
      <p:sp>
        <p:nvSpPr>
          <p:cNvPr id="8" name="Text 6"/>
          <p:cNvSpPr/>
          <p:nvPr/>
        </p:nvSpPr>
        <p:spPr>
          <a:xfrm>
            <a:off x="1947672" y="1426464"/>
            <a:ext cx="228600" cy="22860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9" name="Shape 7"/>
          <p:cNvSpPr/>
          <p:nvPr/>
        </p:nvSpPr>
        <p:spPr>
          <a:xfrm>
            <a:off x="274320" y="2121408"/>
            <a:ext cx="1481328" cy="1389888"/>
          </a:xfrm>
          <a:prstGeom prst="roundRect">
            <a:avLst>
              <a:gd name="adj" fmla="val 5263"/>
            </a:avLst>
          </a:prstGeom>
          <a:solidFill>
            <a:srgbClr val="FFFFFF"/>
          </a:solidFill>
          <a:ln w="12700">
            <a:solidFill>
              <a:srgbClr val="DDE4EF"/>
            </a:solidFill>
            <a:prstDash val="solid"/>
          </a:ln>
          <a:effectLst>
            <a:outerShdw blurRad="76200" dist="25400" dir="2700000" algn="bl" rotWithShape="0">
              <a:srgbClr val="000000">
                <a:alpha val="12000"/>
              </a:srgbClr>
            </a:outerShdw>
          </a:effectLst>
        </p:spPr>
      </p:sp>
      <p:sp>
        <p:nvSpPr>
          <p:cNvPr id="10" name="Text 8"/>
          <p:cNvSpPr/>
          <p:nvPr/>
        </p:nvSpPr>
        <p:spPr>
          <a:xfrm>
            <a:off x="365760" y="2176272"/>
            <a:ext cx="1298448" cy="1280160"/>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Customer triggers transfer in app. Authorisation context captured (device, IP, behavioural biometrics, session).</a:t>
            </a:r>
            <a:endParaRPr lang="en-US" sz="950" dirty="0"/>
          </a:p>
        </p:txBody>
      </p:sp>
      <p:sp>
        <p:nvSpPr>
          <p:cNvPr id="11" name="Shape 9"/>
          <p:cNvSpPr/>
          <p:nvPr/>
        </p:nvSpPr>
        <p:spPr>
          <a:xfrm>
            <a:off x="832104" y="1965960"/>
            <a:ext cx="365760" cy="365760"/>
          </a:xfrm>
          <a:prstGeom prst="ellipse">
            <a:avLst/>
          </a:prstGeom>
          <a:solidFill>
            <a:srgbClr val="0D9488"/>
          </a:solidFill>
          <a:ln w="12700">
            <a:solidFill>
              <a:srgbClr val="0D9488"/>
            </a:solidFill>
            <a:prstDash val="solid"/>
          </a:ln>
        </p:spPr>
      </p:sp>
      <p:sp>
        <p:nvSpPr>
          <p:cNvPr id="12" name="Text 10"/>
          <p:cNvSpPr/>
          <p:nvPr/>
        </p:nvSpPr>
        <p:spPr>
          <a:xfrm>
            <a:off x="832104" y="196596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Shape 11"/>
          <p:cNvSpPr/>
          <p:nvPr/>
        </p:nvSpPr>
        <p:spPr>
          <a:xfrm>
            <a:off x="2029968" y="1078992"/>
            <a:ext cx="1481328" cy="914400"/>
          </a:xfrm>
          <a:prstGeom prst="roundRect">
            <a:avLst>
              <a:gd name="adj" fmla="val 10000"/>
            </a:avLst>
          </a:prstGeom>
          <a:solidFill>
            <a:srgbClr val="0B1D3A"/>
          </a:solidFill>
          <a:ln w="12700">
            <a:solidFill>
              <a:srgbClr val="0D9488"/>
            </a:solidFill>
            <a:prstDash val="solid"/>
          </a:ln>
          <a:effectLst>
            <a:outerShdw blurRad="76200" dist="25400" dir="2700000" algn="bl" rotWithShape="0">
              <a:srgbClr val="000000">
                <a:alpha val="12000"/>
              </a:srgbClr>
            </a:outerShdw>
          </a:effectLst>
        </p:spPr>
      </p:sp>
      <p:sp>
        <p:nvSpPr>
          <p:cNvPr id="14" name="Text 12"/>
          <p:cNvSpPr/>
          <p:nvPr/>
        </p:nvSpPr>
        <p:spPr>
          <a:xfrm>
            <a:off x="2029968" y="1115568"/>
            <a:ext cx="1481328" cy="8412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Context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Hashed &amp; Written</a:t>
            </a:r>
            <a:endParaRPr lang="en-US" sz="1100" dirty="0"/>
          </a:p>
        </p:txBody>
      </p:sp>
      <p:sp>
        <p:nvSpPr>
          <p:cNvPr id="15" name="Shape 13"/>
          <p:cNvSpPr/>
          <p:nvPr/>
        </p:nvSpPr>
        <p:spPr>
          <a:xfrm>
            <a:off x="3547872" y="1536192"/>
            <a:ext cx="237744" cy="0"/>
          </a:xfrm>
          <a:prstGeom prst="line">
            <a:avLst/>
          </a:prstGeom>
          <a:noFill/>
          <a:ln w="25400">
            <a:solidFill>
              <a:srgbClr val="0D9488"/>
            </a:solidFill>
            <a:prstDash val="solid"/>
          </a:ln>
        </p:spPr>
      </p:sp>
      <p:sp>
        <p:nvSpPr>
          <p:cNvPr id="16" name="Text 14"/>
          <p:cNvSpPr/>
          <p:nvPr/>
        </p:nvSpPr>
        <p:spPr>
          <a:xfrm>
            <a:off x="3703320" y="1426464"/>
            <a:ext cx="228600" cy="22860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17" name="Shape 15"/>
          <p:cNvSpPr/>
          <p:nvPr/>
        </p:nvSpPr>
        <p:spPr>
          <a:xfrm>
            <a:off x="2029968" y="2121408"/>
            <a:ext cx="1481328" cy="1389888"/>
          </a:xfrm>
          <a:prstGeom prst="roundRect">
            <a:avLst>
              <a:gd name="adj" fmla="val 5263"/>
            </a:avLst>
          </a:prstGeom>
          <a:solidFill>
            <a:srgbClr val="FFFFFF"/>
          </a:solidFill>
          <a:ln w="12700">
            <a:solidFill>
              <a:srgbClr val="DDE4EF"/>
            </a:solidFill>
            <a:prstDash val="solid"/>
          </a:ln>
          <a:effectLst>
            <a:outerShdw blurRad="76200" dist="25400" dir="2700000" algn="bl" rotWithShape="0">
              <a:srgbClr val="000000">
                <a:alpha val="12000"/>
              </a:srgbClr>
            </a:outerShdw>
          </a:effectLst>
        </p:spPr>
      </p:sp>
      <p:sp>
        <p:nvSpPr>
          <p:cNvPr id="18" name="Text 16"/>
          <p:cNvSpPr/>
          <p:nvPr/>
        </p:nvSpPr>
        <p:spPr>
          <a:xfrm>
            <a:off x="2121408" y="2176272"/>
            <a:ext cx="1298448" cy="1280160"/>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A cryptographic hash of the authorisation event is written to the permissioned blockchain before settlement begins.</a:t>
            </a:r>
            <a:endParaRPr lang="en-US" sz="950" dirty="0"/>
          </a:p>
        </p:txBody>
      </p:sp>
      <p:sp>
        <p:nvSpPr>
          <p:cNvPr id="19" name="Shape 17"/>
          <p:cNvSpPr/>
          <p:nvPr/>
        </p:nvSpPr>
        <p:spPr>
          <a:xfrm>
            <a:off x="2587752" y="1965960"/>
            <a:ext cx="365760" cy="365760"/>
          </a:xfrm>
          <a:prstGeom prst="ellipse">
            <a:avLst/>
          </a:prstGeom>
          <a:solidFill>
            <a:srgbClr val="0D9488"/>
          </a:solidFill>
          <a:ln w="12700">
            <a:solidFill>
              <a:srgbClr val="0D9488"/>
            </a:solidFill>
            <a:prstDash val="solid"/>
          </a:ln>
        </p:spPr>
      </p:sp>
      <p:sp>
        <p:nvSpPr>
          <p:cNvPr id="20" name="Text 18"/>
          <p:cNvSpPr/>
          <p:nvPr/>
        </p:nvSpPr>
        <p:spPr>
          <a:xfrm>
            <a:off x="2587752" y="196596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Shape 19"/>
          <p:cNvSpPr/>
          <p:nvPr/>
        </p:nvSpPr>
        <p:spPr>
          <a:xfrm>
            <a:off x="3785616" y="1078992"/>
            <a:ext cx="1481328" cy="914400"/>
          </a:xfrm>
          <a:prstGeom prst="roundRect">
            <a:avLst>
              <a:gd name="adj" fmla="val 10000"/>
            </a:avLst>
          </a:prstGeom>
          <a:solidFill>
            <a:srgbClr val="0B1D3A"/>
          </a:solidFill>
          <a:ln w="12700">
            <a:solidFill>
              <a:srgbClr val="0D9488"/>
            </a:solidFill>
            <a:prstDash val="solid"/>
          </a:ln>
          <a:effectLst>
            <a:outerShdw blurRad="76200" dist="25400" dir="2700000" algn="bl" rotWithShape="0">
              <a:srgbClr val="000000">
                <a:alpha val="12000"/>
              </a:srgbClr>
            </a:outerShdw>
          </a:effectLst>
        </p:spPr>
      </p:sp>
      <p:sp>
        <p:nvSpPr>
          <p:cNvPr id="22" name="Text 20"/>
          <p:cNvSpPr/>
          <p:nvPr/>
        </p:nvSpPr>
        <p:spPr>
          <a:xfrm>
            <a:off x="3785616" y="1115568"/>
            <a:ext cx="1481328" cy="8412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Smart Contract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Validates</a:t>
            </a:r>
            <a:endParaRPr lang="en-US" sz="1100" dirty="0"/>
          </a:p>
        </p:txBody>
      </p:sp>
      <p:sp>
        <p:nvSpPr>
          <p:cNvPr id="23" name="Shape 21"/>
          <p:cNvSpPr/>
          <p:nvPr/>
        </p:nvSpPr>
        <p:spPr>
          <a:xfrm>
            <a:off x="5303520" y="1536192"/>
            <a:ext cx="237744" cy="0"/>
          </a:xfrm>
          <a:prstGeom prst="line">
            <a:avLst/>
          </a:prstGeom>
          <a:noFill/>
          <a:ln w="25400">
            <a:solidFill>
              <a:srgbClr val="0D9488"/>
            </a:solidFill>
            <a:prstDash val="solid"/>
          </a:ln>
        </p:spPr>
      </p:sp>
      <p:sp>
        <p:nvSpPr>
          <p:cNvPr id="24" name="Text 22"/>
          <p:cNvSpPr/>
          <p:nvPr/>
        </p:nvSpPr>
        <p:spPr>
          <a:xfrm>
            <a:off x="5458968" y="1426464"/>
            <a:ext cx="228600" cy="22860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3785616" y="2121408"/>
            <a:ext cx="1481328" cy="1389888"/>
          </a:xfrm>
          <a:prstGeom prst="roundRect">
            <a:avLst>
              <a:gd name="adj" fmla="val 5263"/>
            </a:avLst>
          </a:prstGeom>
          <a:solidFill>
            <a:srgbClr val="FFFFFF"/>
          </a:solidFill>
          <a:ln w="12700">
            <a:solidFill>
              <a:srgbClr val="DDE4EF"/>
            </a:solidFill>
            <a:prstDash val="solid"/>
          </a:ln>
          <a:effectLst>
            <a:outerShdw blurRad="76200" dist="25400" dir="2700000" algn="bl" rotWithShape="0">
              <a:srgbClr val="000000">
                <a:alpha val="12000"/>
              </a:srgbClr>
            </a:outerShdw>
          </a:effectLst>
        </p:spPr>
      </p:sp>
      <p:sp>
        <p:nvSpPr>
          <p:cNvPr id="26" name="Text 24"/>
          <p:cNvSpPr/>
          <p:nvPr/>
        </p:nvSpPr>
        <p:spPr>
          <a:xfrm>
            <a:off x="3877056" y="2176272"/>
            <a:ext cx="1298448" cy="1280160"/>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On-chain rules check payee history, amount thresholds, and fraud signals. Proceed or hold signal returned in &lt;1 second.</a:t>
            </a:r>
            <a:endParaRPr lang="en-US" sz="950" dirty="0"/>
          </a:p>
        </p:txBody>
      </p:sp>
      <p:sp>
        <p:nvSpPr>
          <p:cNvPr id="27" name="Shape 25"/>
          <p:cNvSpPr/>
          <p:nvPr/>
        </p:nvSpPr>
        <p:spPr>
          <a:xfrm>
            <a:off x="4343400" y="1965960"/>
            <a:ext cx="365760" cy="365760"/>
          </a:xfrm>
          <a:prstGeom prst="ellipse">
            <a:avLst/>
          </a:prstGeom>
          <a:solidFill>
            <a:srgbClr val="0D9488"/>
          </a:solidFill>
          <a:ln w="12700">
            <a:solidFill>
              <a:srgbClr val="0D9488"/>
            </a:solidFill>
            <a:prstDash val="solid"/>
          </a:ln>
        </p:spPr>
      </p:sp>
      <p:sp>
        <p:nvSpPr>
          <p:cNvPr id="28" name="Text 26"/>
          <p:cNvSpPr/>
          <p:nvPr/>
        </p:nvSpPr>
        <p:spPr>
          <a:xfrm>
            <a:off x="4343400" y="196596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9" name="Shape 27"/>
          <p:cNvSpPr/>
          <p:nvPr/>
        </p:nvSpPr>
        <p:spPr>
          <a:xfrm>
            <a:off x="5541264" y="1078992"/>
            <a:ext cx="1481328" cy="914400"/>
          </a:xfrm>
          <a:prstGeom prst="roundRect">
            <a:avLst>
              <a:gd name="adj" fmla="val 10000"/>
            </a:avLst>
          </a:prstGeom>
          <a:solidFill>
            <a:srgbClr val="0B1D3A"/>
          </a:solidFill>
          <a:ln w="12700">
            <a:solidFill>
              <a:srgbClr val="0D9488"/>
            </a:solidFill>
            <a:prstDash val="solid"/>
          </a:ln>
          <a:effectLst>
            <a:outerShdw blurRad="76200" dist="25400" dir="2700000" algn="bl" rotWithShape="0">
              <a:srgbClr val="000000">
                <a:alpha val="12000"/>
              </a:srgbClr>
            </a:outerShdw>
          </a:effectLst>
        </p:spPr>
      </p:sp>
      <p:sp>
        <p:nvSpPr>
          <p:cNvPr id="30" name="Text 28"/>
          <p:cNvSpPr/>
          <p:nvPr/>
        </p:nvSpPr>
        <p:spPr>
          <a:xfrm>
            <a:off x="5541264" y="1115568"/>
            <a:ext cx="1481328" cy="8412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Payment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Settles / Held</a:t>
            </a:r>
            <a:endParaRPr lang="en-US" sz="1100" dirty="0"/>
          </a:p>
        </p:txBody>
      </p:sp>
      <p:sp>
        <p:nvSpPr>
          <p:cNvPr id="31" name="Shape 29"/>
          <p:cNvSpPr/>
          <p:nvPr/>
        </p:nvSpPr>
        <p:spPr>
          <a:xfrm>
            <a:off x="7059168" y="1536192"/>
            <a:ext cx="237744" cy="0"/>
          </a:xfrm>
          <a:prstGeom prst="line">
            <a:avLst/>
          </a:prstGeom>
          <a:noFill/>
          <a:ln w="25400">
            <a:solidFill>
              <a:srgbClr val="0D9488"/>
            </a:solidFill>
            <a:prstDash val="solid"/>
          </a:ln>
        </p:spPr>
      </p:sp>
      <p:sp>
        <p:nvSpPr>
          <p:cNvPr id="32" name="Text 30"/>
          <p:cNvSpPr/>
          <p:nvPr/>
        </p:nvSpPr>
        <p:spPr>
          <a:xfrm>
            <a:off x="7214616" y="1426464"/>
            <a:ext cx="228600" cy="22860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5541264" y="2121408"/>
            <a:ext cx="1481328" cy="1389888"/>
          </a:xfrm>
          <a:prstGeom prst="roundRect">
            <a:avLst>
              <a:gd name="adj" fmla="val 5263"/>
            </a:avLst>
          </a:prstGeom>
          <a:solidFill>
            <a:srgbClr val="FFFFFF"/>
          </a:solidFill>
          <a:ln w="12700">
            <a:solidFill>
              <a:srgbClr val="DDE4EF"/>
            </a:solidFill>
            <a:prstDash val="solid"/>
          </a:ln>
          <a:effectLst>
            <a:outerShdw blurRad="76200" dist="25400" dir="2700000" algn="bl" rotWithShape="0">
              <a:srgbClr val="000000">
                <a:alpha val="12000"/>
              </a:srgbClr>
            </a:outerShdw>
          </a:effectLst>
        </p:spPr>
      </p:sp>
      <p:sp>
        <p:nvSpPr>
          <p:cNvPr id="34" name="Text 32"/>
          <p:cNvSpPr/>
          <p:nvPr/>
        </p:nvSpPr>
        <p:spPr>
          <a:xfrm>
            <a:off x="5632704" y="2176272"/>
            <a:ext cx="1298448" cy="1280160"/>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Clean payments proceed to Faster Payments. Flagged payments are held pending step-up verification or analyst review.</a:t>
            </a:r>
            <a:endParaRPr lang="en-US" sz="950" dirty="0"/>
          </a:p>
        </p:txBody>
      </p:sp>
      <p:sp>
        <p:nvSpPr>
          <p:cNvPr id="35" name="Shape 33"/>
          <p:cNvSpPr/>
          <p:nvPr/>
        </p:nvSpPr>
        <p:spPr>
          <a:xfrm>
            <a:off x="6099048" y="1965960"/>
            <a:ext cx="365760" cy="365760"/>
          </a:xfrm>
          <a:prstGeom prst="ellipse">
            <a:avLst/>
          </a:prstGeom>
          <a:solidFill>
            <a:srgbClr val="0D9488"/>
          </a:solidFill>
          <a:ln w="12700">
            <a:solidFill>
              <a:srgbClr val="0D9488"/>
            </a:solidFill>
            <a:prstDash val="solid"/>
          </a:ln>
        </p:spPr>
      </p:sp>
      <p:sp>
        <p:nvSpPr>
          <p:cNvPr id="36" name="Text 34"/>
          <p:cNvSpPr/>
          <p:nvPr/>
        </p:nvSpPr>
        <p:spPr>
          <a:xfrm>
            <a:off x="6099048" y="196596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7" name="Shape 35"/>
          <p:cNvSpPr/>
          <p:nvPr/>
        </p:nvSpPr>
        <p:spPr>
          <a:xfrm>
            <a:off x="7296912" y="1078992"/>
            <a:ext cx="1481328" cy="914400"/>
          </a:xfrm>
          <a:prstGeom prst="roundRect">
            <a:avLst>
              <a:gd name="adj" fmla="val 10000"/>
            </a:avLst>
          </a:prstGeom>
          <a:solidFill>
            <a:srgbClr val="0B1D3A"/>
          </a:solidFill>
          <a:ln w="12700">
            <a:solidFill>
              <a:srgbClr val="0D9488"/>
            </a:solidFill>
            <a:prstDash val="solid"/>
          </a:ln>
          <a:effectLst>
            <a:outerShdw blurRad="76200" dist="25400" dir="2700000" algn="bl" rotWithShape="0">
              <a:srgbClr val="000000">
                <a:alpha val="12000"/>
              </a:srgbClr>
            </a:outerShdw>
          </a:effectLst>
        </p:spPr>
      </p:sp>
      <p:sp>
        <p:nvSpPr>
          <p:cNvPr id="38" name="Text 36"/>
          <p:cNvSpPr/>
          <p:nvPr/>
        </p:nvSpPr>
        <p:spPr>
          <a:xfrm>
            <a:off x="7296912" y="1115568"/>
            <a:ext cx="1481328" cy="8412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Immutable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Record Created</a:t>
            </a:r>
            <a:endParaRPr lang="en-US" sz="1100" dirty="0"/>
          </a:p>
        </p:txBody>
      </p:sp>
      <p:sp>
        <p:nvSpPr>
          <p:cNvPr id="39" name="Shape 37"/>
          <p:cNvSpPr/>
          <p:nvPr/>
        </p:nvSpPr>
        <p:spPr>
          <a:xfrm>
            <a:off x="7296912" y="2121408"/>
            <a:ext cx="1481328" cy="1389888"/>
          </a:xfrm>
          <a:prstGeom prst="roundRect">
            <a:avLst>
              <a:gd name="adj" fmla="val 5263"/>
            </a:avLst>
          </a:prstGeom>
          <a:solidFill>
            <a:srgbClr val="FFFFFF"/>
          </a:solidFill>
          <a:ln w="12700">
            <a:solidFill>
              <a:srgbClr val="DDE4EF"/>
            </a:solidFill>
            <a:prstDash val="solid"/>
          </a:ln>
          <a:effectLst>
            <a:outerShdw blurRad="76200" dist="25400" dir="2700000" algn="bl" rotWithShape="0">
              <a:srgbClr val="000000">
                <a:alpha val="12000"/>
              </a:srgbClr>
            </a:outerShdw>
          </a:effectLst>
        </p:spPr>
      </p:sp>
      <p:sp>
        <p:nvSpPr>
          <p:cNvPr id="40" name="Text 38"/>
          <p:cNvSpPr/>
          <p:nvPr/>
        </p:nvSpPr>
        <p:spPr>
          <a:xfrm>
            <a:off x="7388352" y="2176272"/>
            <a:ext cx="1298448" cy="1280160"/>
          </a:xfrm>
          <a:prstGeom prst="rect">
            <a:avLst/>
          </a:prstGeom>
          <a:noFill/>
          <a:ln/>
        </p:spPr>
        <p:txBody>
          <a:bodyPr wrap="square" lIns="0" tIns="0" rIns="0" bIns="0" rtlCol="0" anchor="ctr"/>
          <a:lstStyle/>
          <a:p>
            <a:pPr marL="0" indent="0">
              <a:buNone/>
            </a:pPr>
            <a:r>
              <a:rPr lang="en-US" sz="950" dirty="0">
                <a:solidFill>
                  <a:srgbClr val="3A4A5E"/>
                </a:solidFill>
                <a:latin typeface="Calibri" pitchFamily="34" charset="0"/>
                <a:ea typeface="Calibri" pitchFamily="34" charset="-122"/>
                <a:cs typeface="Calibri" pitchFamily="34" charset="-120"/>
              </a:rPr>
              <a:t>Full chain of custody — intent, validation outcome, settlement status — stored permanently and auditable by regulators.</a:t>
            </a:r>
            <a:endParaRPr lang="en-US" sz="950" dirty="0"/>
          </a:p>
        </p:txBody>
      </p:sp>
      <p:sp>
        <p:nvSpPr>
          <p:cNvPr id="41" name="Shape 39"/>
          <p:cNvSpPr/>
          <p:nvPr/>
        </p:nvSpPr>
        <p:spPr>
          <a:xfrm>
            <a:off x="7854696" y="1965960"/>
            <a:ext cx="365760" cy="365760"/>
          </a:xfrm>
          <a:prstGeom prst="ellipse">
            <a:avLst/>
          </a:prstGeom>
          <a:solidFill>
            <a:srgbClr val="0D9488"/>
          </a:solidFill>
          <a:ln w="12700">
            <a:solidFill>
              <a:srgbClr val="0D9488"/>
            </a:solidFill>
            <a:prstDash val="solid"/>
          </a:ln>
        </p:spPr>
      </p:sp>
      <p:sp>
        <p:nvSpPr>
          <p:cNvPr id="42" name="Text 40"/>
          <p:cNvSpPr/>
          <p:nvPr/>
        </p:nvSpPr>
        <p:spPr>
          <a:xfrm>
            <a:off x="7854696" y="196596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3" name="Shape 41"/>
          <p:cNvSpPr/>
          <p:nvPr/>
        </p:nvSpPr>
        <p:spPr>
          <a:xfrm>
            <a:off x="320040" y="3630168"/>
            <a:ext cx="2743200" cy="1325880"/>
          </a:xfrm>
          <a:prstGeom prst="roundRect">
            <a:avLst>
              <a:gd name="adj" fmla="val 6897"/>
            </a:avLst>
          </a:prstGeom>
          <a:solidFill>
            <a:srgbClr val="E6F7F5"/>
          </a:solidFill>
          <a:ln w="12700">
            <a:solidFill>
              <a:srgbClr val="0D9488"/>
            </a:solidFill>
            <a:prstDash val="solid"/>
          </a:ln>
        </p:spPr>
      </p:sp>
      <p:sp>
        <p:nvSpPr>
          <p:cNvPr id="44" name="Text 42"/>
          <p:cNvSpPr/>
          <p:nvPr/>
        </p:nvSpPr>
        <p:spPr>
          <a:xfrm>
            <a:off x="429768" y="3703320"/>
            <a:ext cx="2542032" cy="347472"/>
          </a:xfrm>
          <a:prstGeom prst="rect">
            <a:avLst/>
          </a:prstGeom>
          <a:noFill/>
          <a:ln/>
        </p:spPr>
        <p:txBody>
          <a:bodyPr wrap="square" lIns="0" tIns="0" rIns="0" bIns="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  Tamper-Proof Evidence</a:t>
            </a:r>
            <a:endParaRPr lang="en-US" sz="1150" dirty="0"/>
          </a:p>
        </p:txBody>
      </p:sp>
      <p:sp>
        <p:nvSpPr>
          <p:cNvPr id="45" name="Text 43"/>
          <p:cNvSpPr/>
          <p:nvPr/>
        </p:nvSpPr>
        <p:spPr>
          <a:xfrm>
            <a:off x="429768" y="4050792"/>
            <a:ext cx="2542032" cy="804672"/>
          </a:xfrm>
          <a:prstGeom prst="rect">
            <a:avLst/>
          </a:prstGeom>
          <a:noFill/>
          <a:ln/>
        </p:spPr>
        <p:txBody>
          <a:bodyPr wrap="square" lIns="0" tIns="0" rIns="0" bIns="0" rtlCol="0" anchor="ctr"/>
          <a:lstStyle/>
          <a:p>
            <a:pPr marL="0" indent="0">
              <a:buNone/>
            </a:pPr>
            <a:r>
              <a:rPr lang="en-US" sz="950" dirty="0">
                <a:solidFill>
                  <a:srgbClr val="2D5A56"/>
                </a:solidFill>
                <a:latin typeface="Calibri" pitchFamily="34" charset="0"/>
                <a:ea typeface="Calibri" pitchFamily="34" charset="-122"/>
                <a:cs typeface="Calibri" pitchFamily="34" charset="-120"/>
              </a:rPr>
              <a:t>On-chain records cannot be altered post-facto. Regulators and fraud investigators access a single source of truth.</a:t>
            </a:r>
            <a:endParaRPr lang="en-US" sz="950" dirty="0"/>
          </a:p>
        </p:txBody>
      </p:sp>
      <p:sp>
        <p:nvSpPr>
          <p:cNvPr id="46" name="Shape 44"/>
          <p:cNvSpPr/>
          <p:nvPr/>
        </p:nvSpPr>
        <p:spPr>
          <a:xfrm>
            <a:off x="3227832" y="3630168"/>
            <a:ext cx="2743200" cy="1325880"/>
          </a:xfrm>
          <a:prstGeom prst="roundRect">
            <a:avLst>
              <a:gd name="adj" fmla="val 6897"/>
            </a:avLst>
          </a:prstGeom>
          <a:solidFill>
            <a:srgbClr val="E6F7F5"/>
          </a:solidFill>
          <a:ln w="12700">
            <a:solidFill>
              <a:srgbClr val="0D9488"/>
            </a:solidFill>
            <a:prstDash val="solid"/>
          </a:ln>
        </p:spPr>
      </p:sp>
      <p:sp>
        <p:nvSpPr>
          <p:cNvPr id="47" name="Text 45"/>
          <p:cNvSpPr/>
          <p:nvPr/>
        </p:nvSpPr>
        <p:spPr>
          <a:xfrm>
            <a:off x="3337560" y="3703320"/>
            <a:ext cx="2542032" cy="347472"/>
          </a:xfrm>
          <a:prstGeom prst="rect">
            <a:avLst/>
          </a:prstGeom>
          <a:noFill/>
          <a:ln/>
        </p:spPr>
        <p:txBody>
          <a:bodyPr wrap="square" lIns="0" tIns="0" rIns="0" bIns="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  Cross-Institution Visibility</a:t>
            </a:r>
            <a:endParaRPr lang="en-US" sz="1150" dirty="0"/>
          </a:p>
        </p:txBody>
      </p:sp>
      <p:sp>
        <p:nvSpPr>
          <p:cNvPr id="48" name="Text 46"/>
          <p:cNvSpPr/>
          <p:nvPr/>
        </p:nvSpPr>
        <p:spPr>
          <a:xfrm>
            <a:off x="3337560" y="4050792"/>
            <a:ext cx="2542032" cy="804672"/>
          </a:xfrm>
          <a:prstGeom prst="rect">
            <a:avLst/>
          </a:prstGeom>
          <a:noFill/>
          <a:ln/>
        </p:spPr>
        <p:txBody>
          <a:bodyPr wrap="square" lIns="0" tIns="0" rIns="0" bIns="0" rtlCol="0" anchor="ctr"/>
          <a:lstStyle/>
          <a:p>
            <a:pPr marL="0" indent="0">
              <a:buNone/>
            </a:pPr>
            <a:r>
              <a:rPr lang="en-US" sz="950" dirty="0">
                <a:solidFill>
                  <a:srgbClr val="2D5A56"/>
                </a:solidFill>
                <a:latin typeface="Calibri" pitchFamily="34" charset="0"/>
                <a:ea typeface="Calibri" pitchFamily="34" charset="-122"/>
                <a:cs typeface="Calibri" pitchFamily="34" charset="-120"/>
              </a:rPr>
              <a:t>Participating banks read the same ledger. A transaction flagged by one institution is visible to all others in real time.</a:t>
            </a:r>
            <a:endParaRPr lang="en-US" sz="950" dirty="0"/>
          </a:p>
        </p:txBody>
      </p:sp>
      <p:sp>
        <p:nvSpPr>
          <p:cNvPr id="49" name="Shape 47"/>
          <p:cNvSpPr/>
          <p:nvPr/>
        </p:nvSpPr>
        <p:spPr>
          <a:xfrm>
            <a:off x="6135624" y="3630168"/>
            <a:ext cx="2743200" cy="1325880"/>
          </a:xfrm>
          <a:prstGeom prst="roundRect">
            <a:avLst>
              <a:gd name="adj" fmla="val 6897"/>
            </a:avLst>
          </a:prstGeom>
          <a:solidFill>
            <a:srgbClr val="E6F7F5"/>
          </a:solidFill>
          <a:ln w="12700">
            <a:solidFill>
              <a:srgbClr val="0D9488"/>
            </a:solidFill>
            <a:prstDash val="solid"/>
          </a:ln>
        </p:spPr>
      </p:sp>
      <p:sp>
        <p:nvSpPr>
          <p:cNvPr id="50" name="Text 48"/>
          <p:cNvSpPr/>
          <p:nvPr/>
        </p:nvSpPr>
        <p:spPr>
          <a:xfrm>
            <a:off x="6245352" y="3703320"/>
            <a:ext cx="2542032" cy="347472"/>
          </a:xfrm>
          <a:prstGeom prst="rect">
            <a:avLst/>
          </a:prstGeom>
          <a:noFill/>
          <a:ln/>
        </p:spPr>
        <p:txBody>
          <a:bodyPr wrap="square" lIns="0" tIns="0" rIns="0" bIns="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  Dispute Resolution Speed</a:t>
            </a:r>
            <a:endParaRPr lang="en-US" sz="1150" dirty="0"/>
          </a:p>
        </p:txBody>
      </p:sp>
      <p:sp>
        <p:nvSpPr>
          <p:cNvPr id="51" name="Text 49"/>
          <p:cNvSpPr/>
          <p:nvPr/>
        </p:nvSpPr>
        <p:spPr>
          <a:xfrm>
            <a:off x="6245352" y="4050792"/>
            <a:ext cx="2542032" cy="804672"/>
          </a:xfrm>
          <a:prstGeom prst="rect">
            <a:avLst/>
          </a:prstGeom>
          <a:noFill/>
          <a:ln/>
        </p:spPr>
        <p:txBody>
          <a:bodyPr wrap="square" lIns="0" tIns="0" rIns="0" bIns="0" rtlCol="0" anchor="ctr"/>
          <a:lstStyle/>
          <a:p>
            <a:pPr marL="0" indent="0">
              <a:buNone/>
            </a:pPr>
            <a:r>
              <a:rPr lang="en-US" sz="950" dirty="0">
                <a:solidFill>
                  <a:srgbClr val="2D5A56"/>
                </a:solidFill>
                <a:latin typeface="Calibri" pitchFamily="34" charset="0"/>
                <a:ea typeface="Calibri" pitchFamily="34" charset="-122"/>
                <a:cs typeface="Calibri" pitchFamily="34" charset="-120"/>
              </a:rPr>
              <a:t>Full authorisation context is available instantly. Manual evidence gathering — currently taking days — is eliminated.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347472"/>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SOLUTION PILLAR 2</a:t>
            </a:r>
            <a:endParaRPr lang="en-US" sz="1000" dirty="0"/>
          </a:p>
        </p:txBody>
      </p:sp>
      <p:sp>
        <p:nvSpPr>
          <p:cNvPr id="3" name="Text 1"/>
          <p:cNvSpPr/>
          <p:nvPr/>
        </p:nvSpPr>
        <p:spPr>
          <a:xfrm>
            <a:off x="457200" y="5212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Smart Contract Payment Controls</a:t>
            </a:r>
            <a:endParaRPr lang="en-US" sz="2400" dirty="0"/>
          </a:p>
        </p:txBody>
      </p:sp>
      <p:sp>
        <p:nvSpPr>
          <p:cNvPr id="4" name="Text 2"/>
          <p:cNvSpPr/>
          <p:nvPr/>
        </p:nvSpPr>
        <p:spPr>
          <a:xfrm>
            <a:off x="457200" y="1024128"/>
            <a:ext cx="8229600" cy="347472"/>
          </a:xfrm>
          <a:prstGeom prst="rect">
            <a:avLst/>
          </a:prstGeom>
          <a:noFill/>
          <a:ln/>
        </p:spPr>
        <p:txBody>
          <a:bodyPr wrap="square" lIns="0" tIns="0" rIns="0" bIns="0" rtlCol="0" anchor="ctr"/>
          <a:lstStyle/>
          <a:p>
            <a:pPr marL="0" indent="0">
              <a:buNone/>
            </a:pPr>
            <a:r>
              <a:rPr lang="en-US" sz="1300" i="1" dirty="0">
                <a:solidFill>
                  <a:srgbClr val="8FA5BF"/>
                </a:solidFill>
                <a:latin typeface="Calibri" pitchFamily="34" charset="0"/>
                <a:ea typeface="Calibri" pitchFamily="34" charset="-122"/>
                <a:cs typeface="Calibri" pitchFamily="34" charset="-120"/>
              </a:rPr>
              <a:t>Programmable rules that fire before money moves — not after it has gone</a:t>
            </a:r>
            <a:endParaRPr lang="en-US" sz="1300" dirty="0"/>
          </a:p>
        </p:txBody>
      </p:sp>
      <p:sp>
        <p:nvSpPr>
          <p:cNvPr id="5" name="Shape 3"/>
          <p:cNvSpPr/>
          <p:nvPr/>
        </p:nvSpPr>
        <p:spPr>
          <a:xfrm>
            <a:off x="274320" y="1508760"/>
            <a:ext cx="2743200" cy="3401568"/>
          </a:xfrm>
          <a:prstGeom prst="roundRect">
            <a:avLst>
              <a:gd name="adj" fmla="val 4333"/>
            </a:avLst>
          </a:prstGeom>
          <a:solidFill>
            <a:srgbClr val="162D52"/>
          </a:solidFill>
          <a:ln w="12700">
            <a:solidFill>
              <a:srgbClr val="E8A020"/>
            </a:solidFill>
            <a:prstDash val="solid"/>
          </a:ln>
          <a:effectLst>
            <a:outerShdw blurRad="101600" dist="38100" dir="2700000" algn="bl" rotWithShape="0">
              <a:srgbClr val="000000">
                <a:alpha val="18000"/>
              </a:srgbClr>
            </a:outerShdw>
          </a:effectLst>
        </p:spPr>
      </p:sp>
      <p:sp>
        <p:nvSpPr>
          <p:cNvPr id="7" name="Text 4"/>
          <p:cNvSpPr/>
          <p:nvPr/>
        </p:nvSpPr>
        <p:spPr>
          <a:xfrm>
            <a:off x="411480" y="2240280"/>
            <a:ext cx="2487168" cy="47548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Cooling-Off Period Contract</a:t>
            </a:r>
            <a:endParaRPr lang="en-US" sz="1250" dirty="0"/>
          </a:p>
        </p:txBody>
      </p:sp>
      <p:sp>
        <p:nvSpPr>
          <p:cNvPr id="8" name="Text 5"/>
          <p:cNvSpPr/>
          <p:nvPr/>
        </p:nvSpPr>
        <p:spPr>
          <a:xfrm>
            <a:off x="411480" y="2743200"/>
            <a:ext cx="2487168" cy="566928"/>
          </a:xfrm>
          <a:prstGeom prst="rect">
            <a:avLst/>
          </a:prstGeom>
          <a:noFill/>
          <a:ln/>
        </p:spPr>
        <p:txBody>
          <a:bodyPr wrap="square" lIns="0" tIns="0" rIns="0" bIns="0" rtlCol="0" anchor="ctr"/>
          <a:lstStyle/>
          <a:p>
            <a:pPr marL="0" indent="0">
              <a:buNone/>
            </a:pPr>
            <a:r>
              <a:rPr lang="en-US" sz="900" i="1" dirty="0">
                <a:solidFill>
                  <a:srgbClr val="E8A020"/>
                </a:solidFill>
                <a:latin typeface="Calibri" pitchFamily="34" charset="0"/>
                <a:ea typeface="Calibri" pitchFamily="34" charset="-122"/>
                <a:cs typeface="Calibri" pitchFamily="34" charset="-120"/>
              </a:rPr>
              <a:t>Triggered by: First-time payee + amount &gt; £X, or new device + transfer &gt; £Y</a:t>
            </a:r>
            <a:endParaRPr lang="en-US" sz="900" dirty="0"/>
          </a:p>
        </p:txBody>
      </p:sp>
      <p:sp>
        <p:nvSpPr>
          <p:cNvPr id="9" name="Text 6"/>
          <p:cNvSpPr/>
          <p:nvPr/>
        </p:nvSpPr>
        <p:spPr>
          <a:xfrm>
            <a:off x="411480" y="3337560"/>
            <a:ext cx="2487168" cy="1170432"/>
          </a:xfrm>
          <a:prstGeom prst="rect">
            <a:avLst/>
          </a:prstGeom>
          <a:noFill/>
          <a:ln/>
        </p:spPr>
        <p:txBody>
          <a:bodyPr wrap="square" lIns="0" tIns="0" rIns="0" bIns="0" rtlCol="0" anchor="ctr"/>
          <a:lstStyle/>
          <a:p>
            <a:pPr marL="0" indent="0">
              <a:buNone/>
            </a:pPr>
            <a:r>
              <a:rPr lang="en-US" sz="920" dirty="0">
                <a:solidFill>
                  <a:srgbClr val="CBD8EA"/>
                </a:solidFill>
                <a:latin typeface="Calibri" pitchFamily="34" charset="0"/>
                <a:ea typeface="Calibri" pitchFamily="34" charset="-122"/>
                <a:cs typeface="Calibri" pitchFamily="34" charset="-120"/>
              </a:rPr>
              <a:t>Smart contract places a programmable hold on the payment. Customer receives a notification and a 4–24 hour window to confirm or cancel. If no confirmation, payment auto-cancels and a fraud alert is raised.</a:t>
            </a:r>
            <a:endParaRPr lang="en-US" sz="920" dirty="0"/>
          </a:p>
        </p:txBody>
      </p:sp>
      <p:sp>
        <p:nvSpPr>
          <p:cNvPr id="10" name="Text 7"/>
          <p:cNvSpPr/>
          <p:nvPr/>
        </p:nvSpPr>
        <p:spPr>
          <a:xfrm>
            <a:off x="411480" y="4553712"/>
            <a:ext cx="2487168" cy="274320"/>
          </a:xfrm>
          <a:prstGeom prst="rect">
            <a:avLst/>
          </a:prstGeom>
          <a:noFill/>
          <a:ln/>
        </p:spPr>
        <p:txBody>
          <a:bodyPr wrap="square" lIns="0" tIns="0" rIns="0" bIns="0" rtlCol="0" anchor="ctr"/>
          <a:lstStyle/>
          <a:p>
            <a:pPr marL="0" indent="0">
              <a:buNone/>
            </a:pPr>
            <a:r>
              <a:rPr lang="en-US" sz="850" b="1" dirty="0">
                <a:solidFill>
                  <a:srgbClr val="E8A020"/>
                </a:solidFill>
                <a:latin typeface="Calibri" pitchFamily="34" charset="0"/>
                <a:ea typeface="Calibri" pitchFamily="34" charset="-122"/>
                <a:cs typeface="Calibri" pitchFamily="34" charset="-120"/>
              </a:rPr>
              <a:t>Closes: No cooling-off mechanism</a:t>
            </a:r>
            <a:endParaRPr lang="en-US" sz="850" dirty="0"/>
          </a:p>
        </p:txBody>
      </p:sp>
      <p:sp>
        <p:nvSpPr>
          <p:cNvPr id="11" name="Shape 8"/>
          <p:cNvSpPr/>
          <p:nvPr/>
        </p:nvSpPr>
        <p:spPr>
          <a:xfrm>
            <a:off x="3154680" y="1508760"/>
            <a:ext cx="2743200" cy="3401568"/>
          </a:xfrm>
          <a:prstGeom prst="roundRect">
            <a:avLst>
              <a:gd name="adj" fmla="val 4333"/>
            </a:avLst>
          </a:prstGeom>
          <a:solidFill>
            <a:srgbClr val="162D52"/>
          </a:solidFill>
          <a:ln w="12700">
            <a:solidFill>
              <a:srgbClr val="1DB87A"/>
            </a:solidFill>
            <a:prstDash val="solid"/>
          </a:ln>
          <a:effectLst>
            <a:outerShdw blurRad="101600" dist="38100" dir="2700000" algn="bl" rotWithShape="0">
              <a:srgbClr val="000000">
                <a:alpha val="18000"/>
              </a:srgbClr>
            </a:outerShdw>
          </a:effectLst>
        </p:spPr>
      </p:sp>
      <p:sp>
        <p:nvSpPr>
          <p:cNvPr id="13" name="Text 9"/>
          <p:cNvSpPr/>
          <p:nvPr/>
        </p:nvSpPr>
        <p:spPr>
          <a:xfrm>
            <a:off x="3291840" y="2240280"/>
            <a:ext cx="2487168" cy="47548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Multi-Sig Approval Contract</a:t>
            </a:r>
            <a:endParaRPr lang="en-US" sz="1250" dirty="0"/>
          </a:p>
        </p:txBody>
      </p:sp>
      <p:sp>
        <p:nvSpPr>
          <p:cNvPr id="14" name="Text 10"/>
          <p:cNvSpPr/>
          <p:nvPr/>
        </p:nvSpPr>
        <p:spPr>
          <a:xfrm>
            <a:off x="3291840" y="2743200"/>
            <a:ext cx="2487168" cy="566928"/>
          </a:xfrm>
          <a:prstGeom prst="rect">
            <a:avLst/>
          </a:prstGeom>
          <a:noFill/>
          <a:ln/>
        </p:spPr>
        <p:txBody>
          <a:bodyPr wrap="square" lIns="0" tIns="0" rIns="0" bIns="0" rtlCol="0" anchor="ctr"/>
          <a:lstStyle/>
          <a:p>
            <a:pPr marL="0" indent="0">
              <a:buNone/>
            </a:pPr>
            <a:r>
              <a:rPr lang="en-US" sz="900" i="1" dirty="0">
                <a:solidFill>
                  <a:srgbClr val="1DB87A"/>
                </a:solidFill>
                <a:latin typeface="Calibri" pitchFamily="34" charset="0"/>
                <a:ea typeface="Calibri" pitchFamily="34" charset="-122"/>
                <a:cs typeface="Calibri" pitchFamily="34" charset="-120"/>
              </a:rPr>
              <a:t>Triggered by: High-value transfer &gt; £50,000, or behavioural anomaly score above threshold</a:t>
            </a:r>
            <a:endParaRPr lang="en-US" sz="900" dirty="0"/>
          </a:p>
        </p:txBody>
      </p:sp>
      <p:sp>
        <p:nvSpPr>
          <p:cNvPr id="15" name="Text 11"/>
          <p:cNvSpPr/>
          <p:nvPr/>
        </p:nvSpPr>
        <p:spPr>
          <a:xfrm>
            <a:off x="3291840" y="3337560"/>
            <a:ext cx="2487168" cy="1170432"/>
          </a:xfrm>
          <a:prstGeom prst="rect">
            <a:avLst/>
          </a:prstGeom>
          <a:noFill/>
          <a:ln/>
        </p:spPr>
        <p:txBody>
          <a:bodyPr wrap="square" lIns="0" tIns="0" rIns="0" bIns="0" rtlCol="0" anchor="ctr"/>
          <a:lstStyle/>
          <a:p>
            <a:pPr marL="0" indent="0">
              <a:buNone/>
            </a:pPr>
            <a:r>
              <a:rPr lang="en-US" sz="920" dirty="0">
                <a:solidFill>
                  <a:srgbClr val="CBD8EA"/>
                </a:solidFill>
                <a:latin typeface="Calibri" pitchFamily="34" charset="0"/>
                <a:ea typeface="Calibri" pitchFamily="34" charset="-122"/>
                <a:cs typeface="Calibri" pitchFamily="34" charset="-120"/>
              </a:rPr>
              <a:t>Payment requires cryptographic sign-off from two independent keys — e.g. the customer's primary device and a registered secondary device, or a bank fraud analyst approval token. Both signatures must be present before settlement is permitted.</a:t>
            </a:r>
            <a:endParaRPr lang="en-US" sz="920" dirty="0"/>
          </a:p>
        </p:txBody>
      </p:sp>
      <p:sp>
        <p:nvSpPr>
          <p:cNvPr id="16" name="Text 12"/>
          <p:cNvSpPr/>
          <p:nvPr/>
        </p:nvSpPr>
        <p:spPr>
          <a:xfrm>
            <a:off x="3291840" y="4553712"/>
            <a:ext cx="2487168" cy="274320"/>
          </a:xfrm>
          <a:prstGeom prst="rect">
            <a:avLst/>
          </a:prstGeom>
          <a:noFill/>
          <a:ln/>
        </p:spPr>
        <p:txBody>
          <a:bodyPr wrap="square" lIns="0" tIns="0" rIns="0" bIns="0" rtlCol="0" anchor="ctr"/>
          <a:lstStyle/>
          <a:p>
            <a:pPr marL="0" indent="0">
              <a:buNone/>
            </a:pPr>
            <a:r>
              <a:rPr lang="en-US" sz="850" b="1" dirty="0">
                <a:solidFill>
                  <a:srgbClr val="1DB87A"/>
                </a:solidFill>
                <a:latin typeface="Calibri" pitchFamily="34" charset="0"/>
                <a:ea typeface="Calibri" pitchFamily="34" charset="-122"/>
                <a:cs typeface="Calibri" pitchFamily="34" charset="-120"/>
              </a:rPr>
              <a:t>Closes: Trust without verification · No multi-party approval</a:t>
            </a:r>
            <a:endParaRPr lang="en-US" sz="850" dirty="0"/>
          </a:p>
        </p:txBody>
      </p:sp>
      <p:sp>
        <p:nvSpPr>
          <p:cNvPr id="17" name="Shape 13"/>
          <p:cNvSpPr/>
          <p:nvPr/>
        </p:nvSpPr>
        <p:spPr>
          <a:xfrm>
            <a:off x="6035040" y="1508760"/>
            <a:ext cx="2743200" cy="3401568"/>
          </a:xfrm>
          <a:prstGeom prst="roundRect">
            <a:avLst>
              <a:gd name="adj" fmla="val 4333"/>
            </a:avLst>
          </a:prstGeom>
          <a:solidFill>
            <a:srgbClr val="162D52"/>
          </a:solidFill>
          <a:ln w="12700">
            <a:solidFill>
              <a:srgbClr val="3AB0FF"/>
            </a:solidFill>
            <a:prstDash val="solid"/>
          </a:ln>
          <a:effectLst>
            <a:outerShdw blurRad="101600" dist="38100" dir="2700000" algn="bl" rotWithShape="0">
              <a:srgbClr val="000000">
                <a:alpha val="18000"/>
              </a:srgbClr>
            </a:outerShdw>
          </a:effectLst>
        </p:spPr>
      </p:sp>
      <p:sp>
        <p:nvSpPr>
          <p:cNvPr id="19" name="Text 14"/>
          <p:cNvSpPr/>
          <p:nvPr/>
        </p:nvSpPr>
        <p:spPr>
          <a:xfrm>
            <a:off x="6172200" y="2240280"/>
            <a:ext cx="2487168" cy="47548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Anomaly Detection &amp; Hold Contract</a:t>
            </a:r>
            <a:endParaRPr lang="en-US" sz="1250" dirty="0"/>
          </a:p>
        </p:txBody>
      </p:sp>
      <p:sp>
        <p:nvSpPr>
          <p:cNvPr id="20" name="Text 15"/>
          <p:cNvSpPr/>
          <p:nvPr/>
        </p:nvSpPr>
        <p:spPr>
          <a:xfrm>
            <a:off x="6172200" y="2743200"/>
            <a:ext cx="2487168" cy="566928"/>
          </a:xfrm>
          <a:prstGeom prst="rect">
            <a:avLst/>
          </a:prstGeom>
          <a:noFill/>
          <a:ln/>
        </p:spPr>
        <p:txBody>
          <a:bodyPr wrap="square" lIns="0" tIns="0" rIns="0" bIns="0" rtlCol="0" anchor="ctr"/>
          <a:lstStyle/>
          <a:p>
            <a:pPr marL="0" indent="0">
              <a:buNone/>
            </a:pPr>
            <a:r>
              <a:rPr lang="en-US" sz="900" i="1" dirty="0">
                <a:solidFill>
                  <a:srgbClr val="3AB0FF"/>
                </a:solidFill>
                <a:latin typeface="Calibri" pitchFamily="34" charset="0"/>
                <a:ea typeface="Calibri" pitchFamily="34" charset="-122"/>
                <a:cs typeface="Calibri" pitchFamily="34" charset="-120"/>
              </a:rPr>
              <a:t>Triggered by: Payee flagged on shared ledger, or ML risk score &gt; threshold, or velocity breach</a:t>
            </a:r>
            <a:endParaRPr lang="en-US" sz="900" dirty="0"/>
          </a:p>
        </p:txBody>
      </p:sp>
      <p:sp>
        <p:nvSpPr>
          <p:cNvPr id="21" name="Text 16"/>
          <p:cNvSpPr/>
          <p:nvPr/>
        </p:nvSpPr>
        <p:spPr>
          <a:xfrm>
            <a:off x="6172200" y="3337560"/>
            <a:ext cx="2487168" cy="1170432"/>
          </a:xfrm>
          <a:prstGeom prst="rect">
            <a:avLst/>
          </a:prstGeom>
          <a:noFill/>
          <a:ln/>
        </p:spPr>
        <p:txBody>
          <a:bodyPr wrap="square" lIns="0" tIns="0" rIns="0" bIns="0" rtlCol="0" anchor="ctr"/>
          <a:lstStyle/>
          <a:p>
            <a:pPr marL="0" indent="0">
              <a:buNone/>
            </a:pPr>
            <a:r>
              <a:rPr lang="en-US" sz="920" dirty="0">
                <a:solidFill>
                  <a:srgbClr val="CBD8EA"/>
                </a:solidFill>
                <a:latin typeface="Calibri" pitchFamily="34" charset="0"/>
                <a:ea typeface="Calibri" pitchFamily="34" charset="-122"/>
                <a:cs typeface="Calibri" pitchFamily="34" charset="-120"/>
              </a:rPr>
              <a:t>On-chain oracle ingests real-time ML fraud scores and cross-bank flag signals. If a payment breaches any rule, the contract automatically holds funds, notifies the customer, and raises a case in the fraud ops queue — all before Faster Payments is called.</a:t>
            </a:r>
            <a:endParaRPr lang="en-US" sz="920" dirty="0"/>
          </a:p>
        </p:txBody>
      </p:sp>
      <p:sp>
        <p:nvSpPr>
          <p:cNvPr id="22" name="Text 17"/>
          <p:cNvSpPr/>
          <p:nvPr/>
        </p:nvSpPr>
        <p:spPr>
          <a:xfrm>
            <a:off x="6172200" y="4553712"/>
            <a:ext cx="2487168" cy="274320"/>
          </a:xfrm>
          <a:prstGeom prst="rect">
            <a:avLst/>
          </a:prstGeom>
          <a:noFill/>
          <a:ln/>
        </p:spPr>
        <p:txBody>
          <a:bodyPr wrap="square" lIns="0" tIns="0" rIns="0" bIns="0" rtlCol="0" anchor="ctr"/>
          <a:lstStyle/>
          <a:p>
            <a:pPr marL="0" indent="0">
              <a:buNone/>
            </a:pPr>
            <a:r>
              <a:rPr lang="en-US" sz="850" b="1" dirty="0">
                <a:solidFill>
                  <a:srgbClr val="3AB0FF"/>
                </a:solidFill>
                <a:latin typeface="Calibri" pitchFamily="34" charset="0"/>
                <a:ea typeface="Calibri" pitchFamily="34" charset="-122"/>
                <a:cs typeface="Calibri" pitchFamily="34" charset="-120"/>
              </a:rPr>
              <a:t>Closes: Post-event detection · No cross-bank intelligence</a:t>
            </a:r>
            <a:endParaRPr lang="en-US" sz="850" dirty="0"/>
          </a:p>
        </p:txBody>
      </p:sp>
      <p:sp>
        <p:nvSpPr>
          <p:cNvPr id="23" name="Text 18"/>
          <p:cNvSpPr/>
          <p:nvPr/>
        </p:nvSpPr>
        <p:spPr>
          <a:xfrm>
            <a:off x="320040" y="4892040"/>
            <a:ext cx="8503920" cy="228600"/>
          </a:xfrm>
          <a:prstGeom prst="rect">
            <a:avLst/>
          </a:prstGeom>
          <a:noFill/>
          <a:ln/>
        </p:spPr>
        <p:txBody>
          <a:bodyPr wrap="square" lIns="0" tIns="0" rIns="0" bIns="0" rtlCol="0" anchor="ctr"/>
          <a:lstStyle/>
          <a:p>
            <a:pPr marL="0" indent="0" algn="ctr">
              <a:buNone/>
            </a:pPr>
            <a:r>
              <a:rPr lang="en-US" sz="950" i="1" dirty="0">
                <a:solidFill>
                  <a:srgbClr val="8FA5BF"/>
                </a:solidFill>
                <a:latin typeface="Calibri" pitchFamily="34" charset="0"/>
                <a:ea typeface="Calibri" pitchFamily="34" charset="-122"/>
                <a:cs typeface="Calibri" pitchFamily="34" charset="-120"/>
              </a:rPr>
              <a:t>All contracts are composable — multiple rules can fire simultaneously on a single transaction. Logic is auditable by regulators on-chain.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Text 1"/>
          <p:cNvSpPr/>
          <p:nvPr/>
        </p:nvSpPr>
        <p:spPr>
          <a:xfrm>
            <a:off x="365760" y="91440"/>
            <a:ext cx="8229600" cy="347472"/>
          </a:xfrm>
          <a:prstGeom prst="rect">
            <a:avLst/>
          </a:prstGeom>
          <a:noFill/>
          <a:ln/>
        </p:spPr>
        <p:txBody>
          <a:bodyPr wrap="square" lIns="0" tIns="0" rIns="0" bIns="0" rtlCol="0" anchor="ctr"/>
          <a:lstStyle/>
          <a:p>
            <a:pPr marL="0" indent="0">
              <a:buNone/>
            </a:pPr>
            <a:r>
              <a:rPr lang="en-US" sz="1000" b="1" kern="0" spc="300" dirty="0">
                <a:solidFill>
                  <a:srgbClr val="1DB87A"/>
                </a:solidFill>
                <a:latin typeface="Calibri" pitchFamily="34" charset="0"/>
                <a:ea typeface="Calibri" pitchFamily="34" charset="-122"/>
                <a:cs typeface="Calibri" pitchFamily="34" charset="-120"/>
              </a:rPr>
              <a:t>SOLUTION PILLAR 3</a:t>
            </a:r>
            <a:endParaRPr lang="en-US" sz="1000" dirty="0"/>
          </a:p>
        </p:txBody>
      </p:sp>
      <p:sp>
        <p:nvSpPr>
          <p:cNvPr id="4" name="Text 2"/>
          <p:cNvSpPr/>
          <p:nvPr/>
        </p:nvSpPr>
        <p:spPr>
          <a:xfrm>
            <a:off x="365760" y="457200"/>
            <a:ext cx="8229600" cy="420624"/>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Cross-Institution Fraud Intelligence Layer</a:t>
            </a:r>
            <a:endParaRPr lang="en-US" sz="1800" dirty="0"/>
          </a:p>
        </p:txBody>
      </p:sp>
      <p:sp>
        <p:nvSpPr>
          <p:cNvPr id="5" name="Shape 3"/>
          <p:cNvSpPr/>
          <p:nvPr/>
        </p:nvSpPr>
        <p:spPr>
          <a:xfrm>
            <a:off x="320040" y="1097280"/>
            <a:ext cx="4160520" cy="3749040"/>
          </a:xfrm>
          <a:prstGeom prst="roundRect">
            <a:avLst>
              <a:gd name="adj" fmla="val 2927"/>
            </a:avLst>
          </a:prstGeom>
          <a:solidFill>
            <a:srgbClr val="FFFFFF"/>
          </a:solidFill>
          <a:ln w="12700">
            <a:solidFill>
              <a:srgbClr val="DDE4EF"/>
            </a:solidFill>
            <a:prstDash val="solid"/>
          </a:ln>
          <a:effectLst>
            <a:outerShdw blurRad="76200" dist="25400" dir="2700000" algn="bl" rotWithShape="0">
              <a:srgbClr val="000000">
                <a:alpha val="12000"/>
              </a:srgbClr>
            </a:outerShdw>
          </a:effectLst>
        </p:spPr>
      </p:sp>
      <p:sp>
        <p:nvSpPr>
          <p:cNvPr id="6" name="Text 4"/>
          <p:cNvSpPr/>
          <p:nvPr/>
        </p:nvSpPr>
        <p:spPr>
          <a:xfrm>
            <a:off x="502920" y="1188720"/>
            <a:ext cx="3794760" cy="384048"/>
          </a:xfrm>
          <a:prstGeom prst="rect">
            <a:avLst/>
          </a:prstGeom>
          <a:noFill/>
          <a:ln/>
        </p:spPr>
        <p:txBody>
          <a:bodyPr wrap="square" lIns="0" tIns="0" rIns="0" bIns="0" rtlCol="0" anchor="ctr"/>
          <a:lstStyle/>
          <a:p>
            <a:pPr marL="0" indent="0">
              <a:buNone/>
            </a:pPr>
            <a:r>
              <a:rPr lang="en-US" sz="1400" b="1" dirty="0">
                <a:solidFill>
                  <a:srgbClr val="0B1D3A"/>
                </a:solidFill>
                <a:latin typeface="Calibri" pitchFamily="34" charset="0"/>
                <a:ea typeface="Calibri" pitchFamily="34" charset="-122"/>
                <a:cs typeface="Calibri" pitchFamily="34" charset="-120"/>
              </a:rPr>
              <a:t>How the Shared Ledger Works</a:t>
            </a:r>
            <a:endParaRPr lang="en-US" sz="1400" dirty="0"/>
          </a:p>
        </p:txBody>
      </p:sp>
      <p:sp>
        <p:nvSpPr>
          <p:cNvPr id="7" name="Shape 5"/>
          <p:cNvSpPr/>
          <p:nvPr/>
        </p:nvSpPr>
        <p:spPr>
          <a:xfrm>
            <a:off x="502920" y="1691640"/>
            <a:ext cx="320040" cy="320040"/>
          </a:xfrm>
          <a:prstGeom prst="ellipse">
            <a:avLst/>
          </a:prstGeom>
          <a:solidFill>
            <a:srgbClr val="1DB87A"/>
          </a:solidFill>
          <a:ln w="12700">
            <a:solidFill>
              <a:srgbClr val="1DB87A"/>
            </a:solidFill>
            <a:prstDash val="solid"/>
          </a:ln>
        </p:spPr>
      </p:sp>
      <p:sp>
        <p:nvSpPr>
          <p:cNvPr id="8" name="Text 6"/>
          <p:cNvSpPr/>
          <p:nvPr/>
        </p:nvSpPr>
        <p:spPr>
          <a:xfrm>
            <a:off x="502920" y="1691640"/>
            <a:ext cx="3200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932688" y="1673352"/>
            <a:ext cx="3429000" cy="274320"/>
          </a:xfrm>
          <a:prstGeom prst="rect">
            <a:avLst/>
          </a:prstGeom>
          <a:noFill/>
          <a:ln/>
        </p:spPr>
        <p:txBody>
          <a:bodyPr wrap="square" lIns="0" tIns="0" rIns="0" bIns="0" rtlCol="0" anchor="ctr"/>
          <a:lstStyle/>
          <a:p>
            <a:pPr marL="0" indent="0">
              <a:buNone/>
            </a:pPr>
            <a:r>
              <a:rPr lang="en-US" sz="1100" b="1" dirty="0">
                <a:solidFill>
                  <a:srgbClr val="0B1D3A"/>
                </a:solidFill>
                <a:latin typeface="Calibri" pitchFamily="34" charset="0"/>
                <a:ea typeface="Calibri" pitchFamily="34" charset="-122"/>
                <a:cs typeface="Calibri" pitchFamily="34" charset="-120"/>
              </a:rPr>
              <a:t>Permissioned Blockchain Network</a:t>
            </a:r>
            <a:endParaRPr lang="en-US" sz="1100" dirty="0"/>
          </a:p>
        </p:txBody>
      </p:sp>
      <p:sp>
        <p:nvSpPr>
          <p:cNvPr id="10" name="Text 8"/>
          <p:cNvSpPr/>
          <p:nvPr/>
        </p:nvSpPr>
        <p:spPr>
          <a:xfrm>
            <a:off x="932688" y="1938528"/>
            <a:ext cx="3429000" cy="50292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Participating UK banks (Lloyds, Barclays, NatWest, HSBC, etc.) run nodes on a shared permissioned blockchain — e.g. Hyperledger Fabric or Quorum. No public chain; no crypto tokens. Governance is handled by a consortium model.</a:t>
            </a:r>
            <a:endParaRPr lang="en-US" sz="900" dirty="0"/>
          </a:p>
        </p:txBody>
      </p:sp>
      <p:sp>
        <p:nvSpPr>
          <p:cNvPr id="11" name="Shape 9"/>
          <p:cNvSpPr/>
          <p:nvPr/>
        </p:nvSpPr>
        <p:spPr>
          <a:xfrm>
            <a:off x="502920" y="2514600"/>
            <a:ext cx="320040" cy="320040"/>
          </a:xfrm>
          <a:prstGeom prst="ellipse">
            <a:avLst/>
          </a:prstGeom>
          <a:solidFill>
            <a:srgbClr val="1DB87A"/>
          </a:solidFill>
          <a:ln w="12700">
            <a:solidFill>
              <a:srgbClr val="1DB87A"/>
            </a:solidFill>
            <a:prstDash val="solid"/>
          </a:ln>
        </p:spPr>
      </p:sp>
      <p:sp>
        <p:nvSpPr>
          <p:cNvPr id="12" name="Text 10"/>
          <p:cNvSpPr/>
          <p:nvPr/>
        </p:nvSpPr>
        <p:spPr>
          <a:xfrm>
            <a:off x="502920" y="2514600"/>
            <a:ext cx="3200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932688" y="2496312"/>
            <a:ext cx="3429000" cy="274320"/>
          </a:xfrm>
          <a:prstGeom prst="rect">
            <a:avLst/>
          </a:prstGeom>
          <a:noFill/>
          <a:ln/>
        </p:spPr>
        <p:txBody>
          <a:bodyPr wrap="square" lIns="0" tIns="0" rIns="0" bIns="0" rtlCol="0" anchor="ctr"/>
          <a:lstStyle/>
          <a:p>
            <a:pPr marL="0" indent="0">
              <a:buNone/>
            </a:pPr>
            <a:r>
              <a:rPr lang="en-US" sz="1100" b="1" dirty="0">
                <a:solidFill>
                  <a:srgbClr val="0B1D3A"/>
                </a:solidFill>
                <a:latin typeface="Calibri" pitchFamily="34" charset="0"/>
                <a:ea typeface="Calibri" pitchFamily="34" charset="-122"/>
                <a:cs typeface="Calibri" pitchFamily="34" charset="-120"/>
              </a:rPr>
              <a:t>Privacy-Preserving Fraud Flags</a:t>
            </a:r>
            <a:endParaRPr lang="en-US" sz="1100" dirty="0"/>
          </a:p>
        </p:txBody>
      </p:sp>
      <p:sp>
        <p:nvSpPr>
          <p:cNvPr id="14" name="Text 12"/>
          <p:cNvSpPr/>
          <p:nvPr/>
        </p:nvSpPr>
        <p:spPr>
          <a:xfrm>
            <a:off x="932688" y="2761488"/>
            <a:ext cx="3429000" cy="50292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When a bank identifies a mule account or fraud pattern, it writes a hashed identifier to the shared ledger — not raw account data. Other banks query the hash of an account before processing an incoming or outgoing payment. A match triggers an automatic flag.</a:t>
            </a:r>
            <a:endParaRPr lang="en-US" sz="900" dirty="0"/>
          </a:p>
        </p:txBody>
      </p:sp>
      <p:sp>
        <p:nvSpPr>
          <p:cNvPr id="15" name="Shape 13"/>
          <p:cNvSpPr/>
          <p:nvPr/>
        </p:nvSpPr>
        <p:spPr>
          <a:xfrm>
            <a:off x="502920" y="3337560"/>
            <a:ext cx="320040" cy="320040"/>
          </a:xfrm>
          <a:prstGeom prst="ellipse">
            <a:avLst/>
          </a:prstGeom>
          <a:solidFill>
            <a:srgbClr val="1DB87A"/>
          </a:solidFill>
          <a:ln w="12700">
            <a:solidFill>
              <a:srgbClr val="1DB87A"/>
            </a:solidFill>
            <a:prstDash val="solid"/>
          </a:ln>
        </p:spPr>
      </p:sp>
      <p:sp>
        <p:nvSpPr>
          <p:cNvPr id="16" name="Text 14"/>
          <p:cNvSpPr/>
          <p:nvPr/>
        </p:nvSpPr>
        <p:spPr>
          <a:xfrm>
            <a:off x="502920" y="3337560"/>
            <a:ext cx="3200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932688" y="3319272"/>
            <a:ext cx="3429000" cy="274320"/>
          </a:xfrm>
          <a:prstGeom prst="rect">
            <a:avLst/>
          </a:prstGeom>
          <a:noFill/>
          <a:ln/>
        </p:spPr>
        <p:txBody>
          <a:bodyPr wrap="square" lIns="0" tIns="0" rIns="0" bIns="0" rtlCol="0" anchor="ctr"/>
          <a:lstStyle/>
          <a:p>
            <a:pPr marL="0" indent="0">
              <a:buNone/>
            </a:pPr>
            <a:r>
              <a:rPr lang="en-US" sz="1100" b="1" dirty="0">
                <a:solidFill>
                  <a:srgbClr val="0B1D3A"/>
                </a:solidFill>
                <a:latin typeface="Calibri" pitchFamily="34" charset="0"/>
                <a:ea typeface="Calibri" pitchFamily="34" charset="-122"/>
                <a:cs typeface="Calibri" pitchFamily="34" charset="-120"/>
              </a:rPr>
              <a:t>Zero-Knowledge Proofs for Sensitive Signals</a:t>
            </a:r>
            <a:endParaRPr lang="en-US" sz="1100" dirty="0"/>
          </a:p>
        </p:txBody>
      </p:sp>
      <p:sp>
        <p:nvSpPr>
          <p:cNvPr id="18" name="Text 16"/>
          <p:cNvSpPr/>
          <p:nvPr/>
        </p:nvSpPr>
        <p:spPr>
          <a:xfrm>
            <a:off x="932688" y="3584448"/>
            <a:ext cx="3429000" cy="50292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Where richer fraud signals need to be shared (e.g. behavioural patterns, device fingerprints), ZK proofs allow a bank to assert 'this account has characteristics consistent with fraud' without revealing the underlying customer data — preserving GDPR compliance.</a:t>
            </a:r>
            <a:endParaRPr lang="en-US" sz="900" dirty="0"/>
          </a:p>
        </p:txBody>
      </p:sp>
      <p:sp>
        <p:nvSpPr>
          <p:cNvPr id="19" name="Shape 17"/>
          <p:cNvSpPr/>
          <p:nvPr/>
        </p:nvSpPr>
        <p:spPr>
          <a:xfrm>
            <a:off x="502920" y="4160520"/>
            <a:ext cx="320040" cy="320040"/>
          </a:xfrm>
          <a:prstGeom prst="ellipse">
            <a:avLst/>
          </a:prstGeom>
          <a:solidFill>
            <a:srgbClr val="1DB87A"/>
          </a:solidFill>
          <a:ln w="12700">
            <a:solidFill>
              <a:srgbClr val="1DB87A"/>
            </a:solidFill>
            <a:prstDash val="solid"/>
          </a:ln>
        </p:spPr>
      </p:sp>
      <p:sp>
        <p:nvSpPr>
          <p:cNvPr id="20" name="Text 18"/>
          <p:cNvSpPr/>
          <p:nvPr/>
        </p:nvSpPr>
        <p:spPr>
          <a:xfrm>
            <a:off x="502920" y="4160520"/>
            <a:ext cx="3200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932688" y="4142232"/>
            <a:ext cx="3429000" cy="274320"/>
          </a:xfrm>
          <a:prstGeom prst="rect">
            <a:avLst/>
          </a:prstGeom>
          <a:noFill/>
          <a:ln/>
        </p:spPr>
        <p:txBody>
          <a:bodyPr wrap="square" lIns="0" tIns="0" rIns="0" bIns="0" rtlCol="0" anchor="ctr"/>
          <a:lstStyle/>
          <a:p>
            <a:pPr marL="0" indent="0">
              <a:buNone/>
            </a:pPr>
            <a:r>
              <a:rPr lang="en-US" sz="1100" b="1" dirty="0">
                <a:solidFill>
                  <a:srgbClr val="0B1D3A"/>
                </a:solidFill>
                <a:latin typeface="Calibri" pitchFamily="34" charset="0"/>
                <a:ea typeface="Calibri" pitchFamily="34" charset="-122"/>
                <a:cs typeface="Calibri" pitchFamily="34" charset="-120"/>
              </a:rPr>
              <a:t>Real-Time Query at Payment Initiation</a:t>
            </a:r>
            <a:endParaRPr lang="en-US" sz="1100" dirty="0"/>
          </a:p>
        </p:txBody>
      </p:sp>
      <p:sp>
        <p:nvSpPr>
          <p:cNvPr id="22" name="Text 20"/>
          <p:cNvSpPr/>
          <p:nvPr/>
        </p:nvSpPr>
        <p:spPr>
          <a:xfrm>
            <a:off x="932688" y="4407408"/>
            <a:ext cx="3429000" cy="50292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Every outgoing payment triggers a ledger query before it reaches Faster Payments. Latency target: under 50ms. If the receiving account has an active fraud flag from any participating institution, the smart contract is notified before the payment proceeds.</a:t>
            </a:r>
            <a:endParaRPr lang="en-US" sz="900" dirty="0"/>
          </a:p>
        </p:txBody>
      </p:sp>
      <p:sp>
        <p:nvSpPr>
          <p:cNvPr id="23" name="Shape 21"/>
          <p:cNvSpPr/>
          <p:nvPr/>
        </p:nvSpPr>
        <p:spPr>
          <a:xfrm>
            <a:off x="4663440" y="1097280"/>
            <a:ext cx="4160520" cy="3749040"/>
          </a:xfrm>
          <a:prstGeom prst="roundRect">
            <a:avLst>
              <a:gd name="adj" fmla="val 2927"/>
            </a:avLst>
          </a:prstGeom>
          <a:solidFill>
            <a:srgbClr val="FFFFFF"/>
          </a:solidFill>
          <a:ln w="12700">
            <a:solidFill>
              <a:srgbClr val="DDE4EF"/>
            </a:solidFill>
            <a:prstDash val="solid"/>
          </a:ln>
          <a:effectLst>
            <a:outerShdw blurRad="76200" dist="25400" dir="2700000" algn="bl" rotWithShape="0">
              <a:srgbClr val="000000">
                <a:alpha val="12000"/>
              </a:srgbClr>
            </a:outerShdw>
          </a:effectLst>
        </p:spPr>
      </p:sp>
      <p:sp>
        <p:nvSpPr>
          <p:cNvPr id="24" name="Text 22"/>
          <p:cNvSpPr/>
          <p:nvPr/>
        </p:nvSpPr>
        <p:spPr>
          <a:xfrm>
            <a:off x="4846320" y="1188720"/>
            <a:ext cx="3794760" cy="384048"/>
          </a:xfrm>
          <a:prstGeom prst="rect">
            <a:avLst/>
          </a:prstGeom>
          <a:noFill/>
          <a:ln/>
        </p:spPr>
        <p:txBody>
          <a:bodyPr wrap="square" lIns="0" tIns="0" rIns="0" bIns="0" rtlCol="0" anchor="ctr"/>
          <a:lstStyle/>
          <a:p>
            <a:pPr marL="0" indent="0">
              <a:buNone/>
            </a:pPr>
            <a:r>
              <a:rPr lang="en-US" sz="1400" b="1" dirty="0">
                <a:solidFill>
                  <a:srgbClr val="0B1D3A"/>
                </a:solidFill>
                <a:latin typeface="Calibri" pitchFamily="34" charset="0"/>
                <a:ea typeface="Calibri" pitchFamily="34" charset="-122"/>
                <a:cs typeface="Calibri" pitchFamily="34" charset="-120"/>
              </a:rPr>
              <a:t>What This Changes</a:t>
            </a:r>
            <a:endParaRPr lang="en-US" sz="1400" dirty="0"/>
          </a:p>
        </p:txBody>
      </p:sp>
      <p:sp>
        <p:nvSpPr>
          <p:cNvPr id="26" name="Text 23"/>
          <p:cNvSpPr/>
          <p:nvPr/>
        </p:nvSpPr>
        <p:spPr>
          <a:xfrm>
            <a:off x="5349240" y="1719072"/>
            <a:ext cx="3337560" cy="329184"/>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Mule Accounts Flagged Once, Blocked Everywhere</a:t>
            </a:r>
            <a:endParaRPr lang="en-US" sz="1100" dirty="0"/>
          </a:p>
        </p:txBody>
      </p:sp>
      <p:sp>
        <p:nvSpPr>
          <p:cNvPr id="27" name="Text 24"/>
          <p:cNvSpPr/>
          <p:nvPr/>
        </p:nvSpPr>
        <p:spPr>
          <a:xfrm>
            <a:off x="5349240" y="2039112"/>
            <a:ext cx="3337560" cy="594360"/>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A mule account identified by any participating bank is immediately visible across the network. The same account cannot simultaneously receive fraud proceeds from customers at multiple institutions.</a:t>
            </a:r>
            <a:endParaRPr lang="en-US" sz="920" dirty="0"/>
          </a:p>
        </p:txBody>
      </p:sp>
      <p:sp>
        <p:nvSpPr>
          <p:cNvPr id="29" name="Text 25"/>
          <p:cNvSpPr/>
          <p:nvPr/>
        </p:nvSpPr>
        <p:spPr>
          <a:xfrm>
            <a:off x="5349240" y="2724912"/>
            <a:ext cx="3337560" cy="329184"/>
          </a:xfrm>
          <a:prstGeom prst="rect">
            <a:avLst/>
          </a:prstGeom>
          <a:noFill/>
          <a:ln/>
        </p:spPr>
        <p:txBody>
          <a:bodyPr wrap="square" lIns="0" tIns="0" rIns="0" bIns="0" rtlCol="0" anchor="ctr"/>
          <a:lstStyle/>
          <a:p>
            <a:pPr marL="0" indent="0">
              <a:buNone/>
            </a:pPr>
            <a:r>
              <a:rPr lang="en-US" sz="1100" b="1" dirty="0">
                <a:solidFill>
                  <a:srgbClr val="E8A020"/>
                </a:solidFill>
                <a:latin typeface="Calibri" pitchFamily="34" charset="0"/>
                <a:ea typeface="Calibri" pitchFamily="34" charset="-122"/>
                <a:cs typeface="Calibri" pitchFamily="34" charset="-120"/>
              </a:rPr>
              <a:t>Pattern Recognition Across the Sector</a:t>
            </a:r>
            <a:endParaRPr lang="en-US" sz="1100" dirty="0"/>
          </a:p>
        </p:txBody>
      </p:sp>
      <p:sp>
        <p:nvSpPr>
          <p:cNvPr id="30" name="Text 26"/>
          <p:cNvSpPr/>
          <p:nvPr/>
        </p:nvSpPr>
        <p:spPr>
          <a:xfrm>
            <a:off x="5349240" y="3044952"/>
            <a:ext cx="3337560" cy="594360"/>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Fraud rings that rotate through multiple institutions leave a cross-bank pattern. The shared ledger makes that pattern visible for the first time — enabling proactive blacklisting before the pattern reaches Lloyds customers.</a:t>
            </a:r>
            <a:endParaRPr lang="en-US" sz="920" dirty="0"/>
          </a:p>
        </p:txBody>
      </p:sp>
      <p:sp>
        <p:nvSpPr>
          <p:cNvPr id="32" name="Text 27"/>
          <p:cNvSpPr/>
          <p:nvPr/>
        </p:nvSpPr>
        <p:spPr>
          <a:xfrm>
            <a:off x="5349240" y="3730752"/>
            <a:ext cx="3337560" cy="329184"/>
          </a:xfrm>
          <a:prstGeom prst="rect">
            <a:avLst/>
          </a:prstGeom>
          <a:noFill/>
          <a:ln/>
        </p:spPr>
        <p:txBody>
          <a:bodyPr wrap="square" lIns="0" tIns="0" rIns="0" bIns="0" rtlCol="0" anchor="ctr"/>
          <a:lstStyle/>
          <a:p>
            <a:pPr marL="0" indent="0">
              <a:buNone/>
            </a:pPr>
            <a:r>
              <a:rPr lang="en-US" sz="1100" b="1" dirty="0">
                <a:solidFill>
                  <a:srgbClr val="1DB87A"/>
                </a:solidFill>
                <a:latin typeface="Calibri" pitchFamily="34" charset="0"/>
                <a:ea typeface="Calibri" pitchFamily="34" charset="-122"/>
                <a:cs typeface="Calibri" pitchFamily="34" charset="-120"/>
              </a:rPr>
              <a:t>Regulatory Transparency Built-In</a:t>
            </a:r>
            <a:endParaRPr lang="en-US" sz="1100" dirty="0"/>
          </a:p>
        </p:txBody>
      </p:sp>
      <p:sp>
        <p:nvSpPr>
          <p:cNvPr id="33" name="Text 28"/>
          <p:cNvSpPr/>
          <p:nvPr/>
        </p:nvSpPr>
        <p:spPr>
          <a:xfrm>
            <a:off x="5349240" y="4050792"/>
            <a:ext cx="3337560" cy="594360"/>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The FCA and PSR can be granted read-only node access. Regulatory reporting becomes automated. Compliance evidence is on-chain and immutable — eliminating the manual reporting burden for major fraud events.</a:t>
            </a:r>
            <a:endParaRPr lang="en-US" sz="9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347472"/>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HOW IT MAPS</a:t>
            </a:r>
            <a:endParaRPr lang="en-US" sz="1000" dirty="0"/>
          </a:p>
        </p:txBody>
      </p:sp>
      <p:sp>
        <p:nvSpPr>
          <p:cNvPr id="3" name="Text 1"/>
          <p:cNvSpPr/>
          <p:nvPr/>
        </p:nvSpPr>
        <p:spPr>
          <a:xfrm>
            <a:off x="457200" y="52120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Each Use Case Gap — Closed by the Architecture</a:t>
            </a:r>
            <a:endParaRPr lang="en-US" sz="2200" dirty="0"/>
          </a:p>
        </p:txBody>
      </p:sp>
      <p:sp>
        <p:nvSpPr>
          <p:cNvPr id="4" name="Shape 2"/>
          <p:cNvSpPr/>
          <p:nvPr/>
        </p:nvSpPr>
        <p:spPr>
          <a:xfrm>
            <a:off x="274320" y="1188720"/>
            <a:ext cx="8549640" cy="384048"/>
          </a:xfrm>
          <a:prstGeom prst="rect">
            <a:avLst/>
          </a:prstGeom>
          <a:solidFill>
            <a:srgbClr val="1E3A5F"/>
          </a:solidFill>
          <a:ln w="12700">
            <a:solidFill>
              <a:srgbClr val="1E3A5F"/>
            </a:solidFill>
            <a:prstDash val="solid"/>
          </a:ln>
        </p:spPr>
      </p:sp>
      <p:sp>
        <p:nvSpPr>
          <p:cNvPr id="5" name="Text 3"/>
          <p:cNvSpPr/>
          <p:nvPr/>
        </p:nvSpPr>
        <p:spPr>
          <a:xfrm>
            <a:off x="1417320" y="1225296"/>
            <a:ext cx="2212848" cy="310896"/>
          </a:xfrm>
          <a:prstGeom prst="rect">
            <a:avLst/>
          </a:prstGeom>
          <a:noFill/>
          <a:ln/>
        </p:spPr>
        <p:txBody>
          <a:bodyPr wrap="square" lIns="0" tIns="0" rIns="0" bIns="0" rtlCol="0" anchor="ctr"/>
          <a:lstStyle/>
          <a:p>
            <a:pPr marL="0" indent="0">
              <a:buNone/>
            </a:pPr>
            <a:r>
              <a:rPr lang="en-US" sz="950" b="1" dirty="0">
                <a:solidFill>
                  <a:srgbClr val="8FA5BF"/>
                </a:solidFill>
                <a:latin typeface="Calibri" pitchFamily="34" charset="0"/>
                <a:ea typeface="Calibri" pitchFamily="34" charset="-122"/>
                <a:cs typeface="Calibri" pitchFamily="34" charset="-120"/>
              </a:rPr>
              <a:t>System Gap (Current)</a:t>
            </a:r>
            <a:endParaRPr lang="en-US" sz="950" dirty="0"/>
          </a:p>
        </p:txBody>
      </p:sp>
      <p:sp>
        <p:nvSpPr>
          <p:cNvPr id="6" name="Text 4"/>
          <p:cNvSpPr/>
          <p:nvPr/>
        </p:nvSpPr>
        <p:spPr>
          <a:xfrm>
            <a:off x="3703320" y="1225296"/>
            <a:ext cx="2907792" cy="310896"/>
          </a:xfrm>
          <a:prstGeom prst="rect">
            <a:avLst/>
          </a:prstGeom>
          <a:noFill/>
          <a:ln/>
        </p:spPr>
        <p:txBody>
          <a:bodyPr wrap="square" lIns="0" tIns="0" rIns="0" bIns="0" rtlCol="0" anchor="ctr"/>
          <a:lstStyle/>
          <a:p>
            <a:pPr marL="0" indent="0">
              <a:buNone/>
            </a:pPr>
            <a:r>
              <a:rPr lang="en-US" sz="950" b="1" dirty="0">
                <a:solidFill>
                  <a:srgbClr val="8FA5BF"/>
                </a:solidFill>
                <a:latin typeface="Calibri" pitchFamily="34" charset="0"/>
                <a:ea typeface="Calibri" pitchFamily="34" charset="-122"/>
                <a:cs typeface="Calibri" pitchFamily="34" charset="-120"/>
              </a:rPr>
              <a:t>Blockchain Solution</a:t>
            </a:r>
            <a:endParaRPr lang="en-US" sz="950" dirty="0"/>
          </a:p>
        </p:txBody>
      </p:sp>
      <p:sp>
        <p:nvSpPr>
          <p:cNvPr id="7" name="Text 5"/>
          <p:cNvSpPr/>
          <p:nvPr/>
        </p:nvSpPr>
        <p:spPr>
          <a:xfrm>
            <a:off x="6675120" y="1225296"/>
            <a:ext cx="1719072" cy="310896"/>
          </a:xfrm>
          <a:prstGeom prst="rect">
            <a:avLst/>
          </a:prstGeom>
          <a:noFill/>
          <a:ln/>
        </p:spPr>
        <p:txBody>
          <a:bodyPr wrap="square" lIns="0" tIns="0" rIns="0" bIns="0" rtlCol="0" anchor="ctr"/>
          <a:lstStyle/>
          <a:p>
            <a:pPr marL="0" indent="0">
              <a:buNone/>
            </a:pPr>
            <a:r>
              <a:rPr lang="en-US" sz="950" b="1" dirty="0">
                <a:solidFill>
                  <a:srgbClr val="8FA5BF"/>
                </a:solidFill>
                <a:latin typeface="Calibri" pitchFamily="34" charset="0"/>
                <a:ea typeface="Calibri" pitchFamily="34" charset="-122"/>
                <a:cs typeface="Calibri" pitchFamily="34" charset="-120"/>
              </a:rPr>
              <a:t>Key Outcome</a:t>
            </a:r>
            <a:endParaRPr lang="en-US" sz="950" dirty="0"/>
          </a:p>
        </p:txBody>
      </p:sp>
      <p:sp>
        <p:nvSpPr>
          <p:cNvPr id="8" name="Text 6"/>
          <p:cNvSpPr/>
          <p:nvPr/>
        </p:nvSpPr>
        <p:spPr>
          <a:xfrm>
            <a:off x="8458200" y="1225296"/>
            <a:ext cx="548640" cy="310896"/>
          </a:xfrm>
          <a:prstGeom prst="rect">
            <a:avLst/>
          </a:prstGeom>
          <a:noFill/>
          <a:ln/>
        </p:spPr>
        <p:txBody>
          <a:bodyPr wrap="square" lIns="0" tIns="0" rIns="0" bIns="0" rtlCol="0" anchor="ctr"/>
          <a:lstStyle/>
          <a:p>
            <a:pPr marL="0" indent="0">
              <a:buNone/>
            </a:pPr>
            <a:r>
              <a:rPr lang="en-US" sz="950" b="1" dirty="0">
                <a:solidFill>
                  <a:srgbClr val="8FA5BF"/>
                </a:solidFill>
                <a:latin typeface="Calibri" pitchFamily="34" charset="0"/>
                <a:ea typeface="Calibri" pitchFamily="34" charset="-122"/>
                <a:cs typeface="Calibri" pitchFamily="34" charset="-120"/>
              </a:rPr>
              <a:t>Pillars</a:t>
            </a:r>
            <a:endParaRPr lang="en-US" sz="950" dirty="0"/>
          </a:p>
        </p:txBody>
      </p:sp>
      <p:sp>
        <p:nvSpPr>
          <p:cNvPr id="9" name="Shape 7"/>
          <p:cNvSpPr/>
          <p:nvPr/>
        </p:nvSpPr>
        <p:spPr>
          <a:xfrm>
            <a:off x="274320" y="1664208"/>
            <a:ext cx="8549640" cy="987552"/>
          </a:xfrm>
          <a:prstGeom prst="rect">
            <a:avLst/>
          </a:prstGeom>
          <a:solidFill>
            <a:srgbClr val="112038"/>
          </a:solidFill>
          <a:ln w="12700">
            <a:solidFill>
              <a:srgbClr val="1A3057"/>
            </a:solidFill>
            <a:prstDash val="solid"/>
          </a:ln>
        </p:spPr>
      </p:sp>
      <p:sp>
        <p:nvSpPr>
          <p:cNvPr id="10" name="Shape 8"/>
          <p:cNvSpPr/>
          <p:nvPr/>
        </p:nvSpPr>
        <p:spPr>
          <a:xfrm>
            <a:off x="320040" y="1773936"/>
            <a:ext cx="1005840" cy="749808"/>
          </a:xfrm>
          <a:prstGeom prst="roundRect">
            <a:avLst>
              <a:gd name="adj" fmla="val 9756"/>
            </a:avLst>
          </a:prstGeom>
          <a:solidFill>
            <a:srgbClr val="162D52"/>
          </a:solidFill>
          <a:ln w="12700">
            <a:solidFill>
              <a:srgbClr val="E8A020"/>
            </a:solidFill>
            <a:prstDash val="solid"/>
          </a:ln>
        </p:spPr>
      </p:sp>
      <p:sp>
        <p:nvSpPr>
          <p:cNvPr id="11" name="Text 9"/>
          <p:cNvSpPr/>
          <p:nvPr/>
        </p:nvSpPr>
        <p:spPr>
          <a:xfrm>
            <a:off x="320040" y="1792224"/>
            <a:ext cx="1005840" cy="274320"/>
          </a:xfrm>
          <a:prstGeom prst="rect">
            <a:avLst/>
          </a:prstGeom>
          <a:noFill/>
          <a:ln/>
        </p:spPr>
        <p:txBody>
          <a:bodyPr wrap="square" lIns="0" tIns="0" rIns="0" bIns="0" rtlCol="0" anchor="ctr"/>
          <a:lstStyle/>
          <a:p>
            <a:pPr marL="0" indent="0" algn="ctr">
              <a:buNone/>
            </a:pPr>
            <a:r>
              <a:rPr lang="en-US" sz="750" b="1" dirty="0">
                <a:solidFill>
                  <a:srgbClr val="E8A020"/>
                </a:solidFill>
                <a:latin typeface="Calibri" pitchFamily="34" charset="0"/>
                <a:ea typeface="Calibri" pitchFamily="34" charset="-122"/>
                <a:cs typeface="Calibri" pitchFamily="34" charset="-120"/>
              </a:rPr>
              <a:t>USE CASE 1</a:t>
            </a:r>
            <a:endParaRPr lang="en-US" sz="750" dirty="0"/>
          </a:p>
        </p:txBody>
      </p:sp>
      <p:sp>
        <p:nvSpPr>
          <p:cNvPr id="12" name="Text 10"/>
          <p:cNvSpPr/>
          <p:nvPr/>
        </p:nvSpPr>
        <p:spPr>
          <a:xfrm>
            <a:off x="320040" y="2066544"/>
            <a:ext cx="10058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APP Fraud</a:t>
            </a:r>
            <a:endParaRPr lang="en-US" sz="1000" dirty="0"/>
          </a:p>
        </p:txBody>
      </p:sp>
      <p:sp>
        <p:nvSpPr>
          <p:cNvPr id="13" name="Text 11"/>
          <p:cNvSpPr/>
          <p:nvPr/>
        </p:nvSpPr>
        <p:spPr>
          <a:xfrm>
            <a:off x="1444752" y="1737360"/>
            <a:ext cx="2176272" cy="841248"/>
          </a:xfrm>
          <a:prstGeom prst="rect">
            <a:avLst/>
          </a:prstGeom>
          <a:noFill/>
          <a:ln/>
        </p:spPr>
        <p:txBody>
          <a:bodyPr wrap="square" lIns="0" tIns="0" rIns="0" bIns="0" rtlCol="0" anchor="ctr"/>
          <a:lstStyle/>
          <a:p>
            <a:pPr marL="0" indent="0">
              <a:buNone/>
            </a:pPr>
            <a:r>
              <a:rPr lang="en-US" sz="900" dirty="0">
                <a:solidFill>
                  <a:srgbClr val="A0B4CE"/>
                </a:solidFill>
                <a:latin typeface="Calibri" pitchFamily="34" charset="0"/>
                <a:ea typeface="Calibri" pitchFamily="34" charset="-122"/>
                <a:cs typeface="Calibri" pitchFamily="34" charset="-120"/>
              </a:rPr>
              <a:t>No real-time intelligence layer to detect social engineering during payment flow</a:t>
            </a:r>
            <a:endParaRPr lang="en-US" sz="900" dirty="0"/>
          </a:p>
        </p:txBody>
      </p:sp>
      <p:sp>
        <p:nvSpPr>
          <p:cNvPr id="14" name="Text 12"/>
          <p:cNvSpPr/>
          <p:nvPr/>
        </p:nvSpPr>
        <p:spPr>
          <a:xfrm>
            <a:off x="3730752" y="1737360"/>
            <a:ext cx="2871216" cy="841248"/>
          </a:xfrm>
          <a:prstGeom prst="rect">
            <a:avLst/>
          </a:prstGeom>
          <a:noFill/>
          <a:ln/>
        </p:spPr>
        <p:txBody>
          <a:bodyPr wrap="square" lIns="0" tIns="0" rIns="0" bIns="0" rtlCol="0" anchor="ctr"/>
          <a:lstStyle/>
          <a:p>
            <a:pPr marL="0" indent="0">
              <a:buNone/>
            </a:pPr>
            <a:r>
              <a:rPr lang="en-US" sz="900" dirty="0">
                <a:solidFill>
                  <a:srgbClr val="CBD8EA"/>
                </a:solidFill>
                <a:latin typeface="Calibri" pitchFamily="34" charset="0"/>
                <a:ea typeface="Calibri" pitchFamily="34" charset="-122"/>
                <a:cs typeface="Calibri" pitchFamily="34" charset="-120"/>
              </a:rPr>
              <a:t>Smart contract anomaly detection fires before settlement. Behavioural biometric signals (unusual session patterns, new device, atypical amount) trigger a cooling-off hold. Customer has a window to cancel.</a:t>
            </a:r>
            <a:endParaRPr lang="en-US" sz="900" dirty="0"/>
          </a:p>
        </p:txBody>
      </p:sp>
      <p:sp>
        <p:nvSpPr>
          <p:cNvPr id="15" name="Text 13"/>
          <p:cNvSpPr/>
          <p:nvPr/>
        </p:nvSpPr>
        <p:spPr>
          <a:xfrm>
            <a:off x="6702552" y="1737360"/>
            <a:ext cx="1664208" cy="841248"/>
          </a:xfrm>
          <a:prstGeom prst="rect">
            <a:avLst/>
          </a:prstGeom>
          <a:noFill/>
          <a:ln/>
        </p:spPr>
        <p:txBody>
          <a:bodyPr wrap="square" lIns="0" tIns="0" rIns="0" bIns="0" rtlCol="0" anchor="ctr"/>
          <a:lstStyle/>
          <a:p>
            <a:pPr marL="0" indent="0">
              <a:buNone/>
            </a:pPr>
            <a:r>
              <a:rPr lang="en-US" sz="850" dirty="0">
                <a:solidFill>
                  <a:srgbClr val="1DB87A"/>
                </a:solidFill>
                <a:latin typeface="Calibri" pitchFamily="34" charset="0"/>
                <a:ea typeface="Calibri" pitchFamily="34" charset="-122"/>
                <a:cs typeface="Calibri" pitchFamily="34" charset="-120"/>
              </a:rPr>
              <a:t>Fraudulent payment paused before it leaves the bank. Customer given intervention window.</a:t>
            </a:r>
            <a:endParaRPr lang="en-US" sz="850" dirty="0"/>
          </a:p>
        </p:txBody>
      </p:sp>
      <p:sp>
        <p:nvSpPr>
          <p:cNvPr id="16" name="Text 14"/>
          <p:cNvSpPr/>
          <p:nvPr/>
        </p:nvSpPr>
        <p:spPr>
          <a:xfrm>
            <a:off x="8485632" y="1938528"/>
            <a:ext cx="292608" cy="384048"/>
          </a:xfrm>
          <a:prstGeom prst="rect">
            <a:avLst/>
          </a:prstGeom>
          <a:noFill/>
          <a:ln/>
        </p:spPr>
        <p:txBody>
          <a:bodyPr wrap="square" lIns="0" tIns="0" rIns="0" bIns="0" rtlCol="0" anchor="ctr"/>
          <a:lstStyle/>
          <a:p>
            <a:pPr marL="0" indent="0" algn="ctr">
              <a:buNone/>
            </a:pPr>
            <a:r>
              <a:rPr lang="en-US" sz="900" b="1" dirty="0">
                <a:solidFill>
                  <a:srgbClr val="E8A020"/>
                </a:solidFill>
                <a:latin typeface="Calibri" pitchFamily="34" charset="0"/>
                <a:ea typeface="Calibri" pitchFamily="34" charset="-122"/>
                <a:cs typeface="Calibri" pitchFamily="34" charset="-120"/>
              </a:rPr>
              <a:t>P1 + P2</a:t>
            </a:r>
            <a:endParaRPr lang="en-US" sz="900" dirty="0"/>
          </a:p>
        </p:txBody>
      </p:sp>
      <p:sp>
        <p:nvSpPr>
          <p:cNvPr id="17" name="Shape 15"/>
          <p:cNvSpPr/>
          <p:nvPr/>
        </p:nvSpPr>
        <p:spPr>
          <a:xfrm>
            <a:off x="274320" y="2743200"/>
            <a:ext cx="8549640" cy="987552"/>
          </a:xfrm>
          <a:prstGeom prst="rect">
            <a:avLst/>
          </a:prstGeom>
          <a:solidFill>
            <a:srgbClr val="0F1C33"/>
          </a:solidFill>
          <a:ln w="12700">
            <a:solidFill>
              <a:srgbClr val="1A3057"/>
            </a:solidFill>
            <a:prstDash val="solid"/>
          </a:ln>
        </p:spPr>
      </p:sp>
      <p:sp>
        <p:nvSpPr>
          <p:cNvPr id="18" name="Shape 16"/>
          <p:cNvSpPr/>
          <p:nvPr/>
        </p:nvSpPr>
        <p:spPr>
          <a:xfrm>
            <a:off x="320040" y="2852928"/>
            <a:ext cx="1005840" cy="749808"/>
          </a:xfrm>
          <a:prstGeom prst="roundRect">
            <a:avLst>
              <a:gd name="adj" fmla="val 9756"/>
            </a:avLst>
          </a:prstGeom>
          <a:solidFill>
            <a:srgbClr val="162D52"/>
          </a:solidFill>
          <a:ln w="12700">
            <a:solidFill>
              <a:srgbClr val="E8A020"/>
            </a:solidFill>
            <a:prstDash val="solid"/>
          </a:ln>
        </p:spPr>
      </p:sp>
      <p:sp>
        <p:nvSpPr>
          <p:cNvPr id="19" name="Text 17"/>
          <p:cNvSpPr/>
          <p:nvPr/>
        </p:nvSpPr>
        <p:spPr>
          <a:xfrm>
            <a:off x="320040" y="2871216"/>
            <a:ext cx="1005840" cy="274320"/>
          </a:xfrm>
          <a:prstGeom prst="rect">
            <a:avLst/>
          </a:prstGeom>
          <a:noFill/>
          <a:ln/>
        </p:spPr>
        <p:txBody>
          <a:bodyPr wrap="square" lIns="0" tIns="0" rIns="0" bIns="0" rtlCol="0" anchor="ctr"/>
          <a:lstStyle/>
          <a:p>
            <a:pPr marL="0" indent="0" algn="ctr">
              <a:buNone/>
            </a:pPr>
            <a:r>
              <a:rPr lang="en-US" sz="750" b="1" dirty="0">
                <a:solidFill>
                  <a:srgbClr val="E8A020"/>
                </a:solidFill>
                <a:latin typeface="Calibri" pitchFamily="34" charset="0"/>
                <a:ea typeface="Calibri" pitchFamily="34" charset="-122"/>
                <a:cs typeface="Calibri" pitchFamily="34" charset="-120"/>
              </a:rPr>
              <a:t>USE CASE 2</a:t>
            </a:r>
            <a:endParaRPr lang="en-US" sz="750" dirty="0"/>
          </a:p>
        </p:txBody>
      </p:sp>
      <p:sp>
        <p:nvSpPr>
          <p:cNvPr id="20" name="Text 18"/>
          <p:cNvSpPr/>
          <p:nvPr/>
        </p:nvSpPr>
        <p:spPr>
          <a:xfrm>
            <a:off x="320040" y="3145536"/>
            <a:ext cx="10058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Large-Value Transfers</a:t>
            </a:r>
            <a:endParaRPr lang="en-US" sz="1000" dirty="0"/>
          </a:p>
        </p:txBody>
      </p:sp>
      <p:sp>
        <p:nvSpPr>
          <p:cNvPr id="21" name="Text 19"/>
          <p:cNvSpPr/>
          <p:nvPr/>
        </p:nvSpPr>
        <p:spPr>
          <a:xfrm>
            <a:off x="1444752" y="2816352"/>
            <a:ext cx="2176272" cy="841248"/>
          </a:xfrm>
          <a:prstGeom prst="rect">
            <a:avLst/>
          </a:prstGeom>
          <a:noFill/>
          <a:ln/>
        </p:spPr>
        <p:txBody>
          <a:bodyPr wrap="square" lIns="0" tIns="0" rIns="0" bIns="0" rtlCol="0" anchor="ctr"/>
          <a:lstStyle/>
          <a:p>
            <a:pPr marL="0" indent="0">
              <a:buNone/>
            </a:pPr>
            <a:r>
              <a:rPr lang="en-US" sz="900" dirty="0">
                <a:solidFill>
                  <a:srgbClr val="A0B4CE"/>
                </a:solidFill>
                <a:latin typeface="Calibri" pitchFamily="34" charset="0"/>
                <a:ea typeface="Calibri" pitchFamily="34" charset="-122"/>
                <a:cs typeface="Calibri" pitchFamily="34" charset="-120"/>
              </a:rPr>
              <a:t>No cooling-off period, no multi-sig approval, no threshold-based pause for high-risk payments</a:t>
            </a:r>
            <a:endParaRPr lang="en-US" sz="900" dirty="0"/>
          </a:p>
        </p:txBody>
      </p:sp>
      <p:sp>
        <p:nvSpPr>
          <p:cNvPr id="22" name="Text 20"/>
          <p:cNvSpPr/>
          <p:nvPr/>
        </p:nvSpPr>
        <p:spPr>
          <a:xfrm>
            <a:off x="3730752" y="2816352"/>
            <a:ext cx="2871216" cy="841248"/>
          </a:xfrm>
          <a:prstGeom prst="rect">
            <a:avLst/>
          </a:prstGeom>
          <a:noFill/>
          <a:ln/>
        </p:spPr>
        <p:txBody>
          <a:bodyPr wrap="square" lIns="0" tIns="0" rIns="0" bIns="0" rtlCol="0" anchor="ctr"/>
          <a:lstStyle/>
          <a:p>
            <a:pPr marL="0" indent="0">
              <a:buNone/>
            </a:pPr>
            <a:r>
              <a:rPr lang="en-US" sz="900" dirty="0">
                <a:solidFill>
                  <a:srgbClr val="CBD8EA"/>
                </a:solidFill>
                <a:latin typeface="Calibri" pitchFamily="34" charset="0"/>
                <a:ea typeface="Calibri" pitchFamily="34" charset="-122"/>
                <a:cs typeface="Calibri" pitchFamily="34" charset="-120"/>
              </a:rPr>
              <a:t>Threshold-based smart contract enforces mandatory cooling-off for transfers above £X to new payees. Multi-sig contract requires two-factor confirmation for &gt;£50K. Full authorisation context recorded on-chain.</a:t>
            </a:r>
            <a:endParaRPr lang="en-US" sz="900" dirty="0"/>
          </a:p>
        </p:txBody>
      </p:sp>
      <p:sp>
        <p:nvSpPr>
          <p:cNvPr id="23" name="Text 21"/>
          <p:cNvSpPr/>
          <p:nvPr/>
        </p:nvSpPr>
        <p:spPr>
          <a:xfrm>
            <a:off x="6702552" y="2816352"/>
            <a:ext cx="1664208" cy="841248"/>
          </a:xfrm>
          <a:prstGeom prst="rect">
            <a:avLst/>
          </a:prstGeom>
          <a:noFill/>
          <a:ln/>
        </p:spPr>
        <p:txBody>
          <a:bodyPr wrap="square" lIns="0" tIns="0" rIns="0" bIns="0" rtlCol="0" anchor="ctr"/>
          <a:lstStyle/>
          <a:p>
            <a:pPr marL="0" indent="0">
              <a:buNone/>
            </a:pPr>
            <a:r>
              <a:rPr lang="en-US" sz="850" dirty="0">
                <a:solidFill>
                  <a:srgbClr val="1DB87A"/>
                </a:solidFill>
                <a:latin typeface="Calibri" pitchFamily="34" charset="0"/>
                <a:ea typeface="Calibri" pitchFamily="34" charset="-122"/>
                <a:cs typeface="Calibri" pitchFamily="34" charset="-120"/>
              </a:rPr>
              <a:t>High-value transfers require step-up auth. Cooling-off period prevents impulsive completion.</a:t>
            </a:r>
            <a:endParaRPr lang="en-US" sz="850" dirty="0"/>
          </a:p>
        </p:txBody>
      </p:sp>
      <p:sp>
        <p:nvSpPr>
          <p:cNvPr id="24" name="Text 22"/>
          <p:cNvSpPr/>
          <p:nvPr/>
        </p:nvSpPr>
        <p:spPr>
          <a:xfrm>
            <a:off x="8485632" y="3017520"/>
            <a:ext cx="292608" cy="384048"/>
          </a:xfrm>
          <a:prstGeom prst="rect">
            <a:avLst/>
          </a:prstGeom>
          <a:noFill/>
          <a:ln/>
        </p:spPr>
        <p:txBody>
          <a:bodyPr wrap="square" lIns="0" tIns="0" rIns="0" bIns="0" rtlCol="0" anchor="ctr"/>
          <a:lstStyle/>
          <a:p>
            <a:pPr marL="0" indent="0" algn="ctr">
              <a:buNone/>
            </a:pPr>
            <a:r>
              <a:rPr lang="en-US" sz="900" b="1" dirty="0">
                <a:solidFill>
                  <a:srgbClr val="E8A020"/>
                </a:solidFill>
                <a:latin typeface="Calibri" pitchFamily="34" charset="0"/>
                <a:ea typeface="Calibri" pitchFamily="34" charset="-122"/>
                <a:cs typeface="Calibri" pitchFamily="34" charset="-120"/>
              </a:rPr>
              <a:t>P1 + P2</a:t>
            </a:r>
            <a:endParaRPr lang="en-US" sz="900" dirty="0"/>
          </a:p>
        </p:txBody>
      </p:sp>
      <p:sp>
        <p:nvSpPr>
          <p:cNvPr id="25" name="Shape 23"/>
          <p:cNvSpPr/>
          <p:nvPr/>
        </p:nvSpPr>
        <p:spPr>
          <a:xfrm>
            <a:off x="274320" y="3822192"/>
            <a:ext cx="8549640" cy="987552"/>
          </a:xfrm>
          <a:prstGeom prst="rect">
            <a:avLst/>
          </a:prstGeom>
          <a:solidFill>
            <a:srgbClr val="112038"/>
          </a:solidFill>
          <a:ln w="12700">
            <a:solidFill>
              <a:srgbClr val="1A3057"/>
            </a:solidFill>
            <a:prstDash val="solid"/>
          </a:ln>
        </p:spPr>
      </p:sp>
      <p:sp>
        <p:nvSpPr>
          <p:cNvPr id="26" name="Shape 24"/>
          <p:cNvSpPr/>
          <p:nvPr/>
        </p:nvSpPr>
        <p:spPr>
          <a:xfrm>
            <a:off x="320040" y="3931920"/>
            <a:ext cx="1005840" cy="749808"/>
          </a:xfrm>
          <a:prstGeom prst="roundRect">
            <a:avLst>
              <a:gd name="adj" fmla="val 9756"/>
            </a:avLst>
          </a:prstGeom>
          <a:solidFill>
            <a:srgbClr val="162D52"/>
          </a:solidFill>
          <a:ln w="12700">
            <a:solidFill>
              <a:srgbClr val="1DB87A"/>
            </a:solidFill>
            <a:prstDash val="solid"/>
          </a:ln>
        </p:spPr>
      </p:sp>
      <p:sp>
        <p:nvSpPr>
          <p:cNvPr id="27" name="Text 25"/>
          <p:cNvSpPr/>
          <p:nvPr/>
        </p:nvSpPr>
        <p:spPr>
          <a:xfrm>
            <a:off x="320040" y="3950208"/>
            <a:ext cx="1005840" cy="274320"/>
          </a:xfrm>
          <a:prstGeom prst="rect">
            <a:avLst/>
          </a:prstGeom>
          <a:noFill/>
          <a:ln/>
        </p:spPr>
        <p:txBody>
          <a:bodyPr wrap="square" lIns="0" tIns="0" rIns="0" bIns="0" rtlCol="0" anchor="ctr"/>
          <a:lstStyle/>
          <a:p>
            <a:pPr marL="0" indent="0" algn="ctr">
              <a:buNone/>
            </a:pPr>
            <a:r>
              <a:rPr lang="en-US" sz="750" b="1" dirty="0">
                <a:solidFill>
                  <a:srgbClr val="1DB87A"/>
                </a:solidFill>
                <a:latin typeface="Calibri" pitchFamily="34" charset="0"/>
                <a:ea typeface="Calibri" pitchFamily="34" charset="-122"/>
                <a:cs typeface="Calibri" pitchFamily="34" charset="-120"/>
              </a:rPr>
              <a:t>USE CASE 3</a:t>
            </a:r>
            <a:endParaRPr lang="en-US" sz="750" dirty="0"/>
          </a:p>
        </p:txBody>
      </p:sp>
      <p:sp>
        <p:nvSpPr>
          <p:cNvPr id="28" name="Text 26"/>
          <p:cNvSpPr/>
          <p:nvPr/>
        </p:nvSpPr>
        <p:spPr>
          <a:xfrm>
            <a:off x="320040" y="4224528"/>
            <a:ext cx="10058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Repeat Victimisation</a:t>
            </a:r>
            <a:endParaRPr lang="en-US" sz="1000" dirty="0"/>
          </a:p>
        </p:txBody>
      </p:sp>
      <p:sp>
        <p:nvSpPr>
          <p:cNvPr id="29" name="Text 27"/>
          <p:cNvSpPr/>
          <p:nvPr/>
        </p:nvSpPr>
        <p:spPr>
          <a:xfrm>
            <a:off x="1444752" y="3895344"/>
            <a:ext cx="2176272" cy="841248"/>
          </a:xfrm>
          <a:prstGeom prst="rect">
            <a:avLst/>
          </a:prstGeom>
          <a:noFill/>
          <a:ln/>
        </p:spPr>
        <p:txBody>
          <a:bodyPr wrap="square" lIns="0" tIns="0" rIns="0" bIns="0" rtlCol="0" anchor="ctr"/>
          <a:lstStyle/>
          <a:p>
            <a:pPr marL="0" indent="0">
              <a:buNone/>
            </a:pPr>
            <a:r>
              <a:rPr lang="en-US" sz="900" dirty="0">
                <a:solidFill>
                  <a:srgbClr val="A0B4CE"/>
                </a:solidFill>
                <a:latin typeface="Calibri" pitchFamily="34" charset="0"/>
                <a:ea typeface="Calibri" pitchFamily="34" charset="-122"/>
                <a:cs typeface="Calibri" pitchFamily="34" charset="-120"/>
              </a:rPr>
              <a:t>Siloed bank systems allow mule networks to operate across institutions simultaneously undetected</a:t>
            </a:r>
            <a:endParaRPr lang="en-US" sz="900" dirty="0"/>
          </a:p>
        </p:txBody>
      </p:sp>
      <p:sp>
        <p:nvSpPr>
          <p:cNvPr id="30" name="Text 28"/>
          <p:cNvSpPr/>
          <p:nvPr/>
        </p:nvSpPr>
        <p:spPr>
          <a:xfrm>
            <a:off x="3730752" y="3895344"/>
            <a:ext cx="2871216" cy="841248"/>
          </a:xfrm>
          <a:prstGeom prst="rect">
            <a:avLst/>
          </a:prstGeom>
          <a:noFill/>
          <a:ln/>
        </p:spPr>
        <p:txBody>
          <a:bodyPr wrap="square" lIns="0" tIns="0" rIns="0" bIns="0" rtlCol="0" anchor="ctr"/>
          <a:lstStyle/>
          <a:p>
            <a:pPr marL="0" indent="0">
              <a:buNone/>
            </a:pPr>
            <a:r>
              <a:rPr lang="en-US" sz="900" dirty="0">
                <a:solidFill>
                  <a:srgbClr val="CBD8EA"/>
                </a:solidFill>
                <a:latin typeface="Calibri" pitchFamily="34" charset="0"/>
                <a:ea typeface="Calibri" pitchFamily="34" charset="-122"/>
                <a:cs typeface="Calibri" pitchFamily="34" charset="-120"/>
              </a:rPr>
              <a:t>Shared fraud intelligence ledger flags mule accounts across all participating banks instantly. Privacy-preserving hashed identifiers — no raw data sharing. Pattern detection across institutions reveals fraud rings early.</a:t>
            </a:r>
            <a:endParaRPr lang="en-US" sz="900" dirty="0"/>
          </a:p>
        </p:txBody>
      </p:sp>
      <p:sp>
        <p:nvSpPr>
          <p:cNvPr id="31" name="Text 29"/>
          <p:cNvSpPr/>
          <p:nvPr/>
        </p:nvSpPr>
        <p:spPr>
          <a:xfrm>
            <a:off x="6702552" y="3895344"/>
            <a:ext cx="1664208" cy="841248"/>
          </a:xfrm>
          <a:prstGeom prst="rect">
            <a:avLst/>
          </a:prstGeom>
          <a:noFill/>
          <a:ln/>
        </p:spPr>
        <p:txBody>
          <a:bodyPr wrap="square" lIns="0" tIns="0" rIns="0" bIns="0" rtlCol="0" anchor="ctr"/>
          <a:lstStyle/>
          <a:p>
            <a:pPr marL="0" indent="0">
              <a:buNone/>
            </a:pPr>
            <a:r>
              <a:rPr lang="en-US" sz="850" dirty="0">
                <a:solidFill>
                  <a:srgbClr val="1DB87A"/>
                </a:solidFill>
                <a:latin typeface="Calibri" pitchFamily="34" charset="0"/>
                <a:ea typeface="Calibri" pitchFamily="34" charset="-122"/>
                <a:cs typeface="Calibri" pitchFamily="34" charset="-120"/>
              </a:rPr>
              <a:t>Mule accounts flagged across all banks simultaneously. Fraud ring pattern detected early.</a:t>
            </a:r>
            <a:endParaRPr lang="en-US" sz="850" dirty="0"/>
          </a:p>
        </p:txBody>
      </p:sp>
      <p:sp>
        <p:nvSpPr>
          <p:cNvPr id="32" name="Text 30"/>
          <p:cNvSpPr/>
          <p:nvPr/>
        </p:nvSpPr>
        <p:spPr>
          <a:xfrm>
            <a:off x="8485632" y="4096512"/>
            <a:ext cx="292608" cy="384048"/>
          </a:xfrm>
          <a:prstGeom prst="rect">
            <a:avLst/>
          </a:prstGeom>
          <a:noFill/>
          <a:ln/>
        </p:spPr>
        <p:txBody>
          <a:bodyPr wrap="square" lIns="0" tIns="0" rIns="0" bIns="0" rtlCol="0" anchor="ctr"/>
          <a:lstStyle/>
          <a:p>
            <a:pPr marL="0" indent="0" algn="ctr">
              <a:buNone/>
            </a:pPr>
            <a:r>
              <a:rPr lang="en-US" sz="900" b="1" dirty="0">
                <a:solidFill>
                  <a:srgbClr val="1DB87A"/>
                </a:solidFill>
                <a:latin typeface="Calibri" pitchFamily="34" charset="0"/>
                <a:ea typeface="Calibri" pitchFamily="34" charset="-122"/>
                <a:cs typeface="Calibri" pitchFamily="34" charset="-120"/>
              </a:rPr>
              <a:t>P1 + P3</a:t>
            </a:r>
            <a:endParaRPr lang="en-US" sz="900" dirty="0"/>
          </a:p>
        </p:txBody>
      </p:sp>
      <p:sp>
        <p:nvSpPr>
          <p:cNvPr id="33" name="Shape 31"/>
          <p:cNvSpPr/>
          <p:nvPr/>
        </p:nvSpPr>
        <p:spPr>
          <a:xfrm>
            <a:off x="274320" y="4700016"/>
            <a:ext cx="8549640" cy="347472"/>
          </a:xfrm>
          <a:prstGeom prst="roundRect">
            <a:avLst>
              <a:gd name="adj" fmla="val 21053"/>
            </a:avLst>
          </a:prstGeom>
          <a:solidFill>
            <a:srgbClr val="162D52"/>
          </a:solidFill>
          <a:ln w="12700">
            <a:solidFill>
              <a:srgbClr val="1E3A5F"/>
            </a:solidFill>
            <a:prstDash val="solid"/>
          </a:ln>
        </p:spPr>
      </p:sp>
      <p:sp>
        <p:nvSpPr>
          <p:cNvPr id="34" name="Text 32"/>
          <p:cNvSpPr/>
          <p:nvPr/>
        </p:nvSpPr>
        <p:spPr>
          <a:xfrm>
            <a:off x="457200" y="4745736"/>
            <a:ext cx="8229600" cy="256032"/>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Combined impact: 75–80% interception rate · £350–400M annual savings · 60% reduction in fraud ops cost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Text 1"/>
          <p:cNvSpPr/>
          <p:nvPr/>
        </p:nvSpPr>
        <p:spPr>
          <a:xfrm>
            <a:off x="365760" y="91440"/>
            <a:ext cx="8229600" cy="347472"/>
          </a:xfrm>
          <a:prstGeom prst="rect">
            <a:avLst/>
          </a:prstGeom>
          <a:noFill/>
          <a:ln/>
        </p:spPr>
        <p:txBody>
          <a:bodyPr wrap="square" lIns="0" tIns="0" rIns="0" bIns="0" rtlCol="0" anchor="ctr"/>
          <a:lstStyle/>
          <a:p>
            <a:pPr marL="0" indent="0">
              <a:buNone/>
            </a:pPr>
            <a:r>
              <a:rPr lang="en-US" sz="1000" b="1" kern="0" spc="300" dirty="0">
                <a:solidFill>
                  <a:srgbClr val="0D9488"/>
                </a:solidFill>
                <a:latin typeface="Calibri" pitchFamily="34" charset="0"/>
                <a:ea typeface="Calibri" pitchFamily="34" charset="-122"/>
                <a:cs typeface="Calibri" pitchFamily="34" charset="-120"/>
              </a:rPr>
              <a:t>TECHNICAL ARCHITECTURE</a:t>
            </a:r>
            <a:endParaRPr lang="en-US" sz="1000" dirty="0"/>
          </a:p>
        </p:txBody>
      </p:sp>
      <p:sp>
        <p:nvSpPr>
          <p:cNvPr id="4" name="Text 2"/>
          <p:cNvSpPr/>
          <p:nvPr/>
        </p:nvSpPr>
        <p:spPr>
          <a:xfrm>
            <a:off x="365760" y="457200"/>
            <a:ext cx="8229600" cy="420624"/>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High-Level System Design</a:t>
            </a:r>
            <a:endParaRPr lang="en-US" sz="1800" dirty="0"/>
          </a:p>
        </p:txBody>
      </p:sp>
      <p:sp>
        <p:nvSpPr>
          <p:cNvPr id="5" name="Shape 3"/>
          <p:cNvSpPr/>
          <p:nvPr/>
        </p:nvSpPr>
        <p:spPr>
          <a:xfrm>
            <a:off x="274320" y="1078992"/>
            <a:ext cx="8595360" cy="1143000"/>
          </a:xfrm>
          <a:prstGeom prst="roundRect">
            <a:avLst>
              <a:gd name="adj" fmla="val 8000"/>
            </a:avLst>
          </a:prstGeom>
          <a:solidFill>
            <a:srgbClr val="E8EDF4"/>
          </a:solidFill>
          <a:ln w="12700">
            <a:solidFill>
              <a:srgbClr val="B0BDD0"/>
            </a:solidFill>
            <a:prstDash val="solid"/>
          </a:ln>
        </p:spPr>
      </p:sp>
      <p:sp>
        <p:nvSpPr>
          <p:cNvPr id="6" name="Text 4"/>
          <p:cNvSpPr/>
          <p:nvPr/>
        </p:nvSpPr>
        <p:spPr>
          <a:xfrm>
            <a:off x="457200" y="1170432"/>
            <a:ext cx="8229600" cy="274320"/>
          </a:xfrm>
          <a:prstGeom prst="rect">
            <a:avLst/>
          </a:prstGeom>
          <a:noFill/>
          <a:ln/>
        </p:spPr>
        <p:txBody>
          <a:bodyPr wrap="square" lIns="0" tIns="0" rIns="0" bIns="0" rtlCol="0" anchor="ctr"/>
          <a:lstStyle/>
          <a:p>
            <a:pPr marL="0" indent="0">
              <a:buNone/>
            </a:pPr>
            <a:r>
              <a:rPr lang="en-US" sz="950" b="1" kern="0" spc="100" dirty="0">
                <a:solidFill>
                  <a:srgbClr val="3A4A5E"/>
                </a:solidFill>
                <a:latin typeface="Calibri" pitchFamily="34" charset="0"/>
                <a:ea typeface="Calibri" pitchFamily="34" charset="-122"/>
                <a:cs typeface="Calibri" pitchFamily="34" charset="-120"/>
              </a:rPr>
              <a:t>LAYER 1  —  EXISTING BANK INFRASTRUCTURE</a:t>
            </a:r>
            <a:endParaRPr lang="en-US" sz="950" dirty="0"/>
          </a:p>
        </p:txBody>
      </p:sp>
      <p:sp>
        <p:nvSpPr>
          <p:cNvPr id="7" name="Shape 5"/>
          <p:cNvSpPr/>
          <p:nvPr/>
        </p:nvSpPr>
        <p:spPr>
          <a:xfrm>
            <a:off x="457200" y="1499616"/>
            <a:ext cx="1572768" cy="603504"/>
          </a:xfrm>
          <a:prstGeom prst="roundRect">
            <a:avLst>
              <a:gd name="adj" fmla="val 10606"/>
            </a:avLst>
          </a:prstGeom>
          <a:solidFill>
            <a:srgbClr val="FFFFFF"/>
          </a:solidFill>
          <a:ln w="12700">
            <a:solidFill>
              <a:srgbClr val="B0BDD0"/>
            </a:solidFill>
            <a:prstDash val="solid"/>
          </a:ln>
          <a:effectLst>
            <a:outerShdw blurRad="76200" dist="25400" dir="2700000" algn="bl" rotWithShape="0">
              <a:srgbClr val="000000">
                <a:alpha val="12000"/>
              </a:srgbClr>
            </a:outerShdw>
          </a:effectLst>
        </p:spPr>
      </p:sp>
      <p:sp>
        <p:nvSpPr>
          <p:cNvPr id="8" name="Text 6"/>
          <p:cNvSpPr/>
          <p:nvPr/>
        </p:nvSpPr>
        <p:spPr>
          <a:xfrm>
            <a:off x="512064" y="1536192"/>
            <a:ext cx="1463040" cy="530352"/>
          </a:xfrm>
          <a:prstGeom prst="rect">
            <a:avLst/>
          </a:prstGeom>
          <a:noFill/>
          <a:ln/>
        </p:spPr>
        <p:txBody>
          <a:bodyPr wrap="square" lIns="0" tIns="0" rIns="0" bIns="0" rtlCol="0" anchor="ctr"/>
          <a:lstStyle/>
          <a:p>
            <a:pPr marL="0" indent="0" algn="ctr">
              <a:buNone/>
            </a:pPr>
            <a:r>
              <a:rPr lang="en-US" sz="850" b="1" dirty="0">
                <a:solidFill>
                  <a:srgbClr val="2D3A4A"/>
                </a:solidFill>
                <a:latin typeface="Calibri" pitchFamily="34" charset="0"/>
                <a:ea typeface="Calibri" pitchFamily="34" charset="-122"/>
                <a:cs typeface="Calibri" pitchFamily="34" charset="-120"/>
              </a:rPr>
              <a:t>Core Banking System</a:t>
            </a:r>
            <a:endParaRPr lang="en-US" sz="850" dirty="0"/>
          </a:p>
        </p:txBody>
      </p:sp>
      <p:sp>
        <p:nvSpPr>
          <p:cNvPr id="9" name="Shape 7"/>
          <p:cNvSpPr/>
          <p:nvPr/>
        </p:nvSpPr>
        <p:spPr>
          <a:xfrm>
            <a:off x="2139696" y="1499616"/>
            <a:ext cx="1572768" cy="603504"/>
          </a:xfrm>
          <a:prstGeom prst="roundRect">
            <a:avLst>
              <a:gd name="adj" fmla="val 10606"/>
            </a:avLst>
          </a:prstGeom>
          <a:solidFill>
            <a:srgbClr val="FFFFFF"/>
          </a:solidFill>
          <a:ln w="12700">
            <a:solidFill>
              <a:srgbClr val="B0BDD0"/>
            </a:solidFill>
            <a:prstDash val="solid"/>
          </a:ln>
          <a:effectLst>
            <a:outerShdw blurRad="76200" dist="25400" dir="2700000" algn="bl" rotWithShape="0">
              <a:srgbClr val="000000">
                <a:alpha val="12000"/>
              </a:srgbClr>
            </a:outerShdw>
          </a:effectLst>
        </p:spPr>
      </p:sp>
      <p:sp>
        <p:nvSpPr>
          <p:cNvPr id="10" name="Text 8"/>
          <p:cNvSpPr/>
          <p:nvPr/>
        </p:nvSpPr>
        <p:spPr>
          <a:xfrm>
            <a:off x="2194560" y="1536192"/>
            <a:ext cx="1463040" cy="530352"/>
          </a:xfrm>
          <a:prstGeom prst="rect">
            <a:avLst/>
          </a:prstGeom>
          <a:noFill/>
          <a:ln/>
        </p:spPr>
        <p:txBody>
          <a:bodyPr wrap="square" lIns="0" tIns="0" rIns="0" bIns="0" rtlCol="0" anchor="ctr"/>
          <a:lstStyle/>
          <a:p>
            <a:pPr marL="0" indent="0" algn="ctr">
              <a:buNone/>
            </a:pPr>
            <a:r>
              <a:rPr lang="en-US" sz="850" b="1" dirty="0">
                <a:solidFill>
                  <a:srgbClr val="2D3A4A"/>
                </a:solidFill>
                <a:latin typeface="Calibri" pitchFamily="34" charset="0"/>
                <a:ea typeface="Calibri" pitchFamily="34" charset="-122"/>
                <a:cs typeface="Calibri" pitchFamily="34" charset="-120"/>
              </a:rPr>
              <a:t>Customer Mobile / Online App</a:t>
            </a:r>
            <a:endParaRPr lang="en-US" sz="850" dirty="0"/>
          </a:p>
        </p:txBody>
      </p:sp>
      <p:sp>
        <p:nvSpPr>
          <p:cNvPr id="11" name="Shape 9"/>
          <p:cNvSpPr/>
          <p:nvPr/>
        </p:nvSpPr>
        <p:spPr>
          <a:xfrm>
            <a:off x="3822192" y="1499616"/>
            <a:ext cx="1572768" cy="603504"/>
          </a:xfrm>
          <a:prstGeom prst="roundRect">
            <a:avLst>
              <a:gd name="adj" fmla="val 10606"/>
            </a:avLst>
          </a:prstGeom>
          <a:solidFill>
            <a:srgbClr val="FFFFFF"/>
          </a:solidFill>
          <a:ln w="12700">
            <a:solidFill>
              <a:srgbClr val="B0BDD0"/>
            </a:solidFill>
            <a:prstDash val="solid"/>
          </a:ln>
          <a:effectLst>
            <a:outerShdw blurRad="76200" dist="25400" dir="2700000" algn="bl" rotWithShape="0">
              <a:srgbClr val="000000">
                <a:alpha val="12000"/>
              </a:srgbClr>
            </a:outerShdw>
          </a:effectLst>
        </p:spPr>
      </p:sp>
      <p:sp>
        <p:nvSpPr>
          <p:cNvPr id="12" name="Text 10"/>
          <p:cNvSpPr/>
          <p:nvPr/>
        </p:nvSpPr>
        <p:spPr>
          <a:xfrm>
            <a:off x="3877056" y="1536192"/>
            <a:ext cx="1463040" cy="530352"/>
          </a:xfrm>
          <a:prstGeom prst="rect">
            <a:avLst/>
          </a:prstGeom>
          <a:noFill/>
          <a:ln/>
        </p:spPr>
        <p:txBody>
          <a:bodyPr wrap="square" lIns="0" tIns="0" rIns="0" bIns="0" rtlCol="0" anchor="ctr"/>
          <a:lstStyle/>
          <a:p>
            <a:pPr marL="0" indent="0" algn="ctr">
              <a:buNone/>
            </a:pPr>
            <a:r>
              <a:rPr lang="en-US" sz="850" b="1" dirty="0">
                <a:solidFill>
                  <a:srgbClr val="2D3A4A"/>
                </a:solidFill>
                <a:latin typeface="Calibri" pitchFamily="34" charset="0"/>
                <a:ea typeface="Calibri" pitchFamily="34" charset="-122"/>
                <a:cs typeface="Calibri" pitchFamily="34" charset="-120"/>
              </a:rPr>
              <a:t>KYC / AML Engine</a:t>
            </a:r>
            <a:endParaRPr lang="en-US" sz="850" dirty="0"/>
          </a:p>
        </p:txBody>
      </p:sp>
      <p:sp>
        <p:nvSpPr>
          <p:cNvPr id="13" name="Shape 11"/>
          <p:cNvSpPr/>
          <p:nvPr/>
        </p:nvSpPr>
        <p:spPr>
          <a:xfrm>
            <a:off x="5504688" y="1499616"/>
            <a:ext cx="1572768" cy="603504"/>
          </a:xfrm>
          <a:prstGeom prst="roundRect">
            <a:avLst>
              <a:gd name="adj" fmla="val 10606"/>
            </a:avLst>
          </a:prstGeom>
          <a:solidFill>
            <a:srgbClr val="FFFFFF"/>
          </a:solidFill>
          <a:ln w="12700">
            <a:solidFill>
              <a:srgbClr val="B0BDD0"/>
            </a:solidFill>
            <a:prstDash val="solid"/>
          </a:ln>
          <a:effectLst>
            <a:outerShdw blurRad="76200" dist="25400" dir="2700000" algn="bl" rotWithShape="0">
              <a:srgbClr val="000000">
                <a:alpha val="12000"/>
              </a:srgbClr>
            </a:outerShdw>
          </a:effectLst>
        </p:spPr>
      </p:sp>
      <p:sp>
        <p:nvSpPr>
          <p:cNvPr id="14" name="Text 12"/>
          <p:cNvSpPr/>
          <p:nvPr/>
        </p:nvSpPr>
        <p:spPr>
          <a:xfrm>
            <a:off x="5559552" y="1536192"/>
            <a:ext cx="1463040" cy="530352"/>
          </a:xfrm>
          <a:prstGeom prst="rect">
            <a:avLst/>
          </a:prstGeom>
          <a:noFill/>
          <a:ln/>
        </p:spPr>
        <p:txBody>
          <a:bodyPr wrap="square" lIns="0" tIns="0" rIns="0" bIns="0" rtlCol="0" anchor="ctr"/>
          <a:lstStyle/>
          <a:p>
            <a:pPr marL="0" indent="0" algn="ctr">
              <a:buNone/>
            </a:pPr>
            <a:r>
              <a:rPr lang="en-US" sz="850" b="1" dirty="0">
                <a:solidFill>
                  <a:srgbClr val="2D3A4A"/>
                </a:solidFill>
                <a:latin typeface="Calibri" pitchFamily="34" charset="0"/>
                <a:ea typeface="Calibri" pitchFamily="34" charset="-122"/>
                <a:cs typeface="Calibri" pitchFamily="34" charset="-120"/>
              </a:rPr>
              <a:t>Faster Payments Gateway</a:t>
            </a:r>
            <a:endParaRPr lang="en-US" sz="850" dirty="0"/>
          </a:p>
        </p:txBody>
      </p:sp>
      <p:sp>
        <p:nvSpPr>
          <p:cNvPr id="15" name="Shape 13"/>
          <p:cNvSpPr/>
          <p:nvPr/>
        </p:nvSpPr>
        <p:spPr>
          <a:xfrm>
            <a:off x="7187184" y="1499616"/>
            <a:ext cx="1572768" cy="603504"/>
          </a:xfrm>
          <a:prstGeom prst="roundRect">
            <a:avLst>
              <a:gd name="adj" fmla="val 10606"/>
            </a:avLst>
          </a:prstGeom>
          <a:solidFill>
            <a:srgbClr val="FFFFFF"/>
          </a:solidFill>
          <a:ln w="12700">
            <a:solidFill>
              <a:srgbClr val="B0BDD0"/>
            </a:solidFill>
            <a:prstDash val="solid"/>
          </a:ln>
          <a:effectLst>
            <a:outerShdw blurRad="76200" dist="25400" dir="2700000" algn="bl" rotWithShape="0">
              <a:srgbClr val="000000">
                <a:alpha val="12000"/>
              </a:srgbClr>
            </a:outerShdw>
          </a:effectLst>
        </p:spPr>
      </p:sp>
      <p:sp>
        <p:nvSpPr>
          <p:cNvPr id="16" name="Text 14"/>
          <p:cNvSpPr/>
          <p:nvPr/>
        </p:nvSpPr>
        <p:spPr>
          <a:xfrm>
            <a:off x="7242048" y="1536192"/>
            <a:ext cx="1463040" cy="530352"/>
          </a:xfrm>
          <a:prstGeom prst="rect">
            <a:avLst/>
          </a:prstGeom>
          <a:noFill/>
          <a:ln/>
        </p:spPr>
        <p:txBody>
          <a:bodyPr wrap="square" lIns="0" tIns="0" rIns="0" bIns="0" rtlCol="0" anchor="ctr"/>
          <a:lstStyle/>
          <a:p>
            <a:pPr marL="0" indent="0" algn="ctr">
              <a:buNone/>
            </a:pPr>
            <a:r>
              <a:rPr lang="en-US" sz="850" b="1" dirty="0">
                <a:solidFill>
                  <a:srgbClr val="2D3A4A"/>
                </a:solidFill>
                <a:latin typeface="Calibri" pitchFamily="34" charset="0"/>
                <a:ea typeface="Calibri" pitchFamily="34" charset="-122"/>
                <a:cs typeface="Calibri" pitchFamily="34" charset="-120"/>
              </a:rPr>
              <a:t>Fraud Ops Platform</a:t>
            </a:r>
            <a:endParaRPr lang="en-US" sz="850" dirty="0"/>
          </a:p>
        </p:txBody>
      </p:sp>
      <p:sp>
        <p:nvSpPr>
          <p:cNvPr id="17" name="Shape 15"/>
          <p:cNvSpPr/>
          <p:nvPr/>
        </p:nvSpPr>
        <p:spPr>
          <a:xfrm>
            <a:off x="4480560" y="2221992"/>
            <a:ext cx="0" cy="91440"/>
          </a:xfrm>
          <a:prstGeom prst="line">
            <a:avLst/>
          </a:prstGeom>
          <a:noFill/>
          <a:ln w="25400">
            <a:solidFill>
              <a:srgbClr val="A0B4CE"/>
            </a:solidFill>
            <a:prstDash val="solid"/>
          </a:ln>
        </p:spPr>
      </p:sp>
      <p:sp>
        <p:nvSpPr>
          <p:cNvPr id="18" name="Text 16"/>
          <p:cNvSpPr/>
          <p:nvPr/>
        </p:nvSpPr>
        <p:spPr>
          <a:xfrm>
            <a:off x="4343400" y="2194560"/>
            <a:ext cx="457200" cy="182880"/>
          </a:xfrm>
          <a:prstGeom prst="rect">
            <a:avLst/>
          </a:prstGeom>
          <a:noFill/>
          <a:ln/>
        </p:spPr>
        <p:txBody>
          <a:bodyPr wrap="square" lIns="0" tIns="0" rIns="0" bIns="0" rtlCol="0" anchor="ctr"/>
          <a:lstStyle/>
          <a:p>
            <a:pPr marL="0" indent="0" algn="ctr">
              <a:buNone/>
            </a:pPr>
            <a:r>
              <a:rPr lang="en-US" sz="1100" dirty="0">
                <a:solidFill>
                  <a:srgbClr val="A0B4CE"/>
                </a:solidFill>
                <a:latin typeface="Calibri" pitchFamily="34" charset="0"/>
                <a:ea typeface="Calibri" pitchFamily="34" charset="-122"/>
                <a:cs typeface="Calibri" pitchFamily="34" charset="-120"/>
              </a:rPr>
              <a:t>↕</a:t>
            </a:r>
            <a:endParaRPr lang="en-US" sz="1100" dirty="0"/>
          </a:p>
        </p:txBody>
      </p:sp>
      <p:sp>
        <p:nvSpPr>
          <p:cNvPr id="19" name="Shape 17"/>
          <p:cNvSpPr/>
          <p:nvPr/>
        </p:nvSpPr>
        <p:spPr>
          <a:xfrm>
            <a:off x="274320" y="2340864"/>
            <a:ext cx="8595360" cy="1143000"/>
          </a:xfrm>
          <a:prstGeom prst="roundRect">
            <a:avLst>
              <a:gd name="adj" fmla="val 8000"/>
            </a:avLst>
          </a:prstGeom>
          <a:solidFill>
            <a:srgbClr val="E6F7F5"/>
          </a:solidFill>
          <a:ln w="12700">
            <a:solidFill>
              <a:srgbClr val="0D9488"/>
            </a:solidFill>
            <a:prstDash val="solid"/>
          </a:ln>
        </p:spPr>
      </p:sp>
      <p:sp>
        <p:nvSpPr>
          <p:cNvPr id="20" name="Text 18"/>
          <p:cNvSpPr/>
          <p:nvPr/>
        </p:nvSpPr>
        <p:spPr>
          <a:xfrm>
            <a:off x="457200" y="2432304"/>
            <a:ext cx="8229600" cy="274320"/>
          </a:xfrm>
          <a:prstGeom prst="rect">
            <a:avLst/>
          </a:prstGeom>
          <a:noFill/>
          <a:ln/>
        </p:spPr>
        <p:txBody>
          <a:bodyPr wrap="square" lIns="0" tIns="0" rIns="0" bIns="0" rtlCol="0" anchor="ctr"/>
          <a:lstStyle/>
          <a:p>
            <a:pPr marL="0" indent="0">
              <a:buNone/>
            </a:pPr>
            <a:r>
              <a:rPr lang="en-US" sz="950" b="1" kern="0" spc="100" dirty="0">
                <a:solidFill>
                  <a:srgbClr val="0D9488"/>
                </a:solidFill>
                <a:latin typeface="Calibri" pitchFamily="34" charset="0"/>
                <a:ea typeface="Calibri" pitchFamily="34" charset="-122"/>
                <a:cs typeface="Calibri" pitchFamily="34" charset="-120"/>
              </a:rPr>
              <a:t>LAYER 2  —  BLOCKCHAIN INTEGRATION LAYER  (New Build)</a:t>
            </a:r>
            <a:endParaRPr lang="en-US" sz="950" dirty="0"/>
          </a:p>
        </p:txBody>
      </p:sp>
      <p:sp>
        <p:nvSpPr>
          <p:cNvPr id="21" name="Shape 19"/>
          <p:cNvSpPr/>
          <p:nvPr/>
        </p:nvSpPr>
        <p:spPr>
          <a:xfrm>
            <a:off x="457200" y="2761488"/>
            <a:ext cx="1572768" cy="603504"/>
          </a:xfrm>
          <a:prstGeom prst="roundRect">
            <a:avLst>
              <a:gd name="adj" fmla="val 10606"/>
            </a:avLst>
          </a:prstGeom>
          <a:solidFill>
            <a:srgbClr val="FFFFFF"/>
          </a:solidFill>
          <a:ln w="12700">
            <a:solidFill>
              <a:srgbClr val="0D9488"/>
            </a:solidFill>
            <a:prstDash val="solid"/>
          </a:ln>
          <a:effectLst>
            <a:outerShdw blurRad="76200" dist="25400" dir="2700000" algn="bl" rotWithShape="0">
              <a:srgbClr val="000000">
                <a:alpha val="12000"/>
              </a:srgbClr>
            </a:outerShdw>
          </a:effectLst>
        </p:spPr>
      </p:sp>
      <p:sp>
        <p:nvSpPr>
          <p:cNvPr id="22" name="Text 20"/>
          <p:cNvSpPr/>
          <p:nvPr/>
        </p:nvSpPr>
        <p:spPr>
          <a:xfrm>
            <a:off x="512064" y="2798064"/>
            <a:ext cx="1463040" cy="530352"/>
          </a:xfrm>
          <a:prstGeom prst="rect">
            <a:avLst/>
          </a:prstGeom>
          <a:noFill/>
          <a:ln/>
        </p:spPr>
        <p:txBody>
          <a:bodyPr wrap="square" lIns="0" tIns="0" rIns="0" bIns="0" rtlCol="0" anchor="ctr"/>
          <a:lstStyle/>
          <a:p>
            <a:pPr marL="0" indent="0" algn="ctr">
              <a:buNone/>
            </a:pPr>
            <a:r>
              <a:rPr lang="en-US" sz="850" b="1" dirty="0">
                <a:solidFill>
                  <a:srgbClr val="0D5A54"/>
                </a:solidFill>
                <a:latin typeface="Calibri" pitchFamily="34" charset="0"/>
                <a:ea typeface="Calibri" pitchFamily="34" charset="-122"/>
                <a:cs typeface="Calibri" pitchFamily="34" charset="-120"/>
              </a:rPr>
              <a:t>Transaction Context Capture API</a:t>
            </a:r>
            <a:endParaRPr lang="en-US" sz="850" dirty="0"/>
          </a:p>
        </p:txBody>
      </p:sp>
      <p:sp>
        <p:nvSpPr>
          <p:cNvPr id="23" name="Shape 21"/>
          <p:cNvSpPr/>
          <p:nvPr/>
        </p:nvSpPr>
        <p:spPr>
          <a:xfrm>
            <a:off x="2139696" y="2761488"/>
            <a:ext cx="1572768" cy="603504"/>
          </a:xfrm>
          <a:prstGeom prst="roundRect">
            <a:avLst>
              <a:gd name="adj" fmla="val 10606"/>
            </a:avLst>
          </a:prstGeom>
          <a:solidFill>
            <a:srgbClr val="FFFFFF"/>
          </a:solidFill>
          <a:ln w="12700">
            <a:solidFill>
              <a:srgbClr val="0D9488"/>
            </a:solidFill>
            <a:prstDash val="solid"/>
          </a:ln>
          <a:effectLst>
            <a:outerShdw blurRad="76200" dist="25400" dir="2700000" algn="bl" rotWithShape="0">
              <a:srgbClr val="000000">
                <a:alpha val="12000"/>
              </a:srgbClr>
            </a:outerShdw>
          </a:effectLst>
        </p:spPr>
      </p:sp>
      <p:sp>
        <p:nvSpPr>
          <p:cNvPr id="24" name="Text 22"/>
          <p:cNvSpPr/>
          <p:nvPr/>
        </p:nvSpPr>
        <p:spPr>
          <a:xfrm>
            <a:off x="2194560" y="2798064"/>
            <a:ext cx="1463040" cy="530352"/>
          </a:xfrm>
          <a:prstGeom prst="rect">
            <a:avLst/>
          </a:prstGeom>
          <a:noFill/>
          <a:ln/>
        </p:spPr>
        <p:txBody>
          <a:bodyPr wrap="square" lIns="0" tIns="0" rIns="0" bIns="0" rtlCol="0" anchor="ctr"/>
          <a:lstStyle/>
          <a:p>
            <a:pPr marL="0" indent="0" algn="ctr">
              <a:buNone/>
            </a:pPr>
            <a:r>
              <a:rPr lang="en-US" sz="850" b="1" dirty="0">
                <a:solidFill>
                  <a:srgbClr val="0D5A54"/>
                </a:solidFill>
                <a:latin typeface="Calibri" pitchFamily="34" charset="0"/>
                <a:ea typeface="Calibri" pitchFamily="34" charset="-122"/>
                <a:cs typeface="Calibri" pitchFamily="34" charset="-120"/>
              </a:rPr>
              <a:t>Smart Contract Engine (Solidity / Chaincode)</a:t>
            </a:r>
            <a:endParaRPr lang="en-US" sz="850" dirty="0"/>
          </a:p>
        </p:txBody>
      </p:sp>
      <p:sp>
        <p:nvSpPr>
          <p:cNvPr id="25" name="Shape 23"/>
          <p:cNvSpPr/>
          <p:nvPr/>
        </p:nvSpPr>
        <p:spPr>
          <a:xfrm>
            <a:off x="3822192" y="2761488"/>
            <a:ext cx="1572768" cy="603504"/>
          </a:xfrm>
          <a:prstGeom prst="roundRect">
            <a:avLst>
              <a:gd name="adj" fmla="val 10606"/>
            </a:avLst>
          </a:prstGeom>
          <a:solidFill>
            <a:srgbClr val="FFFFFF"/>
          </a:solidFill>
          <a:ln w="12700">
            <a:solidFill>
              <a:srgbClr val="0D9488"/>
            </a:solidFill>
            <a:prstDash val="solid"/>
          </a:ln>
          <a:effectLst>
            <a:outerShdw blurRad="76200" dist="25400" dir="2700000" algn="bl" rotWithShape="0">
              <a:srgbClr val="000000">
                <a:alpha val="12000"/>
              </a:srgbClr>
            </a:outerShdw>
          </a:effectLst>
        </p:spPr>
      </p:sp>
      <p:sp>
        <p:nvSpPr>
          <p:cNvPr id="26" name="Text 24"/>
          <p:cNvSpPr/>
          <p:nvPr/>
        </p:nvSpPr>
        <p:spPr>
          <a:xfrm>
            <a:off x="3877056" y="2798064"/>
            <a:ext cx="1463040" cy="530352"/>
          </a:xfrm>
          <a:prstGeom prst="rect">
            <a:avLst/>
          </a:prstGeom>
          <a:noFill/>
          <a:ln/>
        </p:spPr>
        <p:txBody>
          <a:bodyPr wrap="square" lIns="0" tIns="0" rIns="0" bIns="0" rtlCol="0" anchor="ctr"/>
          <a:lstStyle/>
          <a:p>
            <a:pPr marL="0" indent="0" algn="ctr">
              <a:buNone/>
            </a:pPr>
            <a:r>
              <a:rPr lang="en-US" sz="850" b="1" dirty="0">
                <a:solidFill>
                  <a:srgbClr val="0D5A54"/>
                </a:solidFill>
                <a:latin typeface="Calibri" pitchFamily="34" charset="0"/>
                <a:ea typeface="Calibri" pitchFamily="34" charset="-122"/>
                <a:cs typeface="Calibri" pitchFamily="34" charset="-120"/>
              </a:rPr>
              <a:t>On-Chain Audit Trail Writer</a:t>
            </a:r>
            <a:endParaRPr lang="en-US" sz="850" dirty="0"/>
          </a:p>
        </p:txBody>
      </p:sp>
      <p:sp>
        <p:nvSpPr>
          <p:cNvPr id="27" name="Shape 25"/>
          <p:cNvSpPr/>
          <p:nvPr/>
        </p:nvSpPr>
        <p:spPr>
          <a:xfrm>
            <a:off x="5504688" y="2761488"/>
            <a:ext cx="1572768" cy="603504"/>
          </a:xfrm>
          <a:prstGeom prst="roundRect">
            <a:avLst>
              <a:gd name="adj" fmla="val 10606"/>
            </a:avLst>
          </a:prstGeom>
          <a:solidFill>
            <a:srgbClr val="FFFFFF"/>
          </a:solidFill>
          <a:ln w="12700">
            <a:solidFill>
              <a:srgbClr val="0D9488"/>
            </a:solidFill>
            <a:prstDash val="solid"/>
          </a:ln>
          <a:effectLst>
            <a:outerShdw blurRad="76200" dist="25400" dir="2700000" algn="bl" rotWithShape="0">
              <a:srgbClr val="000000">
                <a:alpha val="12000"/>
              </a:srgbClr>
            </a:outerShdw>
          </a:effectLst>
        </p:spPr>
      </p:sp>
      <p:sp>
        <p:nvSpPr>
          <p:cNvPr id="28" name="Text 26"/>
          <p:cNvSpPr/>
          <p:nvPr/>
        </p:nvSpPr>
        <p:spPr>
          <a:xfrm>
            <a:off x="5559552" y="2798064"/>
            <a:ext cx="1463040" cy="530352"/>
          </a:xfrm>
          <a:prstGeom prst="rect">
            <a:avLst/>
          </a:prstGeom>
          <a:noFill/>
          <a:ln/>
        </p:spPr>
        <p:txBody>
          <a:bodyPr wrap="square" lIns="0" tIns="0" rIns="0" bIns="0" rtlCol="0" anchor="ctr"/>
          <a:lstStyle/>
          <a:p>
            <a:pPr marL="0" indent="0" algn="ctr">
              <a:buNone/>
            </a:pPr>
            <a:r>
              <a:rPr lang="en-US" sz="850" b="1" dirty="0">
                <a:solidFill>
                  <a:srgbClr val="0D5A54"/>
                </a:solidFill>
                <a:latin typeface="Calibri" pitchFamily="34" charset="0"/>
                <a:ea typeface="Calibri" pitchFamily="34" charset="-122"/>
                <a:cs typeface="Calibri" pitchFamily="34" charset="-120"/>
              </a:rPr>
              <a:t>Real-Time Ledger Query Service</a:t>
            </a:r>
            <a:endParaRPr lang="en-US" sz="850" dirty="0"/>
          </a:p>
        </p:txBody>
      </p:sp>
      <p:sp>
        <p:nvSpPr>
          <p:cNvPr id="29" name="Shape 27"/>
          <p:cNvSpPr/>
          <p:nvPr/>
        </p:nvSpPr>
        <p:spPr>
          <a:xfrm>
            <a:off x="7187184" y="2761488"/>
            <a:ext cx="1572768" cy="603504"/>
          </a:xfrm>
          <a:prstGeom prst="roundRect">
            <a:avLst>
              <a:gd name="adj" fmla="val 10606"/>
            </a:avLst>
          </a:prstGeom>
          <a:solidFill>
            <a:srgbClr val="FFFFFF"/>
          </a:solidFill>
          <a:ln w="12700">
            <a:solidFill>
              <a:srgbClr val="0D9488"/>
            </a:solidFill>
            <a:prstDash val="solid"/>
          </a:ln>
          <a:effectLst>
            <a:outerShdw blurRad="76200" dist="25400" dir="2700000" algn="bl" rotWithShape="0">
              <a:srgbClr val="000000">
                <a:alpha val="12000"/>
              </a:srgbClr>
            </a:outerShdw>
          </a:effectLst>
        </p:spPr>
      </p:sp>
      <p:sp>
        <p:nvSpPr>
          <p:cNvPr id="30" name="Text 28"/>
          <p:cNvSpPr/>
          <p:nvPr/>
        </p:nvSpPr>
        <p:spPr>
          <a:xfrm>
            <a:off x="7242048" y="2798064"/>
            <a:ext cx="1463040" cy="530352"/>
          </a:xfrm>
          <a:prstGeom prst="rect">
            <a:avLst/>
          </a:prstGeom>
          <a:noFill/>
          <a:ln/>
        </p:spPr>
        <p:txBody>
          <a:bodyPr wrap="square" lIns="0" tIns="0" rIns="0" bIns="0" rtlCol="0" anchor="ctr"/>
          <a:lstStyle/>
          <a:p>
            <a:pPr marL="0" indent="0" algn="ctr">
              <a:buNone/>
            </a:pPr>
            <a:r>
              <a:rPr lang="en-US" sz="850" b="1" dirty="0">
                <a:solidFill>
                  <a:srgbClr val="0D5A54"/>
                </a:solidFill>
                <a:latin typeface="Calibri" pitchFamily="34" charset="0"/>
                <a:ea typeface="Calibri" pitchFamily="34" charset="-122"/>
                <a:cs typeface="Calibri" pitchFamily="34" charset="-120"/>
              </a:rPr>
              <a:t>Oracle Bridge (ML Scores → Chain)</a:t>
            </a:r>
            <a:endParaRPr lang="en-US" sz="850" dirty="0"/>
          </a:p>
        </p:txBody>
      </p:sp>
      <p:sp>
        <p:nvSpPr>
          <p:cNvPr id="31" name="Shape 29"/>
          <p:cNvSpPr/>
          <p:nvPr/>
        </p:nvSpPr>
        <p:spPr>
          <a:xfrm>
            <a:off x="4480560" y="3483864"/>
            <a:ext cx="0" cy="91440"/>
          </a:xfrm>
          <a:prstGeom prst="line">
            <a:avLst/>
          </a:prstGeom>
          <a:noFill/>
          <a:ln w="25400">
            <a:solidFill>
              <a:srgbClr val="A0B4CE"/>
            </a:solidFill>
            <a:prstDash val="solid"/>
          </a:ln>
        </p:spPr>
      </p:sp>
      <p:sp>
        <p:nvSpPr>
          <p:cNvPr id="32" name="Text 30"/>
          <p:cNvSpPr/>
          <p:nvPr/>
        </p:nvSpPr>
        <p:spPr>
          <a:xfrm>
            <a:off x="4343400" y="3456432"/>
            <a:ext cx="457200" cy="182880"/>
          </a:xfrm>
          <a:prstGeom prst="rect">
            <a:avLst/>
          </a:prstGeom>
          <a:noFill/>
          <a:ln/>
        </p:spPr>
        <p:txBody>
          <a:bodyPr wrap="square" lIns="0" tIns="0" rIns="0" bIns="0" rtlCol="0" anchor="ctr"/>
          <a:lstStyle/>
          <a:p>
            <a:pPr marL="0" indent="0" algn="ctr">
              <a:buNone/>
            </a:pPr>
            <a:r>
              <a:rPr lang="en-US" sz="1100" dirty="0">
                <a:solidFill>
                  <a:srgbClr val="A0B4CE"/>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274320" y="3602736"/>
            <a:ext cx="8595360" cy="1143000"/>
          </a:xfrm>
          <a:prstGeom prst="roundRect">
            <a:avLst>
              <a:gd name="adj" fmla="val 8000"/>
            </a:avLst>
          </a:prstGeom>
          <a:solidFill>
            <a:srgbClr val="E6FAF3"/>
          </a:solidFill>
          <a:ln w="12700">
            <a:solidFill>
              <a:srgbClr val="1DB87A"/>
            </a:solidFill>
            <a:prstDash val="solid"/>
          </a:ln>
        </p:spPr>
      </p:sp>
      <p:sp>
        <p:nvSpPr>
          <p:cNvPr id="34" name="Text 32"/>
          <p:cNvSpPr/>
          <p:nvPr/>
        </p:nvSpPr>
        <p:spPr>
          <a:xfrm>
            <a:off x="457200" y="3694176"/>
            <a:ext cx="8229600" cy="274320"/>
          </a:xfrm>
          <a:prstGeom prst="rect">
            <a:avLst/>
          </a:prstGeom>
          <a:noFill/>
          <a:ln/>
        </p:spPr>
        <p:txBody>
          <a:bodyPr wrap="square" lIns="0" tIns="0" rIns="0" bIns="0" rtlCol="0" anchor="ctr"/>
          <a:lstStyle/>
          <a:p>
            <a:pPr marL="0" indent="0">
              <a:buNone/>
            </a:pPr>
            <a:r>
              <a:rPr lang="en-US" sz="950" b="1" kern="0" spc="100" dirty="0">
                <a:solidFill>
                  <a:srgbClr val="1DB87A"/>
                </a:solidFill>
                <a:latin typeface="Calibri" pitchFamily="34" charset="0"/>
                <a:ea typeface="Calibri" pitchFamily="34" charset="-122"/>
                <a:cs typeface="Calibri" pitchFamily="34" charset="-120"/>
              </a:rPr>
              <a:t>LAYER 3  —  SHARED CONSORTIUM LEDGER  (Cross-Bank)</a:t>
            </a:r>
            <a:endParaRPr lang="en-US" sz="950" dirty="0"/>
          </a:p>
        </p:txBody>
      </p:sp>
      <p:sp>
        <p:nvSpPr>
          <p:cNvPr id="35" name="Shape 33"/>
          <p:cNvSpPr/>
          <p:nvPr/>
        </p:nvSpPr>
        <p:spPr>
          <a:xfrm>
            <a:off x="457200" y="4023360"/>
            <a:ext cx="1572768" cy="603504"/>
          </a:xfrm>
          <a:prstGeom prst="roundRect">
            <a:avLst>
              <a:gd name="adj" fmla="val 10606"/>
            </a:avLst>
          </a:prstGeom>
          <a:solidFill>
            <a:srgbClr val="FFFFFF"/>
          </a:solidFill>
          <a:ln w="12700">
            <a:solidFill>
              <a:srgbClr val="1DB87A"/>
            </a:solidFill>
            <a:prstDash val="solid"/>
          </a:ln>
          <a:effectLst>
            <a:outerShdw blurRad="76200" dist="25400" dir="2700000" algn="bl" rotWithShape="0">
              <a:srgbClr val="000000">
                <a:alpha val="12000"/>
              </a:srgbClr>
            </a:outerShdw>
          </a:effectLst>
        </p:spPr>
      </p:sp>
      <p:sp>
        <p:nvSpPr>
          <p:cNvPr id="36" name="Text 34"/>
          <p:cNvSpPr/>
          <p:nvPr/>
        </p:nvSpPr>
        <p:spPr>
          <a:xfrm>
            <a:off x="512064" y="4059936"/>
            <a:ext cx="1463040" cy="530352"/>
          </a:xfrm>
          <a:prstGeom prst="rect">
            <a:avLst/>
          </a:prstGeom>
          <a:noFill/>
          <a:ln/>
        </p:spPr>
        <p:txBody>
          <a:bodyPr wrap="square" lIns="0" tIns="0" rIns="0" bIns="0" rtlCol="0" anchor="ctr"/>
          <a:lstStyle/>
          <a:p>
            <a:pPr marL="0" indent="0" algn="ctr">
              <a:buNone/>
            </a:pPr>
            <a:r>
              <a:rPr lang="en-US" sz="850" b="1" dirty="0">
                <a:solidFill>
                  <a:srgbClr val="0A5C3A"/>
                </a:solidFill>
                <a:latin typeface="Calibri" pitchFamily="34" charset="0"/>
                <a:ea typeface="Calibri" pitchFamily="34" charset="-122"/>
                <a:cs typeface="Calibri" pitchFamily="34" charset="-120"/>
              </a:rPr>
              <a:t>Hyperledger Fabric / Quorum Network</a:t>
            </a:r>
            <a:endParaRPr lang="en-US" sz="850" dirty="0"/>
          </a:p>
        </p:txBody>
      </p:sp>
      <p:sp>
        <p:nvSpPr>
          <p:cNvPr id="37" name="Shape 35"/>
          <p:cNvSpPr/>
          <p:nvPr/>
        </p:nvSpPr>
        <p:spPr>
          <a:xfrm>
            <a:off x="2139696" y="4023360"/>
            <a:ext cx="1572768" cy="603504"/>
          </a:xfrm>
          <a:prstGeom prst="roundRect">
            <a:avLst>
              <a:gd name="adj" fmla="val 10606"/>
            </a:avLst>
          </a:prstGeom>
          <a:solidFill>
            <a:srgbClr val="FFFFFF"/>
          </a:solidFill>
          <a:ln w="12700">
            <a:solidFill>
              <a:srgbClr val="1DB87A"/>
            </a:solidFill>
            <a:prstDash val="solid"/>
          </a:ln>
          <a:effectLst>
            <a:outerShdw blurRad="76200" dist="25400" dir="2700000" algn="bl" rotWithShape="0">
              <a:srgbClr val="000000">
                <a:alpha val="12000"/>
              </a:srgbClr>
            </a:outerShdw>
          </a:effectLst>
        </p:spPr>
      </p:sp>
      <p:sp>
        <p:nvSpPr>
          <p:cNvPr id="38" name="Text 36"/>
          <p:cNvSpPr/>
          <p:nvPr/>
        </p:nvSpPr>
        <p:spPr>
          <a:xfrm>
            <a:off x="2194560" y="4059936"/>
            <a:ext cx="1463040" cy="530352"/>
          </a:xfrm>
          <a:prstGeom prst="rect">
            <a:avLst/>
          </a:prstGeom>
          <a:noFill/>
          <a:ln/>
        </p:spPr>
        <p:txBody>
          <a:bodyPr wrap="square" lIns="0" tIns="0" rIns="0" bIns="0" rtlCol="0" anchor="ctr"/>
          <a:lstStyle/>
          <a:p>
            <a:pPr marL="0" indent="0" algn="ctr">
              <a:buNone/>
            </a:pPr>
            <a:r>
              <a:rPr lang="en-US" sz="850" b="1" dirty="0">
                <a:solidFill>
                  <a:srgbClr val="0A5C3A"/>
                </a:solidFill>
                <a:latin typeface="Calibri" pitchFamily="34" charset="0"/>
                <a:ea typeface="Calibri" pitchFamily="34" charset="-122"/>
                <a:cs typeface="Calibri" pitchFamily="34" charset="-120"/>
              </a:rPr>
              <a:t>Hashed Fraud Signal Registry</a:t>
            </a:r>
            <a:endParaRPr lang="en-US" sz="850" dirty="0"/>
          </a:p>
        </p:txBody>
      </p:sp>
      <p:sp>
        <p:nvSpPr>
          <p:cNvPr id="39" name="Shape 37"/>
          <p:cNvSpPr/>
          <p:nvPr/>
        </p:nvSpPr>
        <p:spPr>
          <a:xfrm>
            <a:off x="3822192" y="4023360"/>
            <a:ext cx="1572768" cy="603504"/>
          </a:xfrm>
          <a:prstGeom prst="roundRect">
            <a:avLst>
              <a:gd name="adj" fmla="val 10606"/>
            </a:avLst>
          </a:prstGeom>
          <a:solidFill>
            <a:srgbClr val="FFFFFF"/>
          </a:solidFill>
          <a:ln w="12700">
            <a:solidFill>
              <a:srgbClr val="1DB87A"/>
            </a:solidFill>
            <a:prstDash val="solid"/>
          </a:ln>
          <a:effectLst>
            <a:outerShdw blurRad="76200" dist="25400" dir="2700000" algn="bl" rotWithShape="0">
              <a:srgbClr val="000000">
                <a:alpha val="12000"/>
              </a:srgbClr>
            </a:outerShdw>
          </a:effectLst>
        </p:spPr>
      </p:sp>
      <p:sp>
        <p:nvSpPr>
          <p:cNvPr id="40" name="Text 38"/>
          <p:cNvSpPr/>
          <p:nvPr/>
        </p:nvSpPr>
        <p:spPr>
          <a:xfrm>
            <a:off x="3877056" y="4059936"/>
            <a:ext cx="1463040" cy="530352"/>
          </a:xfrm>
          <a:prstGeom prst="rect">
            <a:avLst/>
          </a:prstGeom>
          <a:noFill/>
          <a:ln/>
        </p:spPr>
        <p:txBody>
          <a:bodyPr wrap="square" lIns="0" tIns="0" rIns="0" bIns="0" rtlCol="0" anchor="ctr"/>
          <a:lstStyle/>
          <a:p>
            <a:pPr marL="0" indent="0" algn="ctr">
              <a:buNone/>
            </a:pPr>
            <a:r>
              <a:rPr lang="en-US" sz="850" b="1" dirty="0">
                <a:solidFill>
                  <a:srgbClr val="0A5C3A"/>
                </a:solidFill>
                <a:latin typeface="Calibri" pitchFamily="34" charset="0"/>
                <a:ea typeface="Calibri" pitchFamily="34" charset="-122"/>
                <a:cs typeface="Calibri" pitchFamily="34" charset="-120"/>
              </a:rPr>
              <a:t>ZK Proof Verification Nodes</a:t>
            </a:r>
            <a:endParaRPr lang="en-US" sz="850" dirty="0"/>
          </a:p>
        </p:txBody>
      </p:sp>
      <p:sp>
        <p:nvSpPr>
          <p:cNvPr id="41" name="Shape 39"/>
          <p:cNvSpPr/>
          <p:nvPr/>
        </p:nvSpPr>
        <p:spPr>
          <a:xfrm>
            <a:off x="5504688" y="4023360"/>
            <a:ext cx="1572768" cy="603504"/>
          </a:xfrm>
          <a:prstGeom prst="roundRect">
            <a:avLst>
              <a:gd name="adj" fmla="val 10606"/>
            </a:avLst>
          </a:prstGeom>
          <a:solidFill>
            <a:srgbClr val="FFFFFF"/>
          </a:solidFill>
          <a:ln w="12700">
            <a:solidFill>
              <a:srgbClr val="1DB87A"/>
            </a:solidFill>
            <a:prstDash val="solid"/>
          </a:ln>
          <a:effectLst>
            <a:outerShdw blurRad="76200" dist="25400" dir="2700000" algn="bl" rotWithShape="0">
              <a:srgbClr val="000000">
                <a:alpha val="12000"/>
              </a:srgbClr>
            </a:outerShdw>
          </a:effectLst>
        </p:spPr>
      </p:sp>
      <p:sp>
        <p:nvSpPr>
          <p:cNvPr id="42" name="Text 40"/>
          <p:cNvSpPr/>
          <p:nvPr/>
        </p:nvSpPr>
        <p:spPr>
          <a:xfrm>
            <a:off x="5559552" y="4059936"/>
            <a:ext cx="1463040" cy="530352"/>
          </a:xfrm>
          <a:prstGeom prst="rect">
            <a:avLst/>
          </a:prstGeom>
          <a:noFill/>
          <a:ln/>
        </p:spPr>
        <p:txBody>
          <a:bodyPr wrap="square" lIns="0" tIns="0" rIns="0" bIns="0" rtlCol="0" anchor="ctr"/>
          <a:lstStyle/>
          <a:p>
            <a:pPr marL="0" indent="0" algn="ctr">
              <a:buNone/>
            </a:pPr>
            <a:r>
              <a:rPr lang="en-US" sz="850" b="1" dirty="0">
                <a:solidFill>
                  <a:srgbClr val="0A5C3A"/>
                </a:solidFill>
                <a:latin typeface="Calibri" pitchFamily="34" charset="0"/>
                <a:ea typeface="Calibri" pitchFamily="34" charset="-122"/>
                <a:cs typeface="Calibri" pitchFamily="34" charset="-120"/>
              </a:rPr>
              <a:t>Regulatory Read-Only Access Node</a:t>
            </a:r>
            <a:endParaRPr lang="en-US" sz="850" dirty="0"/>
          </a:p>
        </p:txBody>
      </p:sp>
      <p:sp>
        <p:nvSpPr>
          <p:cNvPr id="43" name="Shape 41"/>
          <p:cNvSpPr/>
          <p:nvPr/>
        </p:nvSpPr>
        <p:spPr>
          <a:xfrm>
            <a:off x="7187184" y="4023360"/>
            <a:ext cx="1572768" cy="603504"/>
          </a:xfrm>
          <a:prstGeom prst="roundRect">
            <a:avLst>
              <a:gd name="adj" fmla="val 10606"/>
            </a:avLst>
          </a:prstGeom>
          <a:solidFill>
            <a:srgbClr val="FFFFFF"/>
          </a:solidFill>
          <a:ln w="12700">
            <a:solidFill>
              <a:srgbClr val="1DB87A"/>
            </a:solidFill>
            <a:prstDash val="solid"/>
          </a:ln>
          <a:effectLst>
            <a:outerShdw blurRad="76200" dist="25400" dir="2700000" algn="bl" rotWithShape="0">
              <a:srgbClr val="000000">
                <a:alpha val="12000"/>
              </a:srgbClr>
            </a:outerShdw>
          </a:effectLst>
        </p:spPr>
      </p:sp>
      <p:sp>
        <p:nvSpPr>
          <p:cNvPr id="44" name="Text 42"/>
          <p:cNvSpPr/>
          <p:nvPr/>
        </p:nvSpPr>
        <p:spPr>
          <a:xfrm>
            <a:off x="7242048" y="4059936"/>
            <a:ext cx="1463040" cy="530352"/>
          </a:xfrm>
          <a:prstGeom prst="rect">
            <a:avLst/>
          </a:prstGeom>
          <a:noFill/>
          <a:ln/>
        </p:spPr>
        <p:txBody>
          <a:bodyPr wrap="square" lIns="0" tIns="0" rIns="0" bIns="0" rtlCol="0" anchor="ctr"/>
          <a:lstStyle/>
          <a:p>
            <a:pPr marL="0" indent="0" algn="ctr">
              <a:buNone/>
            </a:pPr>
            <a:r>
              <a:rPr lang="en-US" sz="850" b="1" dirty="0">
                <a:solidFill>
                  <a:srgbClr val="0A5C3A"/>
                </a:solidFill>
                <a:latin typeface="Calibri" pitchFamily="34" charset="0"/>
                <a:ea typeface="Calibri" pitchFamily="34" charset="-122"/>
                <a:cs typeface="Calibri" pitchFamily="34" charset="-120"/>
              </a:rPr>
              <a:t>Cross-Bank Pattern Analytics Engine</a:t>
            </a:r>
            <a:endParaRPr lang="en-US" sz="850" dirty="0"/>
          </a:p>
        </p:txBody>
      </p:sp>
      <p:sp>
        <p:nvSpPr>
          <p:cNvPr id="45" name="Shape 43"/>
          <p:cNvSpPr/>
          <p:nvPr/>
        </p:nvSpPr>
        <p:spPr>
          <a:xfrm>
            <a:off x="274320" y="4645152"/>
            <a:ext cx="8595360" cy="384048"/>
          </a:xfrm>
          <a:prstGeom prst="roundRect">
            <a:avLst>
              <a:gd name="adj" fmla="val 19048"/>
            </a:avLst>
          </a:prstGeom>
          <a:solidFill>
            <a:srgbClr val="E8EDF4"/>
          </a:solidFill>
          <a:ln w="12700">
            <a:solidFill>
              <a:srgbClr val="B0BDD0"/>
            </a:solidFill>
            <a:prstDash val="solid"/>
          </a:ln>
        </p:spPr>
      </p:sp>
      <p:sp>
        <p:nvSpPr>
          <p:cNvPr id="46" name="Text 44"/>
          <p:cNvSpPr/>
          <p:nvPr/>
        </p:nvSpPr>
        <p:spPr>
          <a:xfrm>
            <a:off x="457200" y="4700016"/>
            <a:ext cx="8229600" cy="274320"/>
          </a:xfrm>
          <a:prstGeom prst="rect">
            <a:avLst/>
          </a:prstGeom>
          <a:noFill/>
          <a:ln/>
        </p:spPr>
        <p:txBody>
          <a:bodyPr wrap="square" lIns="0" tIns="0" rIns="0" bIns="0" rtlCol="0" anchor="ctr"/>
          <a:lstStyle/>
          <a:p>
            <a:pPr marL="0" indent="0" algn="ctr">
              <a:buNone/>
            </a:pPr>
            <a:r>
              <a:rPr lang="en-US" sz="850" i="1" dirty="0">
                <a:solidFill>
                  <a:srgbClr val="4A5568"/>
                </a:solidFill>
                <a:latin typeface="Calibri" pitchFamily="34" charset="0"/>
                <a:ea typeface="Calibri" pitchFamily="34" charset="-122"/>
                <a:cs typeface="Calibri" pitchFamily="34" charset="-120"/>
              </a:rPr>
              <a:t>Technology Stack: Hyperledger Fabric (permissioned chain)  ·  Solidity / Go Chaincode (smart contracts)  ·  REST/gRPC integration APIs  ·  ZK-SNARK proofs  ·  Existing FPS gateway unchanged</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347472"/>
          </a:xfrm>
          <a:prstGeom prst="rect">
            <a:avLst/>
          </a:prstGeom>
          <a:noFill/>
          <a:ln/>
        </p:spPr>
        <p:txBody>
          <a:bodyPr wrap="square" lIns="0" tIns="0" rIns="0" bIns="0" rtlCol="0" anchor="ctr"/>
          <a:lstStyle/>
          <a:p>
            <a:pPr marL="0" indent="0">
              <a:buNone/>
            </a:pPr>
            <a:r>
              <a:rPr lang="en-US" sz="1000" b="1" kern="0" spc="300" dirty="0">
                <a:solidFill>
                  <a:srgbClr val="E8A020"/>
                </a:solidFill>
                <a:latin typeface="Calibri" pitchFamily="34" charset="0"/>
                <a:ea typeface="Calibri" pitchFamily="34" charset="-122"/>
                <a:cs typeface="Calibri" pitchFamily="34" charset="-120"/>
              </a:rPr>
              <a:t>EXPECTED OUTCOMES</a:t>
            </a:r>
            <a:endParaRPr lang="en-US" sz="1000" dirty="0"/>
          </a:p>
        </p:txBody>
      </p:sp>
      <p:sp>
        <p:nvSpPr>
          <p:cNvPr id="3" name="Text 1"/>
          <p:cNvSpPr/>
          <p:nvPr/>
        </p:nvSpPr>
        <p:spPr>
          <a:xfrm>
            <a:off x="457200" y="5212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Projected Impact &amp; Return on Investment</a:t>
            </a:r>
            <a:endParaRPr lang="en-US" sz="2400" dirty="0"/>
          </a:p>
        </p:txBody>
      </p:sp>
      <p:sp>
        <p:nvSpPr>
          <p:cNvPr id="4" name="Shape 2"/>
          <p:cNvSpPr/>
          <p:nvPr/>
        </p:nvSpPr>
        <p:spPr>
          <a:xfrm>
            <a:off x="274320" y="1261872"/>
            <a:ext cx="2029968" cy="1965960"/>
          </a:xfrm>
          <a:prstGeom prst="roundRect">
            <a:avLst>
              <a:gd name="adj" fmla="val 5581"/>
            </a:avLst>
          </a:prstGeom>
          <a:solidFill>
            <a:srgbClr val="162D52"/>
          </a:solidFill>
          <a:ln w="12700">
            <a:solidFill>
              <a:srgbClr val="1DB87A"/>
            </a:solidFill>
            <a:prstDash val="solid"/>
          </a:ln>
          <a:effectLst>
            <a:outerShdw blurRad="101600" dist="38100" dir="2700000" algn="bl" rotWithShape="0">
              <a:srgbClr val="000000">
                <a:alpha val="18000"/>
              </a:srgbClr>
            </a:outerShdw>
          </a:effectLst>
        </p:spPr>
      </p:sp>
      <p:sp>
        <p:nvSpPr>
          <p:cNvPr id="5" name="Text 3"/>
          <p:cNvSpPr/>
          <p:nvPr/>
        </p:nvSpPr>
        <p:spPr>
          <a:xfrm>
            <a:off x="274320" y="1371600"/>
            <a:ext cx="2029968" cy="685800"/>
          </a:xfrm>
          <a:prstGeom prst="rect">
            <a:avLst/>
          </a:prstGeom>
          <a:noFill/>
          <a:ln/>
        </p:spPr>
        <p:txBody>
          <a:bodyPr wrap="square" lIns="0" tIns="0" rIns="0" bIns="0" rtlCol="0" anchor="ctr"/>
          <a:lstStyle/>
          <a:p>
            <a:pPr marL="0" indent="0" algn="ctr">
              <a:buNone/>
            </a:pPr>
            <a:r>
              <a:rPr lang="en-US" sz="2600" b="1" dirty="0">
                <a:solidFill>
                  <a:srgbClr val="1DB87A"/>
                </a:solidFill>
                <a:latin typeface="Cambria" pitchFamily="34" charset="0"/>
                <a:ea typeface="Cambria" pitchFamily="34" charset="-122"/>
                <a:cs typeface="Cambria" pitchFamily="34" charset="-120"/>
              </a:rPr>
              <a:t>75–80%</a:t>
            </a:r>
            <a:endParaRPr lang="en-US" sz="2600" dirty="0"/>
          </a:p>
        </p:txBody>
      </p:sp>
      <p:sp>
        <p:nvSpPr>
          <p:cNvPr id="6" name="Text 4"/>
          <p:cNvSpPr/>
          <p:nvPr/>
        </p:nvSpPr>
        <p:spPr>
          <a:xfrm>
            <a:off x="365760" y="2029968"/>
            <a:ext cx="1847088"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APP fraud</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interception rate</a:t>
            </a:r>
            <a:endParaRPr lang="en-US" sz="1050" dirty="0"/>
          </a:p>
        </p:txBody>
      </p:sp>
      <p:sp>
        <p:nvSpPr>
          <p:cNvPr id="7" name="Text 5"/>
          <p:cNvSpPr/>
          <p:nvPr/>
        </p:nvSpPr>
        <p:spPr>
          <a:xfrm>
            <a:off x="365760" y="2542032"/>
            <a:ext cx="1847088" cy="594360"/>
          </a:xfrm>
          <a:prstGeom prst="rect">
            <a:avLst/>
          </a:prstGeom>
          <a:noFill/>
          <a:ln/>
        </p:spPr>
        <p:txBody>
          <a:bodyPr wrap="square" lIns="0" tIns="0" rIns="0" bIns="0" rtlCol="0" anchor="ctr"/>
          <a:lstStyle/>
          <a:p>
            <a:pPr marL="0" indent="0" algn="ctr">
              <a:buNone/>
            </a:pPr>
            <a:r>
              <a:rPr lang="en-US" sz="850" i="1" dirty="0">
                <a:solidFill>
                  <a:srgbClr val="8FA5BF"/>
                </a:solidFill>
                <a:latin typeface="Calibri" pitchFamily="34" charset="0"/>
                <a:ea typeface="Calibri" pitchFamily="34" charset="-122"/>
                <a:cs typeface="Calibri" pitchFamily="34" charset="-120"/>
              </a:rPr>
              <a:t>Before funds leave the bank</a:t>
            </a:r>
            <a:endParaRPr lang="en-US" sz="850" dirty="0"/>
          </a:p>
        </p:txBody>
      </p:sp>
      <p:sp>
        <p:nvSpPr>
          <p:cNvPr id="8" name="Shape 6"/>
          <p:cNvSpPr/>
          <p:nvPr/>
        </p:nvSpPr>
        <p:spPr>
          <a:xfrm>
            <a:off x="2450592" y="1261872"/>
            <a:ext cx="2029968" cy="1965960"/>
          </a:xfrm>
          <a:prstGeom prst="roundRect">
            <a:avLst>
              <a:gd name="adj" fmla="val 5581"/>
            </a:avLst>
          </a:prstGeom>
          <a:solidFill>
            <a:srgbClr val="162D52"/>
          </a:solidFill>
          <a:ln w="12700">
            <a:solidFill>
              <a:srgbClr val="E8A020"/>
            </a:solidFill>
            <a:prstDash val="solid"/>
          </a:ln>
          <a:effectLst>
            <a:outerShdw blurRad="101600" dist="38100" dir="2700000" algn="bl" rotWithShape="0">
              <a:srgbClr val="000000">
                <a:alpha val="18000"/>
              </a:srgbClr>
            </a:outerShdw>
          </a:effectLst>
        </p:spPr>
      </p:sp>
      <p:sp>
        <p:nvSpPr>
          <p:cNvPr id="9" name="Text 7"/>
          <p:cNvSpPr/>
          <p:nvPr/>
        </p:nvSpPr>
        <p:spPr>
          <a:xfrm>
            <a:off x="2450592" y="1371600"/>
            <a:ext cx="2029968" cy="685800"/>
          </a:xfrm>
          <a:prstGeom prst="rect">
            <a:avLst/>
          </a:prstGeom>
          <a:noFill/>
          <a:ln/>
        </p:spPr>
        <p:txBody>
          <a:bodyPr wrap="square" lIns="0" tIns="0" rIns="0" bIns="0" rtlCol="0" anchor="ctr"/>
          <a:lstStyle/>
          <a:p>
            <a:pPr marL="0" indent="0" algn="ctr">
              <a:buNone/>
            </a:pPr>
            <a:r>
              <a:rPr lang="en-US" sz="2600" b="1" dirty="0">
                <a:solidFill>
                  <a:srgbClr val="E8A020"/>
                </a:solidFill>
                <a:latin typeface="Cambria" pitchFamily="34" charset="0"/>
                <a:ea typeface="Cambria" pitchFamily="34" charset="-122"/>
                <a:cs typeface="Cambria" pitchFamily="34" charset="-120"/>
              </a:rPr>
              <a:t>£350–400M</a:t>
            </a:r>
            <a:endParaRPr lang="en-US" sz="2600" dirty="0"/>
          </a:p>
        </p:txBody>
      </p:sp>
      <p:sp>
        <p:nvSpPr>
          <p:cNvPr id="10" name="Text 8"/>
          <p:cNvSpPr/>
          <p:nvPr/>
        </p:nvSpPr>
        <p:spPr>
          <a:xfrm>
            <a:off x="2542032" y="2029968"/>
            <a:ext cx="1847088"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Potential annual savings</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across UK banking</a:t>
            </a:r>
            <a:endParaRPr lang="en-US" sz="1050" dirty="0"/>
          </a:p>
        </p:txBody>
      </p:sp>
      <p:sp>
        <p:nvSpPr>
          <p:cNvPr id="11" name="Text 9"/>
          <p:cNvSpPr/>
          <p:nvPr/>
        </p:nvSpPr>
        <p:spPr>
          <a:xfrm>
            <a:off x="2542032" y="2542032"/>
            <a:ext cx="1847088" cy="594360"/>
          </a:xfrm>
          <a:prstGeom prst="rect">
            <a:avLst/>
          </a:prstGeom>
          <a:noFill/>
          <a:ln/>
        </p:spPr>
        <p:txBody>
          <a:bodyPr wrap="square" lIns="0" tIns="0" rIns="0" bIns="0" rtlCol="0" anchor="ctr"/>
          <a:lstStyle/>
          <a:p>
            <a:pPr marL="0" indent="0" algn="ctr">
              <a:buNone/>
            </a:pPr>
            <a:r>
              <a:rPr lang="en-US" sz="850" i="1" dirty="0">
                <a:solidFill>
                  <a:srgbClr val="8FA5BF"/>
                </a:solidFill>
                <a:latin typeface="Calibri" pitchFamily="34" charset="0"/>
                <a:ea typeface="Calibri" pitchFamily="34" charset="-122"/>
                <a:cs typeface="Calibri" pitchFamily="34" charset="-120"/>
              </a:rPr>
              <a:t>Conservative estimate at 75% interception</a:t>
            </a:r>
            <a:endParaRPr lang="en-US" sz="850" dirty="0"/>
          </a:p>
        </p:txBody>
      </p:sp>
      <p:sp>
        <p:nvSpPr>
          <p:cNvPr id="12" name="Shape 10"/>
          <p:cNvSpPr/>
          <p:nvPr/>
        </p:nvSpPr>
        <p:spPr>
          <a:xfrm>
            <a:off x="4626864" y="1261872"/>
            <a:ext cx="2029968" cy="1965960"/>
          </a:xfrm>
          <a:prstGeom prst="roundRect">
            <a:avLst>
              <a:gd name="adj" fmla="val 5581"/>
            </a:avLst>
          </a:prstGeom>
          <a:solidFill>
            <a:srgbClr val="162D52"/>
          </a:solidFill>
          <a:ln w="12700">
            <a:solidFill>
              <a:srgbClr val="3AB0FF"/>
            </a:solidFill>
            <a:prstDash val="solid"/>
          </a:ln>
          <a:effectLst>
            <a:outerShdw blurRad="101600" dist="38100" dir="2700000" algn="bl" rotWithShape="0">
              <a:srgbClr val="000000">
                <a:alpha val="18000"/>
              </a:srgbClr>
            </a:outerShdw>
          </a:effectLst>
        </p:spPr>
      </p:sp>
      <p:sp>
        <p:nvSpPr>
          <p:cNvPr id="13" name="Text 11"/>
          <p:cNvSpPr/>
          <p:nvPr/>
        </p:nvSpPr>
        <p:spPr>
          <a:xfrm>
            <a:off x="4626864" y="1371600"/>
            <a:ext cx="2029968" cy="685800"/>
          </a:xfrm>
          <a:prstGeom prst="rect">
            <a:avLst/>
          </a:prstGeom>
          <a:noFill/>
          <a:ln/>
        </p:spPr>
        <p:txBody>
          <a:bodyPr wrap="square" lIns="0" tIns="0" rIns="0" bIns="0" rtlCol="0" anchor="ctr"/>
          <a:lstStyle/>
          <a:p>
            <a:pPr marL="0" indent="0" algn="ctr">
              <a:buNone/>
            </a:pPr>
            <a:r>
              <a:rPr lang="en-US" sz="2600" b="1" dirty="0">
                <a:solidFill>
                  <a:srgbClr val="3AB0FF"/>
                </a:solidFill>
                <a:latin typeface="Cambria" pitchFamily="34" charset="0"/>
                <a:ea typeface="Cambria" pitchFamily="34" charset="-122"/>
                <a:cs typeface="Cambria" pitchFamily="34" charset="-120"/>
              </a:rPr>
              <a:t>60%</a:t>
            </a:r>
            <a:endParaRPr lang="en-US" sz="2600" dirty="0"/>
          </a:p>
        </p:txBody>
      </p:sp>
      <p:sp>
        <p:nvSpPr>
          <p:cNvPr id="14" name="Text 12"/>
          <p:cNvSpPr/>
          <p:nvPr/>
        </p:nvSpPr>
        <p:spPr>
          <a:xfrm>
            <a:off x="4718304" y="2029968"/>
            <a:ext cx="1847088"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Fraud ops cost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reduction</a:t>
            </a:r>
            <a:endParaRPr lang="en-US" sz="1050" dirty="0"/>
          </a:p>
        </p:txBody>
      </p:sp>
      <p:sp>
        <p:nvSpPr>
          <p:cNvPr id="15" name="Text 13"/>
          <p:cNvSpPr/>
          <p:nvPr/>
        </p:nvSpPr>
        <p:spPr>
          <a:xfrm>
            <a:off x="4718304" y="2542032"/>
            <a:ext cx="1847088" cy="594360"/>
          </a:xfrm>
          <a:prstGeom prst="rect">
            <a:avLst/>
          </a:prstGeom>
          <a:noFill/>
          <a:ln/>
        </p:spPr>
        <p:txBody>
          <a:bodyPr wrap="square" lIns="0" tIns="0" rIns="0" bIns="0" rtlCol="0" anchor="ctr"/>
          <a:lstStyle/>
          <a:p>
            <a:pPr marL="0" indent="0" algn="ctr">
              <a:buNone/>
            </a:pPr>
            <a:r>
              <a:rPr lang="en-US" sz="850" i="1" dirty="0">
                <a:solidFill>
                  <a:srgbClr val="8FA5BF"/>
                </a:solidFill>
                <a:latin typeface="Calibri" pitchFamily="34" charset="0"/>
                <a:ea typeface="Calibri" pitchFamily="34" charset="-122"/>
                <a:cs typeface="Calibri" pitchFamily="34" charset="-120"/>
              </a:rPr>
              <a:t>Automated flagging &amp; on-chain evidence</a:t>
            </a:r>
            <a:endParaRPr lang="en-US" sz="850" dirty="0"/>
          </a:p>
        </p:txBody>
      </p:sp>
      <p:sp>
        <p:nvSpPr>
          <p:cNvPr id="16" name="Shape 14"/>
          <p:cNvSpPr/>
          <p:nvPr/>
        </p:nvSpPr>
        <p:spPr>
          <a:xfrm>
            <a:off x="6803136" y="1261872"/>
            <a:ext cx="2029968" cy="1965960"/>
          </a:xfrm>
          <a:prstGeom prst="roundRect">
            <a:avLst>
              <a:gd name="adj" fmla="val 5581"/>
            </a:avLst>
          </a:prstGeom>
          <a:solidFill>
            <a:srgbClr val="162D52"/>
          </a:solidFill>
          <a:ln w="12700">
            <a:solidFill>
              <a:srgbClr val="0D9488"/>
            </a:solidFill>
            <a:prstDash val="solid"/>
          </a:ln>
          <a:effectLst>
            <a:outerShdw blurRad="101600" dist="38100" dir="2700000" algn="bl" rotWithShape="0">
              <a:srgbClr val="000000">
                <a:alpha val="18000"/>
              </a:srgbClr>
            </a:outerShdw>
          </a:effectLst>
        </p:spPr>
      </p:sp>
      <p:sp>
        <p:nvSpPr>
          <p:cNvPr id="17" name="Text 15"/>
          <p:cNvSpPr/>
          <p:nvPr/>
        </p:nvSpPr>
        <p:spPr>
          <a:xfrm>
            <a:off x="6803136" y="1371600"/>
            <a:ext cx="2029968" cy="685800"/>
          </a:xfrm>
          <a:prstGeom prst="rect">
            <a:avLst/>
          </a:prstGeom>
          <a:noFill/>
          <a:ln/>
        </p:spPr>
        <p:txBody>
          <a:bodyPr wrap="square" lIns="0" tIns="0" rIns="0" bIns="0" rtlCol="0" anchor="ctr"/>
          <a:lstStyle/>
          <a:p>
            <a:pPr marL="0" indent="0" algn="ctr">
              <a:buNone/>
            </a:pPr>
            <a:r>
              <a:rPr lang="en-US" sz="2600" b="1" dirty="0">
                <a:solidFill>
                  <a:srgbClr val="0D9488"/>
                </a:solidFill>
                <a:latin typeface="Cambria" pitchFamily="34" charset="0"/>
                <a:ea typeface="Cambria" pitchFamily="34" charset="-122"/>
                <a:cs typeface="Cambria" pitchFamily="34" charset="-120"/>
              </a:rPr>
              <a:t>&lt;50ms</a:t>
            </a:r>
            <a:endParaRPr lang="en-US" sz="2600" dirty="0"/>
          </a:p>
        </p:txBody>
      </p:sp>
      <p:sp>
        <p:nvSpPr>
          <p:cNvPr id="18" name="Text 16"/>
          <p:cNvSpPr/>
          <p:nvPr/>
        </p:nvSpPr>
        <p:spPr>
          <a:xfrm>
            <a:off x="6894576" y="2029968"/>
            <a:ext cx="1847088"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Ledger query</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latency</a:t>
            </a:r>
            <a:endParaRPr lang="en-US" sz="1050" dirty="0"/>
          </a:p>
        </p:txBody>
      </p:sp>
      <p:sp>
        <p:nvSpPr>
          <p:cNvPr id="19" name="Text 17"/>
          <p:cNvSpPr/>
          <p:nvPr/>
        </p:nvSpPr>
        <p:spPr>
          <a:xfrm>
            <a:off x="6894576" y="2542032"/>
            <a:ext cx="1847088" cy="594360"/>
          </a:xfrm>
          <a:prstGeom prst="rect">
            <a:avLst/>
          </a:prstGeom>
          <a:noFill/>
          <a:ln/>
        </p:spPr>
        <p:txBody>
          <a:bodyPr wrap="square" lIns="0" tIns="0" rIns="0" bIns="0" rtlCol="0" anchor="ctr"/>
          <a:lstStyle/>
          <a:p>
            <a:pPr marL="0" indent="0" algn="ctr">
              <a:buNone/>
            </a:pPr>
            <a:r>
              <a:rPr lang="en-US" sz="850" i="1" dirty="0">
                <a:solidFill>
                  <a:srgbClr val="8FA5BF"/>
                </a:solidFill>
                <a:latin typeface="Calibri" pitchFamily="34" charset="0"/>
                <a:ea typeface="Calibri" pitchFamily="34" charset="-122"/>
                <a:cs typeface="Calibri" pitchFamily="34" charset="-120"/>
              </a:rPr>
              <a:t>Zero perceptible impact on payment UX</a:t>
            </a:r>
            <a:endParaRPr lang="en-US" sz="850" dirty="0"/>
          </a:p>
        </p:txBody>
      </p:sp>
      <p:sp>
        <p:nvSpPr>
          <p:cNvPr id="20" name="Text 18"/>
          <p:cNvSpPr/>
          <p:nvPr/>
        </p:nvSpPr>
        <p:spPr>
          <a:xfrm>
            <a:off x="365760" y="3383280"/>
            <a:ext cx="8412480" cy="347472"/>
          </a:xfrm>
          <a:prstGeom prst="rect">
            <a:avLst/>
          </a:prstGeom>
          <a:noFill/>
          <a:ln/>
        </p:spPr>
        <p:txBody>
          <a:bodyPr wrap="square" lIns="0" tIns="0" rIns="0" bIns="0" rtlCol="0" anchor="ctr"/>
          <a:lstStyle/>
          <a:p>
            <a:pPr marL="0" indent="0">
              <a:buNone/>
            </a:pPr>
            <a:r>
              <a:rPr lang="en-US" sz="1300" b="1" dirty="0">
                <a:solidFill>
                  <a:srgbClr val="E8A020"/>
                </a:solidFill>
                <a:latin typeface="Calibri" pitchFamily="34" charset="0"/>
                <a:ea typeface="Calibri" pitchFamily="34" charset="-122"/>
                <a:cs typeface="Calibri" pitchFamily="34" charset="-120"/>
              </a:rPr>
              <a:t>Phased Benefit Realisation</a:t>
            </a:r>
            <a:endParaRPr lang="en-US" sz="1300" dirty="0"/>
          </a:p>
        </p:txBody>
      </p:sp>
      <p:sp>
        <p:nvSpPr>
          <p:cNvPr id="21" name="Shape 19"/>
          <p:cNvSpPr/>
          <p:nvPr/>
        </p:nvSpPr>
        <p:spPr>
          <a:xfrm>
            <a:off x="274320" y="3767328"/>
            <a:ext cx="2743200" cy="1207008"/>
          </a:xfrm>
          <a:prstGeom prst="roundRect">
            <a:avLst>
              <a:gd name="adj" fmla="val 7576"/>
            </a:avLst>
          </a:prstGeom>
          <a:solidFill>
            <a:srgbClr val="162D52"/>
          </a:solidFill>
          <a:ln w="12700">
            <a:solidFill>
              <a:srgbClr val="0D9488"/>
            </a:solidFill>
            <a:prstDash val="solid"/>
          </a:ln>
          <a:effectLst>
            <a:outerShdw blurRad="76200" dist="25400" dir="2700000" algn="bl" rotWithShape="0">
              <a:srgbClr val="000000">
                <a:alpha val="12000"/>
              </a:srgbClr>
            </a:outerShdw>
          </a:effectLst>
        </p:spPr>
      </p:sp>
      <p:sp>
        <p:nvSpPr>
          <p:cNvPr id="22" name="Text 20"/>
          <p:cNvSpPr/>
          <p:nvPr/>
        </p:nvSpPr>
        <p:spPr>
          <a:xfrm>
            <a:off x="411480" y="3822192"/>
            <a:ext cx="1280160" cy="475488"/>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Phase 1</a:t>
            </a:r>
            <a:endParaRPr lang="en-US" sz="1000" dirty="0"/>
          </a:p>
          <a:p>
            <a:pPr marL="0" indent="0">
              <a:buNone/>
            </a:pPr>
            <a:r>
              <a:rPr lang="en-US" sz="1000" b="1" dirty="0">
                <a:solidFill>
                  <a:srgbClr val="0D9488"/>
                </a:solidFill>
                <a:latin typeface="Calibri" pitchFamily="34" charset="0"/>
                <a:ea typeface="Calibri" pitchFamily="34" charset="-122"/>
                <a:cs typeface="Calibri" pitchFamily="34" charset="-120"/>
              </a:rPr>
              <a:t>0–6 months</a:t>
            </a:r>
            <a:endParaRPr lang="en-US" sz="1000" dirty="0"/>
          </a:p>
        </p:txBody>
      </p:sp>
      <p:sp>
        <p:nvSpPr>
          <p:cNvPr id="23" name="Text 21"/>
          <p:cNvSpPr/>
          <p:nvPr/>
        </p:nvSpPr>
        <p:spPr>
          <a:xfrm>
            <a:off x="384048" y="4297680"/>
            <a:ext cx="2523744" cy="237744"/>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  On-chain audit trail live for all outbound payments</a:t>
            </a:r>
            <a:endParaRPr lang="en-US" sz="820" dirty="0"/>
          </a:p>
        </p:txBody>
      </p:sp>
      <p:sp>
        <p:nvSpPr>
          <p:cNvPr id="24" name="Text 22"/>
          <p:cNvSpPr/>
          <p:nvPr/>
        </p:nvSpPr>
        <p:spPr>
          <a:xfrm>
            <a:off x="384048" y="4544568"/>
            <a:ext cx="2523744" cy="237744"/>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  Cooling-off smart contract for &gt;£10K to new payees</a:t>
            </a:r>
            <a:endParaRPr lang="en-US" sz="820" dirty="0"/>
          </a:p>
        </p:txBody>
      </p:sp>
      <p:sp>
        <p:nvSpPr>
          <p:cNvPr id="25" name="Text 23"/>
          <p:cNvSpPr/>
          <p:nvPr/>
        </p:nvSpPr>
        <p:spPr>
          <a:xfrm>
            <a:off x="384048" y="4791456"/>
            <a:ext cx="2523744" cy="237744"/>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  Internal fraud ops dashboard connected to ledger</a:t>
            </a:r>
            <a:endParaRPr lang="en-US" sz="820" dirty="0"/>
          </a:p>
        </p:txBody>
      </p:sp>
      <p:sp>
        <p:nvSpPr>
          <p:cNvPr id="26" name="Shape 24"/>
          <p:cNvSpPr/>
          <p:nvPr/>
        </p:nvSpPr>
        <p:spPr>
          <a:xfrm>
            <a:off x="3182112" y="3767328"/>
            <a:ext cx="2743200" cy="1207008"/>
          </a:xfrm>
          <a:prstGeom prst="roundRect">
            <a:avLst>
              <a:gd name="adj" fmla="val 7576"/>
            </a:avLst>
          </a:prstGeom>
          <a:solidFill>
            <a:srgbClr val="162D52"/>
          </a:solidFill>
          <a:ln w="12700">
            <a:solidFill>
              <a:srgbClr val="E8A020"/>
            </a:solidFill>
            <a:prstDash val="solid"/>
          </a:ln>
          <a:effectLst>
            <a:outerShdw blurRad="76200" dist="25400" dir="2700000" algn="bl" rotWithShape="0">
              <a:srgbClr val="000000">
                <a:alpha val="12000"/>
              </a:srgbClr>
            </a:outerShdw>
          </a:effectLst>
        </p:spPr>
      </p:sp>
      <p:sp>
        <p:nvSpPr>
          <p:cNvPr id="27" name="Text 25"/>
          <p:cNvSpPr/>
          <p:nvPr/>
        </p:nvSpPr>
        <p:spPr>
          <a:xfrm>
            <a:off x="3319272" y="3822192"/>
            <a:ext cx="1280160" cy="475488"/>
          </a:xfrm>
          <a:prstGeom prst="rect">
            <a:avLst/>
          </a:prstGeom>
          <a:noFill/>
          <a:ln/>
        </p:spPr>
        <p:txBody>
          <a:bodyPr wrap="square" lIns="0" tIns="0" rIns="0" bIns="0" rtlCol="0" anchor="ctr"/>
          <a:lstStyle/>
          <a:p>
            <a:pPr marL="0" indent="0">
              <a:buNone/>
            </a:pPr>
            <a:r>
              <a:rPr lang="en-US" sz="1000" b="1" dirty="0">
                <a:solidFill>
                  <a:srgbClr val="E8A020"/>
                </a:solidFill>
                <a:latin typeface="Calibri" pitchFamily="34" charset="0"/>
                <a:ea typeface="Calibri" pitchFamily="34" charset="-122"/>
                <a:cs typeface="Calibri" pitchFamily="34" charset="-120"/>
              </a:rPr>
              <a:t>Phase 2</a:t>
            </a:r>
            <a:endParaRPr lang="en-US" sz="1000" dirty="0"/>
          </a:p>
          <a:p>
            <a:pPr marL="0" indent="0">
              <a:buNone/>
            </a:pPr>
            <a:r>
              <a:rPr lang="en-US" sz="1000" b="1" dirty="0">
                <a:solidFill>
                  <a:srgbClr val="E8A020"/>
                </a:solidFill>
                <a:latin typeface="Calibri" pitchFamily="34" charset="0"/>
                <a:ea typeface="Calibri" pitchFamily="34" charset="-122"/>
                <a:cs typeface="Calibri" pitchFamily="34" charset="-120"/>
              </a:rPr>
              <a:t>6–18 months</a:t>
            </a:r>
            <a:endParaRPr lang="en-US" sz="1000" dirty="0"/>
          </a:p>
        </p:txBody>
      </p:sp>
      <p:sp>
        <p:nvSpPr>
          <p:cNvPr id="28" name="Text 26"/>
          <p:cNvSpPr/>
          <p:nvPr/>
        </p:nvSpPr>
        <p:spPr>
          <a:xfrm>
            <a:off x="3291840" y="4297680"/>
            <a:ext cx="2523744" cy="237744"/>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  Multi-sig approval for &gt;£50K transfers</a:t>
            </a:r>
            <a:endParaRPr lang="en-US" sz="820" dirty="0"/>
          </a:p>
        </p:txBody>
      </p:sp>
      <p:sp>
        <p:nvSpPr>
          <p:cNvPr id="29" name="Text 27"/>
          <p:cNvSpPr/>
          <p:nvPr/>
        </p:nvSpPr>
        <p:spPr>
          <a:xfrm>
            <a:off x="3291840" y="4544568"/>
            <a:ext cx="2523744" cy="237744"/>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  Anomaly detection oracle connected to existing ML models</a:t>
            </a:r>
            <a:endParaRPr lang="en-US" sz="820" dirty="0"/>
          </a:p>
        </p:txBody>
      </p:sp>
      <p:sp>
        <p:nvSpPr>
          <p:cNvPr id="30" name="Text 28"/>
          <p:cNvSpPr/>
          <p:nvPr/>
        </p:nvSpPr>
        <p:spPr>
          <a:xfrm>
            <a:off x="3291840" y="4791456"/>
            <a:ext cx="2523744" cy="237744"/>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  Pilot cross-bank ledger with 2–3 partner institutions</a:t>
            </a:r>
            <a:endParaRPr lang="en-US" sz="820" dirty="0"/>
          </a:p>
        </p:txBody>
      </p:sp>
      <p:sp>
        <p:nvSpPr>
          <p:cNvPr id="31" name="Shape 29"/>
          <p:cNvSpPr/>
          <p:nvPr/>
        </p:nvSpPr>
        <p:spPr>
          <a:xfrm>
            <a:off x="6089904" y="3767328"/>
            <a:ext cx="2743200" cy="1207008"/>
          </a:xfrm>
          <a:prstGeom prst="roundRect">
            <a:avLst>
              <a:gd name="adj" fmla="val 7576"/>
            </a:avLst>
          </a:prstGeom>
          <a:solidFill>
            <a:srgbClr val="162D52"/>
          </a:solidFill>
          <a:ln w="12700">
            <a:solidFill>
              <a:srgbClr val="1DB87A"/>
            </a:solidFill>
            <a:prstDash val="solid"/>
          </a:ln>
          <a:effectLst>
            <a:outerShdw blurRad="76200" dist="25400" dir="2700000" algn="bl" rotWithShape="0">
              <a:srgbClr val="000000">
                <a:alpha val="12000"/>
              </a:srgbClr>
            </a:outerShdw>
          </a:effectLst>
        </p:spPr>
      </p:sp>
      <p:sp>
        <p:nvSpPr>
          <p:cNvPr id="32" name="Text 30"/>
          <p:cNvSpPr/>
          <p:nvPr/>
        </p:nvSpPr>
        <p:spPr>
          <a:xfrm>
            <a:off x="6227064" y="3822192"/>
            <a:ext cx="1280160" cy="475488"/>
          </a:xfrm>
          <a:prstGeom prst="rect">
            <a:avLst/>
          </a:prstGeom>
          <a:noFill/>
          <a:ln/>
        </p:spPr>
        <p:txBody>
          <a:bodyPr wrap="square" lIns="0" tIns="0" rIns="0" bIns="0" rtlCol="0" anchor="ctr"/>
          <a:lstStyle/>
          <a:p>
            <a:pPr marL="0" indent="0">
              <a:buNone/>
            </a:pPr>
            <a:r>
              <a:rPr lang="en-US" sz="1000" b="1" dirty="0">
                <a:solidFill>
                  <a:srgbClr val="1DB87A"/>
                </a:solidFill>
                <a:latin typeface="Calibri" pitchFamily="34" charset="0"/>
                <a:ea typeface="Calibri" pitchFamily="34" charset="-122"/>
                <a:cs typeface="Calibri" pitchFamily="34" charset="-120"/>
              </a:rPr>
              <a:t>Phase 3</a:t>
            </a:r>
            <a:endParaRPr lang="en-US" sz="1000" dirty="0"/>
          </a:p>
          <a:p>
            <a:pPr marL="0" indent="0">
              <a:buNone/>
            </a:pPr>
            <a:r>
              <a:rPr lang="en-US" sz="1000" b="1" dirty="0">
                <a:solidFill>
                  <a:srgbClr val="1DB87A"/>
                </a:solidFill>
                <a:latin typeface="Calibri" pitchFamily="34" charset="0"/>
                <a:ea typeface="Calibri" pitchFamily="34" charset="-122"/>
                <a:cs typeface="Calibri" pitchFamily="34" charset="-120"/>
              </a:rPr>
              <a:t>18–36 months</a:t>
            </a:r>
            <a:endParaRPr lang="en-US" sz="1000" dirty="0"/>
          </a:p>
        </p:txBody>
      </p:sp>
      <p:sp>
        <p:nvSpPr>
          <p:cNvPr id="33" name="Text 31"/>
          <p:cNvSpPr/>
          <p:nvPr/>
        </p:nvSpPr>
        <p:spPr>
          <a:xfrm>
            <a:off x="6199632" y="4297680"/>
            <a:ext cx="2523744" cy="237744"/>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  Full UK consortium ledger operational (all major banks)</a:t>
            </a:r>
            <a:endParaRPr lang="en-US" sz="820" dirty="0"/>
          </a:p>
        </p:txBody>
      </p:sp>
      <p:sp>
        <p:nvSpPr>
          <p:cNvPr id="34" name="Text 32"/>
          <p:cNvSpPr/>
          <p:nvPr/>
        </p:nvSpPr>
        <p:spPr>
          <a:xfrm>
            <a:off x="6199632" y="4544568"/>
            <a:ext cx="2523744" cy="237744"/>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  ZK proof layer for GDPR-compliant cross-bank sharing</a:t>
            </a:r>
            <a:endParaRPr lang="en-US" sz="820" dirty="0"/>
          </a:p>
        </p:txBody>
      </p:sp>
      <p:sp>
        <p:nvSpPr>
          <p:cNvPr id="35" name="Text 33"/>
          <p:cNvSpPr/>
          <p:nvPr/>
        </p:nvSpPr>
        <p:spPr>
          <a:xfrm>
            <a:off x="6199632" y="4791456"/>
            <a:ext cx="2523744" cy="237744"/>
          </a:xfrm>
          <a:prstGeom prst="rect">
            <a:avLst/>
          </a:prstGeom>
          <a:noFill/>
          <a:ln/>
        </p:spPr>
        <p:txBody>
          <a:bodyPr wrap="square" lIns="0" tIns="0" rIns="0" bIns="0" rtlCol="0" anchor="ctr"/>
          <a:lstStyle/>
          <a:p>
            <a:pPr marL="0" indent="0">
              <a:buNone/>
            </a:pPr>
            <a:r>
              <a:rPr lang="en-US" sz="820" dirty="0">
                <a:solidFill>
                  <a:srgbClr val="CBD8EA"/>
                </a:solidFill>
                <a:latin typeface="Calibri" pitchFamily="34" charset="0"/>
                <a:ea typeface="Calibri" pitchFamily="34" charset="-122"/>
                <a:cs typeface="Calibri" pitchFamily="34" charset="-120"/>
              </a:rPr>
              <a:t>▸  Regulatory read-only access node for FCA / PSR</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7342</Words>
  <Application>Microsoft Office PowerPoint</Application>
  <PresentationFormat>On-screen Show (16:9)</PresentationFormat>
  <Paragraphs>309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Blockchain-Based Fraud Detection – Problem Brief</dc:title>
  <dc:subject>PptxGenJS Presentation</dc:subject>
  <dc:creator>PptxGenJS</dc:creator>
  <cp:lastModifiedBy>ARUN KUMAR MOHAPATRA</cp:lastModifiedBy>
  <cp:revision>4</cp:revision>
  <dcterms:created xsi:type="dcterms:W3CDTF">2026-06-21T16:34:51Z</dcterms:created>
  <dcterms:modified xsi:type="dcterms:W3CDTF">2026-06-21T17:33:20Z</dcterms:modified>
</cp:coreProperties>
</file>