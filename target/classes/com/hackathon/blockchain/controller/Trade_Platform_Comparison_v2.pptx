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SaaS / Vendor-Hosted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610</c:v>
                </c:pt>
                <c:pt idx="1">
                  <c:v>484</c:v>
                </c:pt>
                <c:pt idx="2">
                  <c:v>502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Self-Managed / JAR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Yr 1</c:v>
                  </c:pt>
                  <c:pt idx="1">
                    <c:v>Yr 2</c:v>
                  </c:pt>
                  <c:pt idx="2">
                    <c:v>Yr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846</c:v>
                </c:pt>
                <c:pt idx="1">
                  <c:v>627</c:v>
                </c:pt>
                <c:pt idx="2">
                  <c:v>632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</c:scaling>
        <c:delete val="0"/>
        <c:axPos val="l"/>
        <c:majorGridlines>
          <c:spPr>
            <a:ln w="6350" cap="flat">
              <a:solidFill>
                <a:srgbClr val="E0E5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SaaS / Vendor-Hosted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Commercial
&amp; Cost (36%)</c:v>
                  </c:pt>
                  <c:pt idx="1">
                    <c:v>Security &amp;
Compliance (26%)</c:v>
                  </c:pt>
                  <c:pt idx="2">
                    <c:v>Operational
Control (20%)</c:v>
                  </c:pt>
                  <c:pt idx="3">
                    <c:v>Integration
&amp; Arch (8%)</c:v>
                  </c:pt>
                  <c:pt idx="4">
                    <c:v>Delivery &amp;
Scalability (6%)</c:v>
                  </c:pt>
                  <c:pt idx="5">
                    <c:v>Vendor &amp;
Support (4%)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2.8</c:v>
                </c:pt>
                <c:pt idx="1">
                  <c:v>1.3</c:v>
                </c:pt>
                <c:pt idx="2">
                  <c:v>1.6</c:v>
                </c:pt>
                <c:pt idx="3">
                  <c:v>2.6</c:v>
                </c:pt>
                <c:pt idx="4">
                  <c:v>3.2</c:v>
                </c:pt>
                <c:pt idx="5">
                  <c:v>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Self-Managed / JAR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Commercial
&amp; Cost (36%)</c:v>
                  </c:pt>
                  <c:pt idx="1">
                    <c:v>Security &amp;
Compliance (26%)</c:v>
                  </c:pt>
                  <c:pt idx="2">
                    <c:v>Operational
Control (20%)</c:v>
                  </c:pt>
                  <c:pt idx="3">
                    <c:v>Integration
&amp; Arch (8%)</c:v>
                  </c:pt>
                  <c:pt idx="4">
                    <c:v>Delivery &amp;
Scalability (6%)</c:v>
                  </c:pt>
                  <c:pt idx="5">
                    <c:v>Vendor &amp;
Support (4%)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2.5</c:v>
                </c:pt>
                <c:pt idx="1">
                  <c:v>4.5</c:v>
                </c:pt>
                <c:pt idx="2">
                  <c:v>4.7</c:v>
                </c:pt>
                <c:pt idx="3">
                  <c:v>4.2</c:v>
                </c:pt>
                <c:pt idx="4">
                  <c:v>2.3</c:v>
                </c:pt>
                <c:pt idx="5">
                  <c:v>2.9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6350" cap="flat">
              <a:solidFill>
                <a:srgbClr val="E0E5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5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Rebuild with deeper focus on cost, FTE, TCO, and all evaluation parameters.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Commercial &amp; Cost now carries 36% — the largest weight — reflecting the expanded 7-parameter cost analysis including FTE and infrastructure breakdown.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breaks down where money actually goes. The key insight: SaaS looks cheaper on licence but JAR is more expensive in FTE. The crossover point depends on headcount availability and platform volume.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TCO numbers are illustrative. The key message: SaaS appears cheaper but this can flip if (a) scale reduces infra cost per trade, or (b) Lloyds already has spare DevOps/app capacity. The Excel TCO model lets you run your own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FTE is the single largest differentiator in the TCO calculation. The £330k FTE differential per year between SaaS and JAR is the make-or-break factor for the business case. If Lloyds already has DevOps capacity, the differential narrows significantly.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SaaS scores HIGH risk on 4 of 5 regulatory dimensions. The core issue is structural — Lloyds cannot transfer its FCA/PRA accountability to a vendor. JAR gives Lloyds the direct control needed to evidence compliance.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Operational control is where JAR dominates. All four dimensions — upgrades, incidents, DR, and integration — are better controlled under the self-managed model. For a trade production platform, this is non-negotiable.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enlarged Commercial &amp; Cost weight (36%) includes both FTE and infrastructure — not just licence. Even with this, JAR still wins overall due to its dominance on Security &amp; Compliance and Operational 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clear recommendation and actions. Stress that this is a recommendation pending due diligence. The TCO Excel model is the key tool to validate the commercial case with actual vendor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8-1.png"/><Relationship Id="rId3" Type="http://schemas.openxmlformats.org/officeDocument/2006/relationships/image" Target="../media/image-8-2.png"/><Relationship Id="rId4" Type="http://schemas.openxmlformats.org/officeDocument/2006/relationships/image" Target="../media/image-8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457200" y="914400"/>
            <a:ext cx="1188720" cy="118872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85000"/>
          </a:blip>
          <a:stretch>
            <a:fillRect/>
          </a:stretch>
        </p:blipFill>
        <p:spPr>
          <a:xfrm>
            <a:off x="1920240" y="914400"/>
            <a:ext cx="1188720" cy="118872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24231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 Asset Distribution Platform</a:t>
            </a:r>
            <a:endParaRPr lang="en-US" sz="2800" dirty="0"/>
          </a:p>
        </p:txBody>
      </p:sp>
      <p:sp>
        <p:nvSpPr>
          <p:cNvPr id="6" name="Text 2"/>
          <p:cNvSpPr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C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Approach Comparison – v2</a:t>
            </a:r>
            <a:endParaRPr lang="en-US" sz="1800" dirty="0"/>
          </a:p>
        </p:txBody>
      </p:sp>
      <p:sp>
        <p:nvSpPr>
          <p:cNvPr id="7" name="Shape 3"/>
          <p:cNvSpPr/>
          <p:nvPr/>
        </p:nvSpPr>
        <p:spPr>
          <a:xfrm>
            <a:off x="2743200" y="3547872"/>
            <a:ext cx="36576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8D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/ Vendor-Hosted  vs  Self-Managed JAR (GCP / OpenShift)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expanded focus on Pricing · FTE Cost · TCO · Security · Operations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77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Lloyds Banking Group  |  Lead Solution Architecture  |  Vendor Evaluation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 – 26 Parameters Across 6 Dimensions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reflect Lloyds' regulated banking context · Security &amp; Compliance carries highest weighting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2743200" cy="1691640"/>
          </a:xfrm>
          <a:prstGeom prst="roundRect">
            <a:avLst>
              <a:gd name="adj" fmla="val 4865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8872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170432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Cost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04872" y="1170432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404872" y="11704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36%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1664208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parameters: Licence fee · TCO · FTE cost · Infra cost · Hidden costs · Renewal risk · Upgrade cost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154680" y="1005840"/>
            <a:ext cx="2743200" cy="1691640"/>
          </a:xfrm>
          <a:prstGeom prst="roundRect">
            <a:avLst>
              <a:gd name="adj" fmla="val 4865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18872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49040" y="1170432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A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330952" y="1170432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A42020"/>
          </a:solidFill>
          <a:ln w="12700">
            <a:solidFill>
              <a:srgbClr val="A4202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330952" y="11704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3291840" y="1664208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parameters: Data residency · FCA/PRA · DORA · Pen-test SLA · 4th-party risk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080760" y="1005840"/>
            <a:ext cx="2743200" cy="1691640"/>
          </a:xfrm>
          <a:prstGeom prst="roundRect">
            <a:avLst>
              <a:gd name="adj" fmla="val 4865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5120" y="1170432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257032" y="1170432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8A5200"/>
          </a:solidFill>
          <a:ln w="12700">
            <a:solidFill>
              <a:srgbClr val="8A520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257032" y="11704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217920" y="1664208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parameters: Infra ownership · Upgrade control · Incident SLA · DR/BCP · Rollback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228600" y="2834640"/>
            <a:ext cx="2743200" cy="1691640"/>
          </a:xfrm>
          <a:prstGeom prst="roundRect">
            <a:avLst>
              <a:gd name="adj" fmla="val 4865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017520"/>
            <a:ext cx="384048" cy="38404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822960" y="2999232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6A1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2404872" y="2999232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6A1A8A"/>
          </a:solidFill>
          <a:ln w="12700">
            <a:solidFill>
              <a:srgbClr val="6A1A8A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2404872" y="2999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365760" y="3493008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parameters: API flexibility · Multi-env support · Vendor lock-in</a:t>
            </a:r>
            <a:endParaRPr lang="en-US" sz="850" dirty="0"/>
          </a:p>
        </p:txBody>
      </p:sp>
      <p:sp>
        <p:nvSpPr>
          <p:cNvPr id="29" name="Shape 23"/>
          <p:cNvSpPr/>
          <p:nvPr/>
        </p:nvSpPr>
        <p:spPr>
          <a:xfrm>
            <a:off x="3154680" y="2834640"/>
            <a:ext cx="2743200" cy="1691640"/>
          </a:xfrm>
          <a:prstGeom prst="roundRect">
            <a:avLst>
              <a:gd name="adj" fmla="val 4865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3017520"/>
            <a:ext cx="384048" cy="384048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749040" y="2999232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&amp;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0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5330952" y="2999232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005A8A"/>
          </a:solidFill>
          <a:ln w="12700">
            <a:solidFill>
              <a:srgbClr val="005A8A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5330952" y="2999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3291840" y="3493008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parameters: Time to prod · Scalability · DevOps maturity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6080760" y="2834640"/>
            <a:ext cx="2743200" cy="1691640"/>
          </a:xfrm>
          <a:prstGeom prst="roundRect">
            <a:avLst>
              <a:gd name="adj" fmla="val 4865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017520"/>
            <a:ext cx="384048" cy="384048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675120" y="2999232"/>
            <a:ext cx="1508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&amp;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8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</a:t>
            </a:r>
            <a:endParaRPr lang="en-US" sz="1100" dirty="0"/>
          </a:p>
        </p:txBody>
      </p:sp>
      <p:sp>
        <p:nvSpPr>
          <p:cNvPr id="38" name="Shape 30"/>
          <p:cNvSpPr/>
          <p:nvPr/>
        </p:nvSpPr>
        <p:spPr>
          <a:xfrm>
            <a:off x="8257032" y="2999232"/>
            <a:ext cx="502920" cy="274320"/>
          </a:xfrm>
          <a:prstGeom prst="roundRect">
            <a:avLst>
              <a:gd name="adj" fmla="val 16667"/>
            </a:avLst>
          </a:prstGeom>
          <a:solidFill>
            <a:srgbClr val="8A1A1A"/>
          </a:solidFill>
          <a:ln w="12700">
            <a:solidFill>
              <a:srgbClr val="8A1A1A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8257032" y="2999232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6217920" y="3493008"/>
            <a:ext cx="2514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parameters: Support desk SLA · Commercial leverage · Vendor stability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Deep-Dive: What You're Actually Paying For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ranges based on typical UK enterprise trade platform deployments · Update with actual vendor quotes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834640" cy="34747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COMPONENT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108960" y="960120"/>
            <a:ext cx="2743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8688" y="1005840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493008" y="987552"/>
            <a:ext cx="2286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/ Vendor-Hosted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97880" y="960120"/>
            <a:ext cx="30175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100584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81928" y="98755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Self-Managed / JAR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228600" y="1371600"/>
            <a:ext cx="2834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74320" y="13716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3108960" y="1371600"/>
            <a:ext cx="2743200" cy="566928"/>
          </a:xfrm>
          <a:prstGeom prst="rect">
            <a:avLst/>
          </a:prstGeom>
          <a:solidFill>
            <a:srgbClr val="FFF3CD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154680" y="1408176"/>
            <a:ext cx="2651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£250–500k/yr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5897880" y="1371600"/>
            <a:ext cx="3017520" cy="566928"/>
          </a:xfrm>
          <a:prstGeom prst="rect">
            <a:avLst/>
          </a:prstGeom>
          <a:solidFill>
            <a:srgbClr val="D6F5E3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943600" y="1408176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£100–200k/yr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+ 20% for L3 support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228600" y="1984248"/>
            <a:ext cx="2834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74320" y="198424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 Cost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(Ops &amp; DevOps)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3108960" y="1984248"/>
            <a:ext cx="2743200" cy="566928"/>
          </a:xfrm>
          <a:prstGeom prst="rect">
            <a:avLst/>
          </a:prstGeom>
          <a:solidFill>
            <a:srgbClr val="D6F5E3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154680" y="2020824"/>
            <a:ext cx="2651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~£70k/yr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(0.5–1 FTE shared)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5897880" y="1984248"/>
            <a:ext cx="3017520" cy="566928"/>
          </a:xfrm>
          <a:prstGeom prst="rect">
            <a:avLst/>
          </a:prstGeom>
          <a:solidFill>
            <a:srgbClr val="FCE4E4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5943600" y="2020824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£380–480k/yr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(2–4 dedicated FTE)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228600" y="2596896"/>
            <a:ext cx="2834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74320" y="259689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(GCP/OpenShift)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3108960" y="2596896"/>
            <a:ext cx="2743200" cy="566928"/>
          </a:xfrm>
          <a:prstGeom prst="rect">
            <a:avLst/>
          </a:prstGeom>
          <a:solidFill>
            <a:srgbClr val="D6F5E3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3154680" y="2633472"/>
            <a:ext cx="2651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£0 to Lloyds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(vendor absorbs)</a:t>
            </a:r>
            <a:endParaRPr lang="en-US" sz="950" dirty="0"/>
          </a:p>
        </p:txBody>
      </p:sp>
      <p:sp>
        <p:nvSpPr>
          <p:cNvPr id="29" name="Shape 25"/>
          <p:cNvSpPr/>
          <p:nvPr/>
        </p:nvSpPr>
        <p:spPr>
          <a:xfrm>
            <a:off x="5897880" y="2596896"/>
            <a:ext cx="3017520" cy="566928"/>
          </a:xfrm>
          <a:prstGeom prst="rect">
            <a:avLst/>
          </a:prstGeom>
          <a:solidFill>
            <a:srgbClr val="FCE4E4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943600" y="2633472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£155–200k/yr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(compute+platform+tools)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228600" y="3209544"/>
            <a:ext cx="2834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274320" y="320954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&amp;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Costs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3108960" y="3209544"/>
            <a:ext cx="2743200" cy="566928"/>
          </a:xfrm>
          <a:prstGeom prst="rect">
            <a:avLst/>
          </a:prstGeom>
          <a:solidFill>
            <a:srgbClr val="FCE4E4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154680" y="3246120"/>
            <a:ext cx="2651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calls, egress,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seat scaling (+20-40%)</a:t>
            </a:r>
            <a:endParaRPr lang="en-US" sz="950" dirty="0"/>
          </a:p>
        </p:txBody>
      </p:sp>
      <p:sp>
        <p:nvSpPr>
          <p:cNvPr id="35" name="Shape 31"/>
          <p:cNvSpPr/>
          <p:nvPr/>
        </p:nvSpPr>
        <p:spPr>
          <a:xfrm>
            <a:off x="5897880" y="3209544"/>
            <a:ext cx="3017520" cy="566928"/>
          </a:xfrm>
          <a:prstGeom prst="rect">
            <a:avLst/>
          </a:prstGeom>
          <a:solidFill>
            <a:srgbClr val="FFF3CD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5943600" y="3246120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overprovisioning,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effort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228600" y="3822192"/>
            <a:ext cx="2834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274320" y="382219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Cost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3108960" y="3822192"/>
            <a:ext cx="2743200" cy="566928"/>
          </a:xfrm>
          <a:prstGeom prst="rect">
            <a:avLst/>
          </a:prstGeom>
          <a:solidFill>
            <a:srgbClr val="FFF3CD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3154680" y="3858768"/>
            <a:ext cx="2651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£80k one-off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£20k/yr ongoing</a:t>
            </a:r>
            <a:endParaRPr lang="en-US" sz="950" dirty="0"/>
          </a:p>
        </p:txBody>
      </p:sp>
      <p:sp>
        <p:nvSpPr>
          <p:cNvPr id="41" name="Shape 37"/>
          <p:cNvSpPr/>
          <p:nvPr/>
        </p:nvSpPr>
        <p:spPr>
          <a:xfrm>
            <a:off x="5897880" y="3822192"/>
            <a:ext cx="3017520" cy="566928"/>
          </a:xfrm>
          <a:prstGeom prst="rect">
            <a:avLst/>
          </a:prstGeom>
          <a:solidFill>
            <a:srgbClr val="FFF3CD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5943600" y="3858768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£120k one-off +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£15k/yr ongoing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228600" y="4434840"/>
            <a:ext cx="283464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274320" y="44348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3108960" y="4434840"/>
            <a:ext cx="2743200" cy="566928"/>
          </a:xfrm>
          <a:prstGeom prst="rect">
            <a:avLst/>
          </a:prstGeom>
          <a:solidFill>
            <a:srgbClr val="FFF3CD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3154680" y="4471416"/>
            <a:ext cx="26517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£35k/yr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(vendor risk, audit)</a:t>
            </a:r>
            <a:endParaRPr lang="en-US" sz="950" dirty="0"/>
          </a:p>
        </p:txBody>
      </p:sp>
      <p:sp>
        <p:nvSpPr>
          <p:cNvPr id="47" name="Shape 43"/>
          <p:cNvSpPr/>
          <p:nvPr/>
        </p:nvSpPr>
        <p:spPr>
          <a:xfrm>
            <a:off x="5897880" y="4434840"/>
            <a:ext cx="3017520" cy="566928"/>
          </a:xfrm>
          <a:prstGeom prst="rect">
            <a:avLst/>
          </a:prstGeom>
          <a:solidFill>
            <a:srgbClr val="D6F5E3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5943600" y="4471416"/>
            <a:ext cx="29260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£33k/yr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(lighter as Lloyds holds controls)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Indicative TCO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in £k · Illustrative only — replace with actual vendor quotes in the accompanying Excel TCO model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96112"/>
          <a:ext cx="51206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577840" y="868680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E8F7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715000" y="92354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3-Yr Total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5715000" y="119786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£1,596k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715000" y="156362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· FTE · Egress · Gov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577840" y="1920240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E8EE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15000" y="19751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 3-Yr Total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715000" y="224942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£2,105k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715000" y="261518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· FTE · Infra · DevOps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577840" y="2971800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FCE4E4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715000" y="302666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 Premium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715000" y="330098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+£509k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5715000" y="366674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3 years vs SaaS headline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577840" y="4023360"/>
            <a:ext cx="3291840" cy="960120"/>
          </a:xfrm>
          <a:prstGeom prst="roundRect">
            <a:avLst>
              <a:gd name="adj" fmla="val 8571"/>
            </a:avLst>
          </a:prstGeom>
          <a:solidFill>
            <a:srgbClr val="D6F5E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715000" y="407822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FTE saving (SaaS)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715000" y="4352544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~£1.0M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5715000" y="4718304"/>
            <a:ext cx="3017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JAR over 3 yrs (2-4 FTE)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74320" y="4681728"/>
            <a:ext cx="8595360" cy="310896"/>
          </a:xfrm>
          <a:prstGeom prst="roundRect">
            <a:avLst>
              <a:gd name="adj" fmla="val 17647"/>
            </a:avLst>
          </a:prstGeom>
          <a:solidFill>
            <a:srgbClr val="FFF3CD"/>
          </a:solidFill>
          <a:ln w="12700">
            <a:solidFill>
              <a:srgbClr val="C0A0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65760" y="4681728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The JAR 3-yr premium shrinks or reverses at high platform scale. Re-run the TCO model with your actual FTE cost, GCP sizing, and vendor quotes before concluding.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 Cost: The Largest Hidden Variable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Self-Managed / JAR requires 2-4 dedicated FTE · SaaS requires minimal Lloyds operational resource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74320" y="932688"/>
            <a:ext cx="5212080" cy="347472"/>
          </a:xfrm>
          <a:prstGeom prst="roundRect">
            <a:avLst>
              <a:gd name="adj" fmla="val 1578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987552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7512" y="969264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Self-Managed / JAR – FTE Requirement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1353312"/>
            <a:ext cx="1828800" cy="274320"/>
          </a:xfrm>
          <a:prstGeom prst="rect">
            <a:avLst/>
          </a:prstGeom>
          <a:solidFill>
            <a:srgbClr val="2E5F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2103120" y="1353312"/>
            <a:ext cx="914400" cy="274320"/>
          </a:xfrm>
          <a:prstGeom prst="rect">
            <a:avLst/>
          </a:prstGeom>
          <a:solidFill>
            <a:srgbClr val="2E5F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017520" y="1353312"/>
            <a:ext cx="914400" cy="274320"/>
          </a:xfrm>
          <a:prstGeom prst="rect">
            <a:avLst/>
          </a:prstGeom>
          <a:solidFill>
            <a:srgbClr val="2E5F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Salary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749040" y="1353312"/>
            <a:ext cx="685800" cy="274320"/>
          </a:xfrm>
          <a:prstGeom prst="rect">
            <a:avLst/>
          </a:prstGeom>
          <a:solidFill>
            <a:srgbClr val="2E5F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On-cost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434840" y="1353312"/>
            <a:ext cx="685800" cy="274320"/>
          </a:xfrm>
          <a:prstGeom prst="rect">
            <a:avLst/>
          </a:prstGeom>
          <a:solidFill>
            <a:srgbClr val="2E5F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Cost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5166360" y="1353312"/>
            <a:ext cx="3429000" cy="274320"/>
          </a:xfrm>
          <a:prstGeom prst="rect">
            <a:avLst/>
          </a:prstGeom>
          <a:solidFill>
            <a:srgbClr val="2E5FA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74320" y="1664208"/>
            <a:ext cx="18288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SME / Platform Engineer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103120" y="1664208"/>
            <a:ext cx="9144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FTE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017520" y="1664208"/>
            <a:ext cx="9144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£95k avg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749040" y="1664208"/>
            <a:ext cx="6858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1.3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434840" y="1664208"/>
            <a:ext cx="685800" cy="457200"/>
          </a:xfrm>
          <a:prstGeom prst="rect">
            <a:avLst/>
          </a:prstGeom>
          <a:solidFill>
            <a:srgbClr val="D6F5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£247k/yr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166360" y="1664208"/>
            <a:ext cx="34290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L1/L2 support, app config, upgrade testing, on-call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274320" y="2167128"/>
            <a:ext cx="1828800" cy="457200"/>
          </a:xfrm>
          <a:prstGeom prst="rect">
            <a:avLst/>
          </a:prstGeom>
          <a:solidFill>
            <a:srgbClr val="EEF2FA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Engineer – CI/CD &amp; Image Build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2103120" y="2167128"/>
            <a:ext cx="914400" cy="457200"/>
          </a:xfrm>
          <a:prstGeom prst="rect">
            <a:avLst/>
          </a:prstGeom>
          <a:solidFill>
            <a:srgbClr val="EEF2F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FTE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017520" y="2167128"/>
            <a:ext cx="914400" cy="457200"/>
          </a:xfrm>
          <a:prstGeom prst="rect">
            <a:avLst/>
          </a:prstGeom>
          <a:solidFill>
            <a:srgbClr val="EEF2F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£90k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749040" y="2167128"/>
            <a:ext cx="685800" cy="457200"/>
          </a:xfrm>
          <a:prstGeom prst="rect">
            <a:avLst/>
          </a:prstGeom>
          <a:solidFill>
            <a:srgbClr val="EEF2F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1.3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4434840" y="2167128"/>
            <a:ext cx="685800" cy="457200"/>
          </a:xfrm>
          <a:prstGeom prst="rect">
            <a:avLst/>
          </a:prstGeom>
          <a:solidFill>
            <a:srgbClr val="D6F5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£117k/yr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5166360" y="2167128"/>
            <a:ext cx="3429000" cy="457200"/>
          </a:xfrm>
          <a:prstGeom prst="rect">
            <a:avLst/>
          </a:prstGeom>
          <a:solidFill>
            <a:srgbClr val="EEF2FA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build, image scan, GitOps, promotion gates, GCP/OpenShift ops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74320" y="2670048"/>
            <a:ext cx="18288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/ incident supplement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2103120" y="2670048"/>
            <a:ext cx="9144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FTE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017520" y="2670048"/>
            <a:ext cx="9144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£8k/FTE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749040" y="2670048"/>
            <a:ext cx="6858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434840" y="2670048"/>
            <a:ext cx="685800" cy="457200"/>
          </a:xfrm>
          <a:prstGeom prst="rect">
            <a:avLst/>
          </a:prstGeom>
          <a:solidFill>
            <a:srgbClr val="D6F5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£16k/yr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166360" y="2670048"/>
            <a:ext cx="342900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On-call premium for P1 cover outside business hours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274320" y="3172968"/>
            <a:ext cx="1828800" cy="457200"/>
          </a:xfrm>
          <a:prstGeom prst="rect">
            <a:avLst/>
          </a:prstGeom>
          <a:solidFill>
            <a:srgbClr val="EEF2FA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upskilling (Yr1 one-off)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2103120" y="3172968"/>
            <a:ext cx="914400" cy="457200"/>
          </a:xfrm>
          <a:prstGeom prst="rect">
            <a:avLst/>
          </a:prstGeom>
          <a:solidFill>
            <a:srgbClr val="EEF2F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FTE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3017520" y="3172968"/>
            <a:ext cx="914400" cy="457200"/>
          </a:xfrm>
          <a:prstGeom prst="rect">
            <a:avLst/>
          </a:prstGeom>
          <a:solidFill>
            <a:srgbClr val="EEF2F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3749040" y="3172968"/>
            <a:ext cx="685800" cy="457200"/>
          </a:xfrm>
          <a:prstGeom prst="rect">
            <a:avLst/>
          </a:prstGeom>
          <a:solidFill>
            <a:srgbClr val="EEF2F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434840" y="3172968"/>
            <a:ext cx="685800" cy="457200"/>
          </a:xfrm>
          <a:prstGeom prst="rect">
            <a:avLst/>
          </a:prstGeom>
          <a:solidFill>
            <a:srgbClr val="D6F5E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£20k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166360" y="3172968"/>
            <a:ext cx="3429000" cy="457200"/>
          </a:xfrm>
          <a:prstGeom prst="rect">
            <a:avLst/>
          </a:prstGeom>
          <a:solidFill>
            <a:srgbClr val="EEF2FA"/>
          </a:solidFill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GCP/OpenShift/Vendor platform certification; ongoing £5k/yr Yr2+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74320" y="3730752"/>
            <a:ext cx="5212080" cy="347472"/>
          </a:xfrm>
          <a:prstGeom prst="roundRect">
            <a:avLst>
              <a:gd name="adj" fmla="val 15789"/>
            </a:avLst>
          </a:prstGeom>
          <a:solidFill>
            <a:srgbClr val="A42020"/>
          </a:solidFill>
          <a:ln w="12700">
            <a:solidFill>
              <a:srgbClr val="A42020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274320" y="3730752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 TOTAL FTE COST (Yr1):  ~£400k  ·  Yr2+: ~£385k/yr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5669280" y="932688"/>
            <a:ext cx="3200400" cy="4078224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0" y="1078992"/>
            <a:ext cx="384048" cy="384048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6236208" y="10972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/ Vendor-Hosted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5806440" y="1463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FTE Requirement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5806440" y="17830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FTE – Integration owner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5806440" y="20574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API/webhook integration; handles incidents escalated by vendor</a:t>
            </a:r>
            <a:endParaRPr lang="en-US" sz="900" dirty="0"/>
          </a:p>
        </p:txBody>
      </p:sp>
      <p:sp>
        <p:nvSpPr>
          <p:cNvPr id="46" name="Text 42"/>
          <p:cNvSpPr/>
          <p:nvPr/>
        </p:nvSpPr>
        <p:spPr>
          <a:xfrm>
            <a:off x="5806440" y="2468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FTE – Commercial manager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5806440" y="27432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&amp; SLA governance; renewal negotiations</a:t>
            </a:r>
            <a:endParaRPr lang="en-US" sz="900" dirty="0"/>
          </a:p>
        </p:txBody>
      </p:sp>
      <p:sp>
        <p:nvSpPr>
          <p:cNvPr id="48" name="Text 44"/>
          <p:cNvSpPr/>
          <p:nvPr/>
        </p:nvSpPr>
        <p:spPr>
          <a:xfrm>
            <a:off x="5806440" y="31546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 FTE – Security reviewer</a:t>
            </a:r>
            <a:endParaRPr lang="en-US" sz="1000" dirty="0"/>
          </a:p>
        </p:txBody>
      </p:sp>
      <p:sp>
        <p:nvSpPr>
          <p:cNvPr id="49" name="Text 45"/>
          <p:cNvSpPr/>
          <p:nvPr/>
        </p:nvSpPr>
        <p:spPr>
          <a:xfrm>
            <a:off x="5806440" y="3429000"/>
            <a:ext cx="3017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vendor risk review; pen-test evidence review</a:t>
            </a:r>
            <a:endParaRPr lang="en-US" sz="900" dirty="0"/>
          </a:p>
        </p:txBody>
      </p:sp>
      <p:sp>
        <p:nvSpPr>
          <p:cNvPr id="50" name="Shape 46"/>
          <p:cNvSpPr/>
          <p:nvPr/>
        </p:nvSpPr>
        <p:spPr>
          <a:xfrm>
            <a:off x="5806440" y="3767328"/>
            <a:ext cx="2926080" cy="256032"/>
          </a:xfrm>
          <a:prstGeom prst="roundRect">
            <a:avLst>
              <a:gd name="adj" fmla="val 17857"/>
            </a:avLst>
          </a:prstGeom>
          <a:solidFill>
            <a:srgbClr val="D6F5E3"/>
          </a:solidFill>
          <a:ln w="12700">
            <a:solidFill>
              <a:srgbClr val="C0D8C0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5806440" y="376732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TOTAL FTE COST (Yr1):  ~£70k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Compliance &amp; Regulatory Control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 of total weighting · Self-Managed scores significantly higher across all regulatory dimensions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194560" cy="329184"/>
          </a:xfrm>
          <a:prstGeom prst="rect">
            <a:avLst/>
          </a:prstGeom>
          <a:solidFill>
            <a:srgbClr val="555E6E"/>
          </a:solidFill>
          <a:ln w="12700">
            <a:solidFill>
              <a:srgbClr val="555E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960120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292608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96012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– Position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40680" y="960120"/>
            <a:ext cx="292608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960120"/>
            <a:ext cx="2926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 – Position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12480" y="960120"/>
            <a:ext cx="457200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0" y="96012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887968" y="960120"/>
            <a:ext cx="457200" cy="32918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87968" y="960120"/>
            <a:ext cx="457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1325880"/>
            <a:ext cx="2194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371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Residency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468880" y="1325880"/>
            <a:ext cx="2926080" cy="640080"/>
          </a:xfrm>
          <a:prstGeom prst="rect">
            <a:avLst/>
          </a:prstGeom>
          <a:solidFill>
            <a:srgbClr val="FCE4E4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13716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cloud; location risk unless contractually constrained to UK/EEA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40680" y="1325880"/>
            <a:ext cx="2926080" cy="640080"/>
          </a:xfrm>
          <a:prstGeom prst="rect">
            <a:avLst/>
          </a:prstGeom>
          <a:solidFill>
            <a:srgbClr val="D6F5E3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0" y="13716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Lloyds GCP UK region. Full data lineage evidence available.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394192" y="1463040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FCE4E4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94192" y="14630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8887968" y="1463040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D6F5E3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87968" y="1463040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28600" y="2020824"/>
            <a:ext cx="2194560" cy="640080"/>
          </a:xfrm>
          <a:prstGeom prst="rect">
            <a:avLst/>
          </a:prstGeom>
          <a:solidFill>
            <a:srgbClr val="F2F4F8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2066544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FCA / PRA Material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Outsourcing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68880" y="2020824"/>
            <a:ext cx="2926080" cy="640080"/>
          </a:xfrm>
          <a:prstGeom prst="rect">
            <a:avLst/>
          </a:prstGeom>
          <a:solidFill>
            <a:srgbClr val="FCE4E4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14600" y="206654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Reliant on vendor SOC 2 / ISO 27001 certs. Lloyds accountability remains.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40680" y="2020824"/>
            <a:ext cx="2926080" cy="640080"/>
          </a:xfrm>
          <a:prstGeom prst="rect">
            <a:avLst/>
          </a:prstGeom>
          <a:solidFill>
            <a:srgbClr val="D6F5E3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0" y="206654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Lloyds directly implements and evidences all controls for FCA review.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394192" y="2157984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FCE4E4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94192" y="215798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887968" y="2157984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D6F5E3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87968" y="2157984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28600" y="2715768"/>
            <a:ext cx="2194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2761488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 (2025)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ICT Risk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468880" y="2715768"/>
            <a:ext cx="2926080" cy="640080"/>
          </a:xfrm>
          <a:prstGeom prst="rect">
            <a:avLst/>
          </a:prstGeom>
          <a:solidFill>
            <a:srgbClr val="FCE4E4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14600" y="276148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ability to test vendor resilience; dependent on vendor test reports.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715768"/>
            <a:ext cx="2926080" cy="640080"/>
          </a:xfrm>
          <a:prstGeom prst="rect">
            <a:avLst/>
          </a:prstGeom>
          <a:solidFill>
            <a:srgbClr val="D6F5E3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0" y="276148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ICT resilience testing under Lloyds control. Integrated into BCP.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394192" y="2852928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FCE4E4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94192" y="28529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887968" y="2852928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D6F5E3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87968" y="28529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28600" y="3410712"/>
            <a:ext cx="2194560" cy="640080"/>
          </a:xfrm>
          <a:prstGeom prst="rect">
            <a:avLst/>
          </a:prstGeom>
          <a:solidFill>
            <a:srgbClr val="F2F4F8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3456432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Vulnerability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SLA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468880" y="3410712"/>
            <a:ext cx="2926080" cy="640080"/>
          </a:xfrm>
          <a:prstGeom prst="rect">
            <a:avLst/>
          </a:prstGeom>
          <a:solidFill>
            <a:srgbClr val="FCE4E4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14600" y="345643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patches CVEs. Lloyds cannot enforce internal SLA (Crit:24h, High:7d).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40680" y="3410712"/>
            <a:ext cx="2926080" cy="640080"/>
          </a:xfrm>
          <a:prstGeom prst="rect">
            <a:avLst/>
          </a:prstGeom>
          <a:solidFill>
            <a:srgbClr val="D6F5E3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86400" y="345643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Snyk/Trivy in pipeline. Lloyds enforces CVE SLA directly on images.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8394192" y="3547872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FCE4E4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94192" y="35478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8887968" y="3547872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D6F5E3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887968" y="3547872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28600" y="4105656"/>
            <a:ext cx="219456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4151376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Pen-Test &amp;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Rights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2468880" y="4105656"/>
            <a:ext cx="2926080" cy="640080"/>
          </a:xfrm>
          <a:prstGeom prst="rect">
            <a:avLst/>
          </a:prstGeom>
          <a:solidFill>
            <a:srgbClr val="FFF3CD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14600" y="415137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Pen-test scope limited to agreed surface area. Vendor controls access.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440680" y="4105656"/>
            <a:ext cx="2926080" cy="640080"/>
          </a:xfrm>
          <a:prstGeom prst="rect">
            <a:avLst/>
          </a:prstGeom>
          <a:solidFill>
            <a:srgbClr val="D6F5E3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486400" y="415137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pen-test within Lloyds control. Internal audit has full access.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8394192" y="4242816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FFF3CD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394192" y="424281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8887968" y="4242816"/>
            <a:ext cx="457200" cy="347472"/>
          </a:xfrm>
          <a:prstGeom prst="roundRect">
            <a:avLst>
              <a:gd name="adj" fmla="val 13158"/>
            </a:avLst>
          </a:prstGeom>
          <a:solidFill>
            <a:srgbClr val="D6F5E3"/>
          </a:solidFill>
          <a:ln w="12700">
            <a:solidFill>
              <a:srgbClr val="C0C8D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887968" y="4242816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Control: Upgrades · Incidents · DR · Integration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8686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05840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85953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&amp; Patch Control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77240" y="1152144"/>
            <a:ext cx="3657600" cy="502920"/>
          </a:xfrm>
          <a:prstGeom prst="rect">
            <a:avLst/>
          </a:prstGeom>
          <a:solidFill>
            <a:srgbClr val="FCE4E4"/>
          </a:solidFill>
          <a:ln w="12700">
            <a:solidFill>
              <a:srgbClr val="EAC0C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07008"/>
            <a:ext cx="182880" cy="1828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42416" y="115214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Vendor-driven schedule. Limited notice (often &lt; 5 days). Risk of breaking API changes mid-sprint.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4572000" y="1152144"/>
            <a:ext cx="4297680" cy="502920"/>
          </a:xfrm>
          <a:prstGeom prst="rect">
            <a:avLst/>
          </a:prstGeom>
          <a:solidFill>
            <a:srgbClr val="D6F5E3"/>
          </a:solidFill>
          <a:ln w="12700">
            <a:solidFill>
              <a:srgbClr val="C0E0C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207008"/>
            <a:ext cx="182880" cy="1828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882896" y="115214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Lloyds CAB-controlled. Pipeline promotion: Dev→UAT→Prod with regression gates. Scheduled release windows.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228600" y="1810512"/>
            <a:ext cx="8686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011680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77240" y="186537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42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Management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777240" y="2157984"/>
            <a:ext cx="3657600" cy="502920"/>
          </a:xfrm>
          <a:prstGeom prst="rect">
            <a:avLst/>
          </a:prstGeom>
          <a:solidFill>
            <a:srgbClr val="FCE4E4"/>
          </a:solidFill>
          <a:ln w="12700">
            <a:solidFill>
              <a:srgbClr val="EAC0C0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2212848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042416" y="215798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managed by vendor. Lloyds dependent on vendor comms. Root cause analysis may be opaque.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4572000" y="2157984"/>
            <a:ext cx="4297680" cy="502920"/>
          </a:xfrm>
          <a:prstGeom prst="rect">
            <a:avLst/>
          </a:prstGeom>
          <a:solidFill>
            <a:srgbClr val="D6F5E3"/>
          </a:solidFill>
          <a:ln w="12700">
            <a:solidFill>
              <a:srgbClr val="C0E0C0"/>
            </a:solidFill>
            <a:prstDash val="solid"/>
          </a:ln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152" y="2212848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4882896" y="215798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Lloyds ServiceNow owns end-to-end P1. Full RCA within Lloyds-defined SLA. On-call rota Lloyds-managed.</a:t>
            </a:r>
            <a:endParaRPr lang="en-US" sz="900" dirty="0"/>
          </a:p>
        </p:txBody>
      </p:sp>
      <p:sp>
        <p:nvSpPr>
          <p:cNvPr id="22" name="Shape 14"/>
          <p:cNvSpPr/>
          <p:nvPr/>
        </p:nvSpPr>
        <p:spPr>
          <a:xfrm>
            <a:off x="228600" y="2816352"/>
            <a:ext cx="8686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" y="3017520"/>
            <a:ext cx="347472" cy="347472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777240" y="287121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 / Business Continuity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777240" y="3163824"/>
            <a:ext cx="3657600" cy="502920"/>
          </a:xfrm>
          <a:prstGeom prst="rect">
            <a:avLst/>
          </a:prstGeom>
          <a:solidFill>
            <a:srgbClr val="FCE4E4"/>
          </a:solidFill>
          <a:ln w="12700">
            <a:solidFill>
              <a:srgbClr val="EAC0C0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3218688"/>
            <a:ext cx="182880" cy="1828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042416" y="316382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DR; Lloyds must validate via contractual SLA review. Hard to evidence to PRA.</a:t>
            </a:r>
            <a:endParaRPr lang="en-US" sz="900" dirty="0"/>
          </a:p>
        </p:txBody>
      </p:sp>
      <p:sp>
        <p:nvSpPr>
          <p:cNvPr id="28" name="Shape 18"/>
          <p:cNvSpPr/>
          <p:nvPr/>
        </p:nvSpPr>
        <p:spPr>
          <a:xfrm>
            <a:off x="4572000" y="3163824"/>
            <a:ext cx="4297680" cy="502920"/>
          </a:xfrm>
          <a:prstGeom prst="rect">
            <a:avLst/>
          </a:prstGeom>
          <a:solidFill>
            <a:srgbClr val="D6F5E3"/>
          </a:solidFill>
          <a:ln w="12700">
            <a:solidFill>
              <a:srgbClr val="C0E0C0"/>
            </a:solidFill>
            <a:prstDash val="solid"/>
          </a:ln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45152" y="3218688"/>
            <a:ext cx="182880" cy="18288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4882896" y="316382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Lloyds-owned DR on GCP multi-region or OpenShift active-passive. Integrated into Lloyds BCP test calendar.</a:t>
            </a:r>
            <a:endParaRPr lang="en-US" sz="900" dirty="0"/>
          </a:p>
        </p:txBody>
      </p:sp>
      <p:sp>
        <p:nvSpPr>
          <p:cNvPr id="31" name="Shape 20"/>
          <p:cNvSpPr/>
          <p:nvPr/>
        </p:nvSpPr>
        <p:spPr>
          <a:xfrm>
            <a:off x="228600" y="3822192"/>
            <a:ext cx="868680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472" y="4023360"/>
            <a:ext cx="347472" cy="347472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777240" y="3877056"/>
            <a:ext cx="7955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A1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&amp; Connectivity</a:t>
            </a:r>
            <a:endParaRPr lang="en-US" sz="1100" dirty="0"/>
          </a:p>
        </p:txBody>
      </p:sp>
      <p:sp>
        <p:nvSpPr>
          <p:cNvPr id="34" name="Shape 22"/>
          <p:cNvSpPr/>
          <p:nvPr/>
        </p:nvSpPr>
        <p:spPr>
          <a:xfrm>
            <a:off x="777240" y="4169664"/>
            <a:ext cx="3657600" cy="502920"/>
          </a:xfrm>
          <a:prstGeom prst="rect">
            <a:avLst/>
          </a:prstGeom>
          <a:solidFill>
            <a:srgbClr val="FCE4E4"/>
          </a:solidFill>
          <a:ln w="12700">
            <a:solidFill>
              <a:srgbClr val="EAC0C0"/>
            </a:solidFill>
            <a:prstDash val="solid"/>
          </a:ln>
        </p:spPr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2960" y="4224528"/>
            <a:ext cx="182880" cy="182880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1042416" y="4169664"/>
            <a:ext cx="3337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webhooks only. Cannot connect directly to IBM MQ, Kafka, mainframe adapters.</a:t>
            </a:r>
            <a:endParaRPr lang="en-US" sz="900" dirty="0"/>
          </a:p>
        </p:txBody>
      </p:sp>
      <p:sp>
        <p:nvSpPr>
          <p:cNvPr id="37" name="Shape 24"/>
          <p:cNvSpPr/>
          <p:nvPr/>
        </p:nvSpPr>
        <p:spPr>
          <a:xfrm>
            <a:off x="4572000" y="4169664"/>
            <a:ext cx="4297680" cy="502920"/>
          </a:xfrm>
          <a:prstGeom prst="rect">
            <a:avLst/>
          </a:prstGeom>
          <a:solidFill>
            <a:srgbClr val="D6F5E3"/>
          </a:solidFill>
          <a:ln w="12700">
            <a:solidFill>
              <a:srgbClr val="C0E0C0"/>
            </a:solidFill>
            <a:prstDash val="solid"/>
          </a:ln>
        </p:spPr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645152" y="4224528"/>
            <a:ext cx="182880" cy="182880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4882896" y="4169664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integration via internal middleware. Real-time position feeds and settlement routing to core banking.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Scorecard 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594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parameters · 6 weighted dimensions · Scores are indicative — update in Excel with vendor RFI responses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896112"/>
          <a:ext cx="5486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943600" y="868680"/>
            <a:ext cx="2926080" cy="1325880"/>
          </a:xfrm>
          <a:prstGeom prst="roundRect">
            <a:avLst>
              <a:gd name="adj" fmla="val 6897"/>
            </a:avLst>
          </a:prstGeom>
          <a:solidFill>
            <a:srgbClr val="E8F7F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328" y="1014984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92240" y="97840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Total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053328" y="14173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14.1</a:t>
            </a:r>
            <a:endParaRPr lang="en-US" sz="3000" dirty="0"/>
          </a:p>
        </p:txBody>
      </p:sp>
      <p:sp>
        <p:nvSpPr>
          <p:cNvPr id="10" name="Text 6"/>
          <p:cNvSpPr/>
          <p:nvPr/>
        </p:nvSpPr>
        <p:spPr>
          <a:xfrm>
            <a:off x="6053328" y="194767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max 26</a:t>
            </a:r>
            <a:endParaRPr lang="en-US" sz="850" dirty="0"/>
          </a:p>
        </p:txBody>
      </p:sp>
      <p:sp>
        <p:nvSpPr>
          <p:cNvPr id="11" name="Shape 7"/>
          <p:cNvSpPr/>
          <p:nvPr/>
        </p:nvSpPr>
        <p:spPr>
          <a:xfrm>
            <a:off x="5943600" y="2286000"/>
            <a:ext cx="2926080" cy="1325880"/>
          </a:xfrm>
          <a:prstGeom prst="roundRect">
            <a:avLst>
              <a:gd name="adj" fmla="val 6897"/>
            </a:avLst>
          </a:prstGeom>
          <a:solidFill>
            <a:srgbClr val="E8EE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28" y="2432304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92240" y="239572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 Total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6053328" y="28346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21.5</a:t>
            </a:r>
            <a:endParaRPr lang="en-US" sz="3000" dirty="0"/>
          </a:p>
        </p:txBody>
      </p:sp>
      <p:sp>
        <p:nvSpPr>
          <p:cNvPr id="15" name="Text 10"/>
          <p:cNvSpPr/>
          <p:nvPr/>
        </p:nvSpPr>
        <p:spPr>
          <a:xfrm>
            <a:off x="6053328" y="336499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max 26</a:t>
            </a:r>
            <a:endParaRPr lang="en-US" sz="850" dirty="0"/>
          </a:p>
        </p:txBody>
      </p:sp>
      <p:sp>
        <p:nvSpPr>
          <p:cNvPr id="16" name="Shape 11"/>
          <p:cNvSpPr/>
          <p:nvPr/>
        </p:nvSpPr>
        <p:spPr>
          <a:xfrm>
            <a:off x="5943600" y="3703320"/>
            <a:ext cx="2926080" cy="1325880"/>
          </a:xfrm>
          <a:prstGeom prst="roundRect">
            <a:avLst>
              <a:gd name="adj" fmla="val 6897"/>
            </a:avLst>
          </a:prstGeom>
          <a:solidFill>
            <a:srgbClr val="D6F5E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328" y="3849624"/>
            <a:ext cx="384048" cy="38404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92240" y="3813048"/>
            <a:ext cx="2240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6053328" y="42519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Self-Managed / JAR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6053328" y="4782312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45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due diligence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&amp; 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49808"/>
            <a:ext cx="8595360" cy="896112"/>
          </a:xfrm>
          <a:prstGeom prst="roundRect">
            <a:avLst>
              <a:gd name="adj" fmla="val 10204"/>
            </a:avLst>
          </a:prstGeom>
          <a:solidFill>
            <a:srgbClr val="D6F5E3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868680"/>
            <a:ext cx="530352" cy="53035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24128" y="822960"/>
            <a:ext cx="7315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7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Preferred: Self-Managed / JAR on GCP or IBM-managed OpenShift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24128" y="1188720"/>
            <a:ext cx="7498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366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to: vendor due diligence · 3-yr TCO validation with actual quotes · DevOps headcount confirmation · Data classification outcome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74320" y="1783080"/>
            <a:ext cx="2834640" cy="3337560"/>
          </a:xfrm>
          <a:prstGeom prst="roundRect">
            <a:avLst>
              <a:gd name="adj" fmla="val 3226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84048" y="18745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SaaS ONLY if: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384048" y="2258568"/>
            <a:ext cx="260604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non-sensitive &amp; non-regulated (confirmed by Data Governance)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commits UK data residency in writing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Lloyds cannot resource 2-4 FTE for JAR operations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Time-to-production &lt; 4 months is a hard constraint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3-yr TCO lower even after FTE cost factored in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218688" y="1783080"/>
            <a:ext cx="2834640" cy="3337560"/>
          </a:xfrm>
          <a:prstGeom prst="roundRect">
            <a:avLst>
              <a:gd name="adj" fmla="val 3226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328416" y="18745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5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 for All Vendors: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3328416" y="2258568"/>
            <a:ext cx="260604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fully-loaded 3-yr cost model with all usage charges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renewal pricing cap mechanism?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UK/EEA data residency in writing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CVE remediation SLA by severity?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notice period for breaking-change upgrades?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JAR: What L3 SLA does your team commit to?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63056" y="1783080"/>
            <a:ext cx="2834640" cy="3337560"/>
          </a:xfrm>
          <a:prstGeom prst="roundRect">
            <a:avLst>
              <a:gd name="adj" fmla="val 3226"/>
            </a:avLst>
          </a:prstGeom>
          <a:solidFill>
            <a:srgbClr val="F2F4F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272784" y="187452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Steps: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272784" y="2258568"/>
            <a:ext cx="2606040" cy="2788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Issue RFI / Vendor Questionnaire to all shortlisted vendors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Classify data sensitivity with Lloyds Data Governance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Engage Cyber, Legal &amp; Compliance — min. requirements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Run TCO model with actual vendor quotes (Excel tab)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Confirm DevOps headcount capacity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ARB submission with top 2 vendors + recommendation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02920" y="4681728"/>
            <a:ext cx="475488" cy="47548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6817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365760" y="5184648"/>
            <a:ext cx="749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 &amp;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</a:t>
            </a:r>
            <a:endParaRPr lang="en-US" sz="85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4846320"/>
            <a:ext cx="219456" cy="146304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1938528" y="4681728"/>
            <a:ext cx="475488" cy="475488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938528" y="46817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1801368" y="5184648"/>
            <a:ext cx="749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85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456" y="4846320"/>
            <a:ext cx="219456" cy="146304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3374136" y="4681728"/>
            <a:ext cx="475488" cy="47548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3374136" y="46817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3236976" y="5184648"/>
            <a:ext cx="749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TCO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5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1064" y="4846320"/>
            <a:ext cx="219456" cy="146304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4809744" y="4681728"/>
            <a:ext cx="475488" cy="475488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809744" y="46817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4672584" y="5184648"/>
            <a:ext cx="749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</a:t>
            </a:r>
            <a:endParaRPr lang="en-US" sz="85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6672" y="4846320"/>
            <a:ext cx="219456" cy="146304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6245352" y="4681728"/>
            <a:ext cx="475488" cy="475488"/>
          </a:xfrm>
          <a:prstGeom prst="ellipse">
            <a:avLst/>
          </a:prstGeom>
          <a:solidFill>
            <a:srgbClr val="C8860A"/>
          </a:solidFill>
          <a:ln w="12700">
            <a:solidFill>
              <a:srgbClr val="C8860A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245352" y="46817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6108192" y="5184648"/>
            <a:ext cx="749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/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</a:t>
            </a:r>
            <a:endParaRPr lang="en-US" sz="850" dirty="0"/>
          </a:p>
        </p:txBody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4846320"/>
            <a:ext cx="219456" cy="146304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7680960" y="4681728"/>
            <a:ext cx="475488" cy="475488"/>
          </a:xfrm>
          <a:prstGeom prst="ellipse">
            <a:avLst/>
          </a:prstGeom>
          <a:solidFill>
            <a:srgbClr val="1A7A45"/>
          </a:solidFill>
          <a:ln w="12700">
            <a:solidFill>
              <a:srgbClr val="1A7A45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7680960" y="46817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7543800" y="5184648"/>
            <a:ext cx="7498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2026-06-25T16:52:20Z</dcterms:created>
  <dcterms:modified xsi:type="dcterms:W3CDTF">2026-06-25T16:52:20Z</dcterms:modified>
</cp:coreProperties>
</file>